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8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5" r:id="rId13"/>
    <p:sldId id="269" r:id="rId14"/>
    <p:sldId id="270" r:id="rId15"/>
    <p:sldId id="286" r:id="rId16"/>
    <p:sldId id="287" r:id="rId17"/>
    <p:sldId id="288" r:id="rId18"/>
    <p:sldId id="289" r:id="rId19"/>
    <p:sldId id="290" r:id="rId20"/>
    <p:sldId id="292" r:id="rId21"/>
    <p:sldId id="293" r:id="rId22"/>
    <p:sldId id="298" r:id="rId23"/>
  </p:sldIdLst>
  <p:sldSz cx="9144000" cy="6858000" type="screen4x3"/>
  <p:notesSz cx="6858000" cy="9144000"/>
  <p:defaultTextStyle>
    <a:defPPr>
      <a:defRPr lang="fa-IR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 varScale="1">
        <p:scale>
          <a:sx n="81" d="100"/>
          <a:sy n="81" d="100"/>
        </p:scale>
        <p:origin x="10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C1A6D-0EDC-4697-9833-E6C270E2FB6E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9DEA6-C7B5-40B0-9A65-E5971621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0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9DEA6-C7B5-40B0-9A65-E597162162A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3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9DEA6-C7B5-40B0-9A65-E597162162A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13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2662B57-F30F-4AD4-8774-B5BA537AF087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D48C598-D994-440E-8E8C-CF270A884F4E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/>
              <a:t>http://arsintop.blogfa.com/</a:t>
            </a:r>
            <a:endParaRPr lang="fa-I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7BD3955B-FC84-4EEC-9E7D-90A57A640921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18705-C36A-4B92-9412-603B21BB9E41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B72C-2A09-4220-B0D1-EEB7DD3F6729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2B2B30D-4568-4416-9A88-05BF875F6E75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http://arsintop.blogfa.com/</a:t>
            </a:r>
            <a:endParaRPr lang="fa-I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3C85F-1B5C-4596-A85C-536F0C86A90B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7F86A15-DF43-456C-B390-F7E61F777A20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/>
              <a:t>http://arsintop.blogfa.com/</a:t>
            </a:r>
            <a:endParaRPr lang="fa-I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B6DFC5E-ABB9-4460-80A0-BC1BBCC1E3F3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http://arsintop.blogfa.com/</a:t>
            </a:r>
            <a:endParaRPr lang="fa-I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1703-B8AF-4762-8DD5-BA2679CDE262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558A-B53D-45E9-AB02-C4885BBD5D5F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CB70E9C-4CB4-4136-9998-ABA607E9A5EF}" type="datetime8">
              <a:rPr lang="fa-IR" smtClean="0"/>
              <a:pPr/>
              <a:t>21 اُكتبر 26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017318F-721D-440D-96EE-79BFEED8230F}" type="slidenum">
              <a:rPr lang="fa-IR" smtClean="0"/>
              <a:pPr/>
              <a:t>‹#›</a:t>
            </a:fld>
            <a:endParaRPr lang="fa-I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1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r" rtl="1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r" rtl="1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r" rtl="1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r" rtl="1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r" rtl="1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r" rtl="1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r" rtl="1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r" rtl="1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8728" y="857232"/>
            <a:ext cx="6172200" cy="1894362"/>
          </a:xfrm>
        </p:spPr>
        <p:txBody>
          <a:bodyPr>
            <a:normAutofit/>
          </a:bodyPr>
          <a:lstStyle/>
          <a:p>
            <a:pPr algn="ctr"/>
            <a:r>
              <a:rPr lang="fa-IR" sz="4000" b="1" dirty="0">
                <a:solidFill>
                  <a:schemeClr val="tx1"/>
                </a:solidFill>
                <a:effectLst>
                  <a:glow rad="101600">
                    <a:schemeClr val="accent6">
                      <a:lumMod val="60000"/>
                      <a:lumOff val="40000"/>
                      <a:alpha val="6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itchFamily="2" charset="-78"/>
              </a:rPr>
              <a:t>نظريه هاي يادگيري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</a:t>
            </a:fld>
            <a:endParaRPr lang="fa-I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7467600" cy="571504"/>
          </a:xfrm>
        </p:spPr>
        <p:txBody>
          <a:bodyPr>
            <a:normAutofit/>
          </a:bodyPr>
          <a:lstStyle/>
          <a:p>
            <a:pPr algn="ctr"/>
            <a:r>
              <a:rPr lang="fa-IR" b="1" dirty="0">
                <a:solidFill>
                  <a:schemeClr val="tx1"/>
                </a:solidFill>
                <a:cs typeface="B Nazanin" pitchFamily="2" charset="-78"/>
              </a:rPr>
              <a:t>انواع نظريه هاي يادگيري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24059" y="1268760"/>
            <a:ext cx="7745288" cy="5205192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fa-IR" b="1" dirty="0">
                <a:cs typeface="B Nazanin" pitchFamily="2" charset="-78"/>
              </a:rPr>
              <a:t>1- نظريه هاي یادگیری رفتاری</a:t>
            </a:r>
            <a:r>
              <a:rPr lang="fa-IR" dirty="0">
                <a:cs typeface="B Nazanin" pitchFamily="2" charset="-78"/>
              </a:rPr>
              <a:t>: </a:t>
            </a:r>
          </a:p>
          <a:p>
            <a:pPr marL="457200" indent="-457200">
              <a:buNone/>
            </a:pPr>
            <a:r>
              <a:rPr lang="fa-IR" dirty="0">
                <a:cs typeface="B Nazanin" pitchFamily="2" charset="-78"/>
              </a:rPr>
              <a:t>یادگیری ایجاد و تقویت رابطه و پیوند بین محرک و پاسخ در سیستم عصبی انسان است. عامل اصلی یادگیری          محیط بیرونی و محرک های خارجی</a:t>
            </a:r>
          </a:p>
          <a:p>
            <a:pPr marL="457200" indent="-457200">
              <a:buNone/>
            </a:pPr>
            <a:r>
              <a:rPr lang="fa-IR" dirty="0">
                <a:cs typeface="B Nazanin" pitchFamily="2" charset="-78"/>
              </a:rPr>
              <a:t>تغییر در </a:t>
            </a:r>
            <a:r>
              <a:rPr lang="fa-IR" dirty="0">
                <a:solidFill>
                  <a:srgbClr val="FF0000"/>
                </a:solidFill>
                <a:cs typeface="B Nazanin" pitchFamily="2" charset="-78"/>
              </a:rPr>
              <a:t>رفتار بیرونی </a:t>
            </a:r>
            <a:r>
              <a:rPr lang="fa-IR" dirty="0">
                <a:cs typeface="B Nazanin" pitchFamily="2" charset="-78"/>
              </a:rPr>
              <a:t>که قابل مشاهده است</a:t>
            </a:r>
          </a:p>
          <a:p>
            <a:pPr marL="457200" indent="-457200">
              <a:buNone/>
            </a:pPr>
            <a:endParaRPr lang="fa-IR" dirty="0">
              <a:cs typeface="B Nazanin" pitchFamily="2" charset="-78"/>
            </a:endParaRPr>
          </a:p>
          <a:p>
            <a:pPr>
              <a:buNone/>
            </a:pPr>
            <a:r>
              <a:rPr lang="fa-IR" b="1" dirty="0">
                <a:cs typeface="B Nazanin" pitchFamily="2" charset="-78"/>
              </a:rPr>
              <a:t>2- نظريه هاي یادگیری شناختي :</a:t>
            </a:r>
          </a:p>
          <a:p>
            <a:pPr>
              <a:buNone/>
            </a:pPr>
            <a:r>
              <a:rPr lang="fa-IR" dirty="0">
                <a:cs typeface="B Nazanin" pitchFamily="2" charset="-78"/>
              </a:rPr>
              <a:t>یادگیری، کسب دانش و تغییر </a:t>
            </a:r>
            <a:r>
              <a:rPr lang="fa-IR" dirty="0">
                <a:solidFill>
                  <a:srgbClr val="FF0000"/>
                </a:solidFill>
                <a:cs typeface="B Nazanin" pitchFamily="2" charset="-78"/>
              </a:rPr>
              <a:t>ساختارهای شناختی</a:t>
            </a:r>
            <a:r>
              <a:rPr lang="fa-IR" dirty="0">
                <a:cs typeface="B Nazanin" pitchFamily="2" charset="-78"/>
              </a:rPr>
              <a:t> است که از طریق آن، اطلاعات پردازش و در حافظه ذخیره می‌شوند. </a:t>
            </a:r>
          </a:p>
          <a:p>
            <a:pPr>
              <a:buNone/>
            </a:pPr>
            <a:r>
              <a:rPr lang="fa-IR" dirty="0">
                <a:cs typeface="B Nazanin" pitchFamily="2" charset="-78"/>
              </a:rPr>
              <a:t>یادگیری، یک </a:t>
            </a:r>
            <a:r>
              <a:rPr lang="fa-IR" dirty="0">
                <a:solidFill>
                  <a:srgbClr val="FF0000"/>
                </a:solidFill>
                <a:cs typeface="B Nazanin" pitchFamily="2" charset="-78"/>
              </a:rPr>
              <a:t>فرآیند درونی </a:t>
            </a:r>
            <a:r>
              <a:rPr lang="fa-IR" dirty="0">
                <a:cs typeface="B Nazanin" pitchFamily="2" charset="-78"/>
              </a:rPr>
              <a:t>است که ممکن است به صورت تغییر فوری در رفتار آشکار، ظاهر نشود بلکه به‌صورت توانایی‌هایی در فرد ایجاد و در حافظه‌ی او ذخیره می‌شود و هر وقت که بخواهد، می‌تواند آن توانایی‌ها را مورد استفاده قرار دهد.</a:t>
            </a:r>
          </a:p>
          <a:p>
            <a:pPr>
              <a:buNone/>
            </a:pPr>
            <a:endParaRPr lang="fa-IR" dirty="0">
              <a:cs typeface="B Nazanin" pitchFamily="2" charset="-78"/>
            </a:endParaRPr>
          </a:p>
          <a:p>
            <a:pPr>
              <a:buNone/>
            </a:pPr>
            <a:endParaRPr lang="fa-IR" dirty="0">
              <a:cs typeface="B Nazanin" pitchFamily="2" charset="-78"/>
            </a:endParaRPr>
          </a:p>
        </p:txBody>
      </p:sp>
      <p:sp>
        <p:nvSpPr>
          <p:cNvPr id="4" name="Left Arrow 3"/>
          <p:cNvSpPr/>
          <p:nvPr/>
        </p:nvSpPr>
        <p:spPr>
          <a:xfrm>
            <a:off x="4702499" y="2173308"/>
            <a:ext cx="432048" cy="2880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2</a:t>
            </a:fld>
            <a:endParaRPr lang="fa-I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188640"/>
            <a:ext cx="7467600" cy="655742"/>
          </a:xfrm>
        </p:spPr>
        <p:txBody>
          <a:bodyPr>
            <a:noAutofit/>
          </a:bodyPr>
          <a:lstStyle/>
          <a:p>
            <a:pPr algn="ctr"/>
            <a:r>
              <a:rPr lang="fa-IR" sz="4000" b="1" dirty="0">
                <a:solidFill>
                  <a:schemeClr val="accent3">
                    <a:lumMod val="50000"/>
                  </a:schemeClr>
                </a:solidFill>
                <a:cs typeface="B Nazanin" pitchFamily="2" charset="-78"/>
              </a:rPr>
              <a:t>محتواي جلسه</a:t>
            </a:r>
            <a:endParaRPr lang="en-US" sz="4000" b="1" dirty="0">
              <a:solidFill>
                <a:schemeClr val="accent3">
                  <a:lumMod val="50000"/>
                </a:schemeClr>
              </a:solidFill>
              <a:cs typeface="B Nazanin" pitchFamily="2" charset="-78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00034" y="1285860"/>
            <a:ext cx="7467600" cy="48737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fa-IR" sz="2800" b="1" dirty="0">
                <a:cs typeface="B Nazanin" pitchFamily="2" charset="-78"/>
              </a:rPr>
              <a:t>نظريه هاي يادگيري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نظريه شرطي شدن كلاسيك – قوانين يادگيري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نظريه شرطي شدن عملیاتی اسكينر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نظريه يادگيري گشتالت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نظريه يادگيري معني دار آزوبل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نظريه شناختي اجتماعي بندورا( نظريه يادگيري مشاهده اي)</a:t>
            </a:r>
            <a:endParaRPr lang="fa-IR" sz="2800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3</a:t>
            </a:fld>
            <a:endParaRPr lang="fa-I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285728"/>
            <a:ext cx="7467600" cy="846158"/>
          </a:xfrm>
        </p:spPr>
        <p:txBody>
          <a:bodyPr/>
          <a:lstStyle/>
          <a:p>
            <a:pPr algn="ctr"/>
            <a:r>
              <a:rPr lang="fa-IR" b="1" dirty="0">
                <a:solidFill>
                  <a:schemeClr val="tx1"/>
                </a:solidFill>
                <a:cs typeface="B Nazanin" pitchFamily="2" charset="-78"/>
              </a:rPr>
              <a:t>انواع نظریه های یادگیری رفتاری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2143116"/>
            <a:ext cx="7467600" cy="4330836"/>
          </a:xfrm>
        </p:spPr>
        <p:txBody>
          <a:bodyPr>
            <a:normAutofit/>
          </a:bodyPr>
          <a:lstStyle/>
          <a:p>
            <a:r>
              <a:rPr lang="fa-IR" sz="2800" dirty="0">
                <a:cs typeface="B Nazanin" pitchFamily="2" charset="-78"/>
              </a:rPr>
              <a:t>نظريه شرطي شدن كلاسيك</a:t>
            </a:r>
          </a:p>
          <a:p>
            <a:r>
              <a:rPr lang="fa-IR" sz="2800" dirty="0">
                <a:cs typeface="B Nazanin" pitchFamily="2" charset="-78"/>
              </a:rPr>
              <a:t>نظريه شرطي شدن عملیاتی اسكينر</a:t>
            </a:r>
          </a:p>
          <a:p>
            <a:pPr>
              <a:buNone/>
            </a:pPr>
            <a:endParaRPr lang="fa-IR" sz="2800" dirty="0">
              <a:cs typeface="B Nazanin" pitchFamily="2" charset="-78"/>
            </a:endParaRPr>
          </a:p>
          <a:p>
            <a:endParaRPr lang="fa-IR" sz="2800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4</a:t>
            </a:fld>
            <a:endParaRPr lang="fa-I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560406"/>
          </a:xfrm>
        </p:spPr>
        <p:txBody>
          <a:bodyPr>
            <a:normAutofit/>
          </a:bodyPr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itchFamily="2" charset="-78"/>
              </a:rPr>
              <a:t>نظريه يادگيري شرطي شدن كلاسيك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124744"/>
            <a:ext cx="7743804" cy="4873752"/>
          </a:xfrm>
        </p:spPr>
        <p:txBody>
          <a:bodyPr>
            <a:noAutofit/>
          </a:bodyPr>
          <a:lstStyle/>
          <a:p>
            <a:r>
              <a:rPr lang="fa-IR" dirty="0">
                <a:cs typeface="B Nazanin" pitchFamily="2" charset="-78"/>
              </a:rPr>
              <a:t>توسط </a:t>
            </a:r>
            <a:r>
              <a:rPr lang="fa-IR" dirty="0">
                <a:solidFill>
                  <a:srgbClr val="FF0000"/>
                </a:solidFill>
                <a:cs typeface="B Nazanin" pitchFamily="2" charset="-78"/>
              </a:rPr>
              <a:t>پاولوف</a:t>
            </a:r>
            <a:r>
              <a:rPr lang="fa-IR" dirty="0">
                <a:cs typeface="B Nazanin" pitchFamily="2" charset="-78"/>
              </a:rPr>
              <a:t> در قرن بيستم</a:t>
            </a:r>
          </a:p>
          <a:p>
            <a:pPr>
              <a:buFont typeface="Wingdings" pitchFamily="2" charset="2"/>
              <a:buChar char="ü"/>
            </a:pPr>
            <a:r>
              <a:rPr lang="fa-IR" dirty="0">
                <a:cs typeface="B Nazanin" pitchFamily="2" charset="-78"/>
              </a:rPr>
              <a:t>چنانچه یک محرک آغازگر برانگیختگی پاسخ معینی با محرک دیگر(محرک خنثی) همراه گردد، محرک ثانویه می تواند برانگیزنده پاسخ در یادگیرنده باشد.</a:t>
            </a:r>
          </a:p>
          <a:p>
            <a:r>
              <a:rPr lang="fa-IR" dirty="0">
                <a:cs typeface="B Nazanin" pitchFamily="2" charset="-78"/>
              </a:rPr>
              <a:t>پاسخ غير شرطي : پاسخ فيزيولوژيك : ترشح بزاق در برابر بوي غذا</a:t>
            </a:r>
          </a:p>
          <a:p>
            <a:r>
              <a:rPr lang="fa-IR" dirty="0">
                <a:cs typeface="B Nazanin" pitchFamily="2" charset="-78"/>
              </a:rPr>
              <a:t>پاسخ شرطي: پاسخي در برابر يك علامت : ترشح بزاق در برابر صداي زنگ</a:t>
            </a:r>
          </a:p>
          <a:p>
            <a:r>
              <a:rPr lang="fa-IR" dirty="0">
                <a:cs typeface="B Nazanin" pitchFamily="2" charset="-78"/>
              </a:rPr>
              <a:t>از روش هاي شرطي سازي كلاسيك مي توان جهت كمك به افراد در جهت رشد واكنش هاي عاطفي استفاده كرد.</a:t>
            </a:r>
          </a:p>
          <a:p>
            <a:r>
              <a:rPr lang="fa-IR" dirty="0">
                <a:cs typeface="B Nazanin" pitchFamily="2" charset="-78"/>
              </a:rPr>
              <a:t>مثل تبديل بدبيني به خوش بيني</a:t>
            </a:r>
          </a:p>
          <a:p>
            <a:r>
              <a:rPr lang="fa-IR" dirty="0">
                <a:cs typeface="B Nazanin" pitchFamily="2" charset="-78"/>
              </a:rPr>
              <a:t>تشويق بچه اي كه از دندانپزشكي مي ترسد.</a:t>
            </a:r>
          </a:p>
          <a:p>
            <a:r>
              <a:rPr lang="fa-IR" b="1" dirty="0">
                <a:cs typeface="B Nazanin" pitchFamily="2" charset="-78"/>
              </a:rPr>
              <a:t>كاربرد در فرآيند يادگيري : </a:t>
            </a:r>
          </a:p>
          <a:p>
            <a:r>
              <a:rPr lang="fa-IR" dirty="0">
                <a:cs typeface="B Nazanin" pitchFamily="2" charset="-78"/>
              </a:rPr>
              <a:t>ايجاد انگيزه در يادگيرنده</a:t>
            </a:r>
          </a:p>
          <a:p>
            <a:r>
              <a:rPr lang="fa-IR" dirty="0">
                <a:cs typeface="B Nazanin" pitchFamily="2" charset="-78"/>
              </a:rPr>
              <a:t>نشان دادن نتايج سودمند ناشي از يادگيري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5</a:t>
            </a:fld>
            <a:endParaRPr lang="fa-I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8662" y="857232"/>
            <a:ext cx="7467600" cy="4873752"/>
          </a:xfrm>
        </p:spPr>
        <p:txBody>
          <a:bodyPr/>
          <a:lstStyle/>
          <a:p>
            <a:pPr marL="0" indent="0" algn="ctr">
              <a:buNone/>
            </a:pPr>
            <a:r>
              <a:rPr lang="fa-IR" sz="2800" b="1" cap="small" dirty="0">
                <a:latin typeface="+mj-lt"/>
                <a:ea typeface="+mj-ea"/>
                <a:cs typeface="B Nazanin" pitchFamily="2" charset="-78"/>
              </a:rPr>
              <a:t>نظریه کوشش و خطا</a:t>
            </a:r>
          </a:p>
          <a:p>
            <a:endParaRPr lang="en-US" sz="2800" b="1" dirty="0">
              <a:cs typeface="B Nazanin" pitchFamily="2" charset="-78"/>
            </a:endParaRPr>
          </a:p>
          <a:p>
            <a:r>
              <a:rPr lang="fa-IR" sz="2800" b="1" dirty="0">
                <a:cs typeface="B Nazanin" pitchFamily="2" charset="-78"/>
              </a:rPr>
              <a:t>ادوارد ثورندايك بر اساس پاسخ شرطي </a:t>
            </a:r>
            <a:r>
              <a:rPr lang="fa-IR" sz="2800" b="1" dirty="0">
                <a:solidFill>
                  <a:srgbClr val="FF0000"/>
                </a:solidFill>
                <a:cs typeface="B Nazanin" pitchFamily="2" charset="-78"/>
              </a:rPr>
              <a:t>3 قانون يادگيري </a:t>
            </a:r>
            <a:r>
              <a:rPr lang="fa-IR" sz="2800" b="1" dirty="0">
                <a:cs typeface="B Nazanin" pitchFamily="2" charset="-78"/>
              </a:rPr>
              <a:t>را ارائه دادند:</a:t>
            </a:r>
          </a:p>
          <a:p>
            <a:endParaRPr lang="fa-IR" dirty="0">
              <a:cs typeface="B Nazanin" pitchFamily="2" charset="-78"/>
            </a:endParaRPr>
          </a:p>
          <a:p>
            <a:pPr>
              <a:buFont typeface="Wingdings" pitchFamily="2" charset="2"/>
              <a:buChar char="Ø"/>
            </a:pPr>
            <a:r>
              <a:rPr lang="fa-IR" sz="2800" b="1" dirty="0">
                <a:cs typeface="B Nazanin" pitchFamily="2" charset="-78"/>
              </a:rPr>
              <a:t>قانون آمادگي</a:t>
            </a:r>
          </a:p>
          <a:p>
            <a:pPr>
              <a:buFont typeface="Wingdings" pitchFamily="2" charset="2"/>
              <a:buChar char="Ø"/>
            </a:pPr>
            <a:r>
              <a:rPr lang="fa-IR" sz="2800" b="1" dirty="0">
                <a:cs typeface="B Nazanin" pitchFamily="2" charset="-78"/>
              </a:rPr>
              <a:t>قانون تمرين</a:t>
            </a:r>
          </a:p>
          <a:p>
            <a:pPr>
              <a:buFont typeface="Wingdings" pitchFamily="2" charset="2"/>
              <a:buChar char="Ø"/>
            </a:pPr>
            <a:r>
              <a:rPr lang="fa-IR" sz="2800" b="1" dirty="0">
                <a:cs typeface="B Nazanin" pitchFamily="2" charset="-78"/>
              </a:rPr>
              <a:t>قانون اثر</a:t>
            </a:r>
          </a:p>
          <a:p>
            <a:endParaRPr lang="fa-IR" dirty="0">
              <a:cs typeface="B Nazanin" pitchFamily="2" charset="-78"/>
            </a:endParaRPr>
          </a:p>
          <a:p>
            <a:endParaRPr lang="fa-IR" dirty="0">
              <a:cs typeface="B Nazanin" pitchFamily="2" charset="-78"/>
            </a:endParaRPr>
          </a:p>
        </p:txBody>
      </p:sp>
      <p:pic>
        <p:nvPicPr>
          <p:cNvPr id="4" name="Picture 2" descr="C:\Documents and Settings\Administrator\Desktop\power point\MC900383616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3571876"/>
            <a:ext cx="1869968" cy="208281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6</a:t>
            </a:fld>
            <a:endParaRPr lang="fa-I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>
                <a:solidFill>
                  <a:schemeClr val="tx1"/>
                </a:solidFill>
                <a:cs typeface="B Nazanin" pitchFamily="2" charset="-78"/>
              </a:rPr>
              <a:t>قوانين يادگيري : قانون آمادگي</a:t>
            </a:r>
            <a:r>
              <a:rPr lang="fa-IR" dirty="0">
                <a:cs typeface="B Nazanin" pitchFamily="2" charset="-78"/>
              </a:rPr>
              <a:t> : </a:t>
            </a:r>
            <a:br>
              <a:rPr lang="fa-IR" dirty="0">
                <a:cs typeface="B Nazanin" pitchFamily="2" charset="-78"/>
              </a:rPr>
            </a:br>
            <a:endParaRPr lang="fa-IR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628800"/>
            <a:ext cx="7971656" cy="4873752"/>
          </a:xfrm>
        </p:spPr>
        <p:txBody>
          <a:bodyPr/>
          <a:lstStyle/>
          <a:p>
            <a:r>
              <a:rPr lang="fa-IR" b="1" dirty="0">
                <a:cs typeface="B Nazanin" pitchFamily="2" charset="-78"/>
              </a:rPr>
              <a:t>هر فراگيرنده اي بايد از لحاظ رواني و ذهني و جسمی آمادگي يادگرفتن داشته باشد.</a:t>
            </a:r>
          </a:p>
          <a:p>
            <a:pPr>
              <a:buNone/>
            </a:pPr>
            <a:endParaRPr lang="fa-IR" dirty="0">
              <a:cs typeface="B Nazanin" pitchFamily="2" charset="-78"/>
            </a:endParaRPr>
          </a:p>
          <a:p>
            <a:pPr>
              <a:buNone/>
            </a:pPr>
            <a:r>
              <a:rPr lang="fa-IR" b="1" dirty="0">
                <a:cs typeface="B Nazanin" pitchFamily="2" charset="-78"/>
              </a:rPr>
              <a:t>بدون ميل به يادگيري:</a:t>
            </a:r>
          </a:p>
          <a:p>
            <a:pPr>
              <a:buFont typeface="Wingdings" pitchFamily="2" charset="2"/>
              <a:buChar char="Ø"/>
            </a:pPr>
            <a:r>
              <a:rPr lang="fa-IR" dirty="0">
                <a:cs typeface="B Nazanin" pitchFamily="2" charset="-78"/>
              </a:rPr>
              <a:t> نه فرد به جستجوي اطلاعات مي پردازد </a:t>
            </a:r>
          </a:p>
          <a:p>
            <a:pPr>
              <a:buFont typeface="Wingdings" pitchFamily="2" charset="2"/>
              <a:buChar char="Ø"/>
            </a:pPr>
            <a:r>
              <a:rPr lang="fa-IR" dirty="0">
                <a:cs typeface="B Nazanin" pitchFamily="2" charset="-78"/>
              </a:rPr>
              <a:t>نه مربي مي تواند مجبور به يادگيري نمايد.</a:t>
            </a:r>
          </a:p>
          <a:p>
            <a:endParaRPr lang="fa-IR" dirty="0">
              <a:cs typeface="B Nazanin" pitchFamily="2" charset="-78"/>
            </a:endParaRPr>
          </a:p>
          <a:p>
            <a:r>
              <a:rPr lang="fa-IR" dirty="0">
                <a:cs typeface="B Nazanin" pitchFamily="2" charset="-78"/>
              </a:rPr>
              <a:t>قبل از يادگيري يادگيرنده بايد براي يادگيري برانگيخته شود.</a:t>
            </a:r>
          </a:p>
          <a:p>
            <a:endParaRPr lang="fa-IR" dirty="0">
              <a:cs typeface="B Nazanin" pitchFamily="2" charset="-78"/>
            </a:endParaRPr>
          </a:p>
          <a:p>
            <a:pPr>
              <a:buNone/>
            </a:pPr>
            <a:endParaRPr lang="fa-IR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7</a:t>
            </a:fld>
            <a:endParaRPr lang="fa-I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7467600" cy="631844"/>
          </a:xfrm>
        </p:spPr>
        <p:txBody>
          <a:bodyPr>
            <a:normAutofit/>
          </a:bodyPr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itchFamily="2" charset="-78"/>
              </a:rPr>
              <a:t>قوانين يادگيري : قانون تمرين</a:t>
            </a:r>
            <a:endParaRPr lang="en-US" sz="2800" dirty="0"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556792"/>
            <a:ext cx="8181948" cy="4873752"/>
          </a:xfrm>
        </p:spPr>
        <p:txBody>
          <a:bodyPr>
            <a:noAutofit/>
          </a:bodyPr>
          <a:lstStyle/>
          <a:p>
            <a:r>
              <a:rPr lang="fa-IR" sz="3200" dirty="0">
                <a:cs typeface="B Nazanin" pitchFamily="2" charset="-78"/>
              </a:rPr>
              <a:t>هر</a:t>
            </a:r>
            <a:r>
              <a:rPr lang="fa-IR" sz="2800" dirty="0">
                <a:cs typeface="B Nazanin" pitchFamily="2" charset="-78"/>
              </a:rPr>
              <a:t> قدر محرکى را که پاسخ رضايت‌بخش به دنبال دارد بيشتر تکرار کنيم، رابطه بين محرک و پاسخ مستحکم‌تر و پايدارتر خواهد شد، و بالعکس؛ يعنى بر اثر عدم تکرار، پيوند ميان محرک و پاسخ ضعيف‌تر و سست‌تر مى‌شود.</a:t>
            </a:r>
          </a:p>
          <a:p>
            <a:pPr>
              <a:buNone/>
            </a:pPr>
            <a:r>
              <a:rPr lang="fa-IR" dirty="0">
                <a:cs typeface="B Nazanin" pitchFamily="2" charset="-78"/>
              </a:rPr>
              <a:t>ضرب المثل كار نيكو كردن از پر كردن است.</a:t>
            </a:r>
          </a:p>
          <a:p>
            <a:r>
              <a:rPr lang="fa-IR" dirty="0">
                <a:cs typeface="B Nazanin" pitchFamily="2" charset="-78"/>
              </a:rPr>
              <a:t>تكرار يك عمل         انجام كار در وقت كمتر  و كيفيت بهتر        تبديل به رفتار</a:t>
            </a:r>
          </a:p>
          <a:p>
            <a:pPr>
              <a:buNone/>
            </a:pPr>
            <a:endParaRPr lang="en-US" dirty="0">
              <a:cs typeface="B Nazanin" pitchFamily="2" charset="-78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rot="10800000">
            <a:off x="5929322" y="4071942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1714480" y="4078660"/>
            <a:ext cx="481256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8</a:t>
            </a:fld>
            <a:endParaRPr lang="fa-I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16632"/>
            <a:ext cx="7467600" cy="799230"/>
          </a:xfrm>
        </p:spPr>
        <p:txBody>
          <a:bodyPr>
            <a:noAutofit/>
          </a:bodyPr>
          <a:lstStyle/>
          <a:p>
            <a:pPr algn="ctr"/>
            <a:r>
              <a:rPr lang="fa-IR" sz="3200" b="1" dirty="0">
                <a:solidFill>
                  <a:schemeClr val="tx1"/>
                </a:solidFill>
                <a:cs typeface="B Nazanin" pitchFamily="2" charset="-78"/>
              </a:rPr>
              <a:t>قوانين يادگيري : قانون اثر</a:t>
            </a:r>
            <a:endParaRPr lang="en-US" sz="3200" b="1" dirty="0"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352164"/>
            <a:ext cx="8064896" cy="48737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a-IR" sz="2800" b="1" dirty="0">
                <a:cs typeface="B Nazanin" pitchFamily="2" charset="-78"/>
              </a:rPr>
              <a:t>اگر رابطه بين يك محرك ويژه و پاسخ آن ارضاءكننده باشد:</a:t>
            </a:r>
          </a:p>
          <a:p>
            <a:pPr>
              <a:buFont typeface="Wingdings" pitchFamily="2" charset="2"/>
              <a:buChar char="ü"/>
            </a:pPr>
            <a:r>
              <a:rPr lang="fa-IR" sz="2800" dirty="0">
                <a:cs typeface="B Nazanin" pitchFamily="2" charset="-78"/>
              </a:rPr>
              <a:t> تقويت رابطه محرك - پاسخ</a:t>
            </a:r>
          </a:p>
          <a:p>
            <a:pPr>
              <a:buNone/>
            </a:pPr>
            <a:r>
              <a:rPr lang="fa-IR" sz="2800" b="1" dirty="0">
                <a:cs typeface="B Nazanin" pitchFamily="2" charset="-78"/>
              </a:rPr>
              <a:t>اگر رابطه بین محرک و پاسخ  آزار دهنده باشد: </a:t>
            </a:r>
          </a:p>
          <a:p>
            <a:pPr>
              <a:buFont typeface="Wingdings" pitchFamily="2" charset="2"/>
              <a:buChar char="ü"/>
            </a:pPr>
            <a:r>
              <a:rPr lang="fa-IR" sz="2800" dirty="0">
                <a:cs typeface="B Nazanin" pitchFamily="2" charset="-78"/>
              </a:rPr>
              <a:t>ضعيف شدن رابطه محرک – پاسخ</a:t>
            </a:r>
          </a:p>
          <a:p>
            <a:pPr>
              <a:buFont typeface="Wingdings" pitchFamily="2" charset="2"/>
              <a:buChar char="q"/>
            </a:pPr>
            <a:r>
              <a:rPr lang="fa-IR" sz="2800" dirty="0">
                <a:cs typeface="B Nazanin" pitchFamily="2" charset="-78"/>
              </a:rPr>
              <a:t>پاداش‌ها و موفقيت‌ها        تقویت رفتار پاداش يافته </a:t>
            </a:r>
          </a:p>
          <a:p>
            <a:pPr>
              <a:buFont typeface="Wingdings" pitchFamily="2" charset="2"/>
              <a:buChar char="q"/>
            </a:pPr>
            <a:r>
              <a:rPr lang="fa-IR" sz="2800" dirty="0">
                <a:cs typeface="B Nazanin" pitchFamily="2" charset="-78"/>
              </a:rPr>
              <a:t>تنبيه‌ها و ناکامى‌ها      کاهش تکرار رفتارى که تنبيه، شکست يا آزردگى به دنبال داشته است</a:t>
            </a:r>
          </a:p>
          <a:p>
            <a:pPr>
              <a:buFont typeface="Wingdings" pitchFamily="2" charset="2"/>
              <a:buChar char="q"/>
            </a:pPr>
            <a:r>
              <a:rPr lang="fa-IR" sz="2800" dirty="0">
                <a:cs typeface="B Nazanin" pitchFamily="2" charset="-78"/>
              </a:rPr>
              <a:t>هرگاه شاگردان در آنچه ياد مى‌گيرند فايده و ارزش و لذتى احساس کنند، رغبت و علاقه نشان خواهند داد، ولى اگر آن را بي روح و خشک بيابند و هيچ‌گونه رابطه‌اى بين فعاليت‌هاى مدرسه با زندگى واقعى و نيازمندى‌هاى خود کشف نکنند، از آن بيزار شده، نوعى عدم رغبت از خود نشان خواهند داد</a:t>
            </a:r>
          </a:p>
        </p:txBody>
      </p:sp>
      <p:sp>
        <p:nvSpPr>
          <p:cNvPr id="4" name="Left Arrow 3"/>
          <p:cNvSpPr/>
          <p:nvPr/>
        </p:nvSpPr>
        <p:spPr>
          <a:xfrm>
            <a:off x="5225453" y="3212976"/>
            <a:ext cx="360040" cy="21602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5" name="Left Arrow 4"/>
          <p:cNvSpPr/>
          <p:nvPr/>
        </p:nvSpPr>
        <p:spPr>
          <a:xfrm>
            <a:off x="5585493" y="3645024"/>
            <a:ext cx="360040" cy="21602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9</a:t>
            </a:fld>
            <a:endParaRPr lang="fa-I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7467600" cy="703282"/>
          </a:xfrm>
        </p:spPr>
        <p:txBody>
          <a:bodyPr>
            <a:normAutofit/>
          </a:bodyPr>
          <a:lstStyle/>
          <a:p>
            <a:pPr algn="ctr"/>
            <a:r>
              <a:rPr lang="fa-IR" sz="3200" b="1" dirty="0">
                <a:solidFill>
                  <a:schemeClr val="tx1"/>
                </a:solidFill>
                <a:cs typeface="B Nazanin" pitchFamily="2" charset="-78"/>
              </a:rPr>
              <a:t>كاربرد اين 3 قانون در يادگيري</a:t>
            </a:r>
            <a:endParaRPr lang="en-US" sz="3200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sz="2800" dirty="0">
                <a:cs typeface="B Nazanin" pitchFamily="2" charset="-78"/>
              </a:rPr>
              <a:t>ياددهنده بايد : </a:t>
            </a:r>
          </a:p>
          <a:p>
            <a:pPr>
              <a:buFont typeface="Wingdings" pitchFamily="2" charset="2"/>
              <a:buChar char="Ø"/>
            </a:pPr>
            <a:r>
              <a:rPr lang="fa-IR" sz="2800" dirty="0">
                <a:cs typeface="B Nazanin" pitchFamily="2" charset="-78"/>
              </a:rPr>
              <a:t>فردي را انتخاب كند كه آماده باشد.</a:t>
            </a:r>
          </a:p>
          <a:p>
            <a:pPr>
              <a:buFont typeface="Wingdings" pitchFamily="2" charset="2"/>
              <a:buChar char="Ø"/>
            </a:pPr>
            <a:r>
              <a:rPr lang="fa-IR" sz="2800" dirty="0">
                <a:cs typeface="B Nazanin" pitchFamily="2" charset="-78"/>
              </a:rPr>
              <a:t>علاوه بر آمادگي ذهني ظرفيت فيزيكي فرد را در نظر بگيرد.</a:t>
            </a:r>
          </a:p>
          <a:p>
            <a:pPr>
              <a:buFont typeface="Wingdings" pitchFamily="2" charset="2"/>
              <a:buChar char="Ø"/>
            </a:pPr>
            <a:r>
              <a:rPr lang="fa-IR" sz="2800" dirty="0">
                <a:cs typeface="B Nazanin" pitchFamily="2" charset="-78"/>
              </a:rPr>
              <a:t>تشويق، امكانات و خدماتي را براي فراگيرنده فراهم كند.</a:t>
            </a:r>
          </a:p>
          <a:p>
            <a:endParaRPr lang="fa-IR" sz="2800" dirty="0">
              <a:cs typeface="B Nazanin" pitchFamily="2" charset="-78"/>
            </a:endParaRPr>
          </a:p>
          <a:p>
            <a:r>
              <a:rPr lang="fa-IR" sz="2800" dirty="0">
                <a:cs typeface="B Nazanin" pitchFamily="2" charset="-78"/>
              </a:rPr>
              <a:t>فراگيرنده بايد :</a:t>
            </a:r>
          </a:p>
          <a:p>
            <a:pPr>
              <a:buFont typeface="Wingdings" pitchFamily="2" charset="2"/>
              <a:buChar char="Ø"/>
            </a:pPr>
            <a:r>
              <a:rPr lang="fa-IR" sz="2800" dirty="0">
                <a:cs typeface="B Nazanin" pitchFamily="2" charset="-78"/>
              </a:rPr>
              <a:t>فرصت كافي براي تمرين كردن داشته باشد.</a:t>
            </a:r>
          </a:p>
          <a:p>
            <a:pPr>
              <a:buFont typeface="Wingdings" pitchFamily="2" charset="2"/>
              <a:buChar char="Ø"/>
            </a:pPr>
            <a:r>
              <a:rPr lang="fa-IR" sz="2800" dirty="0">
                <a:cs typeface="B Nazanin" pitchFamily="2" charset="-78"/>
              </a:rPr>
              <a:t>مزاياي رفتار يا عمل را از راه آزمون وخطا بشناسد.</a:t>
            </a:r>
          </a:p>
          <a:p>
            <a:pPr>
              <a:buFont typeface="Courier New" pitchFamily="49" charset="0"/>
              <a:buChar char="o"/>
            </a:pPr>
            <a:endParaRPr lang="fa-IR" dirty="0">
              <a:cs typeface="B Nazanin" pitchFamily="2" charset="-78"/>
            </a:endParaRPr>
          </a:p>
          <a:p>
            <a:endParaRPr lang="en-US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10</a:t>
            </a:fld>
            <a:endParaRPr lang="fa-I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774720"/>
          </a:xfrm>
        </p:spPr>
        <p:txBody>
          <a:bodyPr>
            <a:normAutofit/>
          </a:bodyPr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itchFamily="2" charset="-78"/>
              </a:rPr>
              <a:t>نظريه يادگيري شرطي شدن عملیاتی اسكينر</a:t>
            </a:r>
            <a:endParaRPr lang="en-US" sz="2800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484784"/>
            <a:ext cx="7571184" cy="4873752"/>
          </a:xfrm>
        </p:spPr>
        <p:txBody>
          <a:bodyPr>
            <a:normAutofit/>
          </a:bodyPr>
          <a:lstStyle/>
          <a:p>
            <a:r>
              <a:rPr lang="fa-IR" dirty="0">
                <a:cs typeface="B Nazanin" pitchFamily="2" charset="-78"/>
              </a:rPr>
              <a:t>اگر نتایج رضایت بخشی به دنبال یک رفتار بیاید، آن رفتار امکان بروز بیشتری میابد و اگر آن نتایج رضایت بخش نباشد، رفتار مربوط به آن بروز پیدا نمی کند.</a:t>
            </a:r>
          </a:p>
          <a:p>
            <a:r>
              <a:rPr lang="fa-IR" dirty="0">
                <a:cs typeface="B Nazanin" pitchFamily="2" charset="-78"/>
              </a:rPr>
              <a:t>فراگيرنده به شرطي ياد مي گيرد كه رفتار ناشي از يادگيري موجب دريافت پاداش شود. </a:t>
            </a:r>
          </a:p>
          <a:p>
            <a:r>
              <a:rPr lang="fa-IR" dirty="0">
                <a:cs typeface="B Nazanin" pitchFamily="2" charset="-78"/>
              </a:rPr>
              <a:t>مربي بايد اطمينان دهد كه فراگيرنده از يادگيري سود مي برد.</a:t>
            </a:r>
          </a:p>
          <a:p>
            <a:endParaRPr lang="fa-IR" dirty="0">
              <a:cs typeface="B Nazanin" pitchFamily="2" charset="-78"/>
            </a:endParaRPr>
          </a:p>
          <a:p>
            <a:pPr>
              <a:buNone/>
            </a:pPr>
            <a:r>
              <a:rPr lang="fa-IR" dirty="0">
                <a:cs typeface="B Nazanin" pitchFamily="2" charset="-78"/>
              </a:rPr>
              <a:t>مثال:</a:t>
            </a:r>
          </a:p>
          <a:p>
            <a:r>
              <a:rPr lang="fa-IR" dirty="0">
                <a:cs typeface="B Nazanin" pitchFamily="2" charset="-78"/>
              </a:rPr>
              <a:t>آموزش مسائل بهداشتي بايد بلافاصله با عرضه خدمات و امكانات باشد.</a:t>
            </a:r>
          </a:p>
          <a:p>
            <a:endParaRPr lang="en-US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11</a:t>
            </a:fld>
            <a:endParaRPr lang="fa-I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fa-IR" sz="3200" b="1" dirty="0">
                <a:solidFill>
                  <a:schemeClr val="tx1"/>
                </a:solidFill>
                <a:cs typeface="B Nazanin" pitchFamily="2" charset="-78"/>
              </a:rPr>
              <a:t>نظریه های یادگیری شناختی              </a:t>
            </a:r>
            <a:endParaRPr lang="en-US" sz="3200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700808"/>
            <a:ext cx="7467600" cy="45451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a-IR" sz="2800" b="1" dirty="0">
                <a:cs typeface="B Nazanin" pitchFamily="2" charset="-78"/>
              </a:rPr>
              <a:t>نظريه يادگيري گشتالت</a:t>
            </a:r>
          </a:p>
          <a:p>
            <a:pPr>
              <a:lnSpc>
                <a:spcPct val="150000"/>
              </a:lnSpc>
            </a:pPr>
            <a:r>
              <a:rPr lang="fa-IR" sz="2800" b="1" dirty="0">
                <a:cs typeface="B Nazanin" pitchFamily="2" charset="-78"/>
              </a:rPr>
              <a:t>نظريه يادگيري معني دار آزوبل</a:t>
            </a:r>
          </a:p>
          <a:p>
            <a:pPr>
              <a:lnSpc>
                <a:spcPct val="150000"/>
              </a:lnSpc>
            </a:pPr>
            <a:r>
              <a:rPr lang="fa-IR" sz="2800" b="1" dirty="0">
                <a:cs typeface="B Nazanin" pitchFamily="2" charset="-78"/>
              </a:rPr>
              <a:t>نظريه شناختي اجتماعي بندورا ( نظريه يادگيري مشاهده </a:t>
            </a:r>
            <a:r>
              <a:rPr lang="fa-IR" b="1" dirty="0">
                <a:cs typeface="B Nazanin" pitchFamily="2" charset="-78"/>
              </a:rPr>
              <a:t>اي)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12</a:t>
            </a:fld>
            <a:endParaRPr lang="fa-I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467600" cy="703282"/>
          </a:xfrm>
        </p:spPr>
        <p:txBody>
          <a:bodyPr>
            <a:normAutofit/>
          </a:bodyPr>
          <a:lstStyle/>
          <a:p>
            <a:pPr algn="ctr"/>
            <a:r>
              <a:rPr lang="fa-IR" sz="2800" b="1" dirty="0">
                <a:solidFill>
                  <a:schemeClr val="tx1"/>
                </a:solidFill>
                <a:cs typeface="B Nazanin" pitchFamily="2" charset="-78"/>
              </a:rPr>
              <a:t>نظريه يادگيري گشتالت</a:t>
            </a:r>
            <a:endParaRPr lang="en-US" sz="2800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15200" cy="4873752"/>
          </a:xfrm>
        </p:spPr>
        <p:txBody>
          <a:bodyPr>
            <a:normAutofit/>
          </a:bodyPr>
          <a:lstStyle/>
          <a:p>
            <a:r>
              <a:rPr lang="fa-IR" sz="2800" dirty="0">
                <a:cs typeface="B Nazanin" pitchFamily="2" charset="-78"/>
              </a:rPr>
              <a:t>کل چیزی بیش از اجزاء تشکیل دهنده آن است.</a:t>
            </a:r>
          </a:p>
          <a:p>
            <a:r>
              <a:rPr lang="fa-IR" sz="2800" dirty="0">
                <a:cs typeface="B Nazanin" pitchFamily="2" charset="-78"/>
              </a:rPr>
              <a:t>در روانشناسی: پی بردن به </a:t>
            </a:r>
            <a:r>
              <a:rPr lang="fa-IR" sz="2800" b="1" dirty="0">
                <a:cs typeface="B Nazanin" pitchFamily="2" charset="-78"/>
              </a:rPr>
              <a:t>ادراک ارتباط </a:t>
            </a:r>
            <a:r>
              <a:rPr lang="fa-IR" sz="2800" dirty="0">
                <a:cs typeface="B Nazanin" pitchFamily="2" charset="-78"/>
              </a:rPr>
              <a:t>است که موجب رفتار معنی دار می شود.</a:t>
            </a:r>
          </a:p>
          <a:p>
            <a:r>
              <a:rPr lang="fa-IR" sz="2800" dirty="0">
                <a:cs typeface="B Nazanin" pitchFamily="2" charset="-78"/>
              </a:rPr>
              <a:t>یادگیری با ادراک، حل مساله و بینش سروکار دارد.</a:t>
            </a:r>
          </a:p>
          <a:p>
            <a:endParaRPr lang="fa-IR" sz="2800" dirty="0">
              <a:cs typeface="B Nazanin" pitchFamily="2" charset="-78"/>
            </a:endParaRPr>
          </a:p>
          <a:p>
            <a:r>
              <a:rPr lang="fa-IR" sz="2800" b="1" dirty="0">
                <a:cs typeface="B Nazanin" pitchFamily="2" charset="-78"/>
              </a:rPr>
              <a:t>كاربرد اين نظريه :</a:t>
            </a:r>
          </a:p>
          <a:p>
            <a:pPr>
              <a:buFont typeface="Wingdings" pitchFamily="2" charset="2"/>
              <a:buChar char="Ø"/>
            </a:pPr>
            <a:r>
              <a:rPr lang="fa-IR" sz="2800" dirty="0">
                <a:cs typeface="B Nazanin" pitchFamily="2" charset="-78"/>
              </a:rPr>
              <a:t>استفاده از وسايلي كه در شكل دهي تصور ذهني موثر است مثل:</a:t>
            </a:r>
          </a:p>
          <a:p>
            <a:pPr>
              <a:buFont typeface="Wingdings" pitchFamily="2" charset="2"/>
              <a:buChar char="Ø"/>
            </a:pPr>
            <a:r>
              <a:rPr lang="fa-IR" sz="2800" dirty="0">
                <a:cs typeface="B Nazanin" pitchFamily="2" charset="-78"/>
              </a:rPr>
              <a:t> سمعي بصري، تصاوير نمودارها، چارت ها و پوسترها </a:t>
            </a:r>
            <a:endParaRPr lang="en-US" sz="2800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13</a:t>
            </a:fld>
            <a:endParaRPr lang="fa-I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7467600" cy="774720"/>
          </a:xfrm>
        </p:spPr>
        <p:txBody>
          <a:bodyPr>
            <a:normAutofit/>
          </a:bodyPr>
          <a:lstStyle/>
          <a:p>
            <a:pPr algn="r"/>
            <a:r>
              <a:rPr lang="fa-IR" sz="2800" b="1" dirty="0">
                <a:solidFill>
                  <a:schemeClr val="tx1"/>
                </a:solidFill>
                <a:cs typeface="B Nazanin" pitchFamily="2" charset="-78"/>
              </a:rPr>
              <a:t>نظريه يادگيري معني دار آزوبل</a:t>
            </a:r>
            <a:endParaRPr lang="en-US" sz="2800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556792"/>
            <a:ext cx="7920880" cy="4873752"/>
          </a:xfrm>
        </p:spPr>
        <p:txBody>
          <a:bodyPr/>
          <a:lstStyle/>
          <a:p>
            <a:r>
              <a:rPr lang="fa-IR" sz="2800" dirty="0">
                <a:cs typeface="B Nazanin" pitchFamily="2" charset="-78"/>
              </a:rPr>
              <a:t>يادگيري معني دار يعني فرد مطالب آموخته شده جديد را به مطالب قبلی ربط دهد.</a:t>
            </a:r>
          </a:p>
          <a:p>
            <a:endParaRPr lang="fa-IR" sz="2800" dirty="0">
              <a:cs typeface="B Nazanin" pitchFamily="2" charset="-78"/>
            </a:endParaRPr>
          </a:p>
          <a:p>
            <a:r>
              <a:rPr lang="fa-IR" sz="2800" dirty="0">
                <a:cs typeface="B Nazanin" pitchFamily="2" charset="-78"/>
              </a:rPr>
              <a:t>اگر مطلب به هيچ عنوان قابل ربط دادن نباشد: يادگيري غير معني دار( طوطي وار)</a:t>
            </a:r>
          </a:p>
          <a:p>
            <a:pPr>
              <a:buNone/>
            </a:pPr>
            <a:r>
              <a:rPr lang="fa-IR" sz="2800" dirty="0">
                <a:cs typeface="B Nazanin" pitchFamily="2" charset="-78"/>
              </a:rPr>
              <a:t>كاربرد:</a:t>
            </a:r>
          </a:p>
          <a:p>
            <a:pPr>
              <a:buFont typeface="Wingdings" pitchFamily="2" charset="2"/>
              <a:buChar char="ü"/>
            </a:pPr>
            <a:r>
              <a:rPr lang="fa-IR" sz="2800" dirty="0">
                <a:cs typeface="B Nazanin" pitchFamily="2" charset="-78"/>
              </a:rPr>
              <a:t>مربی باید به </a:t>
            </a:r>
            <a:r>
              <a:rPr lang="fa-IR" sz="2800" dirty="0">
                <a:solidFill>
                  <a:srgbClr val="FF0000"/>
                </a:solidFill>
                <a:cs typeface="B Nazanin" pitchFamily="2" charset="-78"/>
              </a:rPr>
              <a:t>ساخت شناختی </a:t>
            </a:r>
            <a:r>
              <a:rPr lang="fa-IR" sz="2800" dirty="0">
                <a:cs typeface="B Nazanin" pitchFamily="2" charset="-78"/>
              </a:rPr>
              <a:t>فراگیران پی ببرد.</a:t>
            </a:r>
          </a:p>
          <a:p>
            <a:r>
              <a:rPr lang="fa-IR" sz="2800" dirty="0">
                <a:cs typeface="B Nazanin" pitchFamily="2" charset="-78"/>
              </a:rPr>
              <a:t>مربي بايد مطالب جديد را به </a:t>
            </a:r>
            <a:r>
              <a:rPr lang="fa-IR" sz="2800" dirty="0">
                <a:solidFill>
                  <a:srgbClr val="FF0000"/>
                </a:solidFill>
                <a:cs typeface="B Nazanin" pitchFamily="2" charset="-78"/>
              </a:rPr>
              <a:t>آموزه هاي قبلي </a:t>
            </a:r>
            <a:r>
              <a:rPr lang="fa-IR" sz="2800" dirty="0">
                <a:cs typeface="B Nazanin" pitchFamily="2" charset="-78"/>
              </a:rPr>
              <a:t>فراگيران ربط دهد.</a:t>
            </a:r>
          </a:p>
          <a:p>
            <a:endParaRPr lang="fa-IR" dirty="0">
              <a:cs typeface="B Nazanin" pitchFamily="2" charset="-78"/>
            </a:endParaRPr>
          </a:p>
          <a:p>
            <a:endParaRPr lang="en-US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14</a:t>
            </a:fld>
            <a:endParaRPr lang="fa-I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01014" cy="725470"/>
          </a:xfrm>
        </p:spPr>
        <p:txBody>
          <a:bodyPr>
            <a:normAutofit fontScale="90000"/>
          </a:bodyPr>
          <a:lstStyle/>
          <a:p>
            <a:pPr algn="r"/>
            <a:r>
              <a:rPr lang="fa-IR" b="1" dirty="0">
                <a:solidFill>
                  <a:schemeClr val="tx1"/>
                </a:solidFill>
                <a:cs typeface="B Nazanin" pitchFamily="2" charset="-78"/>
              </a:rPr>
              <a:t>نظریه یادگیری شناختی اجتماعی بندورا(یادگیری مشاهده ای)</a:t>
            </a:r>
            <a:endParaRPr lang="en-US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a-IR" sz="2800" dirty="0">
                <a:cs typeface="B Nazanin" pitchFamily="2" charset="-78"/>
              </a:rPr>
              <a:t>یادگیری: تعامل </a:t>
            </a:r>
            <a:r>
              <a:rPr lang="fa-IR" sz="2800" dirty="0" smtClean="0">
                <a:cs typeface="B Nazanin" pitchFamily="2" charset="-78"/>
              </a:rPr>
              <a:t>سه </a:t>
            </a:r>
            <a:r>
              <a:rPr lang="fa-IR" sz="2800" dirty="0">
                <a:cs typeface="B Nazanin" pitchFamily="2" charset="-78"/>
              </a:rPr>
              <a:t>جانبه بین شخص و عوامل تعیین کننده </a:t>
            </a:r>
            <a:r>
              <a:rPr lang="fa-IR" sz="2800" dirty="0" smtClean="0">
                <a:cs typeface="B Nazanin" pitchFamily="2" charset="-78"/>
              </a:rPr>
              <a:t>اجتماع و رفتار</a:t>
            </a:r>
            <a:endParaRPr lang="fa-IR" sz="2800" dirty="0">
              <a:cs typeface="B Nazanin" pitchFamily="2" charset="-78"/>
            </a:endParaRPr>
          </a:p>
          <a:p>
            <a:r>
              <a:rPr lang="fa-IR" sz="2800" dirty="0">
                <a:cs typeface="B Nazanin" pitchFamily="2" charset="-78"/>
              </a:rPr>
              <a:t>بسیاری از یادگیری ها از راه مشاهده رفتار دیگران و مشاهده پیامدهای رفتار آنها بدست می آید (الگوبرداری).</a:t>
            </a:r>
          </a:p>
          <a:p>
            <a:r>
              <a:rPr lang="fa-IR" sz="2800" b="1" dirty="0">
                <a:cs typeface="B Nazanin" pitchFamily="2" charset="-78"/>
              </a:rPr>
              <a:t>عوامل مؤثر بر یادگیری مشاهده ای:</a:t>
            </a:r>
          </a:p>
          <a:p>
            <a:pPr>
              <a:buNone/>
            </a:pPr>
            <a:r>
              <a:rPr lang="fa-IR" sz="2800" dirty="0">
                <a:cs typeface="B Nazanin" pitchFamily="2" charset="-78"/>
              </a:rPr>
              <a:t>1- مرحله توجه</a:t>
            </a:r>
          </a:p>
          <a:p>
            <a:pPr>
              <a:buNone/>
            </a:pPr>
            <a:r>
              <a:rPr lang="fa-IR" sz="2800" dirty="0">
                <a:cs typeface="B Nazanin" pitchFamily="2" charset="-78"/>
              </a:rPr>
              <a:t>2- مرحله یادداری و به یادسپاری</a:t>
            </a:r>
          </a:p>
          <a:p>
            <a:pPr>
              <a:buNone/>
            </a:pPr>
            <a:r>
              <a:rPr lang="fa-IR" sz="2800" dirty="0">
                <a:cs typeface="B Nazanin" pitchFamily="2" charset="-78"/>
              </a:rPr>
              <a:t>3- مرحله تولیدی یا باز آفرینی</a:t>
            </a:r>
          </a:p>
          <a:p>
            <a:pPr>
              <a:buNone/>
            </a:pPr>
            <a:r>
              <a:rPr lang="fa-IR" sz="2800" dirty="0">
                <a:cs typeface="B Nazanin" pitchFamily="2" charset="-78"/>
              </a:rPr>
              <a:t>4- مرحله انگیزش و تقویت </a:t>
            </a:r>
            <a:endParaRPr lang="en-US" sz="2800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15</a:t>
            </a:fld>
            <a:endParaRPr lang="fa-I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467600" cy="868346"/>
          </a:xfrm>
        </p:spPr>
        <p:txBody>
          <a:bodyPr/>
          <a:lstStyle/>
          <a:p>
            <a:pPr algn="ctr"/>
            <a:r>
              <a:rPr lang="fa-IR" b="1" dirty="0">
                <a:solidFill>
                  <a:schemeClr val="tx1"/>
                </a:solidFill>
                <a:cs typeface="B Nazanin" pitchFamily="2" charset="-78"/>
              </a:rPr>
              <a:t>سه عامل مهم الگوبرداری از دیدگاه بندورا: </a:t>
            </a:r>
            <a:endParaRPr lang="en-US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484784"/>
            <a:ext cx="7467600" cy="4873752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fa-IR" b="1" dirty="0">
                <a:cs typeface="B Nazanin" pitchFamily="2" charset="-78"/>
              </a:rPr>
              <a:t>1- ویژگی های الگوها: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a-IR" dirty="0">
                <a:cs typeface="B Nazanin" pitchFamily="2" charset="-78"/>
              </a:rPr>
              <a:t>شباهت الگو و مشاهده گر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a-IR" dirty="0">
                <a:cs typeface="B Nazanin" pitchFamily="2" charset="-78"/>
              </a:rPr>
              <a:t>سن و جنسیت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fa-IR" dirty="0">
                <a:cs typeface="B Nazanin" pitchFamily="2" charset="-78"/>
              </a:rPr>
              <a:t>مقام و شهرت</a:t>
            </a:r>
          </a:p>
          <a:p>
            <a:pPr>
              <a:lnSpc>
                <a:spcPct val="150000"/>
              </a:lnSpc>
              <a:buNone/>
            </a:pPr>
            <a:r>
              <a:rPr lang="fa-IR" dirty="0">
                <a:cs typeface="B Nazanin" pitchFamily="2" charset="-78"/>
              </a:rPr>
              <a:t>2</a:t>
            </a:r>
            <a:r>
              <a:rPr lang="fa-IR" b="1" dirty="0">
                <a:cs typeface="B Nazanin" pitchFamily="2" charset="-78"/>
              </a:rPr>
              <a:t>- ویژگی های مشاهده گرها</a:t>
            </a:r>
          </a:p>
          <a:p>
            <a:pPr>
              <a:lnSpc>
                <a:spcPct val="150000"/>
              </a:lnSpc>
              <a:buNone/>
            </a:pPr>
            <a:r>
              <a:rPr lang="fa-IR" dirty="0">
                <a:cs typeface="B Nazanin" pitchFamily="2" charset="-78"/>
              </a:rPr>
              <a:t>مثلا: اعتماد بنفس، استعداد ادراکی و آمادگی قبلی</a:t>
            </a:r>
          </a:p>
          <a:p>
            <a:pPr>
              <a:lnSpc>
                <a:spcPct val="150000"/>
              </a:lnSpc>
              <a:buNone/>
            </a:pPr>
            <a:r>
              <a:rPr lang="fa-IR" b="1" dirty="0">
                <a:cs typeface="B Nazanin" pitchFamily="2" charset="-78"/>
              </a:rPr>
              <a:t>3- پیامدهای پاداش مرتبط با رفتارها</a:t>
            </a:r>
          </a:p>
          <a:p>
            <a:pPr>
              <a:buNone/>
            </a:pPr>
            <a:endParaRPr lang="fa-IR" dirty="0"/>
          </a:p>
          <a:p>
            <a:pPr>
              <a:buNone/>
            </a:pPr>
            <a:endParaRPr lang="fa-I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16</a:t>
            </a:fld>
            <a:endParaRPr lang="fa-I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467600" cy="725470"/>
          </a:xfrm>
        </p:spPr>
        <p:txBody>
          <a:bodyPr/>
          <a:lstStyle/>
          <a:p>
            <a:pPr algn="ctr"/>
            <a:r>
              <a:rPr lang="fa-IR" b="1" dirty="0">
                <a:solidFill>
                  <a:schemeClr val="tx1"/>
                </a:solidFill>
                <a:cs typeface="B Nazanin" pitchFamily="2" charset="-78"/>
              </a:rPr>
              <a:t>انتقال یادگیری</a:t>
            </a:r>
            <a:endParaRPr lang="en-US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412776"/>
            <a:ext cx="8003232" cy="4873752"/>
          </a:xfrm>
        </p:spPr>
        <p:txBody>
          <a:bodyPr>
            <a:normAutofit/>
          </a:bodyPr>
          <a:lstStyle/>
          <a:p>
            <a:r>
              <a:rPr lang="fa-IR" sz="2800" dirty="0">
                <a:cs typeface="B Nazanin" pitchFamily="2" charset="-78"/>
              </a:rPr>
              <a:t>استفاده از تجربیات آموخته شده از یک مهارت در اجرای همان مهارت اما در زمینه ای جدید و یا بکارگیری در اجرای مهارتی نو است.</a:t>
            </a:r>
          </a:p>
          <a:p>
            <a:r>
              <a:rPr lang="fa-IR" sz="2800" dirty="0">
                <a:cs typeface="B Nazanin" pitchFamily="2" charset="-78"/>
              </a:rPr>
              <a:t>انتقال یادگیری بخش کیفی آموزش است.</a:t>
            </a:r>
          </a:p>
          <a:p>
            <a:r>
              <a:rPr lang="fa-IR" sz="2800" b="1" dirty="0">
                <a:cs typeface="B Nazanin" pitchFamily="2" charset="-78"/>
              </a:rPr>
              <a:t>عوامل موثر بر انتقال یادگیری:</a:t>
            </a:r>
          </a:p>
          <a:p>
            <a:r>
              <a:rPr lang="fa-IR" sz="2800" dirty="0">
                <a:cs typeface="B Nazanin" pitchFamily="2" charset="-78"/>
              </a:rPr>
              <a:t>توانایی یادگیرنده (ظرفیت فردی برای انتقال مانند هوش و یادگیری های قبلی)</a:t>
            </a:r>
          </a:p>
          <a:p>
            <a:r>
              <a:rPr lang="fa-IR" sz="2800" dirty="0">
                <a:cs typeface="B Nazanin" pitchFamily="2" charset="-78"/>
              </a:rPr>
              <a:t>انگیزش یادگیرنده </a:t>
            </a:r>
          </a:p>
          <a:p>
            <a:r>
              <a:rPr lang="fa-IR" sz="2800" dirty="0">
                <a:cs typeface="B Nazanin" pitchFamily="2" charset="-78"/>
              </a:rPr>
              <a:t>کیفیت آموزشی (محتوای آموزشی متناسب با موقعیت یادگیری، ارائه آموزش و کاربرد آن به صورت همزمان، کار عملی و تمرین)</a:t>
            </a:r>
          </a:p>
          <a:p>
            <a:r>
              <a:rPr lang="fa-IR" sz="2800" dirty="0">
                <a:cs typeface="B Nazanin" pitchFamily="2" charset="-78"/>
              </a:rPr>
              <a:t>کمیت آموزشی (زمان)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17</a:t>
            </a:fld>
            <a:endParaRPr lang="fa-I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285728"/>
            <a:ext cx="7467600" cy="725470"/>
          </a:xfrm>
        </p:spPr>
        <p:txBody>
          <a:bodyPr>
            <a:normAutofit fontScale="90000"/>
          </a:bodyPr>
          <a:lstStyle/>
          <a:p>
            <a:r>
              <a:rPr lang="fa-IR" b="1" dirty="0">
                <a:solidFill>
                  <a:schemeClr val="tx1"/>
                </a:solidFill>
                <a:cs typeface="B Nazanin" pitchFamily="2" charset="-78"/>
              </a:rPr>
              <a:t>فرآیند شناختی حافظه( مراحل پردازش اطلاعات در حافظه)</a:t>
            </a:r>
            <a:endParaRPr lang="en-US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484784"/>
            <a:ext cx="7992888" cy="48737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توجه و ثبت در اندام حسی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دریافت انتخابی محرک از محیط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ذخیره در حافظه کوتاه مدت( ناپایدار، حدود 30 ثانیه)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رمزگذاری (تبدیل اطلاعات به شکلی معنی دار و قابل درک در حافظه)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حافظه دراز مدت ( پایدار)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بازیافت ( فراخوانی)</a:t>
            </a:r>
            <a:endParaRPr lang="en-US" sz="2800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18</a:t>
            </a:fld>
            <a:endParaRPr lang="fa-I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829444" cy="954914"/>
          </a:xfrm>
        </p:spPr>
        <p:txBody>
          <a:bodyPr/>
          <a:lstStyle/>
          <a:p>
            <a:pPr algn="r"/>
            <a:r>
              <a:rPr lang="fa-IR" b="1" dirty="0">
                <a:solidFill>
                  <a:schemeClr val="tx1"/>
                </a:solidFill>
                <a:cs typeface="B Nazanin" pitchFamily="2" charset="-78"/>
              </a:rPr>
              <a:t>راهکارهای افزایش بخاطرسپاری آموخته ها </a:t>
            </a:r>
            <a:endParaRPr lang="en-US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484784"/>
            <a:ext cx="7467600" cy="487375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a-IR" b="1" dirty="0">
                <a:cs typeface="B Nazanin" pitchFamily="2" charset="-78"/>
              </a:rPr>
              <a:t>کاربرد مطالب یادگرفته شده جدید در موقعیت عملی</a:t>
            </a:r>
          </a:p>
          <a:p>
            <a:pPr>
              <a:spcAft>
                <a:spcPts val="600"/>
              </a:spcAft>
            </a:pPr>
            <a:r>
              <a:rPr lang="fa-IR" b="1" dirty="0">
                <a:cs typeface="B Nazanin" pitchFamily="2" charset="-78"/>
              </a:rPr>
              <a:t>سازماندهی مطالب</a:t>
            </a:r>
          </a:p>
          <a:p>
            <a:pPr>
              <a:spcAft>
                <a:spcPts val="600"/>
              </a:spcAft>
            </a:pPr>
            <a:r>
              <a:rPr lang="fa-IR" b="1" dirty="0">
                <a:cs typeface="B Nazanin" pitchFamily="2" charset="-78"/>
              </a:rPr>
              <a:t>تمرین و تکرار</a:t>
            </a:r>
          </a:p>
          <a:p>
            <a:pPr>
              <a:spcAft>
                <a:spcPts val="600"/>
              </a:spcAft>
            </a:pPr>
            <a:r>
              <a:rPr lang="fa-IR" b="1" dirty="0">
                <a:cs typeface="B Nazanin" pitchFamily="2" charset="-78"/>
              </a:rPr>
              <a:t>ترویج تمرکز جهت یادگیری</a:t>
            </a:r>
          </a:p>
          <a:p>
            <a:pPr>
              <a:spcAft>
                <a:spcPts val="600"/>
              </a:spcAft>
            </a:pPr>
            <a:r>
              <a:rPr lang="fa-IR" b="1" dirty="0">
                <a:cs typeface="B Nazanin" pitchFamily="2" charset="-78"/>
              </a:rPr>
              <a:t>دریافت و درک معنی از مطالب</a:t>
            </a:r>
          </a:p>
          <a:p>
            <a:pPr>
              <a:spcAft>
                <a:spcPts val="600"/>
              </a:spcAft>
            </a:pPr>
            <a:r>
              <a:rPr lang="fa-IR" b="1" dirty="0">
                <a:cs typeface="B Nazanin" pitchFamily="2" charset="-78"/>
              </a:rPr>
              <a:t>تجسم بینایی (تصویر سازی ذهنی)</a:t>
            </a:r>
          </a:p>
          <a:p>
            <a:pPr>
              <a:spcAft>
                <a:spcPts val="600"/>
              </a:spcAft>
            </a:pPr>
            <a:r>
              <a:rPr lang="fa-IR" b="1" dirty="0">
                <a:cs typeface="B Nazanin" pitchFamily="2" charset="-78"/>
              </a:rPr>
              <a:t>عقاید محسوس واقعی و خاص بیش از انتزاعی و کلی بخاطر می ماند</a:t>
            </a:r>
            <a:r>
              <a:rPr lang="fa-IR" dirty="0">
                <a:cs typeface="B Nazanin" pitchFamily="2" charset="-78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fa-IR" b="1" dirty="0">
                <a:cs typeface="B Nazanin" pitchFamily="2" charset="-78"/>
              </a:rPr>
              <a:t>تاکید بر اهمیت بخاطر سپاری </a:t>
            </a:r>
            <a:r>
              <a:rPr lang="fa-IR" dirty="0">
                <a:cs typeface="B Nazanin" pitchFamily="2" charset="-78"/>
              </a:rPr>
              <a:t>در مواردی مانند تشخیص به موقع بیماری ، هدف از جراحی، خطر مرگ و عوارض، فواید درمان.</a:t>
            </a:r>
            <a:endParaRPr lang="en-US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19</a:t>
            </a:fld>
            <a:endParaRPr lang="fa-I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46"/>
          </a:xfrm>
        </p:spPr>
        <p:txBody>
          <a:bodyPr>
            <a:normAutofit/>
          </a:bodyPr>
          <a:lstStyle/>
          <a:p>
            <a:pPr algn="ctr"/>
            <a:r>
              <a:rPr lang="fa-IR" sz="3200" b="1" dirty="0">
                <a:solidFill>
                  <a:schemeClr val="tx1"/>
                </a:solidFill>
                <a:cs typeface="B Nazanin" pitchFamily="2" charset="-78"/>
              </a:rPr>
              <a:t>یادگیری نگرش</a:t>
            </a:r>
            <a:endParaRPr lang="en-US" sz="3200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نگرش قبول مسئولیت و سازگاری با بیماری یک تکلیف کلی در آموزش به بیمار است.</a:t>
            </a:r>
          </a:p>
          <a:p>
            <a:pPr>
              <a:lnSpc>
                <a:spcPct val="150000"/>
              </a:lnSpc>
              <a:buNone/>
            </a:pPr>
            <a:r>
              <a:rPr lang="fa-IR" sz="2800" dirty="0">
                <a:cs typeface="B Nazanin" pitchFamily="2" charset="-78"/>
              </a:rPr>
              <a:t> </a:t>
            </a:r>
            <a:r>
              <a:rPr lang="fa-IR" sz="2800" b="1" dirty="0">
                <a:cs typeface="B Nazanin" pitchFamily="2" charset="-78"/>
              </a:rPr>
              <a:t>عوامل موثر بر تغییر نگرش: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عضویت در گروه( تایید گروه، فشار گروه)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نقش بازی کردن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تشویق از جانب اطرافیان</a:t>
            </a:r>
          </a:p>
          <a:p>
            <a:pPr>
              <a:lnSpc>
                <a:spcPct val="150000"/>
              </a:lnSpc>
            </a:pPr>
            <a:r>
              <a:rPr lang="fa-IR" sz="2800" dirty="0">
                <a:cs typeface="B Nazanin" pitchFamily="2" charset="-78"/>
              </a:rPr>
              <a:t>فراهم نمودن تجربه رضایت بخش</a:t>
            </a:r>
            <a:endParaRPr lang="en-US" sz="2800" dirty="0">
              <a:cs typeface="B Nazanin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20</a:t>
            </a:fld>
            <a:endParaRPr lang="fa-I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39784"/>
          </a:xfrm>
        </p:spPr>
        <p:txBody>
          <a:bodyPr>
            <a:normAutofit/>
          </a:bodyPr>
          <a:lstStyle/>
          <a:p>
            <a:pPr algn="ctr"/>
            <a:r>
              <a:rPr lang="fa-IR" sz="3200" b="1" dirty="0">
                <a:solidFill>
                  <a:schemeClr val="tx1"/>
                </a:solidFill>
                <a:cs typeface="B Nazanin" pitchFamily="2" charset="-78"/>
              </a:rPr>
              <a:t>یادگیری مهارت های روانی حرکتی</a:t>
            </a:r>
            <a:endParaRPr lang="en-US" sz="3200" b="1" dirty="0">
              <a:solidFill>
                <a:schemeClr val="tx1"/>
              </a:solidFill>
              <a:cs typeface="B Nazanin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a-IR" sz="2800" b="1" dirty="0">
                <a:cs typeface="B Nazanin" pitchFamily="2" charset="-78"/>
              </a:rPr>
              <a:t>  برخی ازعوامل مؤثر بر یادگیری مهارت:</a:t>
            </a:r>
          </a:p>
          <a:p>
            <a:r>
              <a:rPr lang="fa-IR" sz="2800" dirty="0">
                <a:cs typeface="B Nazanin" pitchFamily="2" charset="-78"/>
              </a:rPr>
              <a:t>تصویرسازی و تمرین ذهنی </a:t>
            </a:r>
          </a:p>
          <a:p>
            <a:r>
              <a:rPr lang="fa-IR" sz="2800" dirty="0">
                <a:cs typeface="B Nazanin" pitchFamily="2" charset="-78"/>
              </a:rPr>
              <a:t>راهنمایی مناسب </a:t>
            </a:r>
          </a:p>
          <a:p>
            <a:r>
              <a:rPr lang="fa-IR" sz="2800" dirty="0">
                <a:cs typeface="B Nazanin" pitchFamily="2" charset="-78"/>
              </a:rPr>
              <a:t>دوره های تمرین به صورت کوتاه و مکرر</a:t>
            </a:r>
          </a:p>
          <a:p>
            <a:r>
              <a:rPr lang="fa-IR" sz="2800" dirty="0">
                <a:cs typeface="B Nazanin" pitchFamily="2" charset="-78"/>
              </a:rPr>
              <a:t>بازخورد نتایج اعمال  برای یادگیری بهتر مهارت</a:t>
            </a:r>
          </a:p>
          <a:p>
            <a:r>
              <a:rPr lang="fa-IR" sz="2800" dirty="0">
                <a:cs typeface="B Nazanin" pitchFamily="2" charset="-78"/>
              </a:rPr>
              <a:t>سازماندهی و برنامه ریزی تمرین</a:t>
            </a:r>
          </a:p>
          <a:p>
            <a:pPr>
              <a:buNone/>
            </a:pPr>
            <a:endParaRPr lang="fa-IR" sz="2800" dirty="0">
              <a:cs typeface="B Nazanin" pitchFamily="2" charset="-78"/>
            </a:endParaRPr>
          </a:p>
          <a:p>
            <a:pPr>
              <a:buNone/>
            </a:pPr>
            <a:r>
              <a:rPr lang="fa-IR" sz="2800" dirty="0">
                <a:cs typeface="B Nazanin" pitchFamily="2" charset="-78"/>
              </a:rPr>
              <a:t>نکته : تمرین در مراحل ابتدایی یادگیری مهم است. چرا؟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21</a:t>
            </a:fld>
            <a:endParaRPr lang="fa-I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ehdi ilam\Desktop\60bd33ae2329a8e3291a8dbea1af8eb9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693082" y="5786454"/>
            <a:ext cx="2063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3600" b="1" dirty="0">
                <a:solidFill>
                  <a:schemeClr val="bg1"/>
                </a:solidFill>
              </a:rPr>
              <a:t>خسته نباشید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http://arsintop.blogfa.com/</a:t>
            </a:r>
            <a:endParaRPr lang="fa-I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017318F-721D-440D-96EE-79BFEED8230F}" type="slidenum">
              <a:rPr lang="fa-IR" smtClean="0"/>
              <a:pPr/>
              <a:t>22</a:t>
            </a:fld>
            <a:endParaRPr lang="fa-I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1821</TotalTime>
  <Words>1311</Words>
  <Application>Microsoft Office PowerPoint</Application>
  <PresentationFormat>On-screen Show (4:3)</PresentationFormat>
  <Paragraphs>174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B Nazanin</vt:lpstr>
      <vt:lpstr>Calibri</vt:lpstr>
      <vt:lpstr>Century Schoolbook</vt:lpstr>
      <vt:lpstr>Courier New</vt:lpstr>
      <vt:lpstr>Times New Roman</vt:lpstr>
      <vt:lpstr>Wingdings</vt:lpstr>
      <vt:lpstr>Wingdings 2</vt:lpstr>
      <vt:lpstr>Oriel</vt:lpstr>
      <vt:lpstr>نظريه هاي يادگيري </vt:lpstr>
      <vt:lpstr>انواع نظريه هاي يادگيري</vt:lpstr>
      <vt:lpstr>محتواي جلسه</vt:lpstr>
      <vt:lpstr>انواع نظریه های یادگیری رفتاری</vt:lpstr>
      <vt:lpstr>نظريه يادگيري شرطي شدن كلاسيك</vt:lpstr>
      <vt:lpstr>PowerPoint Presentation</vt:lpstr>
      <vt:lpstr>قوانين يادگيري : قانون آمادگي :  </vt:lpstr>
      <vt:lpstr>قوانين يادگيري : قانون تمرين</vt:lpstr>
      <vt:lpstr>قوانين يادگيري : قانون اثر</vt:lpstr>
      <vt:lpstr>كاربرد اين 3 قانون در يادگيري</vt:lpstr>
      <vt:lpstr>نظريه يادگيري شرطي شدن عملیاتی اسكينر</vt:lpstr>
      <vt:lpstr>نظریه های یادگیری شناختی              </vt:lpstr>
      <vt:lpstr>نظريه يادگيري گشتالت</vt:lpstr>
      <vt:lpstr>نظريه يادگيري معني دار آزوبل</vt:lpstr>
      <vt:lpstr>نظریه یادگیری شناختی اجتماعی بندورا(یادگیری مشاهده ای)</vt:lpstr>
      <vt:lpstr>سه عامل مهم الگوبرداری از دیدگاه بندورا: </vt:lpstr>
      <vt:lpstr>انتقال یادگیری</vt:lpstr>
      <vt:lpstr>فرآیند شناختی حافظه( مراحل پردازش اطلاعات در حافظه)</vt:lpstr>
      <vt:lpstr>راهکارهای افزایش بخاطرسپاری آموخته ها </vt:lpstr>
      <vt:lpstr>یادگیری نگرش</vt:lpstr>
      <vt:lpstr>یادگیری مهارت های روانی حرکتی</vt:lpstr>
      <vt:lpstr>PowerPoint Presentation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نظريه هاي يادگيري </dc:title>
  <dc:creator>hasaniv1</dc:creator>
  <cp:lastModifiedBy>JAHAN-SYSTEM</cp:lastModifiedBy>
  <cp:revision>211</cp:revision>
  <dcterms:created xsi:type="dcterms:W3CDTF">2012-02-17T06:35:15Z</dcterms:created>
  <dcterms:modified xsi:type="dcterms:W3CDTF">2026-10-21T12:04:54Z</dcterms:modified>
</cp:coreProperties>
</file>