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216"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1976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 جلسه اول درس آموزش و یادگیری در پرستاری خوشامد گوییم. آموزش به بیمار، یکی از حیاتی‌ترین نقش‌های پرستار در نظام سلامت معاصر است؛ نقشی که فراتر از مراقب صرف، به آموزش‌گر تخصصی ارتقا یافته است. در این جلسه، فرآیند آموزش به مددجو را با رویکردی نظری و کاربردی مرور می‌کنیم. ابتدا ضرورت آموزش بهداشت در نظام سلامت امروز را بررسی می‌کنیم، سپس وارد نظریه یادگیری و مؤلفه‌های بنیادین آن می‌شویم، و در ادامه فرآیند پنج‌مرحله‌ای آموزش به بیمار و سه حیطه یادگیری شناختی، عاطفی و روانی-حرکتی را تشریح می‌کنیم. در پایان نیز با موانع یادگیری و چک‌لیست کاربردی آموزش مؤثر آشنا می‌شویم. ساختار کلی جلسه حول یازده اصل یادگیری، پنج مرحله فرآیند آموزش و سه حیطه یادگیری تنظیم شده است.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نقشه راه جلسه را با شما مرور می‌کنیم. جلسه در چهار بخش ساختار یافته است. بخش نخست، مبانی آموزش بهداشت، به ضرورت و اهمیت آموزش در نظام سلامت می‌پردازد. بخش دوم، نظریه یادگیری، مفاهیم بنیادین، ماهیت، اصول یازده‌گانه و عوامل مؤثر بر یادگیری را تشریح می‌کند. بخش سوم، آموزش به بیمار، فرآیند پنج‌مرحله‌ای و روش‌های تدریس بالینی را در سه حیطه شناختی، عاطفی و روانی-حرکتی معرفی می‌کند. در نهایت بخش چهارم، موانع یادگیری، ارزشیابی بالینی و چک‌لیست کاربردی آموزش مؤثر را پوشش می‌دهد. تأکید ما بر پیوستگی مطالب از نظریه تا کاربرد بالینی است؛ هر بخش پایه‌ای برای بخش بعدی فراهم می‌کند.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وارد بخش نخست جلسه می‌شویم: مبانی آموزش بهداشت. در این بخش، ابتدا به ضرورت آموزش بهداشت در نظام سلامت معاصر می‌پردازیم و نشان می‌دهیم که چرا آموزش، دیگر یک فعالیت جانبی برای پرستار نیست، بلکه هسته اصلی مراقبت است. عواملی مانند تغییر الگوی بیماری از حاد به مزمن، افزایش هزینه‌های درمان، و تأکید بر توانمندسازی بیمار، نقش پرستار را از مراقب صرف به آموزش‌گر تخصصی ارتقا داده است. سپس آمارهای کلیدی جهانی را مرور می‌کنیم که اثربخشی آموزش در کاهش بازپذیرستانی، افزایش پایبندی به درمان و کاهش خطاهای دارویی را نشان می‌دهد. در پایان این بخش، درک روشنی از جایگاه آموزش در نظام سلامت خواهیم داشت.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پنج عامل کلیدی که آموزش بهداشت را در نظام سلامت معاصر ضروری کرده‌اند را مرور می‌کنیم. عامل اول، اولویت یافتن حفظ سلامتی بر درمان است؛ در رویکرد نوین، پیشگیری ارزان‌تر و مؤثرتر از درمان است. عامل دوم، کاهش مدت بستری است؛ آموزش صحیح به بیمار امکان ترخیص زودتر را فراهم می‌کند. عامل سوم، افزایش بیماری‌های مزمن مانند دیابت، فشار خون و بیماری کلیوی مزمن است که نیاز به آموزش مستمر دارند. عامل چهارم، انتظار جامعه از پرستار به عنوان مرجع بهداشتی است؛ پرستار در نزدیک‌ترین نقطه به بیمار قرار دارد. عامل پنجم، کارکرد چهارگانه آموزش در پیشگیری، درمان، توانبخشی و ارتقاء سلامت است. هر یک از این عوامل با مثال بالینی قابل تشریح است.</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چهار رقم، روایتگر اهمیت آموزش در پرستاری است. آمار نخست نشان می‌دهد آموزش مناسب پیش از ترخیص، بازپذیرستانی را تا ۶۰ درصد کاهش می‌دهد؛ این رقم، بازگشت مالی مستقیم به نظام سلامت دارد. آمار دوم، بیمارانی که آموزش ساختارافته دریافت می‌کنند سه برابر بیشتر به برنامه درمانی پایبند می‌شوند؛ یعنی adherence به طور معناداری افزایش می‌یابد. آمار سوم، بیش از ۸۰ درصد هزینه‌های سلامت به بیماری‌های مزمن اختصاص دارد که مدیریت آن‌ها بدون آموزش بیمار ممکن نیست. آمار چهارم، آموزش صحیح مصرف دارو، خطاهای دارویی سرپایی را تا نصف کاهش می‌دهد. تأکید ما بر ROI آموزش است؛ یعنی هر ساعت آموزش پرستار، چندین برابر در کاهش هزینه‌ها و بهبود پیامد مؤثر است.</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وارد بخش دوم جلسه می‌شویم: نظریه یادگیری. در این بخش به بنیادهای نظری یادگیری می‌پردازیم که پیش‌نیاز طراحی هر آموزش مؤثری است. ابتدا تعریف یادگیری را از زوایای مختلف بررسی می‌کنیم؛ از نگاه فرهنگ لغت، نگاه گشتالت، و تعریف علمی هلیگارد و مارکوئیز که تعریف مرجع پرستاری است. سپس سه مؤلفه کلیدی تعریف علمی، یعنی تغییر، نسبتاً پایدار بودن و رفتار بالقوه را تشریح می‌کنیم. در ادامه، ماهیت یادگیری به عنوان فرآیند مستمر و مبتنی بر تجربه، و چهار مرحله فرآوری یادگیری شامل فراگرفتن، نگهداری، یادآوری و بازتولید را مرور می‌کنیم. سپس یازده اصل یادگیری و پنج عامل مؤثر بر آن را می‌آموزیم. در پایان این بخش، درک روشنی از چگونگی طراحی آموزش مبتنی بر نظریه خواهید داشت.</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سه تعریف یادگیری را با هم مقایسه می‌کنیم. تعریف فرهنگ لغت، یادگیری را «کسب دانش از روی شوق» می‌داند؛ نگاهی عاطفی و سنتی. تعریف گشتالت، یادگیری را «کسب بینش جدید یا تغییر در بینش‌های گذشته» می‌داند؛ در این نگاه، یادگیری بازorganisation اطلاعات و درک ناگهانی روابط است. اما تعریف هلیگارد و مارکوئیز، تعریف مرجع ما در پرستاری است: «فرآیند ایجاد تغییرات نسبتاً پایدار در رفتار بالقوه یادگیرنده، مشروط بر اینکه در اثر تجربه و بینش باشد و ناشی از عوامل فیزیولوژیک نباشد.» این تعریف، سه مؤلفه کلیدی را برجسته می‌کند: تغییر، پایداری، و رفتار بالقوه. در اسلاید بعدی این سه مؤلفه را تفکیک می‌کنیم.</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سه مؤلفه کلیدی تعریف علمی یادگیری را تفکیک می‌کنیم. مؤلفه نخست، تغییر است؛ یادگیری همیشه منجر به تغییری در فرد می‌شود. این تغییر از ساده‌ترین حالت مانند یادگیری شماره تلفن تا پیچیده‌ترین مانند مهارت تزریق متغیر است. مثال بالینی: بیماری که آموزش تزریق انسولین می‌گیرد، تغییر آشکاری در مهارت وی ایجاد می‌شود. مؤلفه دوم، پایداری است؛ تغییر باید نسبتاً پایدار باشد. اگر تغییری بر اثر خستگی، هیجان، انگیزش موقت، یا بلوغ باشد و به سرعت از بین برود، یادگیری محسوب نمی‌شود. مثال: بیماری که در حین تب، دست‌هایش را لرزان دارد، یادگیری نیست. مؤلفه سوم، رفتار بالقوه است؛ یادگیری همیشه بلافاصله در رفتار ظاهری بروز نمی‌کند. گاهی فرد آموخته را در خود نگه می‌دارد و در زمان مناسب نشان می‌دهد.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یادگیری یک فرآیند مستمر و پیوسته است که در تمام طول زندگی فرد و در همه محیط‌ها جریان دارد، نه فقط در کلاس درس یا هنگام آموزش رسمی. این ویژگی به پرستار یادآوری می‌کند که بیمار دائماً از محیط و تجربه‌هایش یاد می‌گیرد، چه مثبت و چه منفی. ویژگی دوم یعنی تکیه بر تجربه، تفاوت یادگیری با تغییرات فیزیولوژیک را روشن می‌کند. به‌عنوان مثال بالینی، در آموزش تزریق عضلانی به بیمار یا همراه، تنها مصرف داروی آرام‌بخش یا بلوغ فیزیولوژیک منجر به یادگیری نمی‌شود؛ بلکه بیمار باید خود تزریق را انجام دهد، تورنگ را ببیند و بازخورد دریافت کند تا مهارت در حافظه او ثبت شود. این تمایز برای طراحی برنامه آموزشی پرستار حیاتی است.</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آموزش از یادگیری متمایز است؛ یادگیری پدیده‌ای است که در ذهن فرد رخ می‌دهد و ممکن است حتی بدون آموزش رسمی هم اتفاق بیفتد، اما آموزش فعالیت آگاهانه، طراحی‌شده و هدف‌مندی است که پرستار برای تسهیل یادگیری بیمار انجام می‌دهد. تعریف سنتی فرهنگ لغت، بر رشد و پرورش تأکید دارد و نگاهی معلم‌محور است؛ تعریف براون و اتکینس، نگاهی یادگیرنده‌محور ارائه می‌کند و بر فراهم آوردن فرصت یادگیری تمرکز می‌کند؛ تعریف جامع، جامع‌ترین چارچوب را فراهم می‌کند و شامل هرگونه تدبیر از پیش طراحی‌شده برای آسان کردن یادگیری است. چهار ویژگی کلیدی — ارتباطی بودن، پاسخ به نیاز، نیاز به ارتباط معلم-یادگیرنده و آگاهانه بودن — چارچوبی برای ارزیابی کیفیت مداخله آموزشی پرستار در بالین فراهم می‌آورد.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بالینی: فرض کنید پرستار آموزش تزریق انسولین را به بیمار دیابتی ارائه می‌دهد؛ جلسه آموزشی برگزار شده، بروشور داده شده و پرستار نحوه تزریق را نشان داده است — یعنی فرآیند آموزش به طور کامل اجرا شده. اما هنگام ارزشیابی، بیمار نمی‌تواند تزریق را به‌درستی انجام دهد. در اینجا آموزش انجام شد، اما یادگیری رخ نداد. این مثال تفاوت اساسی دو مفهوم را روشن می‌کند: آموزش فعالیت آگاهانه و طراحی‌شده‌ای است که از سوی معلم/پرستار اجرا می‌شود و در تعامل رخ می‌دهد، در حالی که یادگیری فرآیندی درونی در ذهن بیمار است که هدف نهایی است و قابل مشاهده مستقیم نیست. وظیفه پرستار طراحی آموزشی است که بیشترین احتمال وقوع یادگیری را فراهم کند.</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بالینی آموزش شستشوی دست به بیمار: در مرحله فراگرفتن، بیمار مراحل شستشوی دست را از پرستار می‌بیند و می‌شنود. در مرحله نگهداری، این اطلاعات باید در حافظه کوتاه‌مدت و سپس بلندمدت ذخیره شوند؛ اما اگر بیمار خسته، دردناک یا پرت atención باشد، اطلاعات به‌خوبی در حافظه ثبت نمی‌شود و اختلال در این مرحله رخ می‌دهد. در مرحله یادآوری، بیمار باید بتواند مراحل را بازشناسد یا بازخوانی کند. در مرحله بازتولید، بیمار خود مراحل را به‌درستی اجرا می‌کند. اگر در ارزشیابی مشاهده کنیم بیمار نتواند شستشوی دست را تکرار کند، باید بررسی کنیم کدام مرحله دچار اختلال شده است تا مداخله هدفمند انجام دهیم؛ مثلاً تکرار آموزش هنگام آرامش بیمار، استفاده از راهنمای تصویری، یا ارائه بازخورد فوری.</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تطبیق هر اصل با موقعیت بالینی: در آموزش بیمار قلبی پس از انفارکتوس، اصل ۱ نیازمند شناسایی نیاز واقعی بیمار است؛ اصل ۲ نیازمند تشویق بیمار با تأیید پیشرفت‌های کوچک؛ اصل ۳ یعنی ابتدا مفاهیم پایه آناتومی قلب و سپس داروها؛ اصل ۴ یعنی از جزء (یک دارو) به کل (رژیم دارویی کامل)؛ اصل ۵ یعنی ارتباط با تجربه قبلی بیمار از بیماری؛ اصل ۶ یعنی شروع از سطح توانایی فعلی بیمار؛ اصل ۷ یعنی زبان ساده و قابل فهم؛ اصل ۸ یعنی بلافاصله بیمار را وادار به تمرین؛ اصل ۹ یعنی مشارکت فعال بیمار در آموزش؛ اصل ۱۰ یعنی ارتباط دادن مفاهیم جدید به معانی آموخته‌شده؛ و اصل ۱۱ یعنی تکرار و تمرین در جلسات متعدد. این اصول چک‌لیست طراحی جلسه آموزش هستند.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چک‌لیست ارزیابی آمادگی بیمار قبل از شروع آموزش: پرستار قبل از هر آموزشی باید سه بُعد آمادگی را ارزیابی کند. در بُعد روحی، از بیمار می‌پرسد آیا الان آماده گوش دادن است یا نه؛ نشانه‌های اضطراب، پراکندگی توجه یا نگرانی را بررسی می‌کند. در بُعد جسمی، درد، خستگی، تب یا خواب‌آلودگی را کنترل می‌کند؛ اگر بیمار درد دارد، ابتدا مسکن می‌دهد و سپس آموزش می‌دهد. در بُعد عاطفی، می‌پذیرد بیمار ممکن است هنوز بیماری خود را نپذیرفته باشد؛ مثلاً بیمار تازه تشخیص دیابت داده‌شده، ممکن است در فاز انکار باشد و آموزش در این مرحله بی‌اثر است. علاوه بر آمادگی، انگیزه، تجارب قبلی، محیط فیزیکی (نور کافی، سکوت، حریم خصوصی) و تناسب روش تدریس باید کنترل شوند. این پنج عامل، چک‌لیست پیش‌نیاز آموزش مؤثرند.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راهکار عملی برای هر مانع: برای بررسی نامناسب آمادگی، از چک‌لیست آمادگی سه‌بُعدی استفاده کنید. برای زمان آموزش نامناسب، آموزش را به دور از ساعت‌های دارویی، وعده‌های غذایی و مراحل اضطراری برنامه‌ریزی کنید. برای ارائه با عجله، زمان واقع‌بینانه محاسبه کنید و اطلاعات را در جلسات کوتاه و چندباره تقسیم کنید. برای تفهیم نامناسب، از زبان ساده و مثال‌های محلی استفاده کنید. برای عدم ارتباط دادن مطالب، نقشه مفهومی طراحی کنید و روابط را نشان دهید. برای بیان متناقض، با تیم هماهنگ باشید و منبع واحد آموزشی داشته باشید. برای بازخورد نامناسب، بعد از هر مرحله بازخورد فوری بدهید. برای ارزشیابی، حتماً ارزشیابی میانی (پس از هر بخش) و پایانی (پس از اتمام آموزش) انجام دهید. اهمیت بازخورد فوری: اطلاعات پیش از خروج از حافظه کوتاه‌مدت اصلاح می‌شود.</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 ورود به بخش سوم، از مباحث نظری به سمت کاربرد عملی حرکت می‌کنیم. در دو بخش قبلی ضرورت آموزش بهداشت، مفاهیم بنیادی یادگیری، اصول یازده‌گانه و عوامل مؤثر بر یادگیری را مرور کردیم؛ اکنون می‌خواهیم ببینیم این دانش چگونه در بالین بیمار پیاده می‌شود. در سه اسلاید پیش رو، ابتدا تعریف رسمی آموزش به بیمار و چهار حوزه پیشگیری، تشخیص، درمان و بازتوانی را مرور می‌کنیم؛ سپس فرآیند ۵ مرحله‌ای آموزش را از نیازسنجی تا ارزشیابی به‌صورت گام‌به‌گام دنبال می‌کنیم و در پایان با حیطه‌های شناختی، عاطفی و روانی-حرکتی و روش‌های تدریس بالینی آشنا می‌شویم. تأکید این بخش بر گذر از تئوری به عمل و توانمندسازی بیمار و خانواده در فرآیند درمان است.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تعریف رسمی آموزش به بیمار را مرور می‌کنیم. تأکید کنید که آموزش صرفاً انتقال اطلاعات نیست؛ بلکه مداخله‌ای پرستاری است که بیمار و خانواده را برای مشارکت فعال در درمان توانمند می‌سازد. چهار حوزه پیشگیری، تشخیص، درمان و بازتوانی را با مثال بالینی توضیح دهید: پیشگیری مانند واکسیناسیون آنفلوآنزا، تشخیص مانند آموزش خودآزمایی پستان، درمان مانند آموزش مصرف دارو، و بازتوانی مانند تمرینات فیزیوتراپی پس از سکته. به تفاوت آموزش (education) با مشاوره (counseling) اشاره کنید؛ مشاوره بیشتر بر جنبه‌های عاطفی و تصمیم‌گیری متمرکز است در حالی که آموزش بر کسب دانش و مهارت تأکید دارد. خانواده به‌عنوان شریک مراقبت نقش کلیدی در فرآیند درمان دارد.</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فرآیند خطی نیست؛ بلکه چرخه‌ای است. توضیح دهید که اگر در گام پنجم متوجه شویم بیمار یاد نگرفته است، باید به عقب برگردیم و نیازها، انگیزه یا روش تدریس را بازبینی کنیم. مثال بالینی: بیمار دیابتی که پس از آموزش تزریق انسولین، در ارزشیابی نتوانست تزریق را به‌درستی انجام داد. باید بررسی کنیم آیا نیاز او درست شناسایی شده بود؟ آیا انگیزه کافی داشت؟ آیا هدف قابل دستیابی بود؟ آیا روش تدریس (مثلاً فقط سخنرانی به جای نمایش عملی) مناسب نبود؟ این بازطراحی می‌تواند یک‌بار یا چندبار تکرار شود تا تغییر رفتار پایدار حاصل شود. تأکید کنید که شکست در ارزشیابی، شکست بیمار نیست؛ بلکه شکست طراحی آموزشی است و فرصتی برای بهبود روش است.</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نمونه بالینی برای نیازسنجی: بیمار قلبی پس از انفارکتوس که می‌گوید «همه‌چیز را می‌دانم»، ولی در مشاهده متوجه می‌شویم که داروی متورول را با آب پرتقال می‌خورد. اینجا نیاز درک‌شده توسط بیمار صفر است، ولی نیاز واقعی، اصلاح الگوی مصرف داروست. نقش پرستار بیدار کردن آگاهی است. برای انگیزش: اگر بیمار بیماری‌اش را نمی‌پذیرد (مثلاً دیابت نوع ۲ در جوانان)، باید ابتدا با گوش دادن به نگرانی‌هایش و ارائه اطلاعات کوتاه و ساده، پذیرش اولیه ایجاد کنیم. انگیزه قابل تجویز نیست؛ باید آن را در طول جلسات آموزشی بازسازی کرد. اگر بیمار در جلسه سوم بی‌انگیزه شد، باید علت را جستجو کرد: شاید درد، خستگی، نگرانی مالی یا اختلال در خواب.</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هدف‌گذاری از مدل SMART استفاده کنید: مشخص، قابل اندازه‌گیری، قابل دستیابی، مرتبط و زمان‌دار. مثال بالینی آموزش تزریق انسولین: هدف شناختی — «بیمار مکانیسم اثر انسولین را توضیح می‌دهد» که با سؤال شفاهی سنجیده می‌شود. هدف عاطفی — «بیمار اهمیت تزریق منظم را می‌پذیرد» که با مشاهده رفتار سنجیده می‌شود. هدف روانی-حرکتی — «بیمار با تکنیک استریل، انسولین را با دوز صحیح در محل مناسب تزریق می‌کند» که با return demonstration سنجیده می‌شود. تأکید کنید که در آموزش بالینی، روش تدریس باید با حیطه همخوان باشد: برای روانی-حرکتی فقط demonstration کافی است و سخنرانی به‌تنهایی کافی نیست. برای شناختی، رسانه نوشتاری و سخنرانی مؤثرند و برای عاطفی، بحث گروهی و گفتگوی تعاملی.</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 بخش پایانی می‌رسیم. در سه بخش قبلی، ضرورت آموزش، نظریه یادگیری و کاربرد آن در آموزش بیمار را مرور کردیم. در این بخش به سراغ تضمین کیفیت می‌رویم؛ یعنی چگونه مطمئن شویم آموزشی که ارائه داده‌ایم، به یادگیری واقعی و تغییر رفتار پایدار منجر شده است. ارزشیابی نه یک رویداد نهایی، بلکه فرآیندی پیوسته در طول آموزش است. در اسلاید بعدی، سه روش اصلی ارزشیابی بالینی را مرور می‌کنیم و سپس یک چک‌لیست کاربردی ۷ گامی برای آموزش مؤثر به بیمار ارائه می‌دهیم که می‌تواند به‌عنوان ابزار بالینی در کار روزانه پرستار استفاده شود. در پایان، پیام کلیدی جلسه را مرور می‌کنیم و پاسخ به پرسش‌های احتمالی دانشجویان را در نظر می‌گیریم.</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تأکید کنید که فرآیند آموزش دایره‌ای است: پس از ارزشیابی، اگر یادگیری کامل نشد، باید به گام‌های قبلی بازگشت. چک‌لیست ۷ گامی را می‌توان به‌عنوان ابزار بالینی روزانه استفاده کرد؛ در پایان هر شیفت می‌توان آن را برای آموزش‌های انجام‌شده مرور کرد. سه روش ارزشیابی مکمل یکدیگرند؛ برای آموزش‌های ساده مشاهده کافیست، ولی برای آموزش‌های پیچیده (مثل مدیریت دیابت) هر سه روش توصیه می‌شود. در پایان جلسه، از دانشجویان بخواهید یک موقعیت بالینی طراحی کنند و چک‌لیست را روی آن پیاده کنند. خلاصه نهایی: نقش پرستار در آموزش، تسهیل‌گر تغییر رفتار است، نه صرفاً انتقال‌دهنده اطلاعات. سپس زمان پرسش و پاسخ و جمع‌بندی نهایی در نظر گرفته شود.</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tmp/h2p-fit-1791663255865-gll0lb.png"/>
          <p:cNvPicPr>
            <a:picLocks noChangeAspect="1"/>
          </p:cNvPicPr>
          <p:nvPr/>
        </p:nvPicPr>
        <p:blipFill>
          <a:blip r:embed="rId4">
            <a:alphaModFix amt="18000"/>
          </a:blip>
          <a:stretch>
            <a:fillRect/>
          </a:stretch>
        </p:blipFill>
        <p:spPr>
          <a:xfrm>
            <a:off x="0" y="0"/>
            <a:ext cx="50292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pic>
        <p:nvPicPr>
          <p:cNvPr id="5" name="Image 3" descr="preencoded.png"/>
          <p:cNvPicPr>
            <a:picLocks noChangeAspect="1"/>
          </p:cNvPicPr>
          <p:nvPr/>
        </p:nvPicPr>
        <p:blipFill>
          <a:blip r:embed="rId6"/>
          <a:stretch>
            <a:fillRect/>
          </a:stretch>
        </p:blipFill>
        <p:spPr>
          <a:xfrm>
            <a:off x="7429500" y="-1000125"/>
            <a:ext cx="2571750" cy="2571750"/>
          </a:xfrm>
          <a:prstGeom prst="rect">
            <a:avLst/>
          </a:prstGeom>
        </p:spPr>
      </p:pic>
      <p:sp>
        <p:nvSpPr>
          <p:cNvPr id="6" name="Text 0"/>
          <p:cNvSpPr/>
          <p:nvPr/>
        </p:nvSpPr>
        <p:spPr>
          <a:xfrm>
            <a:off x="7429500" y="-1000125"/>
            <a:ext cx="2571750" cy="2571750"/>
          </a:xfrm>
          <a:prstGeom prst="ellipse">
            <a:avLst/>
          </a:prstGeom>
          <a:solidFill>
            <a:srgbClr val="FFFFFF">
              <a:alpha val="0"/>
            </a:srgbClr>
          </a:solidFill>
          <a:ln/>
        </p:spPr>
        <p:txBody>
          <a:bodyPr wrap="square" rtlCol="0" anchor="ctr"/>
          <a:lstStyle/>
          <a:p>
            <a:pPr marL="0" indent="0">
              <a:buNone/>
            </a:pPr>
            <a:endParaRPr lang="en-US" dirty="0"/>
          </a:p>
        </p:txBody>
      </p:sp>
      <p:pic>
        <p:nvPicPr>
          <p:cNvPr id="7" name="Image 4" descr="preencoded.png"/>
          <p:cNvPicPr>
            <a:picLocks noChangeAspect="1"/>
          </p:cNvPicPr>
          <p:nvPr/>
        </p:nvPicPr>
        <p:blipFill>
          <a:blip r:embed="rId7"/>
          <a:stretch>
            <a:fillRect/>
          </a:stretch>
        </p:blipFill>
        <p:spPr>
          <a:xfrm>
            <a:off x="4503465" y="4071938"/>
            <a:ext cx="1714500" cy="1714500"/>
          </a:xfrm>
          <a:prstGeom prst="rect">
            <a:avLst/>
          </a:prstGeom>
        </p:spPr>
      </p:pic>
      <p:sp>
        <p:nvSpPr>
          <p:cNvPr id="8" name="Text 1"/>
          <p:cNvSpPr/>
          <p:nvPr/>
        </p:nvSpPr>
        <p:spPr>
          <a:xfrm>
            <a:off x="4503465" y="4071938"/>
            <a:ext cx="1714500" cy="1714500"/>
          </a:xfrm>
          <a:prstGeom prst="ellipse">
            <a:avLst/>
          </a:prstGeom>
          <a:solidFill>
            <a:srgbClr val="FFFFFF">
              <a:alpha val="0"/>
            </a:srgbClr>
          </a:solidFill>
          <a:ln/>
        </p:spPr>
        <p:txBody>
          <a:bodyPr wrap="square" rtlCol="0" anchor="ctr"/>
          <a:lstStyle/>
          <a:p>
            <a:pPr marL="0" indent="0">
              <a:buNone/>
            </a:pPr>
            <a:endParaRPr lang="en-US" dirty="0"/>
          </a:p>
        </p:txBody>
      </p:sp>
      <p:sp>
        <p:nvSpPr>
          <p:cNvPr id="9" name="Shape 2"/>
          <p:cNvSpPr/>
          <p:nvPr/>
        </p:nvSpPr>
        <p:spPr>
          <a:xfrm>
            <a:off x="571500" y="4375547"/>
            <a:ext cx="8001000" cy="0"/>
          </a:xfrm>
          <a:prstGeom prst="line">
            <a:avLst/>
          </a:prstGeom>
          <a:noFill/>
          <a:ln w="7144">
            <a:solidFill>
              <a:srgbClr val="FFFFFF"/>
            </a:solidFill>
            <a:prstDash val="solid"/>
          </a:ln>
        </p:spPr>
      </p:sp>
      <p:sp>
        <p:nvSpPr>
          <p:cNvPr id="12" name="Text 5"/>
          <p:cNvSpPr/>
          <p:nvPr/>
        </p:nvSpPr>
        <p:spPr>
          <a:xfrm>
            <a:off x="8308181" y="575072"/>
            <a:ext cx="128588" cy="128588"/>
          </a:xfrm>
          <a:prstGeom prst="rect">
            <a:avLst/>
          </a:prstGeom>
          <a:noFill/>
          <a:ln/>
        </p:spPr>
        <p:txBody>
          <a:bodyPr wrap="none" lIns="0" tIns="0" rIns="0" bIns="0" rtlCol="0" anchor="ctr"/>
          <a:lstStyle/>
          <a:p>
            <a:pPr marL="0" indent="0" algn="ctr">
              <a:buNone/>
            </a:pPr>
            <a:r>
              <a:rPr lang="en-US" sz="1266" dirty="0">
                <a:solidFill>
                  <a:srgbClr val="B7E4DD"/>
                </a:solidFill>
                <a:latin typeface="Segoe UI Symbol" pitchFamily="34" charset="0"/>
                <a:ea typeface="Segoe UI Symbol" pitchFamily="34" charset="-122"/>
                <a:cs typeface="Segoe UI Symbol" pitchFamily="34" charset="-120"/>
              </a:rPr>
              <a:t>▿</a:t>
            </a:r>
            <a:endParaRPr lang="en-US" sz="1266" dirty="0"/>
          </a:p>
        </p:txBody>
      </p:sp>
      <p:sp>
        <p:nvSpPr>
          <p:cNvPr id="13" name="Text 6"/>
          <p:cNvSpPr/>
          <p:nvPr/>
        </p:nvSpPr>
        <p:spPr>
          <a:xfrm>
            <a:off x="571500" y="1235311"/>
            <a:ext cx="8001000" cy="1540398"/>
          </a:xfrm>
          <a:prstGeom prst="rect">
            <a:avLst/>
          </a:prstGeom>
          <a:noFill/>
          <a:ln/>
        </p:spPr>
        <p:txBody>
          <a:bodyPr wrap="none" lIns="0" tIns="0" rIns="0" bIns="0" rtlCol="0" anchor="t"/>
          <a:lstStyle/>
          <a:p>
            <a:pPr marL="0" indent="0" algn="l">
              <a:lnSpc>
                <a:spcPts val="5616"/>
              </a:lnSpc>
              <a:buNone/>
            </a:pPr>
            <a:r>
              <a:rPr lang="en-US" sz="5400" kern="0" spc="-84" dirty="0">
                <a:solidFill>
                  <a:srgbClr val="FFFFFF"/>
                </a:solidFill>
                <a:latin typeface="Carlito" pitchFamily="34" charset="0"/>
                <a:ea typeface="Carlito" pitchFamily="34" charset="-122"/>
                <a:cs typeface="Carlito" pitchFamily="34" charset="-120"/>
              </a:rPr>
              <a:t>آموزش و یادگیری</a:t>
            </a:r>
            <a:endParaRPr lang="en-US" sz="5400" dirty="0"/>
          </a:p>
          <a:p>
            <a:pPr marL="0" indent="0" algn="l">
              <a:lnSpc>
                <a:spcPts val="5616"/>
              </a:lnSpc>
              <a:buNone/>
            </a:pPr>
            <a:r>
              <a:rPr lang="en-US" sz="5400" kern="0" spc="-84" dirty="0">
                <a:solidFill>
                  <a:srgbClr val="FFFFFF"/>
                </a:solidFill>
                <a:latin typeface="Carlito" pitchFamily="34" charset="0"/>
                <a:ea typeface="Carlito" pitchFamily="34" charset="-122"/>
                <a:cs typeface="Carlito" pitchFamily="34" charset="-120"/>
              </a:rPr>
              <a:t>در پرستاری</a:t>
            </a:r>
            <a:endParaRPr lang="en-US" sz="5400" dirty="0"/>
          </a:p>
        </p:txBody>
      </p:sp>
      <p:pic>
        <p:nvPicPr>
          <p:cNvPr id="14" name="Image 5" descr="preencoded.png"/>
          <p:cNvPicPr>
            <a:picLocks noChangeAspect="1"/>
          </p:cNvPicPr>
          <p:nvPr/>
        </p:nvPicPr>
        <p:blipFill>
          <a:blip r:embed="rId8"/>
          <a:stretch>
            <a:fillRect/>
          </a:stretch>
        </p:blipFill>
        <p:spPr>
          <a:xfrm>
            <a:off x="7786688" y="2847342"/>
            <a:ext cx="785813" cy="35719"/>
          </a:xfrm>
          <a:prstGeom prst="rect">
            <a:avLst/>
          </a:prstGeom>
        </p:spPr>
      </p:pic>
      <p:sp>
        <p:nvSpPr>
          <p:cNvPr id="15" name="Text 7"/>
          <p:cNvSpPr/>
          <p:nvPr/>
        </p:nvSpPr>
        <p:spPr>
          <a:xfrm>
            <a:off x="3143250" y="3068799"/>
            <a:ext cx="5538978" cy="300895"/>
          </a:xfrm>
          <a:prstGeom prst="rect">
            <a:avLst/>
          </a:prstGeom>
          <a:noFill/>
          <a:ln/>
        </p:spPr>
        <p:txBody>
          <a:bodyPr wrap="square" lIns="0" tIns="0" rIns="0" bIns="0" rtlCol="0" anchor="t"/>
          <a:lstStyle/>
          <a:p>
            <a:pPr marL="0" indent="0" algn="l">
              <a:lnSpc>
                <a:spcPts val="2194"/>
              </a:lnSpc>
              <a:buNone/>
            </a:pPr>
            <a:r>
              <a:rPr lang="en-US" sz="1463" dirty="0">
                <a:solidFill>
                  <a:srgbClr val="FFFFFF">
                    <a:alpha val="94000"/>
                  </a:srgbClr>
                </a:solidFill>
                <a:latin typeface="Carlito" pitchFamily="34" charset="0"/>
                <a:ea typeface="Carlito" pitchFamily="34" charset="-122"/>
                <a:cs typeface="Carlito" pitchFamily="34" charset="-120"/>
              </a:rPr>
              <a:t>فرآیند آموزش به مددجو: مبانی نظری و کاربرد بالینی</a:t>
            </a:r>
            <a:endParaRPr lang="en-US" sz="1463" dirty="0"/>
          </a:p>
        </p:txBody>
      </p:sp>
      <p:sp>
        <p:nvSpPr>
          <p:cNvPr id="16" name="Text 8"/>
          <p:cNvSpPr/>
          <p:nvPr/>
        </p:nvSpPr>
        <p:spPr>
          <a:xfrm>
            <a:off x="8229600" y="3823692"/>
            <a:ext cx="342900" cy="342900"/>
          </a:xfrm>
          <a:prstGeom prst="roundRect">
            <a:avLst>
              <a:gd name="adj" fmla="val 33333"/>
            </a:avLst>
          </a:prstGeom>
          <a:solidFill>
            <a:srgbClr val="2A9D8F">
              <a:alpha val="22000"/>
            </a:srgbClr>
          </a:solidFill>
          <a:ln/>
        </p:spPr>
        <p:txBody>
          <a:bodyPr wrap="square" rtlCol="0" anchor="ctr"/>
          <a:lstStyle/>
          <a:p>
            <a:pPr marL="0" indent="0">
              <a:buNone/>
            </a:pPr>
            <a:endParaRPr lang="en-US" dirty="0"/>
          </a:p>
        </p:txBody>
      </p:sp>
      <p:sp>
        <p:nvSpPr>
          <p:cNvPr id="17" name="Text 9"/>
          <p:cNvSpPr/>
          <p:nvPr/>
        </p:nvSpPr>
        <p:spPr>
          <a:xfrm>
            <a:off x="8266390" y="3860483"/>
            <a:ext cx="269319" cy="269319"/>
          </a:xfrm>
          <a:prstGeom prst="rect">
            <a:avLst/>
          </a:prstGeom>
          <a:noFill/>
          <a:ln/>
        </p:spPr>
        <p:txBody>
          <a:bodyPr wrap="none" lIns="0" tIns="0" rIns="0" bIns="0" rtlCol="0" anchor="ctr"/>
          <a:lstStyle/>
          <a:p>
            <a:pPr marL="0" indent="0" algn="ctr">
              <a:buNone/>
            </a:pPr>
            <a:r>
              <a:rPr lang="en-US" sz="1828" dirty="0">
                <a:solidFill>
                  <a:srgbClr val="B7E4DD"/>
                </a:solidFill>
                <a:latin typeface="Segoe UI Symbol" pitchFamily="34" charset="0"/>
                <a:ea typeface="Segoe UI Symbol" pitchFamily="34" charset="-122"/>
                <a:cs typeface="Segoe UI Symbol" pitchFamily="34" charset="-120"/>
              </a:rPr>
              <a:t>☰</a:t>
            </a:r>
            <a:endParaRPr lang="en-US" sz="1828" dirty="0"/>
          </a:p>
        </p:txBody>
      </p:sp>
      <p:sp>
        <p:nvSpPr>
          <p:cNvPr id="18" name="Text 10"/>
          <p:cNvSpPr/>
          <p:nvPr/>
        </p:nvSpPr>
        <p:spPr>
          <a:xfrm>
            <a:off x="7532191" y="3804047"/>
            <a:ext cx="943886" cy="215456"/>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B7E4DD"/>
                </a:solidFill>
                <a:latin typeface="Carlito" pitchFamily="34" charset="0"/>
                <a:ea typeface="Carlito" pitchFamily="34" charset="-122"/>
                <a:cs typeface="Carlito" pitchFamily="34" charset="-120"/>
              </a:rPr>
              <a:t>۱۱</a:t>
            </a:r>
            <a:endParaRPr lang="en-US" sz="1688" dirty="0"/>
          </a:p>
        </p:txBody>
      </p:sp>
      <p:sp>
        <p:nvSpPr>
          <p:cNvPr id="19" name="Text 11"/>
          <p:cNvSpPr/>
          <p:nvPr/>
        </p:nvSpPr>
        <p:spPr>
          <a:xfrm>
            <a:off x="7532191" y="4046934"/>
            <a:ext cx="700148" cy="164592"/>
          </a:xfrm>
          <a:prstGeom prst="rect">
            <a:avLst/>
          </a:prstGeom>
          <a:noFill/>
          <a:ln/>
        </p:spPr>
        <p:txBody>
          <a:bodyPr wrap="none" lIns="0" tIns="0" rIns="0" bIns="0" rtlCol="0" anchor="t"/>
          <a:lstStyle/>
          <a:p>
            <a:pPr marL="0" indent="0" algn="l">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اصل یادگیری</a:t>
            </a:r>
            <a:endParaRPr lang="en-US" sz="800" dirty="0"/>
          </a:p>
        </p:txBody>
      </p:sp>
      <p:sp>
        <p:nvSpPr>
          <p:cNvPr id="20" name="Text 12"/>
          <p:cNvSpPr/>
          <p:nvPr/>
        </p:nvSpPr>
        <p:spPr>
          <a:xfrm>
            <a:off x="6917829" y="3823692"/>
            <a:ext cx="342900" cy="342900"/>
          </a:xfrm>
          <a:prstGeom prst="roundRect">
            <a:avLst>
              <a:gd name="adj" fmla="val 33333"/>
            </a:avLst>
          </a:prstGeom>
          <a:solidFill>
            <a:srgbClr val="2A9D8F">
              <a:alpha val="22000"/>
            </a:srgbClr>
          </a:solidFill>
          <a:ln/>
        </p:spPr>
        <p:txBody>
          <a:bodyPr wrap="square" rtlCol="0" anchor="ctr"/>
          <a:lstStyle/>
          <a:p>
            <a:pPr marL="0" indent="0">
              <a:buNone/>
            </a:pPr>
            <a:endParaRPr lang="en-US" dirty="0"/>
          </a:p>
        </p:txBody>
      </p:sp>
      <p:sp>
        <p:nvSpPr>
          <p:cNvPr id="21" name="Text 13"/>
          <p:cNvSpPr/>
          <p:nvPr/>
        </p:nvSpPr>
        <p:spPr>
          <a:xfrm>
            <a:off x="6954619" y="3860483"/>
            <a:ext cx="269319" cy="269319"/>
          </a:xfrm>
          <a:prstGeom prst="rect">
            <a:avLst/>
          </a:prstGeom>
          <a:noFill/>
          <a:ln/>
        </p:spPr>
        <p:txBody>
          <a:bodyPr wrap="none" lIns="0" tIns="0" rIns="0" bIns="0" rtlCol="0" anchor="ctr"/>
          <a:lstStyle/>
          <a:p>
            <a:pPr marL="0" indent="0" algn="ctr">
              <a:buNone/>
            </a:pPr>
            <a:r>
              <a:rPr lang="en-US" sz="1828" dirty="0">
                <a:solidFill>
                  <a:srgbClr val="B7E4DD"/>
                </a:solidFill>
                <a:latin typeface="Segoe UI Symbol" pitchFamily="34" charset="0"/>
                <a:ea typeface="Segoe UI Symbol" pitchFamily="34" charset="-122"/>
                <a:cs typeface="Segoe UI Symbol" pitchFamily="34" charset="-120"/>
              </a:rPr>
              <a:t>⌇</a:t>
            </a:r>
            <a:endParaRPr lang="en-US" sz="1828" dirty="0"/>
          </a:p>
        </p:txBody>
      </p:sp>
      <p:sp>
        <p:nvSpPr>
          <p:cNvPr id="22" name="Text 14"/>
          <p:cNvSpPr/>
          <p:nvPr/>
        </p:nvSpPr>
        <p:spPr>
          <a:xfrm>
            <a:off x="5851736" y="3804047"/>
            <a:ext cx="1526407" cy="215456"/>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B7E4DD"/>
                </a:solidFill>
                <a:latin typeface="Carlito" pitchFamily="34" charset="0"/>
                <a:ea typeface="Carlito" pitchFamily="34" charset="-122"/>
                <a:cs typeface="Carlito" pitchFamily="34" charset="-120"/>
              </a:rPr>
              <a:t>۵</a:t>
            </a:r>
            <a:endParaRPr lang="en-US" sz="1688" dirty="0"/>
          </a:p>
        </p:txBody>
      </p:sp>
      <p:sp>
        <p:nvSpPr>
          <p:cNvPr id="23" name="Text 15"/>
          <p:cNvSpPr/>
          <p:nvPr/>
        </p:nvSpPr>
        <p:spPr>
          <a:xfrm>
            <a:off x="5851736" y="4046934"/>
            <a:ext cx="1132246" cy="164592"/>
          </a:xfrm>
          <a:prstGeom prst="rect">
            <a:avLst/>
          </a:prstGeom>
          <a:noFill/>
          <a:ln/>
        </p:spPr>
        <p:txBody>
          <a:bodyPr wrap="none" lIns="0" tIns="0" rIns="0" bIns="0" rtlCol="0" anchor="t"/>
          <a:lstStyle/>
          <a:p>
            <a:pPr marL="0" indent="0" algn="l">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مرحله فرآیند آموزش</a:t>
            </a:r>
            <a:endParaRPr lang="en-US" sz="800" dirty="0"/>
          </a:p>
        </p:txBody>
      </p:sp>
      <p:sp>
        <p:nvSpPr>
          <p:cNvPr id="24" name="Text 16"/>
          <p:cNvSpPr/>
          <p:nvPr/>
        </p:nvSpPr>
        <p:spPr>
          <a:xfrm>
            <a:off x="5237373" y="3823692"/>
            <a:ext cx="342900" cy="342900"/>
          </a:xfrm>
          <a:prstGeom prst="roundRect">
            <a:avLst>
              <a:gd name="adj" fmla="val 33333"/>
            </a:avLst>
          </a:prstGeom>
          <a:solidFill>
            <a:srgbClr val="2A9D8F">
              <a:alpha val="22000"/>
            </a:srgbClr>
          </a:solidFill>
          <a:ln/>
        </p:spPr>
        <p:txBody>
          <a:bodyPr wrap="square" rtlCol="0" anchor="ctr"/>
          <a:lstStyle/>
          <a:p>
            <a:pPr marL="0" indent="0">
              <a:buNone/>
            </a:pPr>
            <a:endParaRPr lang="en-US" dirty="0"/>
          </a:p>
        </p:txBody>
      </p:sp>
      <p:sp>
        <p:nvSpPr>
          <p:cNvPr id="25" name="Text 17"/>
          <p:cNvSpPr/>
          <p:nvPr/>
        </p:nvSpPr>
        <p:spPr>
          <a:xfrm>
            <a:off x="5274164" y="3860483"/>
            <a:ext cx="269319" cy="269319"/>
          </a:xfrm>
          <a:prstGeom prst="rect">
            <a:avLst/>
          </a:prstGeom>
          <a:noFill/>
          <a:ln/>
        </p:spPr>
        <p:txBody>
          <a:bodyPr wrap="none" lIns="0" tIns="0" rIns="0" bIns="0" rtlCol="0" anchor="ctr"/>
          <a:lstStyle/>
          <a:p>
            <a:pPr marL="0" indent="0" algn="ctr">
              <a:buNone/>
            </a:pPr>
            <a:r>
              <a:rPr lang="en-US" sz="1828" dirty="0">
                <a:solidFill>
                  <a:srgbClr val="B7E4DD"/>
                </a:solidFill>
                <a:latin typeface="Segoe UI Symbol" pitchFamily="34" charset="0"/>
                <a:ea typeface="Segoe UI Symbol" pitchFamily="34" charset="-122"/>
                <a:cs typeface="Segoe UI Symbol" pitchFamily="34" charset="-120"/>
              </a:rPr>
              <a:t>✦</a:t>
            </a:r>
            <a:endParaRPr lang="en-US" sz="1828" dirty="0"/>
          </a:p>
        </p:txBody>
      </p:sp>
      <p:sp>
        <p:nvSpPr>
          <p:cNvPr id="26" name="Text 18"/>
          <p:cNvSpPr/>
          <p:nvPr/>
        </p:nvSpPr>
        <p:spPr>
          <a:xfrm>
            <a:off x="4482815" y="3804047"/>
            <a:ext cx="1034183" cy="215456"/>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B7E4DD"/>
                </a:solidFill>
                <a:latin typeface="Carlito" pitchFamily="34" charset="0"/>
                <a:ea typeface="Carlito" pitchFamily="34" charset="-122"/>
                <a:cs typeface="Carlito" pitchFamily="34" charset="-120"/>
              </a:rPr>
              <a:t>۳</a:t>
            </a:r>
            <a:endParaRPr lang="en-US" sz="1688" dirty="0"/>
          </a:p>
        </p:txBody>
      </p:sp>
      <p:sp>
        <p:nvSpPr>
          <p:cNvPr id="27" name="Text 19"/>
          <p:cNvSpPr/>
          <p:nvPr/>
        </p:nvSpPr>
        <p:spPr>
          <a:xfrm>
            <a:off x="4482815" y="4046934"/>
            <a:ext cx="767128" cy="164592"/>
          </a:xfrm>
          <a:prstGeom prst="rect">
            <a:avLst/>
          </a:prstGeom>
          <a:noFill/>
          <a:ln/>
        </p:spPr>
        <p:txBody>
          <a:bodyPr wrap="none" lIns="0" tIns="0" rIns="0" bIns="0" rtlCol="0" anchor="t"/>
          <a:lstStyle/>
          <a:p>
            <a:pPr marL="0" indent="0" algn="l">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حیطه یادگیری</a:t>
            </a:r>
            <a:endParaRPr lang="en-US" sz="800" dirty="0"/>
          </a:p>
        </p:txBody>
      </p:sp>
      <p:sp>
        <p:nvSpPr>
          <p:cNvPr id="31" name="Text 23"/>
          <p:cNvSpPr/>
          <p:nvPr/>
        </p:nvSpPr>
        <p:spPr>
          <a:xfrm>
            <a:off x="1513694" y="4504134"/>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00050" y="803672"/>
            <a:ext cx="8343900" cy="0"/>
          </a:xfrm>
          <a:prstGeom prst="line">
            <a:avLst/>
          </a:prstGeom>
          <a:noFill/>
          <a:ln w="14288">
            <a:solidFill>
              <a:srgbClr val="CDE7F0"/>
            </a:solidFill>
            <a:prstDash val="solid"/>
          </a:ln>
        </p:spPr>
      </p:sp>
      <p:sp>
        <p:nvSpPr>
          <p:cNvPr id="3" name="Text 1"/>
          <p:cNvSpPr/>
          <p:nvPr/>
        </p:nvSpPr>
        <p:spPr>
          <a:xfrm>
            <a:off x="8429625" y="333970"/>
            <a:ext cx="314325" cy="314325"/>
          </a:xfrm>
          <a:prstGeom prst="ellipse">
            <a:avLst/>
          </a:prstGeom>
          <a:solidFill>
            <a:srgbClr val="CDE7F0"/>
          </a:solidFill>
          <a:ln/>
        </p:spPr>
        <p:txBody>
          <a:bodyPr wrap="square" rtlCol="0" anchor="ctr"/>
          <a:lstStyle/>
          <a:p>
            <a:pPr marL="0" indent="0">
              <a:buNone/>
            </a:pPr>
            <a:endParaRPr lang="en-US" dirty="0"/>
          </a:p>
        </p:txBody>
      </p:sp>
      <p:sp>
        <p:nvSpPr>
          <p:cNvPr id="4" name="Text 2"/>
          <p:cNvSpPr/>
          <p:nvPr/>
        </p:nvSpPr>
        <p:spPr>
          <a:xfrm>
            <a:off x="8462486" y="366832"/>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5" name="Text 3"/>
          <p:cNvSpPr/>
          <p:nvPr/>
        </p:nvSpPr>
        <p:spPr>
          <a:xfrm>
            <a:off x="5495441" y="285750"/>
            <a:ext cx="3248509" cy="244030"/>
          </a:xfrm>
          <a:prstGeom prst="rect">
            <a:avLst/>
          </a:prstGeom>
          <a:noFill/>
          <a:ln/>
        </p:spPr>
        <p:txBody>
          <a:bodyPr wrap="none" lIns="0" tIns="0" rIns="0" bIns="0" rtlCol="0" anchor="t">
            <a:normAutofit/>
          </a:bodyPr>
          <a:lstStyle/>
          <a:p>
            <a:pPr marL="0" indent="0" algn="l">
              <a:lnSpc>
                <a:spcPts val="2025"/>
              </a:lnSpc>
              <a:buNone/>
            </a:pPr>
            <a:r>
              <a:rPr lang="en-US" sz="1688" b="1" dirty="0">
                <a:solidFill>
                  <a:srgbClr val="1B4965"/>
                </a:solidFill>
                <a:latin typeface="Carlito" pitchFamily="34" charset="0"/>
                <a:ea typeface="Carlito" pitchFamily="34" charset="-122"/>
                <a:cs typeface="Carlito" pitchFamily="34" charset="-120"/>
              </a:rPr>
              <a:t>فهرست مطالب</a:t>
            </a:r>
            <a:endParaRPr lang="en-US" sz="1688" dirty="0"/>
          </a:p>
        </p:txBody>
      </p:sp>
      <p:sp>
        <p:nvSpPr>
          <p:cNvPr id="6" name="Text 4"/>
          <p:cNvSpPr/>
          <p:nvPr/>
        </p:nvSpPr>
        <p:spPr>
          <a:xfrm>
            <a:off x="5495441" y="557213"/>
            <a:ext cx="2834171" cy="139303"/>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نقشه راه جلسه — چهار بخش اصلی از نظریه تا کاربرد بالینی</a:t>
            </a:r>
            <a:endParaRPr lang="en-US" sz="800" dirty="0"/>
          </a:p>
        </p:txBody>
      </p:sp>
      <p:sp>
        <p:nvSpPr>
          <p:cNvPr id="7" name="Text 5"/>
          <p:cNvSpPr/>
          <p:nvPr/>
        </p:nvSpPr>
        <p:spPr>
          <a:xfrm>
            <a:off x="377190" y="33902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8" name="Text 6"/>
          <p:cNvSpPr/>
          <p:nvPr/>
        </p:nvSpPr>
        <p:spPr>
          <a:xfrm>
            <a:off x="400050" y="35183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۰۲ / ۲۲</a:t>
            </a:r>
            <a:endParaRPr lang="en-US" sz="1013" dirty="0"/>
          </a:p>
        </p:txBody>
      </p:sp>
      <p:sp>
        <p:nvSpPr>
          <p:cNvPr id="9" name="Text 7"/>
          <p:cNvSpPr/>
          <p:nvPr/>
        </p:nvSpPr>
        <p:spPr>
          <a:xfrm>
            <a:off x="4654153" y="971550"/>
            <a:ext cx="4086225" cy="1823442"/>
          </a:xfrm>
          <a:prstGeom prst="roundRect">
            <a:avLst>
              <a:gd name="adj" fmla="val 9403"/>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10" name="Text 8"/>
          <p:cNvSpPr/>
          <p:nvPr/>
        </p:nvSpPr>
        <p:spPr>
          <a:xfrm>
            <a:off x="8151019" y="1146572"/>
            <a:ext cx="400050" cy="400050"/>
          </a:xfrm>
          <a:prstGeom prst="roundRect">
            <a:avLst>
              <a:gd name="adj" fmla="val 33333"/>
            </a:avLst>
          </a:prstGeom>
          <a:solidFill>
            <a:srgbClr val="CDE7F0"/>
          </a:solidFill>
          <a:ln/>
        </p:spPr>
        <p:txBody>
          <a:bodyPr wrap="square" rtlCol="0" anchor="ctr"/>
          <a:lstStyle/>
          <a:p>
            <a:pPr marL="0" indent="0">
              <a:buNone/>
            </a:pPr>
            <a:endParaRPr lang="en-US" dirty="0"/>
          </a:p>
        </p:txBody>
      </p:sp>
      <p:sp>
        <p:nvSpPr>
          <p:cNvPr id="11" name="Text 9"/>
          <p:cNvSpPr/>
          <p:nvPr/>
        </p:nvSpPr>
        <p:spPr>
          <a:xfrm>
            <a:off x="8195667" y="1191220"/>
            <a:ext cx="310753" cy="310753"/>
          </a:xfrm>
          <a:prstGeom prst="rect">
            <a:avLst/>
          </a:prstGeom>
          <a:noFill/>
          <a:ln/>
        </p:spPr>
        <p:txBody>
          <a:bodyPr wrap="none" lIns="0" tIns="0" rIns="0" bIns="0" rtlCol="0" anchor="ctr"/>
          <a:lstStyle/>
          <a:p>
            <a:pPr marL="0" indent="0" algn="ctr">
              <a:buNone/>
            </a:pPr>
            <a:r>
              <a:rPr lang="en-US" sz="2109" dirty="0">
                <a:solidFill>
                  <a:srgbClr val="1B4965"/>
                </a:solidFill>
                <a:latin typeface="Segoe UI Symbol" pitchFamily="34" charset="0"/>
                <a:ea typeface="Segoe UI Symbol" pitchFamily="34" charset="-122"/>
                <a:cs typeface="Segoe UI Symbol" pitchFamily="34" charset="-120"/>
              </a:rPr>
              <a:t>✚</a:t>
            </a:r>
            <a:endParaRPr lang="en-US" sz="2109" dirty="0"/>
          </a:p>
        </p:txBody>
      </p:sp>
      <p:sp>
        <p:nvSpPr>
          <p:cNvPr id="12" name="Text 10"/>
          <p:cNvSpPr/>
          <p:nvPr/>
        </p:nvSpPr>
        <p:spPr>
          <a:xfrm>
            <a:off x="4843463" y="1146572"/>
            <a:ext cx="3707606"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5A6B7B"/>
                </a:solidFill>
                <a:latin typeface="Carlito" pitchFamily="34" charset="0"/>
                <a:ea typeface="Carlito" pitchFamily="34" charset="-122"/>
                <a:cs typeface="Carlito" pitchFamily="34" charset="-120"/>
              </a:rPr>
              <a:t>۰۱ — بخش اول</a:t>
            </a:r>
            <a:endParaRPr lang="en-US" sz="800" dirty="0"/>
          </a:p>
        </p:txBody>
      </p:sp>
      <p:sp>
        <p:nvSpPr>
          <p:cNvPr id="13" name="Text 11"/>
          <p:cNvSpPr/>
          <p:nvPr/>
        </p:nvSpPr>
        <p:spPr>
          <a:xfrm>
            <a:off x="4843463" y="1303734"/>
            <a:ext cx="3337917" cy="203610"/>
          </a:xfrm>
          <a:prstGeom prst="rect">
            <a:avLst/>
          </a:prstGeom>
          <a:noFill/>
          <a:ln/>
        </p:spPr>
        <p:txBody>
          <a:bodyPr wrap="none" lIns="0" tIns="0" rIns="0" bIns="0" rtlCol="0" anchor="t"/>
          <a:lstStyle/>
          <a:p>
            <a:pPr marL="0" indent="0" algn="l">
              <a:lnSpc>
                <a:spcPts val="1485"/>
              </a:lnSpc>
              <a:buNone/>
            </a:pPr>
            <a:r>
              <a:rPr lang="en-US" sz="1238" b="1" dirty="0">
                <a:solidFill>
                  <a:srgbClr val="1B4965"/>
                </a:solidFill>
                <a:latin typeface="Carlito" pitchFamily="34" charset="0"/>
                <a:ea typeface="Carlito" pitchFamily="34" charset="-122"/>
                <a:cs typeface="Carlito" pitchFamily="34" charset="-120"/>
              </a:rPr>
              <a:t>مبانی آموزش بهداشت</a:t>
            </a:r>
            <a:endParaRPr lang="en-US" sz="1238" dirty="0"/>
          </a:p>
        </p:txBody>
      </p:sp>
      <p:sp>
        <p:nvSpPr>
          <p:cNvPr id="14" name="Text 12"/>
          <p:cNvSpPr/>
          <p:nvPr/>
        </p:nvSpPr>
        <p:spPr>
          <a:xfrm>
            <a:off x="4843463" y="1549412"/>
            <a:ext cx="3433286" cy="175491"/>
          </a:xfrm>
          <a:prstGeom prst="rect">
            <a:avLst/>
          </a:prstGeom>
          <a:noFill/>
          <a:ln/>
        </p:spPr>
        <p:txBody>
          <a:bodyPr wrap="square" lIns="0" tIns="0" rIns="0" bIns="0" rtlCol="0" anchor="t"/>
          <a:lstStyle/>
          <a:p>
            <a:pPr marL="0" indent="0" algn="l">
              <a:lnSpc>
                <a:spcPts val="1260"/>
              </a:lnSpc>
              <a:buNone/>
            </a:pPr>
            <a:r>
              <a:rPr lang="en-US" sz="800" dirty="0">
                <a:solidFill>
                  <a:srgbClr val="5A6B7B"/>
                </a:solidFill>
                <a:latin typeface="Carlito" pitchFamily="34" charset="0"/>
                <a:ea typeface="Carlito" pitchFamily="34" charset="-122"/>
                <a:cs typeface="Carlito" pitchFamily="34" charset="-120"/>
              </a:rPr>
              <a:t>مقدمه، ضرورت و اهمیت آموزش در نظام سلامت</a:t>
            </a:r>
            <a:endParaRPr lang="en-US" sz="800" dirty="0"/>
          </a:p>
        </p:txBody>
      </p:sp>
      <p:sp>
        <p:nvSpPr>
          <p:cNvPr id="15" name="Text 13"/>
          <p:cNvSpPr/>
          <p:nvPr/>
        </p:nvSpPr>
        <p:spPr>
          <a:xfrm>
            <a:off x="4814888" y="2505670"/>
            <a:ext cx="157163" cy="157163"/>
          </a:xfrm>
          <a:prstGeom prst="rect">
            <a:avLst/>
          </a:prstGeom>
          <a:noFill/>
          <a:ln/>
        </p:spPr>
        <p:txBody>
          <a:bodyPr wrap="none" lIns="0" tIns="0" rIns="0" bIns="0" rtlCol="0" anchor="ctr"/>
          <a:lstStyle/>
          <a:p>
            <a:pPr marL="0" indent="0" algn="ctr">
              <a:buNone/>
            </a:pPr>
            <a:r>
              <a:rPr lang="en-US" sz="1547" dirty="0">
                <a:solidFill>
                  <a:srgbClr val="D8E3EC"/>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403622" y="971550"/>
            <a:ext cx="4086225" cy="1823442"/>
          </a:xfrm>
          <a:prstGeom prst="roundRect">
            <a:avLst>
              <a:gd name="adj" fmla="val 9403"/>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17" name="Text 15"/>
          <p:cNvSpPr/>
          <p:nvPr/>
        </p:nvSpPr>
        <p:spPr>
          <a:xfrm>
            <a:off x="3900488" y="1146572"/>
            <a:ext cx="400050" cy="40005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18" name="Text 16"/>
          <p:cNvSpPr/>
          <p:nvPr/>
        </p:nvSpPr>
        <p:spPr>
          <a:xfrm>
            <a:off x="3945136" y="1191220"/>
            <a:ext cx="310753" cy="310753"/>
          </a:xfrm>
          <a:prstGeom prst="rect">
            <a:avLst/>
          </a:prstGeom>
          <a:noFill/>
          <a:ln/>
        </p:spPr>
        <p:txBody>
          <a:bodyPr wrap="none" lIns="0" tIns="0" rIns="0" bIns="0" rtlCol="0" anchor="ctr"/>
          <a:lstStyle/>
          <a:p>
            <a:pPr marL="0" indent="0" algn="ctr">
              <a:buNone/>
            </a:pPr>
            <a:r>
              <a:rPr lang="en-US" sz="2109" dirty="0">
                <a:solidFill>
                  <a:srgbClr val="2A9D8F"/>
                </a:solidFill>
                <a:latin typeface="Segoe UI Symbol" pitchFamily="34" charset="0"/>
                <a:ea typeface="Segoe UI Symbol" pitchFamily="34" charset="-122"/>
                <a:cs typeface="Segoe UI Symbol" pitchFamily="34" charset="-120"/>
              </a:rPr>
              <a:t>◯</a:t>
            </a:r>
            <a:endParaRPr lang="en-US" sz="2109" dirty="0"/>
          </a:p>
        </p:txBody>
      </p:sp>
      <p:sp>
        <p:nvSpPr>
          <p:cNvPr id="19" name="Text 17"/>
          <p:cNvSpPr/>
          <p:nvPr/>
        </p:nvSpPr>
        <p:spPr>
          <a:xfrm>
            <a:off x="592931" y="1146572"/>
            <a:ext cx="3707606"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5A6B7B"/>
                </a:solidFill>
                <a:latin typeface="Carlito" pitchFamily="34" charset="0"/>
                <a:ea typeface="Carlito" pitchFamily="34" charset="-122"/>
                <a:cs typeface="Carlito" pitchFamily="34" charset="-120"/>
              </a:rPr>
              <a:t>۰۲ — بخش دوم</a:t>
            </a:r>
            <a:endParaRPr lang="en-US" sz="800" dirty="0"/>
          </a:p>
        </p:txBody>
      </p:sp>
      <p:sp>
        <p:nvSpPr>
          <p:cNvPr id="20" name="Text 18"/>
          <p:cNvSpPr/>
          <p:nvPr/>
        </p:nvSpPr>
        <p:spPr>
          <a:xfrm>
            <a:off x="592931" y="1303734"/>
            <a:ext cx="3707606" cy="203610"/>
          </a:xfrm>
          <a:prstGeom prst="rect">
            <a:avLst/>
          </a:prstGeom>
          <a:noFill/>
          <a:ln/>
        </p:spPr>
        <p:txBody>
          <a:bodyPr wrap="none" lIns="0" tIns="0" rIns="0" bIns="0" rtlCol="0" anchor="t"/>
          <a:lstStyle/>
          <a:p>
            <a:pPr marL="0" indent="0" algn="l">
              <a:lnSpc>
                <a:spcPts val="1485"/>
              </a:lnSpc>
              <a:buNone/>
            </a:pPr>
            <a:r>
              <a:rPr lang="en-US" sz="1238" b="1" dirty="0">
                <a:solidFill>
                  <a:srgbClr val="1B4965"/>
                </a:solidFill>
                <a:latin typeface="Carlito" pitchFamily="34" charset="0"/>
                <a:ea typeface="Carlito" pitchFamily="34" charset="-122"/>
                <a:cs typeface="Carlito" pitchFamily="34" charset="-120"/>
              </a:rPr>
              <a:t>نظریه یادگیری</a:t>
            </a:r>
            <a:endParaRPr lang="en-US" sz="1238" dirty="0"/>
          </a:p>
        </p:txBody>
      </p:sp>
      <p:sp>
        <p:nvSpPr>
          <p:cNvPr id="21" name="Text 19"/>
          <p:cNvSpPr/>
          <p:nvPr/>
        </p:nvSpPr>
        <p:spPr>
          <a:xfrm>
            <a:off x="592931" y="1549412"/>
            <a:ext cx="3433286" cy="175491"/>
          </a:xfrm>
          <a:prstGeom prst="rect">
            <a:avLst/>
          </a:prstGeom>
          <a:noFill/>
          <a:ln/>
        </p:spPr>
        <p:txBody>
          <a:bodyPr wrap="square" lIns="0" tIns="0" rIns="0" bIns="0" rtlCol="0" anchor="t"/>
          <a:lstStyle/>
          <a:p>
            <a:pPr marL="0" indent="0" algn="l">
              <a:lnSpc>
                <a:spcPts val="1260"/>
              </a:lnSpc>
              <a:buNone/>
            </a:pPr>
            <a:r>
              <a:rPr lang="en-US" sz="800" dirty="0">
                <a:solidFill>
                  <a:srgbClr val="5A6B7B"/>
                </a:solidFill>
                <a:latin typeface="Carlito" pitchFamily="34" charset="0"/>
                <a:ea typeface="Carlito" pitchFamily="34" charset="-122"/>
                <a:cs typeface="Carlito" pitchFamily="34" charset="-120"/>
              </a:rPr>
              <a:t>تعاریف، ماهیت، اصول و عوامل مؤثر بر یادگیری</a:t>
            </a:r>
            <a:endParaRPr lang="en-US" sz="800" dirty="0"/>
          </a:p>
        </p:txBody>
      </p:sp>
      <p:sp>
        <p:nvSpPr>
          <p:cNvPr id="22" name="Text 20"/>
          <p:cNvSpPr/>
          <p:nvPr/>
        </p:nvSpPr>
        <p:spPr>
          <a:xfrm>
            <a:off x="564356" y="2505670"/>
            <a:ext cx="157163" cy="157163"/>
          </a:xfrm>
          <a:prstGeom prst="rect">
            <a:avLst/>
          </a:prstGeom>
          <a:noFill/>
          <a:ln/>
        </p:spPr>
        <p:txBody>
          <a:bodyPr wrap="none" lIns="0" tIns="0" rIns="0" bIns="0" rtlCol="0" anchor="ctr"/>
          <a:lstStyle/>
          <a:p>
            <a:pPr marL="0" indent="0" algn="ctr">
              <a:buNone/>
            </a:pPr>
            <a:r>
              <a:rPr lang="en-US" sz="1547" dirty="0">
                <a:solidFill>
                  <a:srgbClr val="D8E3EC"/>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4654153" y="2959298"/>
            <a:ext cx="4086225" cy="1823442"/>
          </a:xfrm>
          <a:prstGeom prst="roundRect">
            <a:avLst>
              <a:gd name="adj" fmla="val 9403"/>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24" name="Text 22"/>
          <p:cNvSpPr/>
          <p:nvPr/>
        </p:nvSpPr>
        <p:spPr>
          <a:xfrm>
            <a:off x="8151019" y="3134320"/>
            <a:ext cx="400050" cy="400050"/>
          </a:xfrm>
          <a:prstGeom prst="roundRect">
            <a:avLst>
              <a:gd name="adj" fmla="val 33333"/>
            </a:avLst>
          </a:prstGeom>
          <a:solidFill>
            <a:srgbClr val="E1ECF4"/>
          </a:solidFill>
          <a:ln/>
        </p:spPr>
        <p:txBody>
          <a:bodyPr wrap="square" rtlCol="0" anchor="ctr"/>
          <a:lstStyle/>
          <a:p>
            <a:pPr marL="0" indent="0">
              <a:buNone/>
            </a:pPr>
            <a:endParaRPr lang="en-US" dirty="0"/>
          </a:p>
        </p:txBody>
      </p:sp>
      <p:sp>
        <p:nvSpPr>
          <p:cNvPr id="25" name="Text 23"/>
          <p:cNvSpPr/>
          <p:nvPr/>
        </p:nvSpPr>
        <p:spPr>
          <a:xfrm>
            <a:off x="8195667" y="3178969"/>
            <a:ext cx="310753" cy="310753"/>
          </a:xfrm>
          <a:prstGeom prst="rect">
            <a:avLst/>
          </a:prstGeom>
          <a:noFill/>
          <a:ln/>
        </p:spPr>
        <p:txBody>
          <a:bodyPr wrap="none" lIns="0" tIns="0" rIns="0" bIns="0" rtlCol="0" anchor="ctr"/>
          <a:lstStyle/>
          <a:p>
            <a:pPr marL="0" indent="0" algn="ctr">
              <a:buNone/>
            </a:pPr>
            <a:r>
              <a:rPr lang="en-US" sz="2109" dirty="0">
                <a:solidFill>
                  <a:srgbClr val="1B4965"/>
                </a:solidFill>
                <a:latin typeface="Segoe UI Symbol" pitchFamily="34" charset="0"/>
                <a:ea typeface="Segoe UI Symbol" pitchFamily="34" charset="-122"/>
                <a:cs typeface="Segoe UI Symbol" pitchFamily="34" charset="-120"/>
              </a:rPr>
              <a:t>✚</a:t>
            </a:r>
            <a:endParaRPr lang="en-US" sz="2109" dirty="0"/>
          </a:p>
        </p:txBody>
      </p:sp>
      <p:sp>
        <p:nvSpPr>
          <p:cNvPr id="26" name="Text 24"/>
          <p:cNvSpPr/>
          <p:nvPr/>
        </p:nvSpPr>
        <p:spPr>
          <a:xfrm>
            <a:off x="4843463" y="3134320"/>
            <a:ext cx="3707606"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5A6B7B"/>
                </a:solidFill>
                <a:latin typeface="Carlito" pitchFamily="34" charset="0"/>
                <a:ea typeface="Carlito" pitchFamily="34" charset="-122"/>
                <a:cs typeface="Carlito" pitchFamily="34" charset="-120"/>
              </a:rPr>
              <a:t>۰۳ — بخش سوم</a:t>
            </a:r>
            <a:endParaRPr lang="en-US" sz="800" dirty="0"/>
          </a:p>
        </p:txBody>
      </p:sp>
      <p:sp>
        <p:nvSpPr>
          <p:cNvPr id="27" name="Text 25"/>
          <p:cNvSpPr/>
          <p:nvPr/>
        </p:nvSpPr>
        <p:spPr>
          <a:xfrm>
            <a:off x="4843463" y="3291483"/>
            <a:ext cx="3337917" cy="203610"/>
          </a:xfrm>
          <a:prstGeom prst="rect">
            <a:avLst/>
          </a:prstGeom>
          <a:noFill/>
          <a:ln/>
        </p:spPr>
        <p:txBody>
          <a:bodyPr wrap="none" lIns="0" tIns="0" rIns="0" bIns="0" rtlCol="0" anchor="t"/>
          <a:lstStyle/>
          <a:p>
            <a:pPr marL="0" indent="0" algn="l">
              <a:lnSpc>
                <a:spcPts val="1485"/>
              </a:lnSpc>
              <a:buNone/>
            </a:pPr>
            <a:r>
              <a:rPr lang="en-US" sz="1238" b="1" dirty="0">
                <a:solidFill>
                  <a:srgbClr val="1B4965"/>
                </a:solidFill>
                <a:latin typeface="Carlito" pitchFamily="34" charset="0"/>
                <a:ea typeface="Carlito" pitchFamily="34" charset="-122"/>
                <a:cs typeface="Carlito" pitchFamily="34" charset="-120"/>
              </a:rPr>
              <a:t>آموزش به بیمار</a:t>
            </a:r>
            <a:endParaRPr lang="en-US" sz="1238" dirty="0"/>
          </a:p>
        </p:txBody>
      </p:sp>
      <p:sp>
        <p:nvSpPr>
          <p:cNvPr id="28" name="Text 26"/>
          <p:cNvSpPr/>
          <p:nvPr/>
        </p:nvSpPr>
        <p:spPr>
          <a:xfrm>
            <a:off x="4843463" y="3537161"/>
            <a:ext cx="3433286" cy="175491"/>
          </a:xfrm>
          <a:prstGeom prst="rect">
            <a:avLst/>
          </a:prstGeom>
          <a:noFill/>
          <a:ln/>
        </p:spPr>
        <p:txBody>
          <a:bodyPr wrap="square" lIns="0" tIns="0" rIns="0" bIns="0" rtlCol="0" anchor="t"/>
          <a:lstStyle/>
          <a:p>
            <a:pPr marL="0" indent="0" algn="l">
              <a:lnSpc>
                <a:spcPts val="1260"/>
              </a:lnSpc>
              <a:buNone/>
            </a:pPr>
            <a:r>
              <a:rPr lang="en-US" sz="800" dirty="0">
                <a:solidFill>
                  <a:srgbClr val="5A6B7B"/>
                </a:solidFill>
                <a:latin typeface="Carlito" pitchFamily="34" charset="0"/>
                <a:ea typeface="Carlito" pitchFamily="34" charset="-122"/>
                <a:cs typeface="Carlito" pitchFamily="34" charset="-120"/>
              </a:rPr>
              <a:t>تعاریف، فرآیند ۵ مرحله‌ای و روش‌های تدریس بالینی</a:t>
            </a:r>
            <a:endParaRPr lang="en-US" sz="800" dirty="0"/>
          </a:p>
        </p:txBody>
      </p:sp>
      <p:sp>
        <p:nvSpPr>
          <p:cNvPr id="29" name="Text 27"/>
          <p:cNvSpPr/>
          <p:nvPr/>
        </p:nvSpPr>
        <p:spPr>
          <a:xfrm>
            <a:off x="4814888" y="4493419"/>
            <a:ext cx="157163" cy="157163"/>
          </a:xfrm>
          <a:prstGeom prst="rect">
            <a:avLst/>
          </a:prstGeom>
          <a:noFill/>
          <a:ln/>
        </p:spPr>
        <p:txBody>
          <a:bodyPr wrap="none" lIns="0" tIns="0" rIns="0" bIns="0" rtlCol="0" anchor="ctr"/>
          <a:lstStyle/>
          <a:p>
            <a:pPr marL="0" indent="0" algn="ctr">
              <a:buNone/>
            </a:pPr>
            <a:r>
              <a:rPr lang="en-US" sz="1547" dirty="0">
                <a:solidFill>
                  <a:srgbClr val="D8E3EC"/>
                </a:solidFill>
                <a:latin typeface="Segoe UI Symbol" pitchFamily="34" charset="0"/>
                <a:ea typeface="Segoe UI Symbol" pitchFamily="34" charset="-122"/>
                <a:cs typeface="Segoe UI Symbol" pitchFamily="34" charset="-120"/>
              </a:rPr>
              <a:t>←</a:t>
            </a:r>
            <a:endParaRPr lang="en-US" sz="1547" dirty="0"/>
          </a:p>
        </p:txBody>
      </p:sp>
      <p:sp>
        <p:nvSpPr>
          <p:cNvPr id="30" name="Text 28"/>
          <p:cNvSpPr/>
          <p:nvPr/>
        </p:nvSpPr>
        <p:spPr>
          <a:xfrm>
            <a:off x="403622" y="2959298"/>
            <a:ext cx="4086225" cy="1823442"/>
          </a:xfrm>
          <a:prstGeom prst="roundRect">
            <a:avLst>
              <a:gd name="adj" fmla="val 9403"/>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31" name="Text 29"/>
          <p:cNvSpPr/>
          <p:nvPr/>
        </p:nvSpPr>
        <p:spPr>
          <a:xfrm>
            <a:off x="3900488" y="3134320"/>
            <a:ext cx="400050" cy="40005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32" name="Text 30"/>
          <p:cNvSpPr/>
          <p:nvPr/>
        </p:nvSpPr>
        <p:spPr>
          <a:xfrm>
            <a:off x="3945136" y="3178969"/>
            <a:ext cx="310753" cy="310753"/>
          </a:xfrm>
          <a:prstGeom prst="rect">
            <a:avLst/>
          </a:prstGeom>
          <a:noFill/>
          <a:ln/>
        </p:spPr>
        <p:txBody>
          <a:bodyPr wrap="none" lIns="0" tIns="0" rIns="0" bIns="0" rtlCol="0" anchor="ctr"/>
          <a:lstStyle/>
          <a:p>
            <a:pPr marL="0" indent="0" algn="ctr">
              <a:buNone/>
            </a:pPr>
            <a:r>
              <a:rPr lang="en-US" sz="2109" dirty="0">
                <a:solidFill>
                  <a:srgbClr val="E76F51"/>
                </a:solidFill>
                <a:latin typeface="Segoe UI Symbol" pitchFamily="34" charset="0"/>
                <a:ea typeface="Segoe UI Symbol" pitchFamily="34" charset="-122"/>
                <a:cs typeface="Segoe UI Symbol" pitchFamily="34" charset="-120"/>
              </a:rPr>
              <a:t>✓</a:t>
            </a:r>
            <a:endParaRPr lang="en-US" sz="2109" dirty="0"/>
          </a:p>
        </p:txBody>
      </p:sp>
      <p:sp>
        <p:nvSpPr>
          <p:cNvPr id="33" name="Text 31"/>
          <p:cNvSpPr/>
          <p:nvPr/>
        </p:nvSpPr>
        <p:spPr>
          <a:xfrm>
            <a:off x="592931" y="3134320"/>
            <a:ext cx="3707606"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5A6B7B"/>
                </a:solidFill>
                <a:latin typeface="Carlito" pitchFamily="34" charset="0"/>
                <a:ea typeface="Carlito" pitchFamily="34" charset="-122"/>
                <a:cs typeface="Carlito" pitchFamily="34" charset="-120"/>
              </a:rPr>
              <a:t>۰۴ — بخش چهارم</a:t>
            </a:r>
            <a:endParaRPr lang="en-US" sz="800" dirty="0"/>
          </a:p>
        </p:txBody>
      </p:sp>
      <p:sp>
        <p:nvSpPr>
          <p:cNvPr id="34" name="Text 32"/>
          <p:cNvSpPr/>
          <p:nvPr/>
        </p:nvSpPr>
        <p:spPr>
          <a:xfrm>
            <a:off x="592931" y="3291483"/>
            <a:ext cx="3337917" cy="203610"/>
          </a:xfrm>
          <a:prstGeom prst="rect">
            <a:avLst/>
          </a:prstGeom>
          <a:noFill/>
          <a:ln/>
        </p:spPr>
        <p:txBody>
          <a:bodyPr wrap="none" lIns="0" tIns="0" rIns="0" bIns="0" rtlCol="0" anchor="t"/>
          <a:lstStyle/>
          <a:p>
            <a:pPr marL="0" indent="0" algn="l">
              <a:lnSpc>
                <a:spcPts val="1485"/>
              </a:lnSpc>
              <a:buNone/>
            </a:pPr>
            <a:r>
              <a:rPr lang="en-US" sz="1238" b="1" dirty="0">
                <a:solidFill>
                  <a:srgbClr val="1B4965"/>
                </a:solidFill>
                <a:latin typeface="Carlito" pitchFamily="34" charset="0"/>
                <a:ea typeface="Carlito" pitchFamily="34" charset="-122"/>
                <a:cs typeface="Carlito" pitchFamily="34" charset="-120"/>
              </a:rPr>
              <a:t>ارزشیابی و چالش‌ها</a:t>
            </a:r>
            <a:endParaRPr lang="en-US" sz="1238" dirty="0"/>
          </a:p>
        </p:txBody>
      </p:sp>
      <p:sp>
        <p:nvSpPr>
          <p:cNvPr id="35" name="Text 33"/>
          <p:cNvSpPr/>
          <p:nvPr/>
        </p:nvSpPr>
        <p:spPr>
          <a:xfrm>
            <a:off x="592931" y="3537161"/>
            <a:ext cx="3433286" cy="175491"/>
          </a:xfrm>
          <a:prstGeom prst="rect">
            <a:avLst/>
          </a:prstGeom>
          <a:noFill/>
          <a:ln/>
        </p:spPr>
        <p:txBody>
          <a:bodyPr wrap="square" lIns="0" tIns="0" rIns="0" bIns="0" rtlCol="0" anchor="t"/>
          <a:lstStyle/>
          <a:p>
            <a:pPr marL="0" indent="0" algn="l">
              <a:lnSpc>
                <a:spcPts val="1260"/>
              </a:lnSpc>
              <a:buNone/>
            </a:pPr>
            <a:r>
              <a:rPr lang="en-US" sz="800" dirty="0">
                <a:solidFill>
                  <a:srgbClr val="5A6B7B"/>
                </a:solidFill>
                <a:latin typeface="Carlito" pitchFamily="34" charset="0"/>
                <a:ea typeface="Carlito" pitchFamily="34" charset="-122"/>
                <a:cs typeface="Carlito" pitchFamily="34" charset="-120"/>
              </a:rPr>
              <a:t>موانع یادگیری، ارزشیابی بالینی و چک‌لیست کاربردی</a:t>
            </a:r>
            <a:endParaRPr lang="en-US" sz="800" dirty="0"/>
          </a:p>
        </p:txBody>
      </p:sp>
      <p:sp>
        <p:nvSpPr>
          <p:cNvPr id="36" name="Text 34"/>
          <p:cNvSpPr/>
          <p:nvPr/>
        </p:nvSpPr>
        <p:spPr>
          <a:xfrm>
            <a:off x="564356" y="4493419"/>
            <a:ext cx="157163" cy="157163"/>
          </a:xfrm>
          <a:prstGeom prst="rect">
            <a:avLst/>
          </a:prstGeom>
          <a:noFill/>
          <a:ln/>
        </p:spPr>
        <p:txBody>
          <a:bodyPr wrap="none" lIns="0" tIns="0" rIns="0" bIns="0" rtlCol="0" anchor="ctr"/>
          <a:lstStyle/>
          <a:p>
            <a:pPr marL="0" indent="0" algn="ctr">
              <a:buNone/>
            </a:pPr>
            <a:r>
              <a:rPr lang="en-US" sz="1547" dirty="0">
                <a:solidFill>
                  <a:srgbClr val="D8E3EC"/>
                </a:solidFill>
                <a:latin typeface="Segoe UI Symbol" pitchFamily="34" charset="0"/>
                <a:ea typeface="Segoe UI Symbol" pitchFamily="34" charset="-122"/>
                <a:cs typeface="Segoe UI Symbol" pitchFamily="34" charset="-120"/>
              </a:rPr>
              <a:t>←</a:t>
            </a:r>
            <a:endParaRPr lang="en-US" sz="1547" dirty="0"/>
          </a:p>
        </p:txBody>
      </p:sp>
      <p:sp>
        <p:nvSpPr>
          <p:cNvPr id="37" name="Shape 35"/>
          <p:cNvSpPr/>
          <p:nvPr/>
        </p:nvSpPr>
        <p:spPr>
          <a:xfrm>
            <a:off x="457200" y="4825603"/>
            <a:ext cx="8229600" cy="0"/>
          </a:xfrm>
          <a:prstGeom prst="line">
            <a:avLst/>
          </a:prstGeom>
          <a:noFill/>
          <a:ln w="7144">
            <a:solidFill>
              <a:srgbClr val="D8E3EC"/>
            </a:solidFill>
            <a:prstDash val="solid"/>
          </a:ln>
        </p:spPr>
      </p:sp>
      <p:sp>
        <p:nvSpPr>
          <p:cNvPr id="38" name="Text 36"/>
          <p:cNvSpPr/>
          <p:nvPr/>
        </p:nvSpPr>
        <p:spPr>
          <a:xfrm>
            <a:off x="6984132" y="4886325"/>
            <a:ext cx="180482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آموزش و یادگیری در پرستاری — جلسه اول</a:t>
            </a:r>
            <a:endParaRPr lang="en-US" sz="800" dirty="0"/>
          </a:p>
        </p:txBody>
      </p:sp>
      <p:sp>
        <p:nvSpPr>
          <p:cNvPr id="39" name="Text 37"/>
          <p:cNvSpPr/>
          <p:nvPr/>
        </p:nvSpPr>
        <p:spPr>
          <a:xfrm>
            <a:off x="457200" y="4886325"/>
            <a:ext cx="6512644"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۰۲ از ۲۲</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571500"/>
            <a:ext cx="5515547" cy="3016663"/>
          </a:xfrm>
          <a:prstGeom prst="rect">
            <a:avLst/>
          </a:prstGeom>
          <a:noFill/>
          <a:ln/>
        </p:spPr>
        <p:txBody>
          <a:bodyPr wrap="none" lIns="0" tIns="0" rIns="0" bIns="0" rtlCol="0" anchor="t"/>
          <a:lstStyle/>
          <a:p>
            <a:pPr marL="0" indent="0" algn="ctr">
              <a:lnSpc>
                <a:spcPts val="21994"/>
              </a:lnSpc>
              <a:buNone/>
            </a:pPr>
            <a:r>
              <a:rPr lang="en-US" sz="25875" dirty="0">
                <a:solidFill>
                  <a:srgbClr val="FFFFFF">
                    <a:alpha val="6000"/>
                  </a:srgbClr>
                </a:solidFill>
                <a:latin typeface="Carlito" pitchFamily="34" charset="0"/>
                <a:ea typeface="Carlito" pitchFamily="34" charset="-122"/>
                <a:cs typeface="Carlito" pitchFamily="34" charset="-120"/>
              </a:rPr>
              <a:t>۰۱</a:t>
            </a:r>
            <a:endParaRPr lang="en-US" sz="25875" dirty="0"/>
          </a:p>
        </p:txBody>
      </p:sp>
      <p:sp>
        <p:nvSpPr>
          <p:cNvPr id="4" name="Text 1"/>
          <p:cNvSpPr/>
          <p:nvPr/>
        </p:nvSpPr>
        <p:spPr>
          <a:xfrm>
            <a:off x="7429500" y="-857250"/>
            <a:ext cx="2286000" cy="2286000"/>
          </a:xfrm>
          <a:prstGeom prst="ellipse">
            <a:avLst/>
          </a:prstGeom>
          <a:solidFill>
            <a:srgbClr val="FFFFFF">
              <a:alpha val="7000"/>
            </a:srgbClr>
          </a:solidFill>
          <a:ln/>
        </p:spPr>
        <p:txBody>
          <a:bodyPr wrap="square" rtlCol="0" anchor="ctr"/>
          <a:lstStyle/>
          <a:p>
            <a:pPr marL="0" indent="0">
              <a:buNone/>
            </a:pPr>
            <a:endParaRPr lang="en-US" dirty="0"/>
          </a:p>
        </p:txBody>
      </p:sp>
      <p:sp>
        <p:nvSpPr>
          <p:cNvPr id="5" name="Text 2"/>
          <p:cNvSpPr/>
          <p:nvPr/>
        </p:nvSpPr>
        <p:spPr>
          <a:xfrm>
            <a:off x="-428625" y="4143375"/>
            <a:ext cx="1714500" cy="1714500"/>
          </a:xfrm>
          <a:prstGeom prst="ellipse">
            <a:avLst/>
          </a:prstGeom>
          <a:solidFill>
            <a:srgbClr val="FFFFFF">
              <a:alpha val="6000"/>
            </a:srgbClr>
          </a:solidFill>
          <a:ln/>
        </p:spPr>
        <p:txBody>
          <a:bodyPr wrap="square" rtlCol="0" anchor="ctr"/>
          <a:lstStyle/>
          <a:p>
            <a:pPr marL="0" indent="0">
              <a:buNone/>
            </a:pPr>
            <a:endParaRPr lang="en-US" dirty="0"/>
          </a:p>
        </p:txBody>
      </p:sp>
      <p:sp>
        <p:nvSpPr>
          <p:cNvPr id="6" name="Text 3"/>
          <p:cNvSpPr/>
          <p:nvPr/>
        </p:nvSpPr>
        <p:spPr>
          <a:xfrm>
            <a:off x="8401050" y="571500"/>
            <a:ext cx="100013" cy="100013"/>
          </a:xfrm>
          <a:prstGeom prst="ellipse">
            <a:avLst/>
          </a:prstGeom>
          <a:solidFill>
            <a:srgbClr val="FFFFFF">
              <a:alpha val="40000"/>
            </a:srgbClr>
          </a:solidFill>
          <a:ln/>
        </p:spPr>
        <p:txBody>
          <a:bodyPr wrap="square" rtlCol="0" anchor="ctr"/>
          <a:lstStyle/>
          <a:p>
            <a:pPr marL="0" indent="0">
              <a:buNone/>
            </a:pPr>
            <a:endParaRPr lang="en-US" dirty="0"/>
          </a:p>
        </p:txBody>
      </p:sp>
      <p:sp>
        <p:nvSpPr>
          <p:cNvPr id="7" name="Text 4"/>
          <p:cNvSpPr/>
          <p:nvPr/>
        </p:nvSpPr>
        <p:spPr>
          <a:xfrm>
            <a:off x="8229600" y="4229100"/>
            <a:ext cx="57150" cy="57150"/>
          </a:xfrm>
          <a:prstGeom prst="ellipse">
            <a:avLst/>
          </a:prstGeom>
          <a:solidFill>
            <a:srgbClr val="FFFFFF">
              <a:alpha val="30000"/>
            </a:srgbClr>
          </a:solidFill>
          <a:ln/>
        </p:spPr>
        <p:txBody>
          <a:bodyPr wrap="square" rtlCol="0" anchor="ctr"/>
          <a:lstStyle/>
          <a:p>
            <a:pPr marL="0" indent="0">
              <a:buNone/>
            </a:pPr>
            <a:endParaRPr lang="en-US" dirty="0"/>
          </a:p>
        </p:txBody>
      </p:sp>
      <p:sp>
        <p:nvSpPr>
          <p:cNvPr id="8" name="Text 5"/>
          <p:cNvSpPr/>
          <p:nvPr/>
        </p:nvSpPr>
        <p:spPr>
          <a:xfrm>
            <a:off x="6984732" y="4818459"/>
            <a:ext cx="1700687" cy="126609"/>
          </a:xfrm>
          <a:prstGeom prst="rect">
            <a:avLst/>
          </a:prstGeom>
          <a:noFill/>
          <a:ln/>
        </p:spPr>
        <p:txBody>
          <a:bodyPr wrap="none" lIns="0" tIns="0" rIns="0" bIns="0" rtlCol="0" anchor="t"/>
          <a:lstStyle/>
          <a:p>
            <a:pPr marL="0" indent="0" algn="ctr">
              <a:lnSpc>
                <a:spcPts val="1097"/>
              </a:lnSpc>
              <a:buNone/>
            </a:pPr>
            <a:r>
              <a:rPr lang="en-US" sz="800" dirty="0">
                <a:solidFill>
                  <a:srgbClr val="FFFFFF"/>
                </a:solidFill>
                <a:latin typeface="Carlito" pitchFamily="34" charset="0"/>
                <a:ea typeface="Carlito" pitchFamily="34" charset="-122"/>
                <a:cs typeface="Carlito" pitchFamily="34" charset="-120"/>
              </a:rPr>
              <a:t>آموزش و یادگیری در پرستاری</a:t>
            </a:r>
            <a:endParaRPr lang="en-US" sz="800" dirty="0"/>
          </a:p>
        </p:txBody>
      </p:sp>
      <p:sp>
        <p:nvSpPr>
          <p:cNvPr id="9" name="Text 6"/>
          <p:cNvSpPr/>
          <p:nvPr/>
        </p:nvSpPr>
        <p:spPr>
          <a:xfrm>
            <a:off x="8572500" y="4816673"/>
            <a:ext cx="114300" cy="114300"/>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10" name="Text 7"/>
          <p:cNvSpPr/>
          <p:nvPr/>
        </p:nvSpPr>
        <p:spPr>
          <a:xfrm>
            <a:off x="414351" y="4804172"/>
            <a:ext cx="391763" cy="164592"/>
          </a:xfrm>
          <a:prstGeom prst="rect">
            <a:avLst/>
          </a:prstGeom>
          <a:noFill/>
          <a:ln/>
        </p:spPr>
        <p:txBody>
          <a:bodyPr wrap="none" lIns="0" tIns="0" rIns="0" bIns="0" rtlCol="0" anchor="t"/>
          <a:lstStyle/>
          <a:p>
            <a:pPr marL="0" indent="0" algn="ctr">
              <a:lnSpc>
                <a:spcPts val="1097"/>
              </a:lnSpc>
              <a:buNone/>
            </a:pPr>
            <a:r>
              <a:rPr lang="en-US" sz="800" dirty="0">
                <a:solidFill>
                  <a:srgbClr val="FFFFFF"/>
                </a:solidFill>
                <a:latin typeface="Carlito" pitchFamily="34" charset="0"/>
                <a:ea typeface="Carlito" pitchFamily="34" charset="-122"/>
                <a:cs typeface="Carlito" pitchFamily="34" charset="-120"/>
              </a:rPr>
              <a:t>۰۳ / ۲۲</a:t>
            </a:r>
            <a:endParaRPr lang="en-US" sz="800" dirty="0"/>
          </a:p>
        </p:txBody>
      </p:sp>
      <p:sp>
        <p:nvSpPr>
          <p:cNvPr id="11" name="Text 8"/>
          <p:cNvSpPr/>
          <p:nvPr/>
        </p:nvSpPr>
        <p:spPr>
          <a:xfrm>
            <a:off x="4113818" y="1198064"/>
            <a:ext cx="916476" cy="304209"/>
          </a:xfrm>
          <a:prstGeom prst="roundRect">
            <a:avLst>
              <a:gd name="adj" fmla="val 3127940"/>
            </a:avLst>
          </a:prstGeom>
          <a:solidFill>
            <a:srgbClr val="FFFFFF">
              <a:alpha val="16000"/>
            </a:srgbClr>
          </a:solidFill>
          <a:ln w="7144">
            <a:solidFill>
              <a:srgbClr val="FFFFFF"/>
            </a:solidFill>
            <a:prstDash val="solid"/>
          </a:ln>
        </p:spPr>
        <p:txBody>
          <a:bodyPr wrap="square" rtlCol="0" anchor="ctr"/>
          <a:lstStyle/>
          <a:p>
            <a:pPr marL="0" indent="0">
              <a:buNone/>
            </a:pPr>
            <a:endParaRPr lang="en-US" dirty="0"/>
          </a:p>
        </p:txBody>
      </p:sp>
      <p:sp>
        <p:nvSpPr>
          <p:cNvPr id="12" name="Text 9"/>
          <p:cNvSpPr/>
          <p:nvPr/>
        </p:nvSpPr>
        <p:spPr>
          <a:xfrm>
            <a:off x="4275630" y="1289447"/>
            <a:ext cx="392826" cy="125403"/>
          </a:xfrm>
          <a:prstGeom prst="rect">
            <a:avLst/>
          </a:prstGeom>
          <a:noFill/>
          <a:ln/>
        </p:spPr>
        <p:txBody>
          <a:bodyPr wrap="none" lIns="0" tIns="0" rIns="0" bIns="0" rtlCol="0" anchor="t"/>
          <a:lstStyle/>
          <a:p>
            <a:pPr marL="0" indent="0" algn="ctr">
              <a:lnSpc>
                <a:spcPts val="1181"/>
              </a:lnSpc>
              <a:buNone/>
            </a:pPr>
            <a:r>
              <a:rPr lang="en-US" sz="800" kern="0" spc="28" dirty="0">
                <a:solidFill>
                  <a:srgbClr val="FFFFFF"/>
                </a:solidFill>
                <a:latin typeface="Carlito" pitchFamily="34" charset="0"/>
                <a:ea typeface="Carlito" pitchFamily="34" charset="-122"/>
                <a:cs typeface="Carlito" pitchFamily="34" charset="-120"/>
              </a:rPr>
              <a:t>بخش اول</a:t>
            </a:r>
            <a:endParaRPr lang="en-US" sz="800" dirty="0"/>
          </a:p>
        </p:txBody>
      </p:sp>
      <p:sp>
        <p:nvSpPr>
          <p:cNvPr id="13" name="Text 10"/>
          <p:cNvSpPr/>
          <p:nvPr/>
        </p:nvSpPr>
        <p:spPr>
          <a:xfrm>
            <a:off x="4728828" y="1285875"/>
            <a:ext cx="128588" cy="128588"/>
          </a:xfrm>
          <a:prstGeom prst="rect">
            <a:avLst/>
          </a:prstGeom>
          <a:noFill/>
          <a:ln/>
        </p:spPr>
        <p:txBody>
          <a:bodyPr wrap="none" lIns="0" tIns="0" rIns="0" bIns="0" rtlCol="0" anchor="ctr"/>
          <a:lstStyle/>
          <a:p>
            <a:pPr marL="0" indent="0" algn="ctr">
              <a:buNone/>
            </a:pPr>
            <a:r>
              <a:rPr lang="en-US" sz="1266" dirty="0">
                <a:solidFill>
                  <a:srgbClr val="FFFFFF"/>
                </a:solidFill>
                <a:latin typeface="Segoe UI Symbol" pitchFamily="34" charset="0"/>
                <a:ea typeface="Segoe UI Symbol" pitchFamily="34" charset="-122"/>
                <a:cs typeface="Segoe UI Symbol" pitchFamily="34" charset="-120"/>
              </a:rPr>
              <a:t>✚</a:t>
            </a:r>
            <a:endParaRPr lang="en-US" sz="1266" dirty="0"/>
          </a:p>
        </p:txBody>
      </p:sp>
      <p:sp>
        <p:nvSpPr>
          <p:cNvPr id="14" name="Text 11"/>
          <p:cNvSpPr/>
          <p:nvPr/>
        </p:nvSpPr>
        <p:spPr>
          <a:xfrm>
            <a:off x="2502297" y="1646634"/>
            <a:ext cx="4139517" cy="1080135"/>
          </a:xfrm>
          <a:prstGeom prst="rect">
            <a:avLst/>
          </a:prstGeom>
          <a:noFill/>
          <a:ln/>
        </p:spPr>
        <p:txBody>
          <a:bodyPr wrap="none" lIns="0" tIns="0" rIns="0" bIns="0" rtlCol="0" anchor="t"/>
          <a:lstStyle/>
          <a:p>
            <a:pPr marL="0" indent="0" algn="ctr">
              <a:lnSpc>
                <a:spcPts val="7875"/>
              </a:lnSpc>
              <a:buNone/>
            </a:pPr>
            <a:r>
              <a:rPr lang="en-US" sz="7875" kern="0" spc="-169" dirty="0">
                <a:solidFill>
                  <a:srgbClr val="FFFFFF"/>
                </a:solidFill>
                <a:latin typeface="Carlito" pitchFamily="34" charset="0"/>
                <a:ea typeface="Carlito" pitchFamily="34" charset="-122"/>
                <a:cs typeface="Carlito" pitchFamily="34" charset="-120"/>
              </a:rPr>
              <a:t>۰۱ / ۰۴</a:t>
            </a:r>
            <a:endParaRPr lang="en-US" sz="7875" dirty="0"/>
          </a:p>
        </p:txBody>
      </p:sp>
      <p:sp>
        <p:nvSpPr>
          <p:cNvPr id="15" name="Text 12"/>
          <p:cNvSpPr/>
          <p:nvPr/>
        </p:nvSpPr>
        <p:spPr>
          <a:xfrm>
            <a:off x="4143487" y="2803922"/>
            <a:ext cx="857250" cy="28575"/>
          </a:xfrm>
          <a:prstGeom prst="roundRect">
            <a:avLst>
              <a:gd name="adj" fmla="val 66667"/>
            </a:avLst>
          </a:prstGeom>
          <a:solidFill>
            <a:srgbClr val="FFFFFF">
              <a:alpha val="95000"/>
            </a:srgbClr>
          </a:solidFill>
          <a:ln/>
        </p:spPr>
        <p:txBody>
          <a:bodyPr wrap="square" rtlCol="0" anchor="ctr"/>
          <a:lstStyle/>
          <a:p>
            <a:pPr marL="0" indent="0">
              <a:buNone/>
            </a:pPr>
            <a:endParaRPr lang="en-US" dirty="0"/>
          </a:p>
        </p:txBody>
      </p:sp>
      <p:sp>
        <p:nvSpPr>
          <p:cNvPr id="16" name="Text 13"/>
          <p:cNvSpPr/>
          <p:nvPr/>
        </p:nvSpPr>
        <p:spPr>
          <a:xfrm>
            <a:off x="274432" y="2989659"/>
            <a:ext cx="8595248" cy="577077"/>
          </a:xfrm>
          <a:prstGeom prst="rect">
            <a:avLst/>
          </a:prstGeom>
          <a:noFill/>
          <a:ln/>
        </p:spPr>
        <p:txBody>
          <a:bodyPr wrap="none" lIns="0" tIns="0" rIns="0" bIns="0" rtlCol="0" anchor="t"/>
          <a:lstStyle/>
          <a:p>
            <a:pPr marL="0" indent="0" algn="ctr">
              <a:lnSpc>
                <a:spcPts val="4208"/>
              </a:lnSpc>
              <a:buNone/>
            </a:pPr>
            <a:r>
              <a:rPr lang="en-US" sz="3825" b="1" kern="0" spc="-56" dirty="0">
                <a:solidFill>
                  <a:srgbClr val="FFFFFF"/>
                </a:solidFill>
                <a:latin typeface="Carlito" pitchFamily="34" charset="0"/>
                <a:ea typeface="Carlito" pitchFamily="34" charset="-122"/>
                <a:cs typeface="Carlito" pitchFamily="34" charset="-120"/>
              </a:rPr>
              <a:t>مبانی آموزش بهداشت</a:t>
            </a:r>
            <a:endParaRPr lang="en-US" sz="3825" dirty="0"/>
          </a:p>
        </p:txBody>
      </p:sp>
      <p:sp>
        <p:nvSpPr>
          <p:cNvPr id="17" name="Text 14"/>
          <p:cNvSpPr/>
          <p:nvPr/>
        </p:nvSpPr>
        <p:spPr>
          <a:xfrm>
            <a:off x="2752040" y="3681152"/>
            <a:ext cx="3640031" cy="271480"/>
          </a:xfrm>
          <a:prstGeom prst="rect">
            <a:avLst/>
          </a:prstGeom>
          <a:noFill/>
          <a:ln/>
        </p:spPr>
        <p:txBody>
          <a:bodyPr wrap="square" lIns="0" tIns="0" rIns="0" bIns="0" rtlCol="0" anchor="t"/>
          <a:lstStyle/>
          <a:p>
            <a:pPr marL="0" indent="0" algn="ctr">
              <a:lnSpc>
                <a:spcPts val="1980"/>
              </a:lnSpc>
              <a:buNone/>
            </a:pPr>
            <a:r>
              <a:rPr lang="en-US" sz="1238" dirty="0">
                <a:solidFill>
                  <a:srgbClr val="FFFFFF">
                    <a:alpha val="92000"/>
                  </a:srgbClr>
                </a:solidFill>
                <a:latin typeface="Carlito" pitchFamily="34" charset="0"/>
                <a:ea typeface="Carlito" pitchFamily="34" charset="-122"/>
                <a:cs typeface="Carlito" pitchFamily="34" charset="-120"/>
              </a:rPr>
              <a:t>ضرورت، اهمیت و جایگاه آموزش در نظام سلامت</a:t>
            </a:r>
            <a:endParaRPr lang="en-US" sz="123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00050" y="747192"/>
            <a:ext cx="8343900" cy="0"/>
          </a:xfrm>
          <a:prstGeom prst="line">
            <a:avLst/>
          </a:prstGeom>
          <a:noFill/>
          <a:ln w="14288">
            <a:solidFill>
              <a:srgbClr val="CDE7F0"/>
            </a:solidFill>
            <a:prstDash val="solid"/>
          </a:ln>
        </p:spPr>
      </p:sp>
      <p:sp>
        <p:nvSpPr>
          <p:cNvPr id="3" name="Text 1"/>
          <p:cNvSpPr/>
          <p:nvPr/>
        </p:nvSpPr>
        <p:spPr>
          <a:xfrm>
            <a:off x="8429625" y="291443"/>
            <a:ext cx="314325" cy="314325"/>
          </a:xfrm>
          <a:prstGeom prst="ellipse">
            <a:avLst/>
          </a:prstGeom>
          <a:solidFill>
            <a:srgbClr val="CDE7F0"/>
          </a:solidFill>
          <a:ln/>
        </p:spPr>
        <p:txBody>
          <a:bodyPr wrap="square" rtlCol="0" anchor="ctr"/>
          <a:lstStyle/>
          <a:p>
            <a:pPr marL="0" indent="0">
              <a:buNone/>
            </a:pPr>
            <a:endParaRPr lang="en-US" dirty="0"/>
          </a:p>
        </p:txBody>
      </p:sp>
      <p:sp>
        <p:nvSpPr>
          <p:cNvPr id="4" name="Text 2"/>
          <p:cNvSpPr/>
          <p:nvPr/>
        </p:nvSpPr>
        <p:spPr>
          <a:xfrm>
            <a:off x="8462486" y="324304"/>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5" name="Text 3"/>
          <p:cNvSpPr/>
          <p:nvPr/>
        </p:nvSpPr>
        <p:spPr>
          <a:xfrm>
            <a:off x="5029870" y="257175"/>
            <a:ext cx="3579153" cy="226841"/>
          </a:xfrm>
          <a:prstGeom prst="rect">
            <a:avLst/>
          </a:prstGeom>
          <a:noFill/>
          <a:ln/>
        </p:spPr>
        <p:txBody>
          <a:bodyPr wrap="square" lIns="0" tIns="0" rIns="0" bIns="0" rtlCol="0" anchor="t">
            <a:normAutofit/>
          </a:bodyPr>
          <a:lstStyle/>
          <a:p>
            <a:pPr marL="0" indent="0" algn="l">
              <a:lnSpc>
                <a:spcPts val="1890"/>
              </a:lnSpc>
              <a:buNone/>
            </a:pPr>
            <a:r>
              <a:rPr lang="en-US" sz="1575" b="1" dirty="0">
                <a:solidFill>
                  <a:srgbClr val="1B4965"/>
                </a:solidFill>
                <a:latin typeface="Carlito" pitchFamily="34" charset="0"/>
                <a:ea typeface="Carlito" pitchFamily="34" charset="-122"/>
                <a:cs typeface="Carlito" pitchFamily="34" charset="-120"/>
              </a:rPr>
              <a:t>ضرورت آموزش بهداشت در قرن حاضر</a:t>
            </a:r>
            <a:endParaRPr lang="en-US" sz="1575" dirty="0"/>
          </a:p>
        </p:txBody>
      </p:sp>
      <p:sp>
        <p:nvSpPr>
          <p:cNvPr id="6" name="Text 4"/>
          <p:cNvSpPr/>
          <p:nvPr/>
        </p:nvSpPr>
        <p:spPr>
          <a:xfrm>
            <a:off x="5029870" y="511448"/>
            <a:ext cx="3479732"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بخش ۱ — مبانی آموزش بهداشت</a:t>
            </a:r>
            <a:endParaRPr lang="en-US" sz="800" dirty="0"/>
          </a:p>
        </p:txBody>
      </p:sp>
      <p:sp>
        <p:nvSpPr>
          <p:cNvPr id="7" name="Text 5"/>
          <p:cNvSpPr/>
          <p:nvPr/>
        </p:nvSpPr>
        <p:spPr>
          <a:xfrm>
            <a:off x="377190" y="296500"/>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8" name="Text 6"/>
          <p:cNvSpPr/>
          <p:nvPr/>
        </p:nvSpPr>
        <p:spPr>
          <a:xfrm>
            <a:off x="400050" y="309302"/>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۰۴ / ۲۲</a:t>
            </a:r>
            <a:endParaRPr lang="en-US" sz="1013" dirty="0"/>
          </a:p>
        </p:txBody>
      </p:sp>
      <p:sp>
        <p:nvSpPr>
          <p:cNvPr id="9" name="Text 7"/>
          <p:cNvSpPr/>
          <p:nvPr/>
        </p:nvSpPr>
        <p:spPr>
          <a:xfrm>
            <a:off x="3737632" y="911498"/>
            <a:ext cx="5006318" cy="823603"/>
          </a:xfrm>
          <a:prstGeom prst="rect">
            <a:avLst/>
          </a:prstGeom>
          <a:noFill/>
          <a:ln/>
        </p:spPr>
        <p:txBody>
          <a:bodyPr wrap="square" lIns="128588" tIns="100013" rIns="128588" bIns="100013" rtlCol="0" anchor="t"/>
          <a:lstStyle/>
          <a:p>
            <a:pPr marL="0" indent="0" algn="l">
              <a:lnSpc>
                <a:spcPts val="1477"/>
              </a:lnSpc>
              <a:buNone/>
            </a:pPr>
            <a:r>
              <a:rPr lang="en-US" sz="844" dirty="0">
                <a:solidFill>
                  <a:srgbClr val="1A2733"/>
                </a:solidFill>
                <a:latin typeface="Carlito" pitchFamily="34" charset="0"/>
                <a:ea typeface="Carlito" pitchFamily="34" charset="-122"/>
                <a:cs typeface="Carlito" pitchFamily="34" charset="-120"/>
              </a:rPr>
              <a:t>در نظام سلامت معاصر، عوامل متعددی آموزش بهداشت را به یک مؤلفه حیاتی تبدیل کرده است. تغییر الگوهای بیماری از حاد به مزمن، افزایش هزینه‌های درمان و تأکید بر توانمندسازی بیمار، نقش پرستار را از مراقب صرف به آموزش‌گر تخصصی ارتقا داده است.</a:t>
            </a:r>
            <a:endParaRPr lang="en-US" sz="844" dirty="0"/>
          </a:p>
        </p:txBody>
      </p:sp>
      <p:sp>
        <p:nvSpPr>
          <p:cNvPr id="11" name="Text 9"/>
          <p:cNvSpPr/>
          <p:nvPr/>
        </p:nvSpPr>
        <p:spPr>
          <a:xfrm>
            <a:off x="8615363" y="1808038"/>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8472488" y="2113434"/>
            <a:ext cx="271463" cy="271463"/>
          </a:xfrm>
          <a:prstGeom prst="roundRect">
            <a:avLst>
              <a:gd name="adj" fmla="val 35088"/>
            </a:avLst>
          </a:prstGeom>
          <a:solidFill>
            <a:srgbClr val="CDE7F0"/>
          </a:solidFill>
          <a:ln/>
        </p:spPr>
        <p:txBody>
          <a:bodyPr wrap="square" rtlCol="0" anchor="ctr"/>
          <a:lstStyle/>
          <a:p>
            <a:pPr marL="0" indent="0">
              <a:buNone/>
            </a:pPr>
            <a:endParaRPr lang="en-US" dirty="0"/>
          </a:p>
        </p:txBody>
      </p:sp>
      <p:sp>
        <p:nvSpPr>
          <p:cNvPr id="13" name="Text 11"/>
          <p:cNvSpPr/>
          <p:nvPr/>
        </p:nvSpPr>
        <p:spPr>
          <a:xfrm>
            <a:off x="8494276" y="2135222"/>
            <a:ext cx="227886" cy="227886"/>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3737632" y="2113434"/>
            <a:ext cx="5406368" cy="108299"/>
          </a:xfrm>
          <a:prstGeom prst="rect">
            <a:avLst/>
          </a:prstGeom>
          <a:noFill/>
          <a:ln/>
        </p:spPr>
        <p:txBody>
          <a:bodyPr wrap="none" lIns="0" tIns="0" rIns="0" bIns="0" rtlCol="0" anchor="t">
            <a:normAutofit/>
          </a:bodyPr>
          <a:lstStyle/>
          <a:p>
            <a:pPr marL="0" indent="0" algn="l">
              <a:lnSpc>
                <a:spcPts val="1013"/>
              </a:lnSpc>
              <a:buNone/>
            </a:pPr>
            <a:r>
              <a:rPr lang="en-US" sz="800" b="1" kern="0" spc="56" dirty="0">
                <a:solidFill>
                  <a:srgbClr val="2A9D8F"/>
                </a:solidFill>
                <a:latin typeface="Carlito" pitchFamily="34" charset="0"/>
                <a:ea typeface="Carlito" pitchFamily="34" charset="-122"/>
                <a:cs typeface="Carlito" pitchFamily="34" charset="-120"/>
              </a:rPr>
              <a:t>۰۱</a:t>
            </a:r>
            <a:endParaRPr lang="en-US" sz="800" dirty="0"/>
          </a:p>
        </p:txBody>
      </p:sp>
      <p:sp>
        <p:nvSpPr>
          <p:cNvPr id="15" name="Text 13"/>
          <p:cNvSpPr/>
          <p:nvPr/>
        </p:nvSpPr>
        <p:spPr>
          <a:xfrm>
            <a:off x="3737632" y="2249165"/>
            <a:ext cx="4866585" cy="147590"/>
          </a:xfrm>
          <a:prstGeom prst="rect">
            <a:avLst/>
          </a:prstGeom>
          <a:noFill/>
          <a:ln/>
        </p:spPr>
        <p:txBody>
          <a:bodyPr wrap="none" lIns="0" tIns="0" rIns="0" bIns="0" rtlCol="0" anchor="t">
            <a:normAutofit/>
          </a:bodyPr>
          <a:lstStyle/>
          <a:p>
            <a:pPr marL="0" indent="0" algn="l">
              <a:lnSpc>
                <a:spcPts val="1266"/>
              </a:lnSpc>
              <a:buNone/>
            </a:pPr>
            <a:r>
              <a:rPr lang="en-US" sz="844" b="1" dirty="0">
                <a:solidFill>
                  <a:srgbClr val="1B4965"/>
                </a:solidFill>
                <a:latin typeface="Carlito" pitchFamily="34" charset="0"/>
                <a:ea typeface="Carlito" pitchFamily="34" charset="-122"/>
                <a:cs typeface="Carlito" pitchFamily="34" charset="-120"/>
              </a:rPr>
              <a:t>اولویت حفظ سلامتی بر درمان</a:t>
            </a:r>
            <a:endParaRPr lang="en-US" sz="844" dirty="0"/>
          </a:p>
        </p:txBody>
      </p:sp>
      <p:sp>
        <p:nvSpPr>
          <p:cNvPr id="16" name="Text 14"/>
          <p:cNvSpPr/>
          <p:nvPr/>
        </p:nvSpPr>
        <p:spPr>
          <a:xfrm>
            <a:off x="3737632" y="2424187"/>
            <a:ext cx="5005630" cy="164592"/>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رویکرد نوین سلامت: prevention &gt; cure</a:t>
            </a:r>
            <a:endParaRPr lang="en-US" sz="800" dirty="0"/>
          </a:p>
        </p:txBody>
      </p:sp>
      <p:sp>
        <p:nvSpPr>
          <p:cNvPr id="17" name="Text 15"/>
          <p:cNvSpPr/>
          <p:nvPr/>
        </p:nvSpPr>
        <p:spPr>
          <a:xfrm>
            <a:off x="8472488" y="2734940"/>
            <a:ext cx="271463" cy="271463"/>
          </a:xfrm>
          <a:prstGeom prst="roundRect">
            <a:avLst>
              <a:gd name="adj" fmla="val 35088"/>
            </a:avLst>
          </a:prstGeom>
          <a:solidFill>
            <a:srgbClr val="D4F1ED"/>
          </a:solidFill>
          <a:ln/>
        </p:spPr>
        <p:txBody>
          <a:bodyPr wrap="square" rtlCol="0" anchor="ctr"/>
          <a:lstStyle/>
          <a:p>
            <a:pPr marL="0" indent="0">
              <a:buNone/>
            </a:pPr>
            <a:endParaRPr lang="en-US" dirty="0"/>
          </a:p>
        </p:txBody>
      </p:sp>
      <p:sp>
        <p:nvSpPr>
          <p:cNvPr id="18" name="Text 16"/>
          <p:cNvSpPr/>
          <p:nvPr/>
        </p:nvSpPr>
        <p:spPr>
          <a:xfrm>
            <a:off x="8494276" y="2756728"/>
            <a:ext cx="227886" cy="227886"/>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3737632" y="2734940"/>
            <a:ext cx="5406368" cy="108299"/>
          </a:xfrm>
          <a:prstGeom prst="rect">
            <a:avLst/>
          </a:prstGeom>
          <a:noFill/>
          <a:ln/>
        </p:spPr>
        <p:txBody>
          <a:bodyPr wrap="none" lIns="0" tIns="0" rIns="0" bIns="0" rtlCol="0" anchor="t">
            <a:normAutofit/>
          </a:bodyPr>
          <a:lstStyle/>
          <a:p>
            <a:pPr marL="0" indent="0" algn="l">
              <a:lnSpc>
                <a:spcPts val="1013"/>
              </a:lnSpc>
              <a:buNone/>
            </a:pPr>
            <a:r>
              <a:rPr lang="en-US" sz="800" b="1" kern="0" spc="56" dirty="0">
                <a:solidFill>
                  <a:srgbClr val="2A9D8F"/>
                </a:solidFill>
                <a:latin typeface="Carlito" pitchFamily="34" charset="0"/>
                <a:ea typeface="Carlito" pitchFamily="34" charset="-122"/>
                <a:cs typeface="Carlito" pitchFamily="34" charset="-120"/>
              </a:rPr>
              <a:t>۰۲</a:t>
            </a:r>
            <a:endParaRPr lang="en-US" sz="800" dirty="0"/>
          </a:p>
        </p:txBody>
      </p:sp>
      <p:sp>
        <p:nvSpPr>
          <p:cNvPr id="20" name="Text 18"/>
          <p:cNvSpPr/>
          <p:nvPr/>
        </p:nvSpPr>
        <p:spPr>
          <a:xfrm>
            <a:off x="3737632" y="2870671"/>
            <a:ext cx="5005630" cy="147590"/>
          </a:xfrm>
          <a:prstGeom prst="rect">
            <a:avLst/>
          </a:prstGeom>
          <a:noFill/>
          <a:ln/>
        </p:spPr>
        <p:txBody>
          <a:bodyPr wrap="square" lIns="0" tIns="0" rIns="0" bIns="0" rtlCol="0" anchor="t">
            <a:normAutofit/>
          </a:bodyPr>
          <a:lstStyle/>
          <a:p>
            <a:pPr marL="0" indent="0" algn="l">
              <a:lnSpc>
                <a:spcPts val="1266"/>
              </a:lnSpc>
              <a:buNone/>
            </a:pPr>
            <a:r>
              <a:rPr lang="en-US" sz="844" b="1" dirty="0">
                <a:solidFill>
                  <a:srgbClr val="1B4965"/>
                </a:solidFill>
                <a:latin typeface="Carlito" pitchFamily="34" charset="0"/>
                <a:ea typeface="Carlito" pitchFamily="34" charset="-122"/>
                <a:cs typeface="Carlito" pitchFamily="34" charset="-120"/>
              </a:rPr>
              <a:t>کاهش مدت بستری و خروج زودتر بیمار</a:t>
            </a:r>
            <a:endParaRPr lang="en-US" sz="844" dirty="0"/>
          </a:p>
        </p:txBody>
      </p:sp>
      <p:sp>
        <p:nvSpPr>
          <p:cNvPr id="21" name="Text 19"/>
          <p:cNvSpPr/>
          <p:nvPr/>
        </p:nvSpPr>
        <p:spPr>
          <a:xfrm>
            <a:off x="3737632" y="3045693"/>
            <a:ext cx="5005630" cy="164592"/>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آموزش مؤثر، زمان ترخیص را کاهش می‌دهد</a:t>
            </a:r>
            <a:endParaRPr lang="en-US" sz="800" dirty="0"/>
          </a:p>
        </p:txBody>
      </p:sp>
      <p:sp>
        <p:nvSpPr>
          <p:cNvPr id="22" name="Text 20"/>
          <p:cNvSpPr/>
          <p:nvPr/>
        </p:nvSpPr>
        <p:spPr>
          <a:xfrm>
            <a:off x="8472488" y="3356446"/>
            <a:ext cx="271463" cy="271463"/>
          </a:xfrm>
          <a:prstGeom prst="roundRect">
            <a:avLst>
              <a:gd name="adj" fmla="val 35088"/>
            </a:avLst>
          </a:prstGeom>
          <a:solidFill>
            <a:srgbClr val="FCE4DD"/>
          </a:solidFill>
          <a:ln/>
        </p:spPr>
        <p:txBody>
          <a:bodyPr wrap="square" rtlCol="0" anchor="ctr"/>
          <a:lstStyle/>
          <a:p>
            <a:pPr marL="0" indent="0">
              <a:buNone/>
            </a:pPr>
            <a:endParaRPr lang="en-US" dirty="0"/>
          </a:p>
        </p:txBody>
      </p:sp>
      <p:sp>
        <p:nvSpPr>
          <p:cNvPr id="23" name="Text 21"/>
          <p:cNvSpPr/>
          <p:nvPr/>
        </p:nvSpPr>
        <p:spPr>
          <a:xfrm>
            <a:off x="8494276" y="3378235"/>
            <a:ext cx="227886" cy="227886"/>
          </a:xfrm>
          <a:prstGeom prst="rect">
            <a:avLst/>
          </a:prstGeom>
          <a:noFill/>
          <a:ln/>
        </p:spPr>
        <p:txBody>
          <a:bodyPr wrap="none" lIns="0" tIns="0" rIns="0" bIns="0" rtlCol="0" anchor="ctr"/>
          <a:lstStyle/>
          <a:p>
            <a:pPr marL="0" indent="0" algn="ctr">
              <a:buNone/>
            </a:pPr>
            <a:r>
              <a:rPr lang="en-US" sz="1547" dirty="0">
                <a:solidFill>
                  <a:srgbClr val="E76F51"/>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3737632" y="3356446"/>
            <a:ext cx="5406368" cy="108299"/>
          </a:xfrm>
          <a:prstGeom prst="rect">
            <a:avLst/>
          </a:prstGeom>
          <a:noFill/>
          <a:ln/>
        </p:spPr>
        <p:txBody>
          <a:bodyPr wrap="none" lIns="0" tIns="0" rIns="0" bIns="0" rtlCol="0" anchor="t">
            <a:normAutofit/>
          </a:bodyPr>
          <a:lstStyle/>
          <a:p>
            <a:pPr marL="0" indent="0" algn="l">
              <a:lnSpc>
                <a:spcPts val="1013"/>
              </a:lnSpc>
              <a:buNone/>
            </a:pPr>
            <a:r>
              <a:rPr lang="en-US" sz="800" b="1" kern="0" spc="56" dirty="0">
                <a:solidFill>
                  <a:srgbClr val="2A9D8F"/>
                </a:solidFill>
                <a:latin typeface="Carlito" pitchFamily="34" charset="0"/>
                <a:ea typeface="Carlito" pitchFamily="34" charset="-122"/>
                <a:cs typeface="Carlito" pitchFamily="34" charset="-120"/>
              </a:rPr>
              <a:t>۰۳</a:t>
            </a:r>
            <a:endParaRPr lang="en-US" sz="800" dirty="0"/>
          </a:p>
        </p:txBody>
      </p:sp>
      <p:sp>
        <p:nvSpPr>
          <p:cNvPr id="25" name="Text 23"/>
          <p:cNvSpPr/>
          <p:nvPr/>
        </p:nvSpPr>
        <p:spPr>
          <a:xfrm>
            <a:off x="3737632" y="3492178"/>
            <a:ext cx="4866585" cy="147590"/>
          </a:xfrm>
          <a:prstGeom prst="rect">
            <a:avLst/>
          </a:prstGeom>
          <a:noFill/>
          <a:ln/>
        </p:spPr>
        <p:txBody>
          <a:bodyPr wrap="none" lIns="0" tIns="0" rIns="0" bIns="0" rtlCol="0" anchor="t">
            <a:normAutofit/>
          </a:bodyPr>
          <a:lstStyle/>
          <a:p>
            <a:pPr marL="0" indent="0" algn="l">
              <a:lnSpc>
                <a:spcPts val="1266"/>
              </a:lnSpc>
              <a:buNone/>
            </a:pPr>
            <a:r>
              <a:rPr lang="en-US" sz="844" b="1" dirty="0">
                <a:solidFill>
                  <a:srgbClr val="1B4965"/>
                </a:solidFill>
                <a:latin typeface="Carlito" pitchFamily="34" charset="0"/>
                <a:ea typeface="Carlito" pitchFamily="34" charset="-122"/>
                <a:cs typeface="Carlito" pitchFamily="34" charset="-120"/>
              </a:rPr>
              <a:t>افزایش بیماری‌های مزمن</a:t>
            </a:r>
            <a:endParaRPr lang="en-US" sz="844" dirty="0"/>
          </a:p>
        </p:txBody>
      </p:sp>
      <p:sp>
        <p:nvSpPr>
          <p:cNvPr id="26" name="Text 24"/>
          <p:cNvSpPr/>
          <p:nvPr/>
        </p:nvSpPr>
        <p:spPr>
          <a:xfrm>
            <a:off x="3737632" y="3667199"/>
            <a:ext cx="5005630" cy="164592"/>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دیابت، فشار خون، CKD — مدیریت بلندمدت</a:t>
            </a:r>
            <a:endParaRPr lang="en-US" sz="800" dirty="0"/>
          </a:p>
        </p:txBody>
      </p:sp>
      <p:sp>
        <p:nvSpPr>
          <p:cNvPr id="27" name="Text 25"/>
          <p:cNvSpPr/>
          <p:nvPr/>
        </p:nvSpPr>
        <p:spPr>
          <a:xfrm>
            <a:off x="8472488" y="3977953"/>
            <a:ext cx="271463" cy="271463"/>
          </a:xfrm>
          <a:prstGeom prst="roundRect">
            <a:avLst>
              <a:gd name="adj" fmla="val 35088"/>
            </a:avLst>
          </a:prstGeom>
          <a:solidFill>
            <a:srgbClr val="E1ECF4"/>
          </a:solidFill>
          <a:ln/>
        </p:spPr>
        <p:txBody>
          <a:bodyPr wrap="square" rtlCol="0" anchor="ctr"/>
          <a:lstStyle/>
          <a:p>
            <a:pPr marL="0" indent="0">
              <a:buNone/>
            </a:pPr>
            <a:endParaRPr lang="en-US" dirty="0"/>
          </a:p>
        </p:txBody>
      </p:sp>
      <p:sp>
        <p:nvSpPr>
          <p:cNvPr id="28" name="Text 26"/>
          <p:cNvSpPr/>
          <p:nvPr/>
        </p:nvSpPr>
        <p:spPr>
          <a:xfrm>
            <a:off x="8494276" y="3999741"/>
            <a:ext cx="227886" cy="227886"/>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29" name="Text 27"/>
          <p:cNvSpPr/>
          <p:nvPr/>
        </p:nvSpPr>
        <p:spPr>
          <a:xfrm>
            <a:off x="3737632" y="3977953"/>
            <a:ext cx="5406368" cy="108299"/>
          </a:xfrm>
          <a:prstGeom prst="rect">
            <a:avLst/>
          </a:prstGeom>
          <a:noFill/>
          <a:ln/>
        </p:spPr>
        <p:txBody>
          <a:bodyPr wrap="none" lIns="0" tIns="0" rIns="0" bIns="0" rtlCol="0" anchor="t">
            <a:normAutofit/>
          </a:bodyPr>
          <a:lstStyle/>
          <a:p>
            <a:pPr marL="0" indent="0" algn="l">
              <a:lnSpc>
                <a:spcPts val="1013"/>
              </a:lnSpc>
              <a:buNone/>
            </a:pPr>
            <a:r>
              <a:rPr lang="en-US" sz="800" b="1" kern="0" spc="56" dirty="0">
                <a:solidFill>
                  <a:srgbClr val="2A9D8F"/>
                </a:solidFill>
                <a:latin typeface="Carlito" pitchFamily="34" charset="0"/>
                <a:ea typeface="Carlito" pitchFamily="34" charset="-122"/>
                <a:cs typeface="Carlito" pitchFamily="34" charset="-120"/>
              </a:rPr>
              <a:t>۰۴</a:t>
            </a:r>
            <a:endParaRPr lang="en-US" sz="800" dirty="0"/>
          </a:p>
        </p:txBody>
      </p:sp>
      <p:sp>
        <p:nvSpPr>
          <p:cNvPr id="30" name="Text 28"/>
          <p:cNvSpPr/>
          <p:nvPr/>
        </p:nvSpPr>
        <p:spPr>
          <a:xfrm>
            <a:off x="3737632" y="4113684"/>
            <a:ext cx="5005630" cy="147590"/>
          </a:xfrm>
          <a:prstGeom prst="rect">
            <a:avLst/>
          </a:prstGeom>
          <a:noFill/>
          <a:ln/>
        </p:spPr>
        <p:txBody>
          <a:bodyPr wrap="square" lIns="0" tIns="0" rIns="0" bIns="0" rtlCol="0" anchor="t">
            <a:normAutofit/>
          </a:bodyPr>
          <a:lstStyle/>
          <a:p>
            <a:pPr marL="0" indent="0" algn="l">
              <a:lnSpc>
                <a:spcPts val="1266"/>
              </a:lnSpc>
              <a:buNone/>
            </a:pPr>
            <a:r>
              <a:rPr lang="en-US" sz="844" b="1" dirty="0">
                <a:solidFill>
                  <a:srgbClr val="1B4965"/>
                </a:solidFill>
                <a:latin typeface="Carlito" pitchFamily="34" charset="0"/>
                <a:ea typeface="Carlito" pitchFamily="34" charset="-122"/>
                <a:cs typeface="Carlito" pitchFamily="34" charset="-120"/>
              </a:rPr>
              <a:t>انتظار جامعه از پرستار به عنوان مرجع بهداشتی</a:t>
            </a:r>
            <a:endParaRPr lang="en-US" sz="844" dirty="0"/>
          </a:p>
        </p:txBody>
      </p:sp>
      <p:sp>
        <p:nvSpPr>
          <p:cNvPr id="31" name="Text 29"/>
          <p:cNvSpPr/>
          <p:nvPr/>
        </p:nvSpPr>
        <p:spPr>
          <a:xfrm>
            <a:off x="3737632" y="4288706"/>
            <a:ext cx="5005630" cy="164592"/>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پرستار نزدیک‌ترین مرجع آموزشی به بیمار</a:t>
            </a:r>
            <a:endParaRPr lang="en-US" sz="800" dirty="0"/>
          </a:p>
        </p:txBody>
      </p:sp>
      <p:sp>
        <p:nvSpPr>
          <p:cNvPr id="32" name="Text 30"/>
          <p:cNvSpPr/>
          <p:nvPr/>
        </p:nvSpPr>
        <p:spPr>
          <a:xfrm>
            <a:off x="8472488" y="4599459"/>
            <a:ext cx="271463" cy="271463"/>
          </a:xfrm>
          <a:prstGeom prst="roundRect">
            <a:avLst>
              <a:gd name="adj" fmla="val 35088"/>
            </a:avLst>
          </a:prstGeom>
          <a:solidFill>
            <a:srgbClr val="D4F1ED"/>
          </a:solidFill>
          <a:ln/>
        </p:spPr>
        <p:txBody>
          <a:bodyPr wrap="square" rtlCol="0" anchor="ctr"/>
          <a:lstStyle/>
          <a:p>
            <a:pPr marL="0" indent="0">
              <a:buNone/>
            </a:pPr>
            <a:endParaRPr lang="en-US" dirty="0"/>
          </a:p>
        </p:txBody>
      </p:sp>
      <p:sp>
        <p:nvSpPr>
          <p:cNvPr id="33" name="Text 31"/>
          <p:cNvSpPr/>
          <p:nvPr/>
        </p:nvSpPr>
        <p:spPr>
          <a:xfrm>
            <a:off x="8494276" y="4621247"/>
            <a:ext cx="227886" cy="227886"/>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3737632" y="4599459"/>
            <a:ext cx="5406368" cy="108299"/>
          </a:xfrm>
          <a:prstGeom prst="rect">
            <a:avLst/>
          </a:prstGeom>
          <a:noFill/>
          <a:ln/>
        </p:spPr>
        <p:txBody>
          <a:bodyPr wrap="none" lIns="0" tIns="0" rIns="0" bIns="0" rtlCol="0" anchor="t">
            <a:normAutofit/>
          </a:bodyPr>
          <a:lstStyle/>
          <a:p>
            <a:pPr marL="0" indent="0" algn="l">
              <a:lnSpc>
                <a:spcPts val="1013"/>
              </a:lnSpc>
              <a:buNone/>
            </a:pPr>
            <a:r>
              <a:rPr lang="en-US" sz="800" b="1" kern="0" spc="56" dirty="0">
                <a:solidFill>
                  <a:srgbClr val="2A9D8F"/>
                </a:solidFill>
                <a:latin typeface="Carlito" pitchFamily="34" charset="0"/>
                <a:ea typeface="Carlito" pitchFamily="34" charset="-122"/>
                <a:cs typeface="Carlito" pitchFamily="34" charset="-120"/>
              </a:rPr>
              <a:t>۰۵</a:t>
            </a:r>
            <a:endParaRPr lang="en-US" sz="800" dirty="0"/>
          </a:p>
        </p:txBody>
      </p:sp>
      <p:sp>
        <p:nvSpPr>
          <p:cNvPr id="35" name="Text 33"/>
          <p:cNvSpPr/>
          <p:nvPr/>
        </p:nvSpPr>
        <p:spPr>
          <a:xfrm>
            <a:off x="3737632" y="4735190"/>
            <a:ext cx="4634843" cy="147590"/>
          </a:xfrm>
          <a:prstGeom prst="rect">
            <a:avLst/>
          </a:prstGeom>
          <a:noFill/>
          <a:ln/>
        </p:spPr>
        <p:txBody>
          <a:bodyPr wrap="square" lIns="0" tIns="0" rIns="0" bIns="0" rtlCol="0" anchor="t">
            <a:normAutofit/>
          </a:bodyPr>
          <a:lstStyle/>
          <a:p>
            <a:pPr marL="0" indent="0" algn="l">
              <a:lnSpc>
                <a:spcPts val="1266"/>
              </a:lnSpc>
              <a:buNone/>
            </a:pPr>
            <a:r>
              <a:rPr lang="en-US" sz="844" b="1" dirty="0">
                <a:solidFill>
                  <a:srgbClr val="1B4965"/>
                </a:solidFill>
                <a:latin typeface="Carlito" pitchFamily="34" charset="0"/>
                <a:ea typeface="Carlito" pitchFamily="34" charset="-122"/>
                <a:cs typeface="Carlito" pitchFamily="34" charset="-120"/>
              </a:rPr>
              <a:t>کارکرد چهارگانه: پیشگیری، درمانی، توانبخشی، ارتقاء سلامت</a:t>
            </a:r>
            <a:endParaRPr lang="en-US" sz="844" dirty="0"/>
          </a:p>
        </p:txBody>
      </p:sp>
      <p:sp>
        <p:nvSpPr>
          <p:cNvPr id="36" name="Text 34"/>
          <p:cNvSpPr/>
          <p:nvPr/>
        </p:nvSpPr>
        <p:spPr>
          <a:xfrm>
            <a:off x="3737632" y="4910212"/>
            <a:ext cx="5005630" cy="164592"/>
          </a:xfrm>
          <a:prstGeom prst="rect">
            <a:avLst/>
          </a:prstGeom>
          <a:noFill/>
          <a:ln/>
        </p:spPr>
        <p:txBody>
          <a:bodyPr wrap="square" lIns="0" tIns="0" rIns="0" bIns="0" rtlCol="0" anchor="t"/>
          <a:lstStyle/>
          <a:p>
            <a:pPr marL="0" indent="0" algn="l">
              <a:lnSpc>
                <a:spcPts val="1097"/>
              </a:lnSpc>
              <a:buNone/>
            </a:pPr>
            <a:r>
              <a:rPr lang="en-US" sz="800" dirty="0">
                <a:solidFill>
                  <a:srgbClr val="5A6B7B"/>
                </a:solidFill>
                <a:latin typeface="Carlito" pitchFamily="34" charset="0"/>
                <a:ea typeface="Carlito" pitchFamily="34" charset="-122"/>
                <a:cs typeface="Carlito" pitchFamily="34" charset="-120"/>
              </a:rPr>
              <a:t>آموزش در هر چهار حوزه نقش محوری دارد</a:t>
            </a:r>
            <a:endParaRPr lang="en-US" sz="800" dirty="0"/>
          </a:p>
        </p:txBody>
      </p:sp>
      <p:pic>
        <p:nvPicPr>
          <p:cNvPr id="37" name="Image 0" descr="/tmp/h2p-fit-1791663255731-bn4xx2.png"/>
          <p:cNvPicPr>
            <a:picLocks noChangeAspect="1"/>
          </p:cNvPicPr>
          <p:nvPr/>
        </p:nvPicPr>
        <p:blipFill>
          <a:blip r:embed="rId3"/>
          <a:stretch>
            <a:fillRect/>
          </a:stretch>
        </p:blipFill>
        <p:spPr>
          <a:xfrm>
            <a:off x="200137" y="911498"/>
            <a:ext cx="3337471" cy="3874815"/>
          </a:xfrm>
          <a:prstGeom prst="rect">
            <a:avLst/>
          </a:prstGeom>
        </p:spPr>
      </p:pic>
      <p:pic>
        <p:nvPicPr>
          <p:cNvPr id="38" name="Image 1" descr="preencoded.png"/>
          <p:cNvPicPr>
            <a:picLocks noChangeAspect="1"/>
          </p:cNvPicPr>
          <p:nvPr/>
        </p:nvPicPr>
        <p:blipFill>
          <a:blip r:embed="rId4"/>
          <a:stretch>
            <a:fillRect/>
          </a:stretch>
        </p:blipFill>
        <p:spPr>
          <a:xfrm>
            <a:off x="200137" y="4389834"/>
            <a:ext cx="3337471" cy="396478"/>
          </a:xfrm>
          <a:prstGeom prst="rect">
            <a:avLst/>
          </a:prstGeom>
        </p:spPr>
      </p:pic>
      <p:sp>
        <p:nvSpPr>
          <p:cNvPr id="39" name="Text 35"/>
          <p:cNvSpPr/>
          <p:nvPr/>
        </p:nvSpPr>
        <p:spPr>
          <a:xfrm>
            <a:off x="1874230" y="4532709"/>
            <a:ext cx="1520503" cy="125016"/>
          </a:xfrm>
          <a:prstGeom prst="rect">
            <a:avLst/>
          </a:prstGeom>
          <a:noFill/>
          <a:ln/>
        </p:spPr>
        <p:txBody>
          <a:bodyPr wrap="none" lIns="0" tIns="0" rIns="0" bIns="0" rtlCol="0" anchor="t"/>
          <a:lstStyle/>
          <a:p>
            <a:pPr marL="0" indent="0" algn="l">
              <a:lnSpc>
                <a:spcPts val="1097"/>
              </a:lnSpc>
              <a:buNone/>
            </a:pPr>
            <a:r>
              <a:rPr lang="en-US" sz="800" dirty="0">
                <a:solidFill>
                  <a:srgbClr val="FFFFFF"/>
                </a:solidFill>
                <a:latin typeface="Carlito" pitchFamily="34" charset="0"/>
                <a:ea typeface="Carlito" pitchFamily="34" charset="-122"/>
                <a:cs typeface="Carlito" pitchFamily="34" charset="-120"/>
              </a:rPr>
              <a:t>آموزش، قلب مراقبت پرستاری</a:t>
            </a:r>
            <a:endParaRPr lang="en-US" sz="800" dirty="0"/>
          </a:p>
        </p:txBody>
      </p:sp>
      <p:sp>
        <p:nvSpPr>
          <p:cNvPr id="40" name="Text 36"/>
          <p:cNvSpPr/>
          <p:nvPr/>
        </p:nvSpPr>
        <p:spPr>
          <a:xfrm>
            <a:off x="3266145" y="4523780"/>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41" name="Shape 37"/>
          <p:cNvSpPr/>
          <p:nvPr/>
        </p:nvSpPr>
        <p:spPr>
          <a:xfrm>
            <a:off x="457200" y="4825603"/>
            <a:ext cx="8229600" cy="0"/>
          </a:xfrm>
          <a:prstGeom prst="line">
            <a:avLst/>
          </a:prstGeom>
          <a:noFill/>
          <a:ln w="7144">
            <a:solidFill>
              <a:srgbClr val="D8E3EC"/>
            </a:solidFill>
            <a:prstDash val="solid"/>
          </a:ln>
        </p:spPr>
      </p:sp>
      <p:sp>
        <p:nvSpPr>
          <p:cNvPr id="42" name="Text 38"/>
          <p:cNvSpPr/>
          <p:nvPr/>
        </p:nvSpPr>
        <p:spPr>
          <a:xfrm>
            <a:off x="7134151" y="4886325"/>
            <a:ext cx="164580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آموزش و یادگیری در پرستاری — بخش ۱</a:t>
            </a:r>
            <a:endParaRPr lang="en-US" sz="800" dirty="0"/>
          </a:p>
        </p:txBody>
      </p:sp>
      <p:sp>
        <p:nvSpPr>
          <p:cNvPr id="43" name="Text 39"/>
          <p:cNvSpPr/>
          <p:nvPr/>
        </p:nvSpPr>
        <p:spPr>
          <a:xfrm>
            <a:off x="457200" y="4886325"/>
            <a:ext cx="6662663"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۰۴ از ۲۲</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00050" y="764381"/>
            <a:ext cx="8343900" cy="0"/>
          </a:xfrm>
          <a:prstGeom prst="line">
            <a:avLst/>
          </a:prstGeom>
          <a:noFill/>
          <a:ln w="14288">
            <a:solidFill>
              <a:srgbClr val="CDE7F0"/>
            </a:solidFill>
            <a:prstDash val="solid"/>
          </a:ln>
        </p:spPr>
      </p:sp>
      <p:sp>
        <p:nvSpPr>
          <p:cNvPr id="3" name="Text 1"/>
          <p:cNvSpPr/>
          <p:nvPr/>
        </p:nvSpPr>
        <p:spPr>
          <a:xfrm>
            <a:off x="8429625" y="300038"/>
            <a:ext cx="314325" cy="314325"/>
          </a:xfrm>
          <a:prstGeom prst="ellipse">
            <a:avLst/>
          </a:prstGeom>
          <a:solidFill>
            <a:srgbClr val="CDE7F0"/>
          </a:solidFill>
          <a:ln/>
        </p:spPr>
        <p:txBody>
          <a:bodyPr wrap="square" rtlCol="0" anchor="ctr"/>
          <a:lstStyle/>
          <a:p>
            <a:pPr marL="0" indent="0">
              <a:buNone/>
            </a:pPr>
            <a:endParaRPr lang="en-US" dirty="0"/>
          </a:p>
        </p:txBody>
      </p:sp>
      <p:sp>
        <p:nvSpPr>
          <p:cNvPr id="4" name="Text 2"/>
          <p:cNvSpPr/>
          <p:nvPr/>
        </p:nvSpPr>
        <p:spPr>
          <a:xfrm>
            <a:off x="8462486" y="332899"/>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5" name="Text 3"/>
          <p:cNvSpPr/>
          <p:nvPr/>
        </p:nvSpPr>
        <p:spPr>
          <a:xfrm>
            <a:off x="5602932" y="257175"/>
            <a:ext cx="2878016" cy="244030"/>
          </a:xfrm>
          <a:prstGeom prst="rect">
            <a:avLst/>
          </a:prstGeom>
          <a:noFill/>
          <a:ln/>
        </p:spPr>
        <p:txBody>
          <a:bodyPr wrap="none" lIns="0" tIns="0" rIns="0" bIns="0" rtlCol="0" anchor="t">
            <a:normAutofit/>
          </a:bodyPr>
          <a:lstStyle/>
          <a:p>
            <a:pPr marL="0" indent="0" algn="l">
              <a:lnSpc>
                <a:spcPts val="2025"/>
              </a:lnSpc>
              <a:buNone/>
            </a:pPr>
            <a:r>
              <a:rPr lang="en-US" sz="1688" b="1" dirty="0">
                <a:solidFill>
                  <a:srgbClr val="1B4965"/>
                </a:solidFill>
                <a:latin typeface="Carlito" pitchFamily="34" charset="0"/>
                <a:ea typeface="Carlito" pitchFamily="34" charset="-122"/>
                <a:cs typeface="Carlito" pitchFamily="34" charset="-120"/>
              </a:rPr>
              <a:t>آموزش بیمار در عدد و رقم</a:t>
            </a:r>
            <a:endParaRPr lang="en-US" sz="1688" dirty="0"/>
          </a:p>
        </p:txBody>
      </p:sp>
      <p:sp>
        <p:nvSpPr>
          <p:cNvPr id="6" name="Text 4"/>
          <p:cNvSpPr/>
          <p:nvPr/>
        </p:nvSpPr>
        <p:spPr>
          <a:xfrm>
            <a:off x="5602932" y="528638"/>
            <a:ext cx="2960245"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داده‌های کلیدی از اثربخشی آموزش در پرستاری</a:t>
            </a:r>
            <a:endParaRPr lang="en-US" sz="800" dirty="0"/>
          </a:p>
        </p:txBody>
      </p:sp>
      <p:sp>
        <p:nvSpPr>
          <p:cNvPr id="7" name="Text 5"/>
          <p:cNvSpPr/>
          <p:nvPr/>
        </p:nvSpPr>
        <p:spPr>
          <a:xfrm>
            <a:off x="377190" y="305095"/>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8" name="Text 6"/>
          <p:cNvSpPr/>
          <p:nvPr/>
        </p:nvSpPr>
        <p:spPr>
          <a:xfrm>
            <a:off x="400050" y="317897"/>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۰۵ / ۲۲</a:t>
            </a:r>
            <a:endParaRPr lang="en-US" sz="1013" dirty="0"/>
          </a:p>
        </p:txBody>
      </p:sp>
      <p:sp>
        <p:nvSpPr>
          <p:cNvPr id="9" name="Text 7"/>
          <p:cNvSpPr/>
          <p:nvPr/>
        </p:nvSpPr>
        <p:spPr>
          <a:xfrm>
            <a:off x="4639866" y="903684"/>
            <a:ext cx="4100513" cy="1685925"/>
          </a:xfrm>
          <a:prstGeom prst="roundRect">
            <a:avLst>
              <a:gd name="adj" fmla="val 9040"/>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10" name="Text 8"/>
          <p:cNvSpPr/>
          <p:nvPr/>
        </p:nvSpPr>
        <p:spPr>
          <a:xfrm>
            <a:off x="4572000" y="2085975"/>
            <a:ext cx="642938" cy="642938"/>
          </a:xfrm>
          <a:prstGeom prst="rect">
            <a:avLst/>
          </a:prstGeom>
          <a:noFill/>
          <a:ln/>
        </p:spPr>
        <p:txBody>
          <a:bodyPr wrap="none" lIns="0" tIns="0" rIns="0" bIns="0" rtlCol="0" anchor="ctr"/>
          <a:lstStyle/>
          <a:p>
            <a:pPr marL="0" indent="0" algn="ctr">
              <a:buNone/>
            </a:pPr>
            <a:r>
              <a:rPr lang="en-US" sz="4800" dirty="0">
                <a:solidFill>
                  <a:srgbClr val="1B4965"/>
                </a:solidFill>
                <a:latin typeface="Segoe UI Symbol" pitchFamily="34" charset="0"/>
                <a:ea typeface="Segoe UI Symbol" pitchFamily="34" charset="-122"/>
                <a:cs typeface="Segoe UI Symbol" pitchFamily="34" charset="-120"/>
              </a:rPr>
              <a:t>↘</a:t>
            </a:r>
            <a:endParaRPr lang="en-US" sz="4800" dirty="0"/>
          </a:p>
        </p:txBody>
      </p:sp>
      <p:sp>
        <p:nvSpPr>
          <p:cNvPr id="11" name="Text 9"/>
          <p:cNvSpPr/>
          <p:nvPr/>
        </p:nvSpPr>
        <p:spPr>
          <a:xfrm>
            <a:off x="7098030" y="1518047"/>
            <a:ext cx="1467326" cy="493776"/>
          </a:xfrm>
          <a:prstGeom prst="rect">
            <a:avLst/>
          </a:prstGeom>
          <a:noFill/>
          <a:ln/>
        </p:spPr>
        <p:txBody>
          <a:bodyPr wrap="none" lIns="0" tIns="0" rIns="0" bIns="0" rtlCol="0" anchor="t"/>
          <a:lstStyle/>
          <a:p>
            <a:pPr marL="0" indent="0" algn="ctr">
              <a:lnSpc>
                <a:spcPts val="3600"/>
              </a:lnSpc>
              <a:buNone/>
            </a:pPr>
            <a:r>
              <a:rPr lang="en-US" sz="3600" b="1" dirty="0">
                <a:solidFill>
                  <a:srgbClr val="2A9D8F"/>
                </a:solidFill>
                <a:latin typeface="Carlito" pitchFamily="34" charset="0"/>
                <a:ea typeface="Carlito" pitchFamily="34" charset="-122"/>
                <a:cs typeface="Carlito" pitchFamily="34" charset="-120"/>
              </a:rPr>
              <a:t>۶۰٪</a:t>
            </a:r>
            <a:endParaRPr lang="en-US" sz="3600" dirty="0"/>
          </a:p>
        </p:txBody>
      </p:sp>
      <p:sp>
        <p:nvSpPr>
          <p:cNvPr id="12" name="Shape 10"/>
          <p:cNvSpPr/>
          <p:nvPr/>
        </p:nvSpPr>
        <p:spPr>
          <a:xfrm>
            <a:off x="7490222" y="1492374"/>
            <a:ext cx="0" cy="508546"/>
          </a:xfrm>
          <a:prstGeom prst="line">
            <a:avLst/>
          </a:prstGeom>
          <a:noFill/>
          <a:ln w="7144">
            <a:solidFill>
              <a:srgbClr val="E1ECF4"/>
            </a:solidFill>
            <a:prstDash val="solid"/>
          </a:ln>
        </p:spPr>
      </p:sp>
      <p:sp>
        <p:nvSpPr>
          <p:cNvPr id="13" name="Text 11"/>
          <p:cNvSpPr/>
          <p:nvPr/>
        </p:nvSpPr>
        <p:spPr>
          <a:xfrm>
            <a:off x="4814888" y="1492374"/>
            <a:ext cx="2543175" cy="166601"/>
          </a:xfrm>
          <a:prstGeom prst="rect">
            <a:avLst/>
          </a:prstGeom>
          <a:noFill/>
          <a:ln/>
        </p:spPr>
        <p:txBody>
          <a:bodyPr wrap="none" lIns="0" tIns="0" rIns="0" bIns="0" rtlCol="0" anchor="t"/>
          <a:lstStyle/>
          <a:p>
            <a:pPr marL="0" indent="0" algn="l">
              <a:lnSpc>
                <a:spcPts val="1215"/>
              </a:lnSpc>
              <a:buNone/>
            </a:pPr>
            <a:r>
              <a:rPr lang="en-US" sz="1013" b="1" dirty="0">
                <a:solidFill>
                  <a:srgbClr val="1B4965"/>
                </a:solidFill>
                <a:latin typeface="Carlito" pitchFamily="34" charset="0"/>
                <a:ea typeface="Carlito" pitchFamily="34" charset="-122"/>
                <a:cs typeface="Carlito" pitchFamily="34" charset="-120"/>
              </a:rPr>
              <a:t>کاهش بازپذیرستانی</a:t>
            </a:r>
            <a:endParaRPr lang="en-US" sz="1013" dirty="0"/>
          </a:p>
        </p:txBody>
      </p:sp>
      <p:sp>
        <p:nvSpPr>
          <p:cNvPr id="14" name="Text 12"/>
          <p:cNvSpPr/>
          <p:nvPr/>
        </p:nvSpPr>
        <p:spPr>
          <a:xfrm>
            <a:off x="4814888" y="1703784"/>
            <a:ext cx="2543175" cy="297135"/>
          </a:xfrm>
          <a:prstGeom prst="rect">
            <a:avLst/>
          </a:prstGeom>
          <a:noFill/>
          <a:ln/>
        </p:spPr>
        <p:txBody>
          <a:bodyPr wrap="square" lIns="0" tIns="0" rIns="0" bIns="0" rtlCol="0" anchor="t"/>
          <a:lstStyle/>
          <a:p>
            <a:pPr marL="0" indent="0" algn="l">
              <a:lnSpc>
                <a:spcPts val="1170"/>
              </a:lnSpc>
              <a:buNone/>
            </a:pPr>
            <a:r>
              <a:rPr lang="en-US" sz="800" dirty="0">
                <a:solidFill>
                  <a:srgbClr val="5A6B7B"/>
                </a:solidFill>
                <a:latin typeface="Carlito" pitchFamily="34" charset="0"/>
                <a:ea typeface="Carlito" pitchFamily="34" charset="-122"/>
                <a:cs typeface="Carlito" pitchFamily="34" charset="-120"/>
              </a:rPr>
              <a:t>آموزش مناسب پیش از ترخیص، بازگشت به بیمارستان را تا ۶۰٪ کاهش می‌دهد.</a:t>
            </a:r>
            <a:endParaRPr lang="en-US" sz="800" dirty="0"/>
          </a:p>
        </p:txBody>
      </p:sp>
      <p:sp>
        <p:nvSpPr>
          <p:cNvPr id="15" name="Text 13"/>
          <p:cNvSpPr/>
          <p:nvPr/>
        </p:nvSpPr>
        <p:spPr>
          <a:xfrm>
            <a:off x="403622" y="903684"/>
            <a:ext cx="4100513" cy="1685925"/>
          </a:xfrm>
          <a:prstGeom prst="roundRect">
            <a:avLst>
              <a:gd name="adj" fmla="val 9040"/>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16" name="Text 14"/>
          <p:cNvSpPr/>
          <p:nvPr/>
        </p:nvSpPr>
        <p:spPr>
          <a:xfrm>
            <a:off x="335756" y="2085975"/>
            <a:ext cx="642938" cy="642938"/>
          </a:xfrm>
          <a:prstGeom prst="rect">
            <a:avLst/>
          </a:prstGeom>
          <a:noFill/>
          <a:ln/>
        </p:spPr>
        <p:txBody>
          <a:bodyPr wrap="none" lIns="0" tIns="0" rIns="0" bIns="0" rtlCol="0" anchor="ctr"/>
          <a:lstStyle/>
          <a:p>
            <a:pPr marL="0" indent="0" algn="ctr">
              <a:buNone/>
            </a:pPr>
            <a:r>
              <a:rPr lang="en-US" sz="4800" dirty="0">
                <a:solidFill>
                  <a:srgbClr val="1B4965"/>
                </a:solidFill>
                <a:latin typeface="Segoe UI Symbol" pitchFamily="34" charset="0"/>
                <a:ea typeface="Segoe UI Symbol" pitchFamily="34" charset="-122"/>
                <a:cs typeface="Segoe UI Symbol" pitchFamily="34" charset="-120"/>
              </a:rPr>
              <a:t>↗</a:t>
            </a:r>
            <a:endParaRPr lang="en-US" sz="4800" dirty="0"/>
          </a:p>
        </p:txBody>
      </p:sp>
      <p:sp>
        <p:nvSpPr>
          <p:cNvPr id="17" name="Text 15"/>
          <p:cNvSpPr/>
          <p:nvPr/>
        </p:nvSpPr>
        <p:spPr>
          <a:xfrm>
            <a:off x="2861786" y="1518047"/>
            <a:ext cx="1467326" cy="493776"/>
          </a:xfrm>
          <a:prstGeom prst="rect">
            <a:avLst/>
          </a:prstGeom>
          <a:noFill/>
          <a:ln/>
        </p:spPr>
        <p:txBody>
          <a:bodyPr wrap="none" lIns="0" tIns="0" rIns="0" bIns="0" rtlCol="0" anchor="t"/>
          <a:lstStyle/>
          <a:p>
            <a:pPr marL="0" indent="0" algn="ctr">
              <a:lnSpc>
                <a:spcPts val="3600"/>
              </a:lnSpc>
              <a:buNone/>
            </a:pPr>
            <a:r>
              <a:rPr lang="en-US" sz="3600" b="1" dirty="0">
                <a:solidFill>
                  <a:srgbClr val="1B4965"/>
                </a:solidFill>
                <a:latin typeface="Carlito" pitchFamily="34" charset="0"/>
                <a:ea typeface="Carlito" pitchFamily="34" charset="-122"/>
                <a:cs typeface="Carlito" pitchFamily="34" charset="-120"/>
              </a:rPr>
              <a:t>۳×</a:t>
            </a:r>
            <a:endParaRPr lang="en-US" sz="3600" dirty="0"/>
          </a:p>
        </p:txBody>
      </p:sp>
      <p:sp>
        <p:nvSpPr>
          <p:cNvPr id="18" name="Shape 16"/>
          <p:cNvSpPr/>
          <p:nvPr/>
        </p:nvSpPr>
        <p:spPr>
          <a:xfrm>
            <a:off x="3253978" y="1492374"/>
            <a:ext cx="0" cy="508546"/>
          </a:xfrm>
          <a:prstGeom prst="line">
            <a:avLst/>
          </a:prstGeom>
          <a:noFill/>
          <a:ln w="7144">
            <a:solidFill>
              <a:srgbClr val="E1ECF4"/>
            </a:solidFill>
            <a:prstDash val="solid"/>
          </a:ln>
        </p:spPr>
      </p:sp>
      <p:sp>
        <p:nvSpPr>
          <p:cNvPr id="19" name="Text 17"/>
          <p:cNvSpPr/>
          <p:nvPr/>
        </p:nvSpPr>
        <p:spPr>
          <a:xfrm>
            <a:off x="578644" y="1492374"/>
            <a:ext cx="2543175" cy="166601"/>
          </a:xfrm>
          <a:prstGeom prst="rect">
            <a:avLst/>
          </a:prstGeom>
          <a:noFill/>
          <a:ln/>
        </p:spPr>
        <p:txBody>
          <a:bodyPr wrap="none" lIns="0" tIns="0" rIns="0" bIns="0" rtlCol="0" anchor="t"/>
          <a:lstStyle/>
          <a:p>
            <a:pPr marL="0" indent="0" algn="l">
              <a:lnSpc>
                <a:spcPts val="1215"/>
              </a:lnSpc>
              <a:buNone/>
            </a:pPr>
            <a:r>
              <a:rPr lang="en-US" sz="1013" b="1" dirty="0">
                <a:solidFill>
                  <a:srgbClr val="1B4965"/>
                </a:solidFill>
                <a:latin typeface="Carlito" pitchFamily="34" charset="0"/>
                <a:ea typeface="Carlito" pitchFamily="34" charset="-122"/>
                <a:cs typeface="Carlito" pitchFamily="34" charset="-120"/>
              </a:rPr>
              <a:t>افزایش پایبندی به درمان</a:t>
            </a:r>
            <a:endParaRPr lang="en-US" sz="1013" dirty="0"/>
          </a:p>
        </p:txBody>
      </p:sp>
      <p:sp>
        <p:nvSpPr>
          <p:cNvPr id="20" name="Text 18"/>
          <p:cNvSpPr/>
          <p:nvPr/>
        </p:nvSpPr>
        <p:spPr>
          <a:xfrm>
            <a:off x="578644" y="1703784"/>
            <a:ext cx="2543175" cy="297135"/>
          </a:xfrm>
          <a:prstGeom prst="rect">
            <a:avLst/>
          </a:prstGeom>
          <a:noFill/>
          <a:ln/>
        </p:spPr>
        <p:txBody>
          <a:bodyPr wrap="square" lIns="0" tIns="0" rIns="0" bIns="0" rtlCol="0" anchor="t"/>
          <a:lstStyle/>
          <a:p>
            <a:pPr marL="0" indent="0" algn="l">
              <a:lnSpc>
                <a:spcPts val="1170"/>
              </a:lnSpc>
              <a:buNone/>
            </a:pPr>
            <a:r>
              <a:rPr lang="en-US" sz="800" dirty="0">
                <a:solidFill>
                  <a:srgbClr val="5A6B7B"/>
                </a:solidFill>
                <a:latin typeface="Carlito" pitchFamily="34" charset="0"/>
                <a:ea typeface="Carlito" pitchFamily="34" charset="-122"/>
                <a:cs typeface="Carlito" pitchFamily="34" charset="-120"/>
              </a:rPr>
              <a:t>بیمارانی که آموزش ساختارافته دریافت می‌کنند، سه برابر بیشتر به برنامه درمانی پایبند می‌شوند.</a:t>
            </a:r>
            <a:endParaRPr lang="en-US" sz="800" dirty="0"/>
          </a:p>
        </p:txBody>
      </p:sp>
      <p:sp>
        <p:nvSpPr>
          <p:cNvPr id="21" name="Text 19"/>
          <p:cNvSpPr/>
          <p:nvPr/>
        </p:nvSpPr>
        <p:spPr>
          <a:xfrm>
            <a:off x="4639866" y="2725341"/>
            <a:ext cx="4100513" cy="1685925"/>
          </a:xfrm>
          <a:prstGeom prst="roundRect">
            <a:avLst>
              <a:gd name="adj" fmla="val 9040"/>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22" name="Text 20"/>
          <p:cNvSpPr/>
          <p:nvPr/>
        </p:nvSpPr>
        <p:spPr>
          <a:xfrm>
            <a:off x="4572000" y="3907631"/>
            <a:ext cx="642938" cy="642938"/>
          </a:xfrm>
          <a:prstGeom prst="rect">
            <a:avLst/>
          </a:prstGeom>
          <a:noFill/>
          <a:ln/>
        </p:spPr>
        <p:txBody>
          <a:bodyPr wrap="none" lIns="0" tIns="0" rIns="0" bIns="0" rtlCol="0" anchor="ctr"/>
          <a:lstStyle/>
          <a:p>
            <a:pPr marL="0" indent="0" algn="ctr">
              <a:buNone/>
            </a:pPr>
            <a:r>
              <a:rPr lang="en-US" sz="4800" dirty="0">
                <a:solidFill>
                  <a:srgbClr val="1B4965"/>
                </a:solidFill>
                <a:latin typeface="Segoe UI Symbol" pitchFamily="34" charset="0"/>
                <a:ea typeface="Segoe UI Symbol" pitchFamily="34" charset="-122"/>
                <a:cs typeface="Segoe UI Symbol" pitchFamily="34" charset="-120"/>
              </a:rPr>
              <a:t>♥</a:t>
            </a:r>
            <a:endParaRPr lang="en-US" sz="4800" dirty="0"/>
          </a:p>
        </p:txBody>
      </p:sp>
      <p:sp>
        <p:nvSpPr>
          <p:cNvPr id="23" name="Text 21"/>
          <p:cNvSpPr/>
          <p:nvPr/>
        </p:nvSpPr>
        <p:spPr>
          <a:xfrm>
            <a:off x="7098030" y="3339703"/>
            <a:ext cx="1467326" cy="493776"/>
          </a:xfrm>
          <a:prstGeom prst="rect">
            <a:avLst/>
          </a:prstGeom>
          <a:noFill/>
          <a:ln/>
        </p:spPr>
        <p:txBody>
          <a:bodyPr wrap="none" lIns="0" tIns="0" rIns="0" bIns="0" rtlCol="0" anchor="t"/>
          <a:lstStyle/>
          <a:p>
            <a:pPr marL="0" indent="0" algn="ctr">
              <a:lnSpc>
                <a:spcPts val="3600"/>
              </a:lnSpc>
              <a:buNone/>
            </a:pPr>
            <a:r>
              <a:rPr lang="en-US" sz="3600" b="1" dirty="0">
                <a:solidFill>
                  <a:srgbClr val="E76F51"/>
                </a:solidFill>
                <a:latin typeface="Carlito" pitchFamily="34" charset="0"/>
                <a:ea typeface="Carlito" pitchFamily="34" charset="-122"/>
                <a:cs typeface="Carlito" pitchFamily="34" charset="-120"/>
              </a:rPr>
              <a:t>۸۰٪</a:t>
            </a:r>
            <a:endParaRPr lang="en-US" sz="3600" dirty="0"/>
          </a:p>
        </p:txBody>
      </p:sp>
      <p:sp>
        <p:nvSpPr>
          <p:cNvPr id="24" name="Shape 22"/>
          <p:cNvSpPr/>
          <p:nvPr/>
        </p:nvSpPr>
        <p:spPr>
          <a:xfrm>
            <a:off x="7490222" y="3314030"/>
            <a:ext cx="0" cy="508546"/>
          </a:xfrm>
          <a:prstGeom prst="line">
            <a:avLst/>
          </a:prstGeom>
          <a:noFill/>
          <a:ln w="7144">
            <a:solidFill>
              <a:srgbClr val="E1ECF4"/>
            </a:solidFill>
            <a:prstDash val="solid"/>
          </a:ln>
        </p:spPr>
      </p:sp>
      <p:sp>
        <p:nvSpPr>
          <p:cNvPr id="25" name="Text 23"/>
          <p:cNvSpPr/>
          <p:nvPr/>
        </p:nvSpPr>
        <p:spPr>
          <a:xfrm>
            <a:off x="4814888" y="3314030"/>
            <a:ext cx="2543175" cy="166601"/>
          </a:xfrm>
          <a:prstGeom prst="rect">
            <a:avLst/>
          </a:prstGeom>
          <a:noFill/>
          <a:ln/>
        </p:spPr>
        <p:txBody>
          <a:bodyPr wrap="none" lIns="0" tIns="0" rIns="0" bIns="0" rtlCol="0" anchor="t"/>
          <a:lstStyle/>
          <a:p>
            <a:pPr marL="0" indent="0" algn="l">
              <a:lnSpc>
                <a:spcPts val="1215"/>
              </a:lnSpc>
              <a:buNone/>
            </a:pPr>
            <a:r>
              <a:rPr lang="en-US" sz="1013" b="1" dirty="0">
                <a:solidFill>
                  <a:srgbClr val="1B4965"/>
                </a:solidFill>
                <a:latin typeface="Carlito" pitchFamily="34" charset="0"/>
                <a:ea typeface="Carlito" pitchFamily="34" charset="-122"/>
                <a:cs typeface="Carlito" pitchFamily="34" charset="-120"/>
              </a:rPr>
              <a:t>بیماری‌های مزمن</a:t>
            </a:r>
            <a:endParaRPr lang="en-US" sz="1013" dirty="0"/>
          </a:p>
        </p:txBody>
      </p:sp>
      <p:sp>
        <p:nvSpPr>
          <p:cNvPr id="26" name="Text 24"/>
          <p:cNvSpPr/>
          <p:nvPr/>
        </p:nvSpPr>
        <p:spPr>
          <a:xfrm>
            <a:off x="4814888" y="3525441"/>
            <a:ext cx="2543175" cy="297135"/>
          </a:xfrm>
          <a:prstGeom prst="rect">
            <a:avLst/>
          </a:prstGeom>
          <a:noFill/>
          <a:ln/>
        </p:spPr>
        <p:txBody>
          <a:bodyPr wrap="square" lIns="0" tIns="0" rIns="0" bIns="0" rtlCol="0" anchor="t"/>
          <a:lstStyle/>
          <a:p>
            <a:pPr marL="0" indent="0" algn="l">
              <a:lnSpc>
                <a:spcPts val="1170"/>
              </a:lnSpc>
              <a:buNone/>
            </a:pPr>
            <a:r>
              <a:rPr lang="en-US" sz="800" dirty="0">
                <a:solidFill>
                  <a:srgbClr val="5A6B7B"/>
                </a:solidFill>
                <a:latin typeface="Carlito" pitchFamily="34" charset="0"/>
                <a:ea typeface="Carlito" pitchFamily="34" charset="-122"/>
                <a:cs typeface="Carlito" pitchFamily="34" charset="-120"/>
              </a:rPr>
              <a:t>بیش از ۸۰٪ هزینه‌های سلامت به بیماری‌های مزمن مربوط است که آموزش نقش محوری در مدیریت آن‌ها دارد.</a:t>
            </a:r>
            <a:endParaRPr lang="en-US" sz="800" dirty="0"/>
          </a:p>
        </p:txBody>
      </p:sp>
      <p:sp>
        <p:nvSpPr>
          <p:cNvPr id="27" name="Text 25"/>
          <p:cNvSpPr/>
          <p:nvPr/>
        </p:nvSpPr>
        <p:spPr>
          <a:xfrm>
            <a:off x="403622" y="2725341"/>
            <a:ext cx="4100513" cy="1685925"/>
          </a:xfrm>
          <a:prstGeom prst="roundRect">
            <a:avLst>
              <a:gd name="adj" fmla="val 9040"/>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28" name="Text 26"/>
          <p:cNvSpPr/>
          <p:nvPr/>
        </p:nvSpPr>
        <p:spPr>
          <a:xfrm>
            <a:off x="335756" y="3907631"/>
            <a:ext cx="642938" cy="642938"/>
          </a:xfrm>
          <a:prstGeom prst="rect">
            <a:avLst/>
          </a:prstGeom>
          <a:noFill/>
          <a:ln/>
        </p:spPr>
        <p:txBody>
          <a:bodyPr wrap="none" lIns="0" tIns="0" rIns="0" bIns="0" rtlCol="0" anchor="ctr"/>
          <a:lstStyle/>
          <a:p>
            <a:pPr marL="0" indent="0" algn="ctr">
              <a:buNone/>
            </a:pPr>
            <a:r>
              <a:rPr lang="en-US" sz="4800" dirty="0">
                <a:solidFill>
                  <a:srgbClr val="1B4965"/>
                </a:solidFill>
                <a:latin typeface="Segoe UI Symbol" pitchFamily="34" charset="0"/>
                <a:ea typeface="Segoe UI Symbol" pitchFamily="34" charset="-122"/>
                <a:cs typeface="Segoe UI Symbol" pitchFamily="34" charset="-120"/>
              </a:rPr>
              <a:t>◯</a:t>
            </a:r>
            <a:endParaRPr lang="en-US" sz="4800" dirty="0"/>
          </a:p>
        </p:txBody>
      </p:sp>
      <p:sp>
        <p:nvSpPr>
          <p:cNvPr id="29" name="Text 27"/>
          <p:cNvSpPr/>
          <p:nvPr/>
        </p:nvSpPr>
        <p:spPr>
          <a:xfrm>
            <a:off x="2861786" y="3339703"/>
            <a:ext cx="1467326" cy="493776"/>
          </a:xfrm>
          <a:prstGeom prst="rect">
            <a:avLst/>
          </a:prstGeom>
          <a:noFill/>
          <a:ln/>
        </p:spPr>
        <p:txBody>
          <a:bodyPr wrap="none" lIns="0" tIns="0" rIns="0" bIns="0" rtlCol="0" anchor="t"/>
          <a:lstStyle/>
          <a:p>
            <a:pPr marL="0" indent="0" algn="ctr">
              <a:lnSpc>
                <a:spcPts val="3600"/>
              </a:lnSpc>
              <a:buNone/>
            </a:pPr>
            <a:r>
              <a:rPr lang="en-US" sz="3600" b="1" dirty="0">
                <a:solidFill>
                  <a:srgbClr val="5FA8D3"/>
                </a:solidFill>
                <a:latin typeface="Carlito" pitchFamily="34" charset="0"/>
                <a:ea typeface="Carlito" pitchFamily="34" charset="-122"/>
                <a:cs typeface="Carlito" pitchFamily="34" charset="-120"/>
              </a:rPr>
              <a:t>۵۰٪</a:t>
            </a:r>
            <a:endParaRPr lang="en-US" sz="3600" dirty="0"/>
          </a:p>
        </p:txBody>
      </p:sp>
      <p:sp>
        <p:nvSpPr>
          <p:cNvPr id="30" name="Shape 28"/>
          <p:cNvSpPr/>
          <p:nvPr/>
        </p:nvSpPr>
        <p:spPr>
          <a:xfrm>
            <a:off x="3253978" y="3314030"/>
            <a:ext cx="0" cy="508546"/>
          </a:xfrm>
          <a:prstGeom prst="line">
            <a:avLst/>
          </a:prstGeom>
          <a:noFill/>
          <a:ln w="7144">
            <a:solidFill>
              <a:srgbClr val="E1ECF4"/>
            </a:solidFill>
            <a:prstDash val="solid"/>
          </a:ln>
        </p:spPr>
      </p:sp>
      <p:sp>
        <p:nvSpPr>
          <p:cNvPr id="31" name="Text 29"/>
          <p:cNvSpPr/>
          <p:nvPr/>
        </p:nvSpPr>
        <p:spPr>
          <a:xfrm>
            <a:off x="578644" y="3314030"/>
            <a:ext cx="2543175" cy="166601"/>
          </a:xfrm>
          <a:prstGeom prst="rect">
            <a:avLst/>
          </a:prstGeom>
          <a:noFill/>
          <a:ln/>
        </p:spPr>
        <p:txBody>
          <a:bodyPr wrap="none" lIns="0" tIns="0" rIns="0" bIns="0" rtlCol="0" anchor="t"/>
          <a:lstStyle/>
          <a:p>
            <a:pPr marL="0" indent="0" algn="l">
              <a:lnSpc>
                <a:spcPts val="1215"/>
              </a:lnSpc>
              <a:buNone/>
            </a:pPr>
            <a:r>
              <a:rPr lang="en-US" sz="1013" b="1" dirty="0">
                <a:solidFill>
                  <a:srgbClr val="1B4965"/>
                </a:solidFill>
                <a:latin typeface="Carlito" pitchFamily="34" charset="0"/>
                <a:ea typeface="Carlito" pitchFamily="34" charset="-122"/>
                <a:cs typeface="Carlito" pitchFamily="34" charset="-120"/>
              </a:rPr>
              <a:t>خطاهای دارویی</a:t>
            </a:r>
            <a:endParaRPr lang="en-US" sz="1013" dirty="0"/>
          </a:p>
        </p:txBody>
      </p:sp>
      <p:sp>
        <p:nvSpPr>
          <p:cNvPr id="32" name="Text 30"/>
          <p:cNvSpPr/>
          <p:nvPr/>
        </p:nvSpPr>
        <p:spPr>
          <a:xfrm>
            <a:off x="578644" y="3525441"/>
            <a:ext cx="2543175" cy="297135"/>
          </a:xfrm>
          <a:prstGeom prst="rect">
            <a:avLst/>
          </a:prstGeom>
          <a:noFill/>
          <a:ln/>
        </p:spPr>
        <p:txBody>
          <a:bodyPr wrap="square" lIns="0" tIns="0" rIns="0" bIns="0" rtlCol="0" anchor="t"/>
          <a:lstStyle/>
          <a:p>
            <a:pPr marL="0" indent="0" algn="l">
              <a:lnSpc>
                <a:spcPts val="1170"/>
              </a:lnSpc>
              <a:buNone/>
            </a:pPr>
            <a:r>
              <a:rPr lang="en-US" sz="800" dirty="0">
                <a:solidFill>
                  <a:srgbClr val="5A6B7B"/>
                </a:solidFill>
                <a:latin typeface="Carlito" pitchFamily="34" charset="0"/>
                <a:ea typeface="Carlito" pitchFamily="34" charset="-122"/>
                <a:cs typeface="Carlito" pitchFamily="34" charset="-120"/>
              </a:rPr>
              <a:t>آموزش صحیح مصرف دارو، خطاهای دارویی سرپایی را تا نصف کاهش می‌دهد.</a:t>
            </a:r>
            <a:endParaRPr lang="en-US" sz="800" dirty="0"/>
          </a:p>
        </p:txBody>
      </p:sp>
      <p:sp>
        <p:nvSpPr>
          <p:cNvPr id="33" name="Text 31"/>
          <p:cNvSpPr/>
          <p:nvPr/>
        </p:nvSpPr>
        <p:spPr>
          <a:xfrm>
            <a:off x="400050" y="4514850"/>
            <a:ext cx="8343900" cy="271463"/>
          </a:xfrm>
          <a:prstGeom prst="roundRect">
            <a:avLst>
              <a:gd name="adj" fmla="val 35088"/>
            </a:avLst>
          </a:prstGeom>
          <a:solidFill>
            <a:srgbClr val="F4F8FB"/>
          </a:solidFill>
          <a:ln/>
        </p:spPr>
        <p:txBody>
          <a:bodyPr wrap="square" rtlCol="0" anchor="ctr"/>
          <a:lstStyle/>
          <a:p>
            <a:pPr marL="0" indent="0">
              <a:buNone/>
            </a:pPr>
            <a:endParaRPr lang="en-US" dirty="0"/>
          </a:p>
        </p:txBody>
      </p:sp>
      <p:sp>
        <p:nvSpPr>
          <p:cNvPr id="34" name="Shape 32"/>
          <p:cNvSpPr/>
          <p:nvPr/>
        </p:nvSpPr>
        <p:spPr>
          <a:xfrm>
            <a:off x="8733234" y="4514850"/>
            <a:ext cx="0" cy="271463"/>
          </a:xfrm>
          <a:prstGeom prst="line">
            <a:avLst/>
          </a:prstGeom>
          <a:noFill/>
          <a:ln w="21431">
            <a:solidFill>
              <a:srgbClr val="5FA8D3"/>
            </a:solidFill>
            <a:prstDash val="solid"/>
          </a:ln>
        </p:spPr>
      </p:sp>
      <p:sp>
        <p:nvSpPr>
          <p:cNvPr id="35" name="Text 33"/>
          <p:cNvSpPr/>
          <p:nvPr/>
        </p:nvSpPr>
        <p:spPr>
          <a:xfrm>
            <a:off x="5697029" y="4600575"/>
            <a:ext cx="2725452" cy="128016"/>
          </a:xfrm>
          <a:prstGeom prst="rect">
            <a:avLst/>
          </a:prstGeom>
          <a:noFill/>
          <a:ln/>
        </p:spPr>
        <p:txBody>
          <a:bodyPr wrap="square" lIns="128588" tIns="71438" rIns="128588" bIns="71438"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منبع: WHO Patient Safety Reports 2023 و مطالعات Nursing Education</a:t>
            </a:r>
            <a:endParaRPr lang="en-US" sz="675" dirty="0"/>
          </a:p>
        </p:txBody>
      </p:sp>
      <p:sp>
        <p:nvSpPr>
          <p:cNvPr id="36" name="Text 34"/>
          <p:cNvSpPr/>
          <p:nvPr/>
        </p:nvSpPr>
        <p:spPr>
          <a:xfrm>
            <a:off x="8479631" y="4593431"/>
            <a:ext cx="114300" cy="114300"/>
          </a:xfrm>
          <a:prstGeom prst="rect">
            <a:avLst/>
          </a:prstGeom>
          <a:noFill/>
          <a:ln/>
        </p:spPr>
        <p:txBody>
          <a:bodyPr wrap="none" lIns="0" tIns="0" rIns="0" bIns="0" rtlCol="0" anchor="ctr"/>
          <a:lstStyle/>
          <a:p>
            <a:pPr marL="0" indent="0" algn="ctr">
              <a:buNone/>
            </a:pPr>
            <a:r>
              <a:rPr lang="en-US" sz="1125" dirty="0">
                <a:solidFill>
                  <a:srgbClr val="1B4965"/>
                </a:solidFill>
                <a:latin typeface="Segoe UI Symbol" pitchFamily="34" charset="0"/>
                <a:ea typeface="Segoe UI Symbol" pitchFamily="34" charset="-122"/>
                <a:cs typeface="Segoe UI Symbol" pitchFamily="34" charset="-120"/>
              </a:rPr>
              <a:t>✓</a:t>
            </a:r>
            <a:endParaRPr lang="en-US" sz="1125" dirty="0"/>
          </a:p>
        </p:txBody>
      </p:sp>
      <p:sp>
        <p:nvSpPr>
          <p:cNvPr id="37" name="Shape 35"/>
          <p:cNvSpPr/>
          <p:nvPr/>
        </p:nvSpPr>
        <p:spPr>
          <a:xfrm>
            <a:off x="457200" y="4825603"/>
            <a:ext cx="8229600" cy="0"/>
          </a:xfrm>
          <a:prstGeom prst="line">
            <a:avLst/>
          </a:prstGeom>
          <a:noFill/>
          <a:ln w="7144">
            <a:solidFill>
              <a:srgbClr val="D8E3EC"/>
            </a:solidFill>
            <a:prstDash val="solid"/>
          </a:ln>
        </p:spPr>
      </p:sp>
      <p:sp>
        <p:nvSpPr>
          <p:cNvPr id="38" name="Text 36"/>
          <p:cNvSpPr/>
          <p:nvPr/>
        </p:nvSpPr>
        <p:spPr>
          <a:xfrm>
            <a:off x="7134151" y="4886325"/>
            <a:ext cx="164580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آموزش و یادگیری در پرستاری — بخش ۱</a:t>
            </a:r>
            <a:endParaRPr lang="en-US" sz="800" dirty="0"/>
          </a:p>
        </p:txBody>
      </p:sp>
      <p:sp>
        <p:nvSpPr>
          <p:cNvPr id="39" name="Text 37"/>
          <p:cNvSpPr/>
          <p:nvPr/>
        </p:nvSpPr>
        <p:spPr>
          <a:xfrm>
            <a:off x="457200" y="4886325"/>
            <a:ext cx="6662663"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۰۵ از ۲۲</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571500"/>
            <a:ext cx="5515547" cy="3016663"/>
          </a:xfrm>
          <a:prstGeom prst="rect">
            <a:avLst/>
          </a:prstGeom>
          <a:noFill/>
          <a:ln/>
        </p:spPr>
        <p:txBody>
          <a:bodyPr wrap="none" lIns="0" tIns="0" rIns="0" bIns="0" rtlCol="0" anchor="t"/>
          <a:lstStyle/>
          <a:p>
            <a:pPr marL="0" indent="0" algn="ctr">
              <a:lnSpc>
                <a:spcPts val="21994"/>
              </a:lnSpc>
              <a:buNone/>
            </a:pPr>
            <a:r>
              <a:rPr lang="en-US" sz="25875" dirty="0">
                <a:solidFill>
                  <a:srgbClr val="FFFFFF">
                    <a:alpha val="6000"/>
                  </a:srgbClr>
                </a:solidFill>
                <a:latin typeface="Carlito" pitchFamily="34" charset="0"/>
                <a:ea typeface="Carlito" pitchFamily="34" charset="-122"/>
                <a:cs typeface="Carlito" pitchFamily="34" charset="-120"/>
              </a:rPr>
              <a:t>۰۲</a:t>
            </a:r>
            <a:endParaRPr lang="en-US" sz="25875" dirty="0"/>
          </a:p>
        </p:txBody>
      </p:sp>
      <p:sp>
        <p:nvSpPr>
          <p:cNvPr id="4" name="Text 1"/>
          <p:cNvSpPr/>
          <p:nvPr/>
        </p:nvSpPr>
        <p:spPr>
          <a:xfrm>
            <a:off x="7429500" y="-857250"/>
            <a:ext cx="2286000" cy="2286000"/>
          </a:xfrm>
          <a:prstGeom prst="ellipse">
            <a:avLst/>
          </a:prstGeom>
          <a:solidFill>
            <a:srgbClr val="FFFFFF">
              <a:alpha val="7000"/>
            </a:srgbClr>
          </a:solidFill>
          <a:ln/>
        </p:spPr>
        <p:txBody>
          <a:bodyPr wrap="square" rtlCol="0" anchor="ctr"/>
          <a:lstStyle/>
          <a:p>
            <a:pPr marL="0" indent="0">
              <a:buNone/>
            </a:pPr>
            <a:endParaRPr lang="en-US" dirty="0"/>
          </a:p>
        </p:txBody>
      </p:sp>
      <p:sp>
        <p:nvSpPr>
          <p:cNvPr id="5" name="Text 2"/>
          <p:cNvSpPr/>
          <p:nvPr/>
        </p:nvSpPr>
        <p:spPr>
          <a:xfrm>
            <a:off x="-428625" y="4143375"/>
            <a:ext cx="1714500" cy="1714500"/>
          </a:xfrm>
          <a:prstGeom prst="ellipse">
            <a:avLst/>
          </a:prstGeom>
          <a:solidFill>
            <a:srgbClr val="FFFFFF">
              <a:alpha val="6000"/>
            </a:srgbClr>
          </a:solidFill>
          <a:ln/>
        </p:spPr>
        <p:txBody>
          <a:bodyPr wrap="square" rtlCol="0" anchor="ctr"/>
          <a:lstStyle/>
          <a:p>
            <a:pPr marL="0" indent="0">
              <a:buNone/>
            </a:pPr>
            <a:endParaRPr lang="en-US" dirty="0"/>
          </a:p>
        </p:txBody>
      </p:sp>
      <p:sp>
        <p:nvSpPr>
          <p:cNvPr id="6" name="Text 3"/>
          <p:cNvSpPr/>
          <p:nvPr/>
        </p:nvSpPr>
        <p:spPr>
          <a:xfrm>
            <a:off x="785813" y="714375"/>
            <a:ext cx="85725" cy="85725"/>
          </a:xfrm>
          <a:prstGeom prst="ellipse">
            <a:avLst/>
          </a:prstGeom>
          <a:solidFill>
            <a:srgbClr val="FFFFFF">
              <a:alpha val="40000"/>
            </a:srgbClr>
          </a:solidFill>
          <a:ln/>
        </p:spPr>
        <p:txBody>
          <a:bodyPr wrap="square" rtlCol="0" anchor="ctr"/>
          <a:lstStyle/>
          <a:p>
            <a:pPr marL="0" indent="0">
              <a:buNone/>
            </a:pPr>
            <a:endParaRPr lang="en-US" dirty="0"/>
          </a:p>
        </p:txBody>
      </p:sp>
      <p:sp>
        <p:nvSpPr>
          <p:cNvPr id="7" name="Text 4"/>
          <p:cNvSpPr/>
          <p:nvPr/>
        </p:nvSpPr>
        <p:spPr>
          <a:xfrm>
            <a:off x="1143000" y="4086225"/>
            <a:ext cx="57150" cy="57150"/>
          </a:xfrm>
          <a:prstGeom prst="ellipse">
            <a:avLst/>
          </a:prstGeom>
          <a:solidFill>
            <a:srgbClr val="FFFFFF">
              <a:alpha val="30000"/>
            </a:srgbClr>
          </a:solidFill>
          <a:ln/>
        </p:spPr>
        <p:txBody>
          <a:bodyPr wrap="square" rtlCol="0" anchor="ctr"/>
          <a:lstStyle/>
          <a:p>
            <a:pPr marL="0" indent="0">
              <a:buNone/>
            </a:pPr>
            <a:endParaRPr lang="en-US" dirty="0"/>
          </a:p>
        </p:txBody>
      </p:sp>
      <p:sp>
        <p:nvSpPr>
          <p:cNvPr id="8" name="Text 5"/>
          <p:cNvSpPr/>
          <p:nvPr/>
        </p:nvSpPr>
        <p:spPr>
          <a:xfrm>
            <a:off x="6984732" y="4818459"/>
            <a:ext cx="1700687" cy="126609"/>
          </a:xfrm>
          <a:prstGeom prst="rect">
            <a:avLst/>
          </a:prstGeom>
          <a:noFill/>
          <a:ln/>
        </p:spPr>
        <p:txBody>
          <a:bodyPr wrap="none" lIns="0" tIns="0" rIns="0" bIns="0" rtlCol="0" anchor="t"/>
          <a:lstStyle/>
          <a:p>
            <a:pPr marL="0" indent="0" algn="ctr">
              <a:lnSpc>
                <a:spcPts val="1097"/>
              </a:lnSpc>
              <a:buNone/>
            </a:pPr>
            <a:r>
              <a:rPr lang="en-US" sz="800" dirty="0">
                <a:solidFill>
                  <a:srgbClr val="FFFFFF"/>
                </a:solidFill>
                <a:latin typeface="Carlito" pitchFamily="34" charset="0"/>
                <a:ea typeface="Carlito" pitchFamily="34" charset="-122"/>
                <a:cs typeface="Carlito" pitchFamily="34" charset="-120"/>
              </a:rPr>
              <a:t>آموزش و یادگیری در پرستاری</a:t>
            </a:r>
            <a:endParaRPr lang="en-US" sz="800" dirty="0"/>
          </a:p>
        </p:txBody>
      </p:sp>
      <p:sp>
        <p:nvSpPr>
          <p:cNvPr id="9" name="Text 6"/>
          <p:cNvSpPr/>
          <p:nvPr/>
        </p:nvSpPr>
        <p:spPr>
          <a:xfrm>
            <a:off x="8572500" y="4816673"/>
            <a:ext cx="114300" cy="114300"/>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10" name="Text 7"/>
          <p:cNvSpPr/>
          <p:nvPr/>
        </p:nvSpPr>
        <p:spPr>
          <a:xfrm>
            <a:off x="414351" y="4804172"/>
            <a:ext cx="391763" cy="164592"/>
          </a:xfrm>
          <a:prstGeom prst="rect">
            <a:avLst/>
          </a:prstGeom>
          <a:noFill/>
          <a:ln/>
        </p:spPr>
        <p:txBody>
          <a:bodyPr wrap="none" lIns="0" tIns="0" rIns="0" bIns="0" rtlCol="0" anchor="t"/>
          <a:lstStyle/>
          <a:p>
            <a:pPr marL="0" indent="0" algn="ctr">
              <a:lnSpc>
                <a:spcPts val="1097"/>
              </a:lnSpc>
              <a:buNone/>
            </a:pPr>
            <a:r>
              <a:rPr lang="en-US" sz="800" dirty="0">
                <a:solidFill>
                  <a:srgbClr val="FFFFFF"/>
                </a:solidFill>
                <a:latin typeface="Carlito" pitchFamily="34" charset="0"/>
                <a:ea typeface="Carlito" pitchFamily="34" charset="-122"/>
                <a:cs typeface="Carlito" pitchFamily="34" charset="-120"/>
              </a:rPr>
              <a:t>۰۶ / ۲۲</a:t>
            </a:r>
            <a:endParaRPr lang="en-US" sz="800" dirty="0"/>
          </a:p>
        </p:txBody>
      </p:sp>
      <p:sp>
        <p:nvSpPr>
          <p:cNvPr id="11" name="Text 8"/>
          <p:cNvSpPr/>
          <p:nvPr/>
        </p:nvSpPr>
        <p:spPr>
          <a:xfrm>
            <a:off x="4113818" y="1198064"/>
            <a:ext cx="916476" cy="304209"/>
          </a:xfrm>
          <a:prstGeom prst="roundRect">
            <a:avLst>
              <a:gd name="adj" fmla="val 3127940"/>
            </a:avLst>
          </a:prstGeom>
          <a:solidFill>
            <a:srgbClr val="FFFFFF">
              <a:alpha val="16000"/>
            </a:srgbClr>
          </a:solidFill>
          <a:ln w="7144">
            <a:solidFill>
              <a:srgbClr val="FFFFFF"/>
            </a:solidFill>
            <a:prstDash val="solid"/>
          </a:ln>
        </p:spPr>
        <p:txBody>
          <a:bodyPr wrap="square" rtlCol="0" anchor="ctr"/>
          <a:lstStyle/>
          <a:p>
            <a:pPr marL="0" indent="0">
              <a:buNone/>
            </a:pPr>
            <a:endParaRPr lang="en-US" dirty="0"/>
          </a:p>
        </p:txBody>
      </p:sp>
      <p:sp>
        <p:nvSpPr>
          <p:cNvPr id="12" name="Text 9"/>
          <p:cNvSpPr/>
          <p:nvPr/>
        </p:nvSpPr>
        <p:spPr>
          <a:xfrm>
            <a:off x="4275630" y="1289447"/>
            <a:ext cx="392826" cy="125403"/>
          </a:xfrm>
          <a:prstGeom prst="rect">
            <a:avLst/>
          </a:prstGeom>
          <a:noFill/>
          <a:ln/>
        </p:spPr>
        <p:txBody>
          <a:bodyPr wrap="none" lIns="0" tIns="0" rIns="0" bIns="0" rtlCol="0" anchor="t"/>
          <a:lstStyle/>
          <a:p>
            <a:pPr marL="0" indent="0" algn="ctr">
              <a:lnSpc>
                <a:spcPts val="1181"/>
              </a:lnSpc>
              <a:buNone/>
            </a:pPr>
            <a:r>
              <a:rPr lang="en-US" sz="800" kern="0" spc="28" dirty="0">
                <a:solidFill>
                  <a:srgbClr val="FFFFFF"/>
                </a:solidFill>
                <a:latin typeface="Carlito" pitchFamily="34" charset="0"/>
                <a:ea typeface="Carlito" pitchFamily="34" charset="-122"/>
                <a:cs typeface="Carlito" pitchFamily="34" charset="-120"/>
              </a:rPr>
              <a:t>بخش دوم</a:t>
            </a:r>
            <a:endParaRPr lang="en-US" sz="800" dirty="0"/>
          </a:p>
        </p:txBody>
      </p:sp>
      <p:sp>
        <p:nvSpPr>
          <p:cNvPr id="13" name="Text 10"/>
          <p:cNvSpPr/>
          <p:nvPr/>
        </p:nvSpPr>
        <p:spPr>
          <a:xfrm>
            <a:off x="4728828" y="1285875"/>
            <a:ext cx="128588" cy="128588"/>
          </a:xfrm>
          <a:prstGeom prst="rect">
            <a:avLst/>
          </a:prstGeom>
          <a:noFill/>
          <a:ln/>
        </p:spPr>
        <p:txBody>
          <a:bodyPr wrap="none" lIns="0" tIns="0" rIns="0" bIns="0" rtlCol="0" anchor="ctr"/>
          <a:lstStyle/>
          <a:p>
            <a:pPr marL="0" indent="0" algn="ctr">
              <a:buNone/>
            </a:pPr>
            <a:r>
              <a:rPr lang="en-US" sz="1266" dirty="0">
                <a:solidFill>
                  <a:srgbClr val="FFFFFF"/>
                </a:solidFill>
                <a:latin typeface="Segoe UI Symbol" pitchFamily="34" charset="0"/>
                <a:ea typeface="Segoe UI Symbol" pitchFamily="34" charset="-122"/>
                <a:cs typeface="Segoe UI Symbol" pitchFamily="34" charset="-120"/>
              </a:rPr>
              <a:t>◯</a:t>
            </a:r>
            <a:endParaRPr lang="en-US" sz="1266" dirty="0"/>
          </a:p>
        </p:txBody>
      </p:sp>
      <p:sp>
        <p:nvSpPr>
          <p:cNvPr id="14" name="Text 11"/>
          <p:cNvSpPr/>
          <p:nvPr/>
        </p:nvSpPr>
        <p:spPr>
          <a:xfrm>
            <a:off x="2502297" y="1646634"/>
            <a:ext cx="4139517" cy="1080135"/>
          </a:xfrm>
          <a:prstGeom prst="rect">
            <a:avLst/>
          </a:prstGeom>
          <a:noFill/>
          <a:ln/>
        </p:spPr>
        <p:txBody>
          <a:bodyPr wrap="none" lIns="0" tIns="0" rIns="0" bIns="0" rtlCol="0" anchor="t"/>
          <a:lstStyle/>
          <a:p>
            <a:pPr marL="0" indent="0" algn="ctr">
              <a:lnSpc>
                <a:spcPts val="7875"/>
              </a:lnSpc>
              <a:buNone/>
            </a:pPr>
            <a:r>
              <a:rPr lang="en-US" sz="7875" kern="0" spc="-169" dirty="0">
                <a:solidFill>
                  <a:srgbClr val="FFFFFF"/>
                </a:solidFill>
                <a:latin typeface="Carlito" pitchFamily="34" charset="0"/>
                <a:ea typeface="Carlito" pitchFamily="34" charset="-122"/>
                <a:cs typeface="Carlito" pitchFamily="34" charset="-120"/>
              </a:rPr>
              <a:t>۰۲ / ۰۴</a:t>
            </a:r>
            <a:endParaRPr lang="en-US" sz="7875" dirty="0"/>
          </a:p>
        </p:txBody>
      </p:sp>
      <p:sp>
        <p:nvSpPr>
          <p:cNvPr id="15" name="Text 12"/>
          <p:cNvSpPr/>
          <p:nvPr/>
        </p:nvSpPr>
        <p:spPr>
          <a:xfrm>
            <a:off x="4143375" y="2803922"/>
            <a:ext cx="857250" cy="28575"/>
          </a:xfrm>
          <a:prstGeom prst="roundRect">
            <a:avLst>
              <a:gd name="adj" fmla="val 66667"/>
            </a:avLst>
          </a:prstGeom>
          <a:solidFill>
            <a:srgbClr val="FFFFFF">
              <a:alpha val="95000"/>
            </a:srgbClr>
          </a:solidFill>
          <a:ln/>
        </p:spPr>
        <p:txBody>
          <a:bodyPr wrap="square" rtlCol="0" anchor="ctr"/>
          <a:lstStyle/>
          <a:p>
            <a:pPr marL="0" indent="0">
              <a:buNone/>
            </a:pPr>
            <a:endParaRPr lang="en-US" dirty="0"/>
          </a:p>
        </p:txBody>
      </p:sp>
      <p:sp>
        <p:nvSpPr>
          <p:cNvPr id="16" name="Text 13"/>
          <p:cNvSpPr/>
          <p:nvPr/>
        </p:nvSpPr>
        <p:spPr>
          <a:xfrm>
            <a:off x="274320" y="2989659"/>
            <a:ext cx="8595360" cy="577077"/>
          </a:xfrm>
          <a:prstGeom prst="rect">
            <a:avLst/>
          </a:prstGeom>
          <a:noFill/>
          <a:ln/>
        </p:spPr>
        <p:txBody>
          <a:bodyPr wrap="none" lIns="0" tIns="0" rIns="0" bIns="0" rtlCol="0" anchor="t"/>
          <a:lstStyle/>
          <a:p>
            <a:pPr marL="0" indent="0" algn="ctr">
              <a:lnSpc>
                <a:spcPts val="4208"/>
              </a:lnSpc>
              <a:buNone/>
            </a:pPr>
            <a:r>
              <a:rPr lang="en-US" sz="3825" b="1" kern="0" spc="-56" dirty="0">
                <a:solidFill>
                  <a:srgbClr val="FFFFFF"/>
                </a:solidFill>
                <a:latin typeface="Carlito" pitchFamily="34" charset="0"/>
                <a:ea typeface="Carlito" pitchFamily="34" charset="-122"/>
                <a:cs typeface="Carlito" pitchFamily="34" charset="-120"/>
              </a:rPr>
              <a:t>نظریه یادگیری</a:t>
            </a:r>
            <a:endParaRPr lang="en-US" sz="3825" dirty="0"/>
          </a:p>
        </p:txBody>
      </p:sp>
      <p:sp>
        <p:nvSpPr>
          <p:cNvPr id="17" name="Text 14"/>
          <p:cNvSpPr/>
          <p:nvPr/>
        </p:nvSpPr>
        <p:spPr>
          <a:xfrm>
            <a:off x="2277075" y="3681152"/>
            <a:ext cx="4589850" cy="271480"/>
          </a:xfrm>
          <a:prstGeom prst="rect">
            <a:avLst/>
          </a:prstGeom>
          <a:noFill/>
          <a:ln/>
        </p:spPr>
        <p:txBody>
          <a:bodyPr wrap="square" lIns="0" tIns="0" rIns="0" bIns="0" rtlCol="0" anchor="t"/>
          <a:lstStyle/>
          <a:p>
            <a:pPr marL="0" indent="0" algn="ctr">
              <a:lnSpc>
                <a:spcPts val="1980"/>
              </a:lnSpc>
              <a:buNone/>
            </a:pPr>
            <a:r>
              <a:rPr lang="en-US" sz="1238" dirty="0">
                <a:solidFill>
                  <a:srgbClr val="FFFFFF">
                    <a:alpha val="92000"/>
                  </a:srgbClr>
                </a:solidFill>
                <a:latin typeface="Carlito" pitchFamily="34" charset="0"/>
                <a:ea typeface="Carlito" pitchFamily="34" charset="-122"/>
                <a:cs typeface="Carlito" pitchFamily="34" charset="-120"/>
              </a:rPr>
              <a:t>مفاهیم بنیادی، ماهیت، اصول و عوامل مؤثر بر یادگیری</a:t>
            </a:r>
            <a:endParaRPr lang="en-US" sz="12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00050" y="764381"/>
            <a:ext cx="8343900" cy="0"/>
          </a:xfrm>
          <a:prstGeom prst="line">
            <a:avLst/>
          </a:prstGeom>
          <a:noFill/>
          <a:ln w="14288">
            <a:solidFill>
              <a:srgbClr val="CDE7F0"/>
            </a:solidFill>
            <a:prstDash val="solid"/>
          </a:ln>
        </p:spPr>
      </p:sp>
      <p:sp>
        <p:nvSpPr>
          <p:cNvPr id="3" name="Text 1"/>
          <p:cNvSpPr/>
          <p:nvPr/>
        </p:nvSpPr>
        <p:spPr>
          <a:xfrm>
            <a:off x="8429625" y="300038"/>
            <a:ext cx="314325" cy="314325"/>
          </a:xfrm>
          <a:prstGeom prst="ellipse">
            <a:avLst/>
          </a:prstGeom>
          <a:solidFill>
            <a:srgbClr val="CDE7F0"/>
          </a:solidFill>
          <a:ln/>
        </p:spPr>
        <p:txBody>
          <a:bodyPr wrap="square" rtlCol="0" anchor="ctr"/>
          <a:lstStyle/>
          <a:p>
            <a:pPr marL="0" indent="0">
              <a:buNone/>
            </a:pPr>
            <a:endParaRPr lang="en-US" dirty="0"/>
          </a:p>
        </p:txBody>
      </p:sp>
      <p:sp>
        <p:nvSpPr>
          <p:cNvPr id="4" name="Text 2"/>
          <p:cNvSpPr/>
          <p:nvPr/>
        </p:nvSpPr>
        <p:spPr>
          <a:xfrm>
            <a:off x="8462486" y="332899"/>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5" name="Text 3"/>
          <p:cNvSpPr/>
          <p:nvPr/>
        </p:nvSpPr>
        <p:spPr>
          <a:xfrm>
            <a:off x="6741244" y="257175"/>
            <a:ext cx="1878312" cy="244030"/>
          </a:xfrm>
          <a:prstGeom prst="rect">
            <a:avLst/>
          </a:prstGeom>
          <a:noFill/>
          <a:ln/>
        </p:spPr>
        <p:txBody>
          <a:bodyPr wrap="none" lIns="0" tIns="0" rIns="0" bIns="0" rtlCol="0" anchor="t">
            <a:normAutofit/>
          </a:bodyPr>
          <a:lstStyle/>
          <a:p>
            <a:pPr marL="0" indent="0" algn="l">
              <a:lnSpc>
                <a:spcPts val="2025"/>
              </a:lnSpc>
              <a:buNone/>
            </a:pPr>
            <a:r>
              <a:rPr lang="en-US" sz="1688" b="1" dirty="0">
                <a:solidFill>
                  <a:srgbClr val="1B4965"/>
                </a:solidFill>
                <a:latin typeface="Carlito" pitchFamily="34" charset="0"/>
                <a:ea typeface="Carlito" pitchFamily="34" charset="-122"/>
                <a:cs typeface="Carlito" pitchFamily="34" charset="-120"/>
              </a:rPr>
              <a:t>یادگیری چیست؟</a:t>
            </a:r>
            <a:endParaRPr lang="en-US" sz="1688" dirty="0"/>
          </a:p>
        </p:txBody>
      </p:sp>
      <p:sp>
        <p:nvSpPr>
          <p:cNvPr id="6" name="Text 4"/>
          <p:cNvSpPr/>
          <p:nvPr/>
        </p:nvSpPr>
        <p:spPr>
          <a:xfrm>
            <a:off x="6741244" y="528638"/>
            <a:ext cx="173086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سه نگاه نظری به ماهیت یادگیری</a:t>
            </a:r>
            <a:endParaRPr lang="en-US" sz="800" dirty="0"/>
          </a:p>
        </p:txBody>
      </p:sp>
      <p:sp>
        <p:nvSpPr>
          <p:cNvPr id="7" name="Text 5"/>
          <p:cNvSpPr/>
          <p:nvPr/>
        </p:nvSpPr>
        <p:spPr>
          <a:xfrm>
            <a:off x="377190" y="305095"/>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8" name="Text 6"/>
          <p:cNvSpPr/>
          <p:nvPr/>
        </p:nvSpPr>
        <p:spPr>
          <a:xfrm>
            <a:off x="400050" y="317897"/>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۰۷ / ۲۲</a:t>
            </a:r>
            <a:endParaRPr lang="en-US" sz="1013" dirty="0"/>
          </a:p>
        </p:txBody>
      </p:sp>
      <p:sp>
        <p:nvSpPr>
          <p:cNvPr id="9" name="Text 7"/>
          <p:cNvSpPr/>
          <p:nvPr/>
        </p:nvSpPr>
        <p:spPr>
          <a:xfrm>
            <a:off x="400050" y="900113"/>
            <a:ext cx="8343900" cy="501402"/>
          </a:xfrm>
          <a:prstGeom prst="roundRect">
            <a:avLst>
              <a:gd name="adj" fmla="val 15197"/>
            </a:avLst>
          </a:prstGeom>
          <a:solidFill>
            <a:srgbClr val="F4F8FB"/>
          </a:solidFill>
          <a:ln/>
        </p:spPr>
        <p:txBody>
          <a:bodyPr wrap="square" rtlCol="0" anchor="ctr"/>
          <a:lstStyle/>
          <a:p>
            <a:pPr marL="0" indent="0">
              <a:buNone/>
            </a:pPr>
            <a:endParaRPr lang="en-US" dirty="0"/>
          </a:p>
        </p:txBody>
      </p:sp>
      <p:sp>
        <p:nvSpPr>
          <p:cNvPr id="10" name="Shape 8"/>
          <p:cNvSpPr/>
          <p:nvPr/>
        </p:nvSpPr>
        <p:spPr>
          <a:xfrm>
            <a:off x="8729663" y="900113"/>
            <a:ext cx="0" cy="501402"/>
          </a:xfrm>
          <a:prstGeom prst="line">
            <a:avLst/>
          </a:prstGeom>
          <a:noFill/>
          <a:ln w="28575">
            <a:solidFill>
              <a:srgbClr val="5FA8D3"/>
            </a:solidFill>
            <a:prstDash val="solid"/>
          </a:ln>
        </p:spPr>
      </p:sp>
      <p:sp>
        <p:nvSpPr>
          <p:cNvPr id="11" name="Text 9"/>
          <p:cNvSpPr/>
          <p:nvPr/>
        </p:nvSpPr>
        <p:spPr>
          <a:xfrm>
            <a:off x="528638" y="985838"/>
            <a:ext cx="8058150" cy="329952"/>
          </a:xfrm>
          <a:prstGeom prst="rect">
            <a:avLst/>
          </a:prstGeom>
          <a:noFill/>
          <a:ln/>
        </p:spPr>
        <p:txBody>
          <a:bodyPr wrap="square" lIns="0" tIns="0" rIns="0" bIns="0" rtlCol="0" anchor="t"/>
          <a:lstStyle/>
          <a:p>
            <a:pPr marL="0" indent="0" algn="l">
              <a:lnSpc>
                <a:spcPts val="1299"/>
              </a:lnSpc>
              <a:buNone/>
            </a:pPr>
            <a:r>
              <a:rPr lang="en-US" sz="800" dirty="0">
                <a:solidFill>
                  <a:srgbClr val="1A2733"/>
                </a:solidFill>
                <a:latin typeface="Carlito" pitchFamily="34" charset="0"/>
                <a:ea typeface="Carlito" pitchFamily="34" charset="-122"/>
                <a:cs typeface="Carlito" pitchFamily="34" charset="-120"/>
              </a:rPr>
              <a:t>یادگیری فرآیندی است که در طی آن فرد از طریق تجربه، تغییرات نسبتاً پایدار در رفتار و توان رفتاری خود ایجاد می‌کند. نظریه‌پردازان مختلف از زوایای متفاوت به این مفهوم نگاه کرده‌اند.</a:t>
            </a:r>
            <a:endParaRPr lang="en-US" sz="800" dirty="0"/>
          </a:p>
        </p:txBody>
      </p:sp>
      <p:sp>
        <p:nvSpPr>
          <p:cNvPr id="12" name="Text 10"/>
          <p:cNvSpPr/>
          <p:nvPr/>
        </p:nvSpPr>
        <p:spPr>
          <a:xfrm>
            <a:off x="6048412" y="1515814"/>
            <a:ext cx="2695538" cy="3270498"/>
          </a:xfrm>
          <a:prstGeom prst="roundRect">
            <a:avLst>
              <a:gd name="adj" fmla="val 6361"/>
            </a:avLst>
          </a:prstGeom>
          <a:solidFill>
            <a:srgbClr val="FFFFFF"/>
          </a:solidFill>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13" name="Shape 11"/>
          <p:cNvSpPr/>
          <p:nvPr/>
        </p:nvSpPr>
        <p:spPr>
          <a:xfrm>
            <a:off x="6048412" y="1533674"/>
            <a:ext cx="2695538" cy="0"/>
          </a:xfrm>
          <a:prstGeom prst="line">
            <a:avLst/>
          </a:prstGeom>
          <a:noFill/>
          <a:ln w="35719">
            <a:solidFill>
              <a:srgbClr val="1B4965"/>
            </a:solidFill>
            <a:prstDash val="solid"/>
          </a:ln>
        </p:spPr>
      </p:sp>
      <p:sp>
        <p:nvSpPr>
          <p:cNvPr id="14" name="Shape 12"/>
          <p:cNvSpPr/>
          <p:nvPr/>
        </p:nvSpPr>
        <p:spPr>
          <a:xfrm>
            <a:off x="8740378" y="1515814"/>
            <a:ext cx="0" cy="3270498"/>
          </a:xfrm>
          <a:prstGeom prst="line">
            <a:avLst/>
          </a:prstGeom>
          <a:noFill/>
          <a:ln w="7144">
            <a:solidFill>
              <a:srgbClr val="D8E3EC"/>
            </a:solidFill>
            <a:prstDash val="solid"/>
          </a:ln>
        </p:spPr>
      </p:sp>
      <p:sp>
        <p:nvSpPr>
          <p:cNvPr id="15" name="Shape 13"/>
          <p:cNvSpPr/>
          <p:nvPr/>
        </p:nvSpPr>
        <p:spPr>
          <a:xfrm>
            <a:off x="6048412" y="4782741"/>
            <a:ext cx="2695538" cy="0"/>
          </a:xfrm>
          <a:prstGeom prst="line">
            <a:avLst/>
          </a:prstGeom>
          <a:noFill/>
          <a:ln w="7144">
            <a:solidFill>
              <a:srgbClr val="D8E3EC"/>
            </a:solidFill>
            <a:prstDash val="solid"/>
          </a:ln>
        </p:spPr>
      </p:sp>
      <p:sp>
        <p:nvSpPr>
          <p:cNvPr id="16" name="Shape 14"/>
          <p:cNvSpPr/>
          <p:nvPr/>
        </p:nvSpPr>
        <p:spPr>
          <a:xfrm>
            <a:off x="6051984" y="1515814"/>
            <a:ext cx="0" cy="3270498"/>
          </a:xfrm>
          <a:prstGeom prst="line">
            <a:avLst/>
          </a:prstGeom>
          <a:noFill/>
          <a:ln w="7144">
            <a:solidFill>
              <a:srgbClr val="D8E3EC"/>
            </a:solidFill>
            <a:prstDash val="solid"/>
          </a:ln>
        </p:spPr>
      </p:sp>
      <p:sp>
        <p:nvSpPr>
          <p:cNvPr id="17" name="Text 15"/>
          <p:cNvSpPr/>
          <p:nvPr/>
        </p:nvSpPr>
        <p:spPr>
          <a:xfrm>
            <a:off x="6212718" y="1337221"/>
            <a:ext cx="584073" cy="925830"/>
          </a:xfrm>
          <a:prstGeom prst="rect">
            <a:avLst/>
          </a:prstGeom>
          <a:noFill/>
          <a:ln/>
        </p:spPr>
        <p:txBody>
          <a:bodyPr wrap="none" lIns="0" tIns="0" rIns="0" bIns="0" rtlCol="0" anchor="t"/>
          <a:lstStyle/>
          <a:p>
            <a:pPr marL="0" indent="0" algn="l">
              <a:lnSpc>
                <a:spcPts val="6750"/>
              </a:lnSpc>
              <a:buNone/>
            </a:pPr>
            <a:r>
              <a:rPr lang="en-US" sz="6750" dirty="0">
                <a:solidFill>
                  <a:srgbClr val="1B4965">
                    <a:alpha val="8000"/>
                  </a:srgbClr>
                </a:solidFill>
                <a:latin typeface="Carlito" pitchFamily="34" charset="0"/>
                <a:ea typeface="Carlito" pitchFamily="34" charset="-122"/>
                <a:cs typeface="Carlito" pitchFamily="34" charset="-120"/>
              </a:rPr>
              <a:t>۱</a:t>
            </a:r>
            <a:endParaRPr lang="en-US" sz="6750" dirty="0"/>
          </a:p>
        </p:txBody>
      </p:sp>
      <p:sp>
        <p:nvSpPr>
          <p:cNvPr id="18" name="Text 16"/>
          <p:cNvSpPr/>
          <p:nvPr/>
        </p:nvSpPr>
        <p:spPr>
          <a:xfrm>
            <a:off x="8222456" y="1708696"/>
            <a:ext cx="357188" cy="357188"/>
          </a:xfrm>
          <a:prstGeom prst="roundRect">
            <a:avLst>
              <a:gd name="adj" fmla="val 37333"/>
            </a:avLst>
          </a:prstGeom>
          <a:solidFill>
            <a:srgbClr val="CDE7F0"/>
          </a:solidFill>
          <a:ln/>
        </p:spPr>
        <p:txBody>
          <a:bodyPr wrap="square" rtlCol="0" anchor="ctr"/>
          <a:lstStyle/>
          <a:p>
            <a:pPr marL="0" indent="0">
              <a:buNone/>
            </a:pPr>
            <a:endParaRPr lang="en-US" dirty="0"/>
          </a:p>
        </p:txBody>
      </p:sp>
      <p:sp>
        <p:nvSpPr>
          <p:cNvPr id="19" name="Text 17"/>
          <p:cNvSpPr/>
          <p:nvPr/>
        </p:nvSpPr>
        <p:spPr>
          <a:xfrm>
            <a:off x="8256032" y="1742271"/>
            <a:ext cx="290036" cy="290036"/>
          </a:xfrm>
          <a:prstGeom prst="rect">
            <a:avLst/>
          </a:prstGeom>
          <a:noFill/>
          <a:ln/>
        </p:spPr>
        <p:txBody>
          <a:bodyPr wrap="none" lIns="0" tIns="0" rIns="0" bIns="0" rtlCol="0" anchor="ctr"/>
          <a:lstStyle/>
          <a:p>
            <a:pPr marL="0" indent="0" algn="ctr">
              <a:buNone/>
            </a:pPr>
            <a:r>
              <a:rPr lang="en-US" sz="1969" dirty="0">
                <a:solidFill>
                  <a:srgbClr val="1B4965"/>
                </a:solidFill>
                <a:latin typeface="Segoe UI Symbol" pitchFamily="34" charset="0"/>
                <a:ea typeface="Segoe UI Symbol" pitchFamily="34" charset="-122"/>
                <a:cs typeface="Segoe UI Symbol" pitchFamily="34" charset="-120"/>
              </a:rPr>
              <a:t>▤</a:t>
            </a:r>
            <a:endParaRPr lang="en-US" sz="1969" dirty="0"/>
          </a:p>
        </p:txBody>
      </p:sp>
      <p:sp>
        <p:nvSpPr>
          <p:cNvPr id="20" name="Text 18"/>
          <p:cNvSpPr/>
          <p:nvPr/>
        </p:nvSpPr>
        <p:spPr>
          <a:xfrm>
            <a:off x="7531410" y="1748321"/>
            <a:ext cx="838654" cy="104727"/>
          </a:xfrm>
          <a:prstGeom prst="rect">
            <a:avLst/>
          </a:prstGeom>
          <a:noFill/>
          <a:ln/>
        </p:spPr>
        <p:txBody>
          <a:bodyPr wrap="none" lIns="0" tIns="0" rIns="0" bIns="0" rtlCol="0" anchor="t">
            <a:normAutofit/>
          </a:bodyPr>
          <a:lstStyle/>
          <a:p>
            <a:pPr marL="0" indent="0" algn="l">
              <a:lnSpc>
                <a:spcPts val="928"/>
              </a:lnSpc>
              <a:buNone/>
            </a:pPr>
            <a:r>
              <a:rPr lang="en-US" sz="800" b="1" kern="0" spc="84" dirty="0">
                <a:solidFill>
                  <a:srgbClr val="5A6B7B"/>
                </a:solidFill>
                <a:latin typeface="Carlito" pitchFamily="34" charset="0"/>
                <a:ea typeface="Carlito" pitchFamily="34" charset="-122"/>
                <a:cs typeface="Carlito" pitchFamily="34" charset="-120"/>
              </a:rPr>
              <a:t>نگاه اول</a:t>
            </a:r>
            <a:endParaRPr lang="en-US" sz="800" dirty="0"/>
          </a:p>
        </p:txBody>
      </p:sp>
      <p:sp>
        <p:nvSpPr>
          <p:cNvPr id="21" name="Text 19"/>
          <p:cNvSpPr/>
          <p:nvPr/>
        </p:nvSpPr>
        <p:spPr>
          <a:xfrm>
            <a:off x="7531410" y="1880481"/>
            <a:ext cx="774811" cy="157319"/>
          </a:xfrm>
          <a:prstGeom prst="rect">
            <a:avLst/>
          </a:prstGeom>
          <a:noFill/>
          <a:ln/>
        </p:spPr>
        <p:txBody>
          <a:bodyPr wrap="none" lIns="0" tIns="0" rIns="0" bIns="0" rtlCol="0" anchor="t"/>
          <a:lstStyle/>
          <a:p>
            <a:pPr marL="0" indent="0" algn="l">
              <a:lnSpc>
                <a:spcPts val="1148"/>
              </a:lnSpc>
              <a:buNone/>
            </a:pPr>
            <a:r>
              <a:rPr lang="en-US" sz="956" b="1" dirty="0">
                <a:solidFill>
                  <a:srgbClr val="1B4965"/>
                </a:solidFill>
                <a:latin typeface="Carlito" pitchFamily="34" charset="0"/>
                <a:ea typeface="Carlito" pitchFamily="34" charset="-122"/>
                <a:cs typeface="Carlito" pitchFamily="34" charset="-120"/>
              </a:rPr>
              <a:t>فرهنگ لغت</a:t>
            </a:r>
            <a:endParaRPr lang="en-US" sz="956" dirty="0"/>
          </a:p>
        </p:txBody>
      </p:sp>
      <p:sp>
        <p:nvSpPr>
          <p:cNvPr id="22" name="Text 20"/>
          <p:cNvSpPr/>
          <p:nvPr/>
        </p:nvSpPr>
        <p:spPr>
          <a:xfrm>
            <a:off x="6212718" y="2165896"/>
            <a:ext cx="2366925" cy="337542"/>
          </a:xfrm>
          <a:prstGeom prst="roundRect">
            <a:avLst>
              <a:gd name="adj" fmla="val 22575"/>
            </a:avLst>
          </a:prstGeom>
          <a:solidFill>
            <a:srgbClr val="EBF3F9"/>
          </a:solidFill>
          <a:ln/>
        </p:spPr>
        <p:txBody>
          <a:bodyPr wrap="square" rtlCol="0" anchor="ctr"/>
          <a:lstStyle/>
          <a:p>
            <a:pPr marL="0" indent="0">
              <a:buNone/>
            </a:pPr>
            <a:endParaRPr lang="en-US" dirty="0"/>
          </a:p>
        </p:txBody>
      </p:sp>
      <p:sp>
        <p:nvSpPr>
          <p:cNvPr id="23" name="Shape 21"/>
          <p:cNvSpPr/>
          <p:nvPr/>
        </p:nvSpPr>
        <p:spPr>
          <a:xfrm>
            <a:off x="8568928" y="2165896"/>
            <a:ext cx="0" cy="337542"/>
          </a:xfrm>
          <a:prstGeom prst="line">
            <a:avLst/>
          </a:prstGeom>
          <a:noFill/>
          <a:ln w="21431">
            <a:solidFill>
              <a:srgbClr val="1B4965"/>
            </a:solidFill>
            <a:prstDash val="solid"/>
          </a:ln>
        </p:spPr>
      </p:sp>
      <p:sp>
        <p:nvSpPr>
          <p:cNvPr id="24" name="Text 22"/>
          <p:cNvSpPr/>
          <p:nvPr/>
        </p:nvSpPr>
        <p:spPr>
          <a:xfrm>
            <a:off x="6212718" y="2165896"/>
            <a:ext cx="2366925" cy="337542"/>
          </a:xfrm>
          <a:prstGeom prst="rect">
            <a:avLst/>
          </a:prstGeom>
          <a:noFill/>
          <a:ln/>
        </p:spPr>
        <p:txBody>
          <a:bodyPr wrap="none" lIns="0" tIns="0" rIns="0" bIns="0" rtlCol="0" anchor="ctr"/>
          <a:lstStyle/>
          <a:p>
            <a:pPr marL="0" indent="0" algn="ctr">
              <a:lnSpc>
                <a:spcPts val="1308"/>
              </a:lnSpc>
              <a:buNone/>
            </a:pPr>
            <a:r>
              <a:rPr lang="en-US" sz="844" b="1" dirty="0">
                <a:solidFill>
                  <a:srgbClr val="1B4965"/>
                </a:solidFill>
                <a:latin typeface="Carlito" pitchFamily="34" charset="0"/>
                <a:ea typeface="Carlito" pitchFamily="34" charset="-122"/>
                <a:cs typeface="Carlito" pitchFamily="34" charset="-120"/>
              </a:rPr>
              <a:t>«کسب دانش از روی شوق»</a:t>
            </a:r>
            <a:endParaRPr lang="en-US" sz="844" dirty="0"/>
          </a:p>
        </p:txBody>
      </p:sp>
      <p:sp>
        <p:nvSpPr>
          <p:cNvPr id="25" name="Text 23"/>
          <p:cNvSpPr/>
          <p:nvPr/>
        </p:nvSpPr>
        <p:spPr>
          <a:xfrm>
            <a:off x="6212718" y="2603450"/>
            <a:ext cx="2366925" cy="361891"/>
          </a:xfrm>
          <a:prstGeom prst="rect">
            <a:avLst/>
          </a:prstGeom>
          <a:noFill/>
          <a:ln/>
        </p:spPr>
        <p:txBody>
          <a:bodyPr wrap="square" lIns="0" tIns="0" rIns="0" bIns="0" rtlCol="0" anchor="t"/>
          <a:lstStyle/>
          <a:p>
            <a:pPr marL="0" indent="0" algn="l">
              <a:lnSpc>
                <a:spcPts val="1207"/>
              </a:lnSpc>
              <a:buNone/>
            </a:pPr>
            <a:r>
              <a:rPr lang="en-US" sz="800" dirty="0">
                <a:solidFill>
                  <a:srgbClr val="5A6B7B"/>
                </a:solidFill>
                <a:latin typeface="Carlito" pitchFamily="34" charset="0"/>
                <a:ea typeface="Carlito" pitchFamily="34" charset="-122"/>
                <a:cs typeface="Carlito" pitchFamily="34" charset="-120"/>
              </a:rPr>
              <a:t>یادگیری ناشی از اشتیاق درونی فرد برای دانستن است؛ تعریفی سنتی و عاطفی از ماهیت یادگیری.</a:t>
            </a:r>
            <a:endParaRPr lang="en-US" sz="800" dirty="0"/>
          </a:p>
        </p:txBody>
      </p:sp>
      <p:sp>
        <p:nvSpPr>
          <p:cNvPr id="26" name="Text 24"/>
          <p:cNvSpPr/>
          <p:nvPr/>
        </p:nvSpPr>
        <p:spPr>
          <a:xfrm>
            <a:off x="7941975" y="2999250"/>
            <a:ext cx="660529" cy="196025"/>
          </a:xfrm>
          <a:prstGeom prst="roundRect">
            <a:avLst>
              <a:gd name="adj" fmla="val 4854215"/>
            </a:avLst>
          </a:prstGeom>
          <a:solidFill>
            <a:srgbClr val="CDE7F0"/>
          </a:solidFill>
          <a:ln/>
        </p:spPr>
        <p:txBody>
          <a:bodyPr wrap="square" rtlCol="0" anchor="ctr"/>
          <a:lstStyle/>
          <a:p>
            <a:pPr marL="0" indent="0">
              <a:buNone/>
            </a:pPr>
            <a:endParaRPr lang="en-US" dirty="0"/>
          </a:p>
        </p:txBody>
      </p:sp>
      <p:sp>
        <p:nvSpPr>
          <p:cNvPr id="27" name="Text 25"/>
          <p:cNvSpPr/>
          <p:nvPr/>
        </p:nvSpPr>
        <p:spPr>
          <a:xfrm>
            <a:off x="7964835" y="3009751"/>
            <a:ext cx="614809" cy="175022"/>
          </a:xfrm>
          <a:prstGeom prst="rect">
            <a:avLst/>
          </a:prstGeom>
          <a:noFill/>
          <a:ln/>
        </p:spPr>
        <p:txBody>
          <a:bodyPr wrap="none" lIns="0" tIns="0" rIns="0" bIns="0" rtlCol="0" anchor="ctr"/>
          <a:lstStyle/>
          <a:p>
            <a:pPr marL="0" indent="0" algn="ctr">
              <a:lnSpc>
                <a:spcPts val="928"/>
              </a:lnSpc>
              <a:buNone/>
            </a:pPr>
            <a:r>
              <a:rPr lang="en-US" sz="800" b="1" dirty="0">
                <a:solidFill>
                  <a:srgbClr val="1B4965"/>
                </a:solidFill>
                <a:latin typeface="Carlito" pitchFamily="34" charset="0"/>
                <a:ea typeface="Carlito" pitchFamily="34" charset="-122"/>
                <a:cs typeface="Carlito" pitchFamily="34" charset="-120"/>
              </a:rPr>
              <a:t>تعریف سنتی</a:t>
            </a:r>
            <a:endParaRPr lang="en-US" sz="800" dirty="0"/>
          </a:p>
        </p:txBody>
      </p:sp>
      <p:sp>
        <p:nvSpPr>
          <p:cNvPr id="28" name="Text 26"/>
          <p:cNvSpPr/>
          <p:nvPr/>
        </p:nvSpPr>
        <p:spPr>
          <a:xfrm>
            <a:off x="3224287" y="1515814"/>
            <a:ext cx="2695538" cy="3270498"/>
          </a:xfrm>
          <a:prstGeom prst="roundRect">
            <a:avLst>
              <a:gd name="adj" fmla="val 6361"/>
            </a:avLst>
          </a:prstGeom>
          <a:solidFill>
            <a:srgbClr val="FFFFFF"/>
          </a:solidFill>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29" name="Shape 27"/>
          <p:cNvSpPr/>
          <p:nvPr/>
        </p:nvSpPr>
        <p:spPr>
          <a:xfrm>
            <a:off x="3224287" y="1533674"/>
            <a:ext cx="2695538" cy="0"/>
          </a:xfrm>
          <a:prstGeom prst="line">
            <a:avLst/>
          </a:prstGeom>
          <a:noFill/>
          <a:ln w="35719">
            <a:solidFill>
              <a:srgbClr val="2A9D8F"/>
            </a:solidFill>
            <a:prstDash val="solid"/>
          </a:ln>
        </p:spPr>
      </p:sp>
      <p:sp>
        <p:nvSpPr>
          <p:cNvPr id="30" name="Shape 28"/>
          <p:cNvSpPr/>
          <p:nvPr/>
        </p:nvSpPr>
        <p:spPr>
          <a:xfrm>
            <a:off x="5916253" y="1515814"/>
            <a:ext cx="0" cy="3270498"/>
          </a:xfrm>
          <a:prstGeom prst="line">
            <a:avLst/>
          </a:prstGeom>
          <a:noFill/>
          <a:ln w="7144">
            <a:solidFill>
              <a:srgbClr val="D8E3EC"/>
            </a:solidFill>
            <a:prstDash val="solid"/>
          </a:ln>
        </p:spPr>
      </p:sp>
      <p:sp>
        <p:nvSpPr>
          <p:cNvPr id="31" name="Shape 29"/>
          <p:cNvSpPr/>
          <p:nvPr/>
        </p:nvSpPr>
        <p:spPr>
          <a:xfrm>
            <a:off x="3224287" y="4782741"/>
            <a:ext cx="2695538" cy="0"/>
          </a:xfrm>
          <a:prstGeom prst="line">
            <a:avLst/>
          </a:prstGeom>
          <a:noFill/>
          <a:ln w="7144">
            <a:solidFill>
              <a:srgbClr val="D8E3EC"/>
            </a:solidFill>
            <a:prstDash val="solid"/>
          </a:ln>
        </p:spPr>
      </p:sp>
      <p:sp>
        <p:nvSpPr>
          <p:cNvPr id="32" name="Shape 30"/>
          <p:cNvSpPr/>
          <p:nvPr/>
        </p:nvSpPr>
        <p:spPr>
          <a:xfrm>
            <a:off x="3227859" y="1515814"/>
            <a:ext cx="0" cy="3270498"/>
          </a:xfrm>
          <a:prstGeom prst="line">
            <a:avLst/>
          </a:prstGeom>
          <a:noFill/>
          <a:ln w="7144">
            <a:solidFill>
              <a:srgbClr val="D8E3EC"/>
            </a:solidFill>
            <a:prstDash val="solid"/>
          </a:ln>
        </p:spPr>
      </p:sp>
      <p:sp>
        <p:nvSpPr>
          <p:cNvPr id="33" name="Text 31"/>
          <p:cNvSpPr/>
          <p:nvPr/>
        </p:nvSpPr>
        <p:spPr>
          <a:xfrm>
            <a:off x="3388593" y="1337221"/>
            <a:ext cx="584073" cy="925830"/>
          </a:xfrm>
          <a:prstGeom prst="rect">
            <a:avLst/>
          </a:prstGeom>
          <a:noFill/>
          <a:ln/>
        </p:spPr>
        <p:txBody>
          <a:bodyPr wrap="none" lIns="0" tIns="0" rIns="0" bIns="0" rtlCol="0" anchor="t"/>
          <a:lstStyle/>
          <a:p>
            <a:pPr marL="0" indent="0" algn="l">
              <a:lnSpc>
                <a:spcPts val="6750"/>
              </a:lnSpc>
              <a:buNone/>
            </a:pPr>
            <a:r>
              <a:rPr lang="en-US" sz="6750" dirty="0">
                <a:solidFill>
                  <a:srgbClr val="2A9D8F">
                    <a:alpha val="8000"/>
                  </a:srgbClr>
                </a:solidFill>
                <a:latin typeface="Carlito" pitchFamily="34" charset="0"/>
                <a:ea typeface="Carlito" pitchFamily="34" charset="-122"/>
                <a:cs typeface="Carlito" pitchFamily="34" charset="-120"/>
              </a:rPr>
              <a:t>۲</a:t>
            </a:r>
            <a:endParaRPr lang="en-US" sz="6750" dirty="0"/>
          </a:p>
        </p:txBody>
      </p:sp>
      <p:sp>
        <p:nvSpPr>
          <p:cNvPr id="34" name="Text 32"/>
          <p:cNvSpPr/>
          <p:nvPr/>
        </p:nvSpPr>
        <p:spPr>
          <a:xfrm>
            <a:off x="5398331" y="1708696"/>
            <a:ext cx="357188" cy="357188"/>
          </a:xfrm>
          <a:prstGeom prst="roundRect">
            <a:avLst>
              <a:gd name="adj" fmla="val 37333"/>
            </a:avLst>
          </a:prstGeom>
          <a:solidFill>
            <a:srgbClr val="D4F1ED"/>
          </a:solidFill>
          <a:ln/>
        </p:spPr>
        <p:txBody>
          <a:bodyPr wrap="square" rtlCol="0" anchor="ctr"/>
          <a:lstStyle/>
          <a:p>
            <a:pPr marL="0" indent="0">
              <a:buNone/>
            </a:pPr>
            <a:endParaRPr lang="en-US" dirty="0"/>
          </a:p>
        </p:txBody>
      </p:sp>
      <p:sp>
        <p:nvSpPr>
          <p:cNvPr id="35" name="Text 33"/>
          <p:cNvSpPr/>
          <p:nvPr/>
        </p:nvSpPr>
        <p:spPr>
          <a:xfrm>
            <a:off x="5431907" y="1742271"/>
            <a:ext cx="290036" cy="290036"/>
          </a:xfrm>
          <a:prstGeom prst="rect">
            <a:avLst/>
          </a:prstGeom>
          <a:noFill/>
          <a:ln/>
        </p:spPr>
        <p:txBody>
          <a:bodyPr wrap="none" lIns="0" tIns="0" rIns="0" bIns="0" rtlCol="0" anchor="ctr"/>
          <a:lstStyle/>
          <a:p>
            <a:pPr marL="0" indent="0" algn="ctr">
              <a:buNone/>
            </a:pPr>
            <a:r>
              <a:rPr lang="en-US" sz="1969" dirty="0">
                <a:solidFill>
                  <a:srgbClr val="2A9D8F"/>
                </a:solidFill>
                <a:latin typeface="Segoe UI Symbol" pitchFamily="34" charset="0"/>
                <a:ea typeface="Segoe UI Symbol" pitchFamily="34" charset="-122"/>
                <a:cs typeface="Segoe UI Symbol" pitchFamily="34" charset="-120"/>
              </a:rPr>
              <a:t>◆</a:t>
            </a:r>
            <a:endParaRPr lang="en-US" sz="1969" dirty="0"/>
          </a:p>
        </p:txBody>
      </p:sp>
      <p:sp>
        <p:nvSpPr>
          <p:cNvPr id="36" name="Text 34"/>
          <p:cNvSpPr/>
          <p:nvPr/>
        </p:nvSpPr>
        <p:spPr>
          <a:xfrm>
            <a:off x="4492972" y="1748321"/>
            <a:ext cx="1135577" cy="104727"/>
          </a:xfrm>
          <a:prstGeom prst="rect">
            <a:avLst/>
          </a:prstGeom>
          <a:noFill/>
          <a:ln/>
        </p:spPr>
        <p:txBody>
          <a:bodyPr wrap="none" lIns="0" tIns="0" rIns="0" bIns="0" rtlCol="0" anchor="t">
            <a:normAutofit/>
          </a:bodyPr>
          <a:lstStyle/>
          <a:p>
            <a:pPr marL="0" indent="0" algn="l">
              <a:lnSpc>
                <a:spcPts val="928"/>
              </a:lnSpc>
              <a:buNone/>
            </a:pPr>
            <a:r>
              <a:rPr lang="en-US" sz="800" b="1" kern="0" spc="84" dirty="0">
                <a:solidFill>
                  <a:srgbClr val="5A6B7B"/>
                </a:solidFill>
                <a:latin typeface="Carlito" pitchFamily="34" charset="0"/>
                <a:ea typeface="Carlito" pitchFamily="34" charset="-122"/>
                <a:cs typeface="Carlito" pitchFamily="34" charset="-120"/>
              </a:rPr>
              <a:t>نگاه دوم</a:t>
            </a:r>
            <a:endParaRPr lang="en-US" sz="800" dirty="0"/>
          </a:p>
        </p:txBody>
      </p:sp>
      <p:sp>
        <p:nvSpPr>
          <p:cNvPr id="37" name="Text 35"/>
          <p:cNvSpPr/>
          <p:nvPr/>
        </p:nvSpPr>
        <p:spPr>
          <a:xfrm>
            <a:off x="4492972" y="1880481"/>
            <a:ext cx="960611" cy="157319"/>
          </a:xfrm>
          <a:prstGeom prst="rect">
            <a:avLst/>
          </a:prstGeom>
          <a:noFill/>
          <a:ln/>
        </p:spPr>
        <p:txBody>
          <a:bodyPr wrap="none" lIns="0" tIns="0" rIns="0" bIns="0" rtlCol="0" anchor="t"/>
          <a:lstStyle/>
          <a:p>
            <a:pPr marL="0" indent="0" algn="l">
              <a:lnSpc>
                <a:spcPts val="1148"/>
              </a:lnSpc>
              <a:buNone/>
            </a:pPr>
            <a:r>
              <a:rPr lang="en-US" sz="956" b="1" dirty="0">
                <a:solidFill>
                  <a:srgbClr val="1B4965"/>
                </a:solidFill>
                <a:latin typeface="Carlito" pitchFamily="34" charset="0"/>
                <a:ea typeface="Carlito" pitchFamily="34" charset="-122"/>
                <a:cs typeface="Carlito" pitchFamily="34" charset="-120"/>
              </a:rPr>
              <a:t>نظریه گشتالت</a:t>
            </a:r>
            <a:endParaRPr lang="en-US" sz="956" dirty="0"/>
          </a:p>
        </p:txBody>
      </p:sp>
      <p:sp>
        <p:nvSpPr>
          <p:cNvPr id="38" name="Text 36"/>
          <p:cNvSpPr/>
          <p:nvPr/>
        </p:nvSpPr>
        <p:spPr>
          <a:xfrm>
            <a:off x="3388593" y="2165896"/>
            <a:ext cx="2366925" cy="503634"/>
          </a:xfrm>
          <a:prstGeom prst="roundRect">
            <a:avLst>
              <a:gd name="adj" fmla="val 15130"/>
            </a:avLst>
          </a:prstGeom>
          <a:solidFill>
            <a:srgbClr val="ECF8F5"/>
          </a:solidFill>
          <a:ln/>
        </p:spPr>
        <p:txBody>
          <a:bodyPr wrap="square" rtlCol="0" anchor="ctr"/>
          <a:lstStyle/>
          <a:p>
            <a:pPr marL="0" indent="0">
              <a:buNone/>
            </a:pPr>
            <a:endParaRPr lang="en-US" dirty="0"/>
          </a:p>
        </p:txBody>
      </p:sp>
      <p:sp>
        <p:nvSpPr>
          <p:cNvPr id="39" name="Shape 37"/>
          <p:cNvSpPr/>
          <p:nvPr/>
        </p:nvSpPr>
        <p:spPr>
          <a:xfrm>
            <a:off x="5744803" y="2165896"/>
            <a:ext cx="0" cy="503634"/>
          </a:xfrm>
          <a:prstGeom prst="line">
            <a:avLst/>
          </a:prstGeom>
          <a:noFill/>
          <a:ln w="21431">
            <a:solidFill>
              <a:srgbClr val="2A9D8F"/>
            </a:solidFill>
            <a:prstDash val="solid"/>
          </a:ln>
        </p:spPr>
      </p:sp>
      <p:sp>
        <p:nvSpPr>
          <p:cNvPr id="40" name="Text 38"/>
          <p:cNvSpPr/>
          <p:nvPr/>
        </p:nvSpPr>
        <p:spPr>
          <a:xfrm>
            <a:off x="3388593" y="2165896"/>
            <a:ext cx="2366925" cy="543925"/>
          </a:xfrm>
          <a:prstGeom prst="rect">
            <a:avLst/>
          </a:prstGeom>
          <a:noFill/>
          <a:ln/>
        </p:spPr>
        <p:txBody>
          <a:bodyPr wrap="square" lIns="100013" tIns="85725" rIns="100013" bIns="85725" rtlCol="0" anchor="t"/>
          <a:lstStyle/>
          <a:p>
            <a:pPr marL="0" indent="0" algn="l">
              <a:lnSpc>
                <a:spcPts val="1308"/>
              </a:lnSpc>
              <a:buNone/>
            </a:pPr>
            <a:r>
              <a:rPr lang="en-US" sz="844" b="1" dirty="0">
                <a:solidFill>
                  <a:srgbClr val="1B4965"/>
                </a:solidFill>
                <a:latin typeface="Carlito" pitchFamily="34" charset="0"/>
                <a:ea typeface="Carlito" pitchFamily="34" charset="-122"/>
                <a:cs typeface="Carlito" pitchFamily="34" charset="-120"/>
              </a:rPr>
              <a:t>«کسب بینش جدید یا تغییر در بینش‌های گذشته»</a:t>
            </a:r>
            <a:endParaRPr lang="en-US" sz="844" dirty="0"/>
          </a:p>
        </p:txBody>
      </p:sp>
      <p:sp>
        <p:nvSpPr>
          <p:cNvPr id="41" name="Text 39"/>
          <p:cNvSpPr/>
          <p:nvPr/>
        </p:nvSpPr>
        <p:spPr>
          <a:xfrm>
            <a:off x="3388593" y="2769543"/>
            <a:ext cx="2366925" cy="532013"/>
          </a:xfrm>
          <a:prstGeom prst="rect">
            <a:avLst/>
          </a:prstGeom>
          <a:noFill/>
          <a:ln/>
        </p:spPr>
        <p:txBody>
          <a:bodyPr wrap="square" lIns="0" tIns="0" rIns="0" bIns="0" rtlCol="0" anchor="t">
            <a:normAutofit/>
          </a:bodyPr>
          <a:lstStyle/>
          <a:p>
            <a:pPr marL="0" indent="0" algn="l">
              <a:lnSpc>
                <a:spcPts val="1207"/>
              </a:lnSpc>
              <a:buNone/>
            </a:pPr>
            <a:r>
              <a:rPr lang="en-US" sz="800" dirty="0">
                <a:solidFill>
                  <a:srgbClr val="5A6B7B"/>
                </a:solidFill>
                <a:latin typeface="Carlito" pitchFamily="34" charset="0"/>
                <a:ea typeface="Carlito" pitchFamily="34" charset="-122"/>
                <a:cs typeface="Carlito" pitchFamily="34" charset="-120"/>
              </a:rPr>
              <a:t>یادگیری بازorganisation کلی اطلاعات و درک ناگهانی روابط بین اجزا است؛ یادگیری به مثابه بینش.</a:t>
            </a:r>
            <a:endParaRPr lang="en-US" sz="800" dirty="0"/>
          </a:p>
        </p:txBody>
      </p:sp>
      <p:sp>
        <p:nvSpPr>
          <p:cNvPr id="42" name="Text 40"/>
          <p:cNvSpPr/>
          <p:nvPr/>
        </p:nvSpPr>
        <p:spPr>
          <a:xfrm>
            <a:off x="5190876" y="3318486"/>
            <a:ext cx="586359" cy="196025"/>
          </a:xfrm>
          <a:prstGeom prst="roundRect">
            <a:avLst>
              <a:gd name="adj" fmla="val 4854215"/>
            </a:avLst>
          </a:prstGeom>
          <a:solidFill>
            <a:srgbClr val="D4F1ED"/>
          </a:solidFill>
          <a:ln/>
        </p:spPr>
        <p:txBody>
          <a:bodyPr wrap="square" rtlCol="0" anchor="ctr"/>
          <a:lstStyle/>
          <a:p>
            <a:pPr marL="0" indent="0">
              <a:buNone/>
            </a:pPr>
            <a:endParaRPr lang="en-US" dirty="0"/>
          </a:p>
        </p:txBody>
      </p:sp>
      <p:sp>
        <p:nvSpPr>
          <p:cNvPr id="43" name="Text 41"/>
          <p:cNvSpPr/>
          <p:nvPr/>
        </p:nvSpPr>
        <p:spPr>
          <a:xfrm>
            <a:off x="5212593" y="3328988"/>
            <a:ext cx="542925" cy="175022"/>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بینش‌محور</a:t>
            </a:r>
            <a:endParaRPr lang="en-US" sz="800" dirty="0"/>
          </a:p>
        </p:txBody>
      </p:sp>
      <p:sp>
        <p:nvSpPr>
          <p:cNvPr id="44" name="Text 42"/>
          <p:cNvSpPr/>
          <p:nvPr/>
        </p:nvSpPr>
        <p:spPr>
          <a:xfrm>
            <a:off x="400050" y="1515814"/>
            <a:ext cx="2695649" cy="3270498"/>
          </a:xfrm>
          <a:prstGeom prst="roundRect">
            <a:avLst>
              <a:gd name="adj" fmla="val 6360"/>
            </a:avLst>
          </a:prstGeom>
          <a:solidFill>
            <a:srgbClr val="FFFFFF"/>
          </a:solidFill>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45" name="Shape 43"/>
          <p:cNvSpPr/>
          <p:nvPr/>
        </p:nvSpPr>
        <p:spPr>
          <a:xfrm>
            <a:off x="400050" y="1533674"/>
            <a:ext cx="2695649" cy="0"/>
          </a:xfrm>
          <a:prstGeom prst="line">
            <a:avLst/>
          </a:prstGeom>
          <a:noFill/>
          <a:ln w="35719">
            <a:solidFill>
              <a:srgbClr val="E76F51"/>
            </a:solidFill>
            <a:prstDash val="solid"/>
          </a:ln>
        </p:spPr>
      </p:sp>
      <p:sp>
        <p:nvSpPr>
          <p:cNvPr id="46" name="Shape 44"/>
          <p:cNvSpPr/>
          <p:nvPr/>
        </p:nvSpPr>
        <p:spPr>
          <a:xfrm>
            <a:off x="3092128" y="1515814"/>
            <a:ext cx="0" cy="3270498"/>
          </a:xfrm>
          <a:prstGeom prst="line">
            <a:avLst/>
          </a:prstGeom>
          <a:noFill/>
          <a:ln w="7144">
            <a:solidFill>
              <a:srgbClr val="D8E3EC"/>
            </a:solidFill>
            <a:prstDash val="solid"/>
          </a:ln>
        </p:spPr>
      </p:sp>
      <p:sp>
        <p:nvSpPr>
          <p:cNvPr id="47" name="Shape 45"/>
          <p:cNvSpPr/>
          <p:nvPr/>
        </p:nvSpPr>
        <p:spPr>
          <a:xfrm>
            <a:off x="400050" y="4782741"/>
            <a:ext cx="2695649" cy="0"/>
          </a:xfrm>
          <a:prstGeom prst="line">
            <a:avLst/>
          </a:prstGeom>
          <a:noFill/>
          <a:ln w="7144">
            <a:solidFill>
              <a:srgbClr val="D8E3EC"/>
            </a:solidFill>
            <a:prstDash val="solid"/>
          </a:ln>
        </p:spPr>
      </p:sp>
      <p:sp>
        <p:nvSpPr>
          <p:cNvPr id="48" name="Shape 46"/>
          <p:cNvSpPr/>
          <p:nvPr/>
        </p:nvSpPr>
        <p:spPr>
          <a:xfrm>
            <a:off x="403622" y="1515814"/>
            <a:ext cx="0" cy="3270498"/>
          </a:xfrm>
          <a:prstGeom prst="line">
            <a:avLst/>
          </a:prstGeom>
          <a:noFill/>
          <a:ln w="7144">
            <a:solidFill>
              <a:srgbClr val="D8E3EC"/>
            </a:solidFill>
            <a:prstDash val="solid"/>
          </a:ln>
        </p:spPr>
      </p:sp>
      <p:sp>
        <p:nvSpPr>
          <p:cNvPr id="49" name="Text 47"/>
          <p:cNvSpPr/>
          <p:nvPr/>
        </p:nvSpPr>
        <p:spPr>
          <a:xfrm>
            <a:off x="564356" y="1337221"/>
            <a:ext cx="584073" cy="925830"/>
          </a:xfrm>
          <a:prstGeom prst="rect">
            <a:avLst/>
          </a:prstGeom>
          <a:noFill/>
          <a:ln/>
        </p:spPr>
        <p:txBody>
          <a:bodyPr wrap="none" lIns="0" tIns="0" rIns="0" bIns="0" rtlCol="0" anchor="t"/>
          <a:lstStyle/>
          <a:p>
            <a:pPr marL="0" indent="0" algn="l">
              <a:lnSpc>
                <a:spcPts val="6750"/>
              </a:lnSpc>
              <a:buNone/>
            </a:pPr>
            <a:r>
              <a:rPr lang="en-US" sz="6750" dirty="0">
                <a:solidFill>
                  <a:srgbClr val="E76F51">
                    <a:alpha val="8000"/>
                  </a:srgbClr>
                </a:solidFill>
                <a:latin typeface="Carlito" pitchFamily="34" charset="0"/>
                <a:ea typeface="Carlito" pitchFamily="34" charset="-122"/>
                <a:cs typeface="Carlito" pitchFamily="34" charset="-120"/>
              </a:rPr>
              <a:t>۳</a:t>
            </a:r>
            <a:endParaRPr lang="en-US" sz="6750" dirty="0"/>
          </a:p>
        </p:txBody>
      </p:sp>
      <p:sp>
        <p:nvSpPr>
          <p:cNvPr id="50" name="Text 48"/>
          <p:cNvSpPr/>
          <p:nvPr/>
        </p:nvSpPr>
        <p:spPr>
          <a:xfrm>
            <a:off x="2574206" y="1708696"/>
            <a:ext cx="357188" cy="357188"/>
          </a:xfrm>
          <a:prstGeom prst="roundRect">
            <a:avLst>
              <a:gd name="adj" fmla="val 37333"/>
            </a:avLst>
          </a:prstGeom>
          <a:solidFill>
            <a:srgbClr val="FCE4DD"/>
          </a:solidFill>
          <a:ln/>
        </p:spPr>
        <p:txBody>
          <a:bodyPr wrap="square" rtlCol="0" anchor="ctr"/>
          <a:lstStyle/>
          <a:p>
            <a:pPr marL="0" indent="0">
              <a:buNone/>
            </a:pPr>
            <a:endParaRPr lang="en-US" dirty="0"/>
          </a:p>
        </p:txBody>
      </p:sp>
      <p:sp>
        <p:nvSpPr>
          <p:cNvPr id="51" name="Text 49"/>
          <p:cNvSpPr/>
          <p:nvPr/>
        </p:nvSpPr>
        <p:spPr>
          <a:xfrm>
            <a:off x="2607781" y="1742271"/>
            <a:ext cx="290036" cy="290036"/>
          </a:xfrm>
          <a:prstGeom prst="rect">
            <a:avLst/>
          </a:prstGeom>
          <a:noFill/>
          <a:ln/>
        </p:spPr>
        <p:txBody>
          <a:bodyPr wrap="none" lIns="0" tIns="0" rIns="0" bIns="0" rtlCol="0" anchor="ctr"/>
          <a:lstStyle/>
          <a:p>
            <a:pPr marL="0" indent="0" algn="ctr">
              <a:buNone/>
            </a:pPr>
            <a:r>
              <a:rPr lang="en-US" sz="1969" dirty="0">
                <a:solidFill>
                  <a:srgbClr val="E76F51"/>
                </a:solidFill>
                <a:latin typeface="Segoe UI Symbol" pitchFamily="34" charset="0"/>
                <a:ea typeface="Segoe UI Symbol" pitchFamily="34" charset="-122"/>
                <a:cs typeface="Segoe UI Symbol" pitchFamily="34" charset="-120"/>
              </a:rPr>
              <a:t>▿</a:t>
            </a:r>
            <a:endParaRPr lang="en-US" sz="1969" dirty="0"/>
          </a:p>
        </p:txBody>
      </p:sp>
      <p:sp>
        <p:nvSpPr>
          <p:cNvPr id="52" name="Text 50"/>
          <p:cNvSpPr/>
          <p:nvPr/>
        </p:nvSpPr>
        <p:spPr>
          <a:xfrm>
            <a:off x="1277950" y="1748321"/>
            <a:ext cx="1546415" cy="104727"/>
          </a:xfrm>
          <a:prstGeom prst="rect">
            <a:avLst/>
          </a:prstGeom>
          <a:noFill/>
          <a:ln/>
        </p:spPr>
        <p:txBody>
          <a:bodyPr wrap="none" lIns="0" tIns="0" rIns="0" bIns="0" rtlCol="0" anchor="t">
            <a:normAutofit/>
          </a:bodyPr>
          <a:lstStyle/>
          <a:p>
            <a:pPr marL="0" indent="0" algn="l">
              <a:lnSpc>
                <a:spcPts val="928"/>
              </a:lnSpc>
              <a:buNone/>
            </a:pPr>
            <a:r>
              <a:rPr lang="en-US" sz="800" b="1" kern="0" spc="84" dirty="0">
                <a:solidFill>
                  <a:srgbClr val="5A6B7B"/>
                </a:solidFill>
                <a:latin typeface="Carlito" pitchFamily="34" charset="0"/>
                <a:ea typeface="Carlito" pitchFamily="34" charset="-122"/>
                <a:cs typeface="Carlito" pitchFamily="34" charset="-120"/>
              </a:rPr>
              <a:t>نگاه سوم — مرجع</a:t>
            </a:r>
            <a:endParaRPr lang="en-US" sz="800" dirty="0"/>
          </a:p>
        </p:txBody>
      </p:sp>
      <p:sp>
        <p:nvSpPr>
          <p:cNvPr id="53" name="Text 51"/>
          <p:cNvSpPr/>
          <p:nvPr/>
        </p:nvSpPr>
        <p:spPr>
          <a:xfrm>
            <a:off x="1277950" y="1880481"/>
            <a:ext cx="1418742" cy="157319"/>
          </a:xfrm>
          <a:prstGeom prst="rect">
            <a:avLst/>
          </a:prstGeom>
          <a:noFill/>
          <a:ln/>
        </p:spPr>
        <p:txBody>
          <a:bodyPr wrap="none" lIns="0" tIns="0" rIns="0" bIns="0" rtlCol="0" anchor="t"/>
          <a:lstStyle/>
          <a:p>
            <a:pPr marL="0" indent="0" algn="l">
              <a:lnSpc>
                <a:spcPts val="1148"/>
              </a:lnSpc>
              <a:buNone/>
            </a:pPr>
            <a:r>
              <a:rPr lang="en-US" sz="956" b="1" dirty="0">
                <a:solidFill>
                  <a:srgbClr val="1B4965"/>
                </a:solidFill>
                <a:latin typeface="Carlito" pitchFamily="34" charset="0"/>
                <a:ea typeface="Carlito" pitchFamily="34" charset="-122"/>
                <a:cs typeface="Carlito" pitchFamily="34" charset="-120"/>
              </a:rPr>
              <a:t>هلیگارد و مارکوئیز</a:t>
            </a:r>
            <a:endParaRPr lang="en-US" sz="956" dirty="0"/>
          </a:p>
        </p:txBody>
      </p:sp>
      <p:sp>
        <p:nvSpPr>
          <p:cNvPr id="54" name="Text 52"/>
          <p:cNvSpPr/>
          <p:nvPr/>
        </p:nvSpPr>
        <p:spPr>
          <a:xfrm>
            <a:off x="564356" y="2165896"/>
            <a:ext cx="2367037" cy="835819"/>
          </a:xfrm>
          <a:prstGeom prst="roundRect">
            <a:avLst>
              <a:gd name="adj" fmla="val 9117"/>
            </a:avLst>
          </a:prstGeom>
          <a:solidFill>
            <a:srgbClr val="FCEFEA"/>
          </a:solidFill>
          <a:ln/>
        </p:spPr>
        <p:txBody>
          <a:bodyPr wrap="square" rtlCol="0" anchor="ctr"/>
          <a:lstStyle/>
          <a:p>
            <a:pPr marL="0" indent="0">
              <a:buNone/>
            </a:pPr>
            <a:endParaRPr lang="en-US" dirty="0"/>
          </a:p>
        </p:txBody>
      </p:sp>
      <p:sp>
        <p:nvSpPr>
          <p:cNvPr id="55" name="Shape 53"/>
          <p:cNvSpPr/>
          <p:nvPr/>
        </p:nvSpPr>
        <p:spPr>
          <a:xfrm>
            <a:off x="2920678" y="2165896"/>
            <a:ext cx="0" cy="835819"/>
          </a:xfrm>
          <a:prstGeom prst="line">
            <a:avLst/>
          </a:prstGeom>
          <a:noFill/>
          <a:ln w="21431">
            <a:solidFill>
              <a:srgbClr val="E76F51"/>
            </a:solidFill>
            <a:prstDash val="solid"/>
          </a:ln>
        </p:spPr>
      </p:sp>
      <p:sp>
        <p:nvSpPr>
          <p:cNvPr id="56" name="Text 54"/>
          <p:cNvSpPr/>
          <p:nvPr/>
        </p:nvSpPr>
        <p:spPr>
          <a:xfrm>
            <a:off x="564356" y="2165896"/>
            <a:ext cx="2367037" cy="902684"/>
          </a:xfrm>
          <a:prstGeom prst="rect">
            <a:avLst/>
          </a:prstGeom>
          <a:noFill/>
          <a:ln/>
        </p:spPr>
        <p:txBody>
          <a:bodyPr wrap="square" lIns="100013" tIns="85725" rIns="100013" bIns="85725" rtlCol="0" anchor="t"/>
          <a:lstStyle/>
          <a:p>
            <a:pPr marL="0" indent="0" algn="l">
              <a:lnSpc>
                <a:spcPts val="1308"/>
              </a:lnSpc>
              <a:buNone/>
            </a:pPr>
            <a:r>
              <a:rPr lang="en-US" sz="844" b="1" dirty="0">
                <a:solidFill>
                  <a:srgbClr val="1B4965"/>
                </a:solidFill>
                <a:latin typeface="Carlito" pitchFamily="34" charset="0"/>
                <a:ea typeface="Carlito" pitchFamily="34" charset="-122"/>
                <a:cs typeface="Carlito" pitchFamily="34" charset="-120"/>
              </a:rPr>
              <a:t>«فرآیند ایجاد تغییرات نسبتاً پایدار در رفتار بالقوه یادگیرنده، مشروط بر اینکه در اثر تجربه و بینش باشد و ناشی از عوامل فیزیولوژیک نباشد.»</a:t>
            </a:r>
            <a:endParaRPr lang="en-US" sz="844" dirty="0"/>
          </a:p>
        </p:txBody>
      </p:sp>
      <p:sp>
        <p:nvSpPr>
          <p:cNvPr id="57" name="Text 55"/>
          <p:cNvSpPr/>
          <p:nvPr/>
        </p:nvSpPr>
        <p:spPr>
          <a:xfrm>
            <a:off x="564356" y="3101727"/>
            <a:ext cx="2367037" cy="361891"/>
          </a:xfrm>
          <a:prstGeom prst="rect">
            <a:avLst/>
          </a:prstGeom>
          <a:noFill/>
          <a:ln/>
        </p:spPr>
        <p:txBody>
          <a:bodyPr wrap="square" lIns="0" tIns="0" rIns="0" bIns="0" rtlCol="0" anchor="t"/>
          <a:lstStyle/>
          <a:p>
            <a:pPr marL="0" indent="0" algn="l">
              <a:lnSpc>
                <a:spcPts val="1207"/>
              </a:lnSpc>
              <a:buNone/>
            </a:pPr>
            <a:r>
              <a:rPr lang="en-US" sz="800" dirty="0">
                <a:solidFill>
                  <a:srgbClr val="5A6B7B"/>
                </a:solidFill>
                <a:latin typeface="Carlito" pitchFamily="34" charset="0"/>
                <a:ea typeface="Carlito" pitchFamily="34" charset="-122"/>
                <a:cs typeface="Carlito" pitchFamily="34" charset="-120"/>
              </a:rPr>
              <a:t>جامع‌ترین تعریف علمی و تعریف مرجع در ادبیات پرستاری.</a:t>
            </a:r>
            <a:endParaRPr lang="en-US" sz="800" dirty="0"/>
          </a:p>
        </p:txBody>
      </p:sp>
      <p:sp>
        <p:nvSpPr>
          <p:cNvPr id="58" name="Text 56"/>
          <p:cNvSpPr/>
          <p:nvPr/>
        </p:nvSpPr>
        <p:spPr>
          <a:xfrm>
            <a:off x="1921803" y="3497526"/>
            <a:ext cx="1032450" cy="196025"/>
          </a:xfrm>
          <a:prstGeom prst="roundRect">
            <a:avLst>
              <a:gd name="adj" fmla="val 4854215"/>
            </a:avLst>
          </a:prstGeom>
          <a:solidFill>
            <a:srgbClr val="FCE4DD"/>
          </a:solidFill>
          <a:ln/>
        </p:spPr>
        <p:txBody>
          <a:bodyPr wrap="square" rtlCol="0" anchor="ctr"/>
          <a:lstStyle/>
          <a:p>
            <a:pPr marL="0" indent="0">
              <a:buNone/>
            </a:pPr>
            <a:endParaRPr lang="en-US" dirty="0"/>
          </a:p>
        </p:txBody>
      </p:sp>
      <p:sp>
        <p:nvSpPr>
          <p:cNvPr id="59" name="Text 57"/>
          <p:cNvSpPr/>
          <p:nvPr/>
        </p:nvSpPr>
        <p:spPr>
          <a:xfrm>
            <a:off x="1944663" y="3508028"/>
            <a:ext cx="986730" cy="175022"/>
          </a:xfrm>
          <a:prstGeom prst="rect">
            <a:avLst/>
          </a:prstGeom>
          <a:noFill/>
          <a:ln/>
        </p:spPr>
        <p:txBody>
          <a:bodyPr wrap="none" lIns="0" tIns="0" rIns="0" bIns="0" rtlCol="0" anchor="ctr"/>
          <a:lstStyle/>
          <a:p>
            <a:pPr marL="0" indent="0" algn="ctr">
              <a:lnSpc>
                <a:spcPts val="928"/>
              </a:lnSpc>
              <a:buNone/>
            </a:pPr>
            <a:r>
              <a:rPr lang="en-US" sz="800" b="1" dirty="0">
                <a:solidFill>
                  <a:srgbClr val="E76F51"/>
                </a:solidFill>
                <a:latin typeface="Carlito" pitchFamily="34" charset="0"/>
                <a:ea typeface="Carlito" pitchFamily="34" charset="-122"/>
                <a:cs typeface="Carlito" pitchFamily="34" charset="-120"/>
              </a:rPr>
              <a:t>تعریف مرجع پرستاری</a:t>
            </a:r>
            <a:endParaRPr lang="en-US" sz="800" dirty="0"/>
          </a:p>
        </p:txBody>
      </p:sp>
      <p:sp>
        <p:nvSpPr>
          <p:cNvPr id="60" name="Shape 58"/>
          <p:cNvSpPr/>
          <p:nvPr/>
        </p:nvSpPr>
        <p:spPr>
          <a:xfrm>
            <a:off x="457200" y="4825603"/>
            <a:ext cx="8229600" cy="0"/>
          </a:xfrm>
          <a:prstGeom prst="line">
            <a:avLst/>
          </a:prstGeom>
          <a:noFill/>
          <a:ln w="7144">
            <a:solidFill>
              <a:srgbClr val="D8E3EC"/>
            </a:solidFill>
            <a:prstDash val="solid"/>
          </a:ln>
        </p:spPr>
      </p:sp>
      <p:sp>
        <p:nvSpPr>
          <p:cNvPr id="61" name="Text 59"/>
          <p:cNvSpPr/>
          <p:nvPr/>
        </p:nvSpPr>
        <p:spPr>
          <a:xfrm>
            <a:off x="7134151" y="4886325"/>
            <a:ext cx="164580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آموزش و یادگیری در پرستاری — بخش ۲</a:t>
            </a:r>
            <a:endParaRPr lang="en-US" sz="800" dirty="0"/>
          </a:p>
        </p:txBody>
      </p:sp>
      <p:sp>
        <p:nvSpPr>
          <p:cNvPr id="62" name="Text 60"/>
          <p:cNvSpPr/>
          <p:nvPr/>
        </p:nvSpPr>
        <p:spPr>
          <a:xfrm>
            <a:off x="457200" y="4886325"/>
            <a:ext cx="6662663"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۰۷ از ۲۲</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00050" y="747192"/>
            <a:ext cx="8343900" cy="0"/>
          </a:xfrm>
          <a:prstGeom prst="line">
            <a:avLst/>
          </a:prstGeom>
          <a:noFill/>
          <a:ln w="14288">
            <a:solidFill>
              <a:srgbClr val="CDE7F0"/>
            </a:solidFill>
            <a:prstDash val="solid"/>
          </a:ln>
        </p:spPr>
      </p:sp>
      <p:sp>
        <p:nvSpPr>
          <p:cNvPr id="3" name="Text 1"/>
          <p:cNvSpPr/>
          <p:nvPr/>
        </p:nvSpPr>
        <p:spPr>
          <a:xfrm>
            <a:off x="8429625" y="291443"/>
            <a:ext cx="314325" cy="314325"/>
          </a:xfrm>
          <a:prstGeom prst="ellipse">
            <a:avLst/>
          </a:prstGeom>
          <a:solidFill>
            <a:srgbClr val="CDE7F0"/>
          </a:solidFill>
          <a:ln/>
        </p:spPr>
        <p:txBody>
          <a:bodyPr wrap="square" rtlCol="0" anchor="ctr"/>
          <a:lstStyle/>
          <a:p>
            <a:pPr marL="0" indent="0">
              <a:buNone/>
            </a:pPr>
            <a:endParaRPr lang="en-US" dirty="0"/>
          </a:p>
        </p:txBody>
      </p:sp>
      <p:sp>
        <p:nvSpPr>
          <p:cNvPr id="4" name="Text 2"/>
          <p:cNvSpPr/>
          <p:nvPr/>
        </p:nvSpPr>
        <p:spPr>
          <a:xfrm>
            <a:off x="8462486" y="324304"/>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5" name="Text 3"/>
          <p:cNvSpPr/>
          <p:nvPr/>
        </p:nvSpPr>
        <p:spPr>
          <a:xfrm>
            <a:off x="4908426" y="257175"/>
            <a:ext cx="3710312" cy="226841"/>
          </a:xfrm>
          <a:prstGeom prst="rect">
            <a:avLst/>
          </a:prstGeom>
          <a:noFill/>
          <a:ln/>
        </p:spPr>
        <p:txBody>
          <a:bodyPr wrap="square" lIns="0" tIns="0" rIns="0" bIns="0" rtlCol="0" anchor="t">
            <a:normAutofit/>
          </a:bodyPr>
          <a:lstStyle/>
          <a:p>
            <a:pPr marL="0" indent="0" algn="l">
              <a:lnSpc>
                <a:spcPts val="1890"/>
              </a:lnSpc>
              <a:buNone/>
            </a:pPr>
            <a:r>
              <a:rPr lang="en-US" sz="1575" b="1" dirty="0">
                <a:solidFill>
                  <a:srgbClr val="1B4965"/>
                </a:solidFill>
                <a:latin typeface="Carlito" pitchFamily="34" charset="0"/>
                <a:ea typeface="Carlito" pitchFamily="34" charset="-122"/>
                <a:cs typeface="Carlito" pitchFamily="34" charset="-120"/>
              </a:rPr>
              <a:t>سه مؤلفه کلیدی در تعریف یادگیری</a:t>
            </a:r>
            <a:endParaRPr lang="en-US" sz="1575" dirty="0"/>
          </a:p>
        </p:txBody>
      </p:sp>
      <p:sp>
        <p:nvSpPr>
          <p:cNvPr id="6" name="Text 4"/>
          <p:cNvSpPr/>
          <p:nvPr/>
        </p:nvSpPr>
        <p:spPr>
          <a:xfrm>
            <a:off x="4908426" y="511448"/>
            <a:ext cx="3710312"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تمایز یادگیری از سایر تغییرات رفتاری</a:t>
            </a:r>
            <a:endParaRPr lang="en-US" sz="800" dirty="0"/>
          </a:p>
        </p:txBody>
      </p:sp>
      <p:sp>
        <p:nvSpPr>
          <p:cNvPr id="7" name="Text 5"/>
          <p:cNvSpPr/>
          <p:nvPr/>
        </p:nvSpPr>
        <p:spPr>
          <a:xfrm>
            <a:off x="377190" y="296500"/>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8" name="Text 6"/>
          <p:cNvSpPr/>
          <p:nvPr/>
        </p:nvSpPr>
        <p:spPr>
          <a:xfrm>
            <a:off x="400050" y="309302"/>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۰۸ / ۲۲</a:t>
            </a:r>
            <a:endParaRPr lang="en-US" sz="1013" dirty="0"/>
          </a:p>
        </p:txBody>
      </p:sp>
      <p:sp>
        <p:nvSpPr>
          <p:cNvPr id="9" name="Text 7"/>
          <p:cNvSpPr/>
          <p:nvPr/>
        </p:nvSpPr>
        <p:spPr>
          <a:xfrm>
            <a:off x="400050" y="882923"/>
            <a:ext cx="8343900" cy="337757"/>
          </a:xfrm>
          <a:prstGeom prst="rect">
            <a:avLst/>
          </a:prstGeom>
          <a:noFill/>
          <a:ln/>
        </p:spPr>
        <p:txBody>
          <a:bodyPr wrap="square" lIns="114300" tIns="71438" rIns="114300" bIns="71438" rtlCol="0" anchor="t"/>
          <a:lstStyle/>
          <a:p>
            <a:pPr marL="0" indent="0" algn="l">
              <a:lnSpc>
                <a:spcPts val="1299"/>
              </a:lnSpc>
              <a:buNone/>
            </a:pPr>
            <a:r>
              <a:rPr lang="en-US" sz="800" dirty="0">
                <a:solidFill>
                  <a:srgbClr val="5A6B7B"/>
                </a:solidFill>
                <a:latin typeface="Carlito" pitchFamily="34" charset="0"/>
                <a:ea typeface="Carlito" pitchFamily="34" charset="-122"/>
                <a:cs typeface="Carlito" pitchFamily="34" charset="-120"/>
              </a:rPr>
              <a:t>بر اساس تعریف علمی، یادگیری دارای سه مؤلفه اساسی است که تمایز آن را از تغییرات دیگر رفتاری مشخص می‌کند.</a:t>
            </a:r>
            <a:endParaRPr lang="en-US" sz="800" dirty="0"/>
          </a:p>
        </p:txBody>
      </p:sp>
      <p:sp>
        <p:nvSpPr>
          <p:cNvPr id="10" name="Text 8"/>
          <p:cNvSpPr/>
          <p:nvPr/>
        </p:nvSpPr>
        <p:spPr>
          <a:xfrm>
            <a:off x="6071071" y="1308646"/>
            <a:ext cx="2669307" cy="3474095"/>
          </a:xfrm>
          <a:prstGeom prst="roundRect">
            <a:avLst>
              <a:gd name="adj" fmla="val 6423"/>
            </a:avLst>
          </a:prstGeom>
          <a:solidFill>
            <a:srgbClr val="FFFFFF"/>
          </a:solidFill>
          <a:ln w="7144">
            <a:solidFill>
              <a:srgbClr val="D8E3EC"/>
            </a:solidFill>
            <a:prstDash val="solid"/>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11" name="Text 9"/>
          <p:cNvSpPr/>
          <p:nvPr/>
        </p:nvSpPr>
        <p:spPr>
          <a:xfrm>
            <a:off x="6231806" y="4029075"/>
            <a:ext cx="808958" cy="578644"/>
          </a:xfrm>
          <a:prstGeom prst="rect">
            <a:avLst/>
          </a:prstGeom>
          <a:noFill/>
          <a:ln/>
        </p:spPr>
        <p:txBody>
          <a:bodyPr wrap="none" lIns="0" tIns="0" rIns="0" bIns="0" rtlCol="0" anchor="t"/>
          <a:lstStyle/>
          <a:p>
            <a:pPr marL="0" indent="0" algn="l">
              <a:lnSpc>
                <a:spcPts val="7313"/>
              </a:lnSpc>
              <a:buNone/>
            </a:pPr>
            <a:r>
              <a:rPr lang="en-US" sz="7313" dirty="0">
                <a:solidFill>
                  <a:srgbClr val="2A9D8F">
                    <a:alpha val="5000"/>
                  </a:srgbClr>
                </a:solidFill>
                <a:latin typeface="Carlito" pitchFamily="34" charset="0"/>
                <a:ea typeface="Carlito" pitchFamily="34" charset="-122"/>
                <a:cs typeface="Carlito" pitchFamily="34" charset="-120"/>
              </a:rPr>
              <a:t>۱</a:t>
            </a:r>
            <a:endParaRPr lang="en-US" sz="7313" dirty="0"/>
          </a:p>
        </p:txBody>
      </p:sp>
      <p:sp>
        <p:nvSpPr>
          <p:cNvPr id="12" name="Text 10"/>
          <p:cNvSpPr/>
          <p:nvPr/>
        </p:nvSpPr>
        <p:spPr>
          <a:xfrm>
            <a:off x="8122444" y="1483668"/>
            <a:ext cx="457200" cy="4572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13" name="Text 11"/>
          <p:cNvSpPr/>
          <p:nvPr/>
        </p:nvSpPr>
        <p:spPr>
          <a:xfrm>
            <a:off x="8164592" y="1525816"/>
            <a:ext cx="372904" cy="372904"/>
          </a:xfrm>
          <a:prstGeom prst="rect">
            <a:avLst/>
          </a:prstGeom>
          <a:noFill/>
          <a:ln/>
        </p:spPr>
        <p:txBody>
          <a:bodyPr wrap="none" lIns="0" tIns="0" rIns="0" bIns="0" rtlCol="0" anchor="ctr"/>
          <a:lstStyle/>
          <a:p>
            <a:pPr marL="0" indent="0" algn="ctr">
              <a:buNone/>
            </a:pPr>
            <a:r>
              <a:rPr lang="en-US" sz="2531" dirty="0">
                <a:solidFill>
                  <a:srgbClr val="2A9D8F"/>
                </a:solidFill>
                <a:latin typeface="Segoe UI Symbol" pitchFamily="34" charset="0"/>
                <a:ea typeface="Segoe UI Symbol" pitchFamily="34" charset="-122"/>
                <a:cs typeface="Segoe UI Symbol" pitchFamily="34" charset="-120"/>
              </a:rPr>
              <a:t>●</a:t>
            </a:r>
            <a:endParaRPr lang="en-US" sz="2531" dirty="0"/>
          </a:p>
        </p:txBody>
      </p:sp>
      <p:sp>
        <p:nvSpPr>
          <p:cNvPr id="14" name="Text 12"/>
          <p:cNvSpPr/>
          <p:nvPr/>
        </p:nvSpPr>
        <p:spPr>
          <a:xfrm>
            <a:off x="6231806" y="2040880"/>
            <a:ext cx="2347838"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2A9D8F"/>
                </a:solidFill>
                <a:latin typeface="Carlito" pitchFamily="34" charset="0"/>
                <a:ea typeface="Carlito" pitchFamily="34" charset="-122"/>
                <a:cs typeface="Carlito" pitchFamily="34" charset="-120"/>
              </a:rPr>
              <a:t>مؤلفه ۱</a:t>
            </a:r>
            <a:endParaRPr lang="en-US" sz="800" dirty="0"/>
          </a:p>
        </p:txBody>
      </p:sp>
      <p:sp>
        <p:nvSpPr>
          <p:cNvPr id="15" name="Text 13"/>
          <p:cNvSpPr/>
          <p:nvPr/>
        </p:nvSpPr>
        <p:spPr>
          <a:xfrm>
            <a:off x="6231806" y="2198043"/>
            <a:ext cx="2347838" cy="230614"/>
          </a:xfrm>
          <a:prstGeom prst="rect">
            <a:avLst/>
          </a:prstGeom>
          <a:noFill/>
          <a:ln/>
        </p:spPr>
        <p:txBody>
          <a:bodyPr wrap="none" lIns="0" tIns="0" rIns="0" bIns="0" rtlCol="0" anchor="t"/>
          <a:lstStyle/>
          <a:p>
            <a:pPr marL="0" indent="0" algn="l">
              <a:lnSpc>
                <a:spcPts val="1682"/>
              </a:lnSpc>
              <a:buNone/>
            </a:pPr>
            <a:r>
              <a:rPr lang="en-US" sz="1463" b="1" dirty="0">
                <a:solidFill>
                  <a:srgbClr val="1B4965"/>
                </a:solidFill>
                <a:latin typeface="Carlito" pitchFamily="34" charset="0"/>
                <a:ea typeface="Carlito" pitchFamily="34" charset="-122"/>
                <a:cs typeface="Carlito" pitchFamily="34" charset="-120"/>
              </a:rPr>
              <a:t>تغییر</a:t>
            </a:r>
            <a:endParaRPr lang="en-US" sz="1463" dirty="0"/>
          </a:p>
        </p:txBody>
      </p:sp>
      <p:sp>
        <p:nvSpPr>
          <p:cNvPr id="16" name="Text 14"/>
          <p:cNvSpPr/>
          <p:nvPr/>
        </p:nvSpPr>
        <p:spPr>
          <a:xfrm>
            <a:off x="6231806" y="2511586"/>
            <a:ext cx="2347838" cy="747665"/>
          </a:xfrm>
          <a:prstGeom prst="rect">
            <a:avLst/>
          </a:prstGeom>
          <a:noFill/>
          <a:ln/>
        </p:spPr>
        <p:txBody>
          <a:bodyPr wrap="square" lIns="0" tIns="0" rIns="0" bIns="0" rtlCol="0" anchor="t">
            <a:normAutofit/>
          </a:bodyPr>
          <a:lstStyle/>
          <a:p>
            <a:pPr marL="0" indent="0" algn="l">
              <a:lnSpc>
                <a:spcPts val="1329"/>
              </a:lnSpc>
              <a:buNone/>
            </a:pPr>
            <a:r>
              <a:rPr lang="en-US" sz="800" dirty="0">
                <a:solidFill>
                  <a:srgbClr val="1A2733"/>
                </a:solidFill>
                <a:latin typeface="Carlito" pitchFamily="34" charset="0"/>
                <a:ea typeface="Carlito" pitchFamily="34" charset="-122"/>
                <a:cs typeface="Carlito" pitchFamily="34" charset="-120"/>
              </a:rPr>
              <a:t>یادگیری منجر به تغییر می‌شود. پس از کسب تجربه، فرد نسبت به قبل حالت جدیدی پیدا می‌کند. میزان تغییر از ساده (یادگیری شماره تلفن) تا پیچیده (راندن دوچرخه یا مهارت تزریق) متغیر است.</a:t>
            </a:r>
            <a:endParaRPr lang="en-US" sz="800" dirty="0"/>
          </a:p>
        </p:txBody>
      </p:sp>
      <p:sp>
        <p:nvSpPr>
          <p:cNvPr id="17" name="Text 15"/>
          <p:cNvSpPr/>
          <p:nvPr/>
        </p:nvSpPr>
        <p:spPr>
          <a:xfrm>
            <a:off x="7470822" y="3273882"/>
            <a:ext cx="1131682" cy="239916"/>
          </a:xfrm>
          <a:prstGeom prst="roundRect">
            <a:avLst>
              <a:gd name="adj" fmla="val 3966169"/>
            </a:avLst>
          </a:prstGeom>
          <a:solidFill>
            <a:srgbClr val="D4F1ED"/>
          </a:solidFill>
          <a:ln/>
        </p:spPr>
        <p:txBody>
          <a:bodyPr wrap="square" rtlCol="0" anchor="ctr"/>
          <a:lstStyle/>
          <a:p>
            <a:pPr marL="0" indent="0">
              <a:buNone/>
            </a:pPr>
            <a:endParaRPr lang="en-US" dirty="0"/>
          </a:p>
        </p:txBody>
      </p:sp>
      <p:sp>
        <p:nvSpPr>
          <p:cNvPr id="18" name="Text 16"/>
          <p:cNvSpPr/>
          <p:nvPr/>
        </p:nvSpPr>
        <p:spPr>
          <a:xfrm>
            <a:off x="7579407" y="3343833"/>
            <a:ext cx="771637" cy="128016"/>
          </a:xfrm>
          <a:prstGeom prst="rect">
            <a:avLst/>
          </a:prstGeom>
          <a:noFill/>
          <a:ln/>
        </p:spPr>
        <p:txBody>
          <a:bodyPr wrap="none" lIns="0" tIns="0" rIns="0" bIns="0" rtlCol="0" anchor="t"/>
          <a:lstStyle/>
          <a:p>
            <a:pPr marL="0" indent="0" algn="l">
              <a:lnSpc>
                <a:spcPts val="1013"/>
              </a:lnSpc>
              <a:buNone/>
            </a:pPr>
            <a:r>
              <a:rPr lang="en-US" sz="675" b="1" dirty="0">
                <a:solidFill>
                  <a:srgbClr val="2A9D8F"/>
                </a:solidFill>
                <a:latin typeface="Carlito" pitchFamily="34" charset="0"/>
                <a:ea typeface="Carlito" pitchFamily="34" charset="-122"/>
                <a:cs typeface="Carlito" pitchFamily="34" charset="-120"/>
              </a:rPr>
              <a:t>از ساده تا پیچیده</a:t>
            </a:r>
            <a:endParaRPr lang="en-US" sz="675" dirty="0"/>
          </a:p>
        </p:txBody>
      </p:sp>
      <p:sp>
        <p:nvSpPr>
          <p:cNvPr id="19" name="Text 17"/>
          <p:cNvSpPr/>
          <p:nvPr/>
        </p:nvSpPr>
        <p:spPr>
          <a:xfrm>
            <a:off x="8393906" y="3343833"/>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3237347" y="1308646"/>
            <a:ext cx="2669418" cy="3474095"/>
          </a:xfrm>
          <a:prstGeom prst="roundRect">
            <a:avLst>
              <a:gd name="adj" fmla="val 6423"/>
            </a:avLst>
          </a:prstGeom>
          <a:solidFill>
            <a:srgbClr val="FFFFFF"/>
          </a:solidFill>
          <a:ln w="7144">
            <a:solidFill>
              <a:srgbClr val="D8E3EC"/>
            </a:solidFill>
            <a:prstDash val="solid"/>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21" name="Text 19"/>
          <p:cNvSpPr/>
          <p:nvPr/>
        </p:nvSpPr>
        <p:spPr>
          <a:xfrm>
            <a:off x="3398081" y="4029075"/>
            <a:ext cx="808958" cy="578644"/>
          </a:xfrm>
          <a:prstGeom prst="rect">
            <a:avLst/>
          </a:prstGeom>
          <a:noFill/>
          <a:ln/>
        </p:spPr>
        <p:txBody>
          <a:bodyPr wrap="none" lIns="0" tIns="0" rIns="0" bIns="0" rtlCol="0" anchor="t"/>
          <a:lstStyle/>
          <a:p>
            <a:pPr marL="0" indent="0" algn="l">
              <a:lnSpc>
                <a:spcPts val="7313"/>
              </a:lnSpc>
              <a:buNone/>
            </a:pPr>
            <a:r>
              <a:rPr lang="en-US" sz="7313" dirty="0">
                <a:solidFill>
                  <a:srgbClr val="1B4965">
                    <a:alpha val="5000"/>
                  </a:srgbClr>
                </a:solidFill>
                <a:latin typeface="Carlito" pitchFamily="34" charset="0"/>
                <a:ea typeface="Carlito" pitchFamily="34" charset="-122"/>
                <a:cs typeface="Carlito" pitchFamily="34" charset="-120"/>
              </a:rPr>
              <a:t>۲</a:t>
            </a:r>
            <a:endParaRPr lang="en-US" sz="7313" dirty="0"/>
          </a:p>
        </p:txBody>
      </p:sp>
      <p:sp>
        <p:nvSpPr>
          <p:cNvPr id="22" name="Text 20"/>
          <p:cNvSpPr/>
          <p:nvPr/>
        </p:nvSpPr>
        <p:spPr>
          <a:xfrm>
            <a:off x="5288831" y="1483668"/>
            <a:ext cx="457200" cy="457200"/>
          </a:xfrm>
          <a:prstGeom prst="roundRect">
            <a:avLst>
              <a:gd name="adj" fmla="val 33333"/>
            </a:avLst>
          </a:prstGeom>
          <a:solidFill>
            <a:srgbClr val="CDE7F0"/>
          </a:solidFill>
          <a:ln/>
        </p:spPr>
        <p:txBody>
          <a:bodyPr wrap="square" rtlCol="0" anchor="ctr"/>
          <a:lstStyle/>
          <a:p>
            <a:pPr marL="0" indent="0">
              <a:buNone/>
            </a:pPr>
            <a:endParaRPr lang="en-US" dirty="0"/>
          </a:p>
        </p:txBody>
      </p:sp>
      <p:sp>
        <p:nvSpPr>
          <p:cNvPr id="23" name="Text 21"/>
          <p:cNvSpPr/>
          <p:nvPr/>
        </p:nvSpPr>
        <p:spPr>
          <a:xfrm>
            <a:off x="5330979" y="1525816"/>
            <a:ext cx="372904" cy="372904"/>
          </a:xfrm>
          <a:prstGeom prst="rect">
            <a:avLst/>
          </a:prstGeom>
          <a:noFill/>
          <a:ln/>
        </p:spPr>
        <p:txBody>
          <a:bodyPr wrap="none" lIns="0" tIns="0" rIns="0" bIns="0" rtlCol="0" anchor="ctr"/>
          <a:lstStyle/>
          <a:p>
            <a:pPr marL="0" indent="0" algn="ctr">
              <a:buNone/>
            </a:pPr>
            <a:r>
              <a:rPr lang="en-US" sz="2531" dirty="0">
                <a:solidFill>
                  <a:srgbClr val="1B4965"/>
                </a:solidFill>
                <a:latin typeface="Segoe UI Symbol" pitchFamily="34" charset="0"/>
                <a:ea typeface="Segoe UI Symbol" pitchFamily="34" charset="-122"/>
                <a:cs typeface="Segoe UI Symbol" pitchFamily="34" charset="-120"/>
              </a:rPr>
              <a:t>✦</a:t>
            </a:r>
            <a:endParaRPr lang="en-US" sz="2531" dirty="0"/>
          </a:p>
        </p:txBody>
      </p:sp>
      <p:sp>
        <p:nvSpPr>
          <p:cNvPr id="24" name="Text 22"/>
          <p:cNvSpPr/>
          <p:nvPr/>
        </p:nvSpPr>
        <p:spPr>
          <a:xfrm>
            <a:off x="3398081" y="2040880"/>
            <a:ext cx="2347950"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1B4965"/>
                </a:solidFill>
                <a:latin typeface="Carlito" pitchFamily="34" charset="0"/>
                <a:ea typeface="Carlito" pitchFamily="34" charset="-122"/>
                <a:cs typeface="Carlito" pitchFamily="34" charset="-120"/>
              </a:rPr>
              <a:t>مؤلفه ۲</a:t>
            </a:r>
            <a:endParaRPr lang="en-US" sz="800" dirty="0"/>
          </a:p>
        </p:txBody>
      </p:sp>
      <p:sp>
        <p:nvSpPr>
          <p:cNvPr id="25" name="Text 23"/>
          <p:cNvSpPr/>
          <p:nvPr/>
        </p:nvSpPr>
        <p:spPr>
          <a:xfrm>
            <a:off x="3398081" y="2198043"/>
            <a:ext cx="2347950" cy="230614"/>
          </a:xfrm>
          <a:prstGeom prst="rect">
            <a:avLst/>
          </a:prstGeom>
          <a:noFill/>
          <a:ln/>
        </p:spPr>
        <p:txBody>
          <a:bodyPr wrap="none" lIns="0" tIns="0" rIns="0" bIns="0" rtlCol="0" anchor="t"/>
          <a:lstStyle/>
          <a:p>
            <a:pPr marL="0" indent="0" algn="l">
              <a:lnSpc>
                <a:spcPts val="1682"/>
              </a:lnSpc>
              <a:buNone/>
            </a:pPr>
            <a:r>
              <a:rPr lang="en-US" sz="1463" b="1" dirty="0">
                <a:solidFill>
                  <a:srgbClr val="1B4965"/>
                </a:solidFill>
                <a:latin typeface="Carlito" pitchFamily="34" charset="0"/>
                <a:ea typeface="Carlito" pitchFamily="34" charset="-122"/>
                <a:cs typeface="Carlito" pitchFamily="34" charset="-120"/>
              </a:rPr>
              <a:t>نسبتاً پایدار</a:t>
            </a:r>
            <a:endParaRPr lang="en-US" sz="1463" dirty="0"/>
          </a:p>
        </p:txBody>
      </p:sp>
      <p:sp>
        <p:nvSpPr>
          <p:cNvPr id="26" name="Text 24"/>
          <p:cNvSpPr/>
          <p:nvPr/>
        </p:nvSpPr>
        <p:spPr>
          <a:xfrm>
            <a:off x="3398081" y="2511586"/>
            <a:ext cx="2347950" cy="747665"/>
          </a:xfrm>
          <a:prstGeom prst="rect">
            <a:avLst/>
          </a:prstGeom>
          <a:noFill/>
          <a:ln/>
        </p:spPr>
        <p:txBody>
          <a:bodyPr wrap="square" lIns="0" tIns="0" rIns="0" bIns="0" rtlCol="0" anchor="t">
            <a:normAutofit/>
          </a:bodyPr>
          <a:lstStyle/>
          <a:p>
            <a:pPr marL="0" indent="0" algn="l">
              <a:lnSpc>
                <a:spcPts val="1329"/>
              </a:lnSpc>
              <a:buNone/>
            </a:pPr>
            <a:r>
              <a:rPr lang="en-US" sz="800" dirty="0">
                <a:solidFill>
                  <a:srgbClr val="1A2733"/>
                </a:solidFill>
                <a:latin typeface="Carlito" pitchFamily="34" charset="0"/>
                <a:ea typeface="Carlito" pitchFamily="34" charset="-122"/>
                <a:cs typeface="Carlito" pitchFamily="34" charset="-120"/>
              </a:rPr>
              <a:t>تغییر باید نسبتاً پایدار باشد. تغییرات ناشی از عوامل انگیزشی، هیجانی، انطباق حسی، رشد و بلوغ یا خستگی به سرعت از بین می‌روند و یادگیری محسوب نمی‌شوند.</a:t>
            </a:r>
            <a:endParaRPr lang="en-US" sz="800" dirty="0"/>
          </a:p>
        </p:txBody>
      </p:sp>
      <p:sp>
        <p:nvSpPr>
          <p:cNvPr id="27" name="Text 25"/>
          <p:cNvSpPr/>
          <p:nvPr/>
        </p:nvSpPr>
        <p:spPr>
          <a:xfrm>
            <a:off x="4711102" y="3273882"/>
            <a:ext cx="1057788" cy="239916"/>
          </a:xfrm>
          <a:prstGeom prst="roundRect">
            <a:avLst>
              <a:gd name="adj" fmla="val 3966169"/>
            </a:avLst>
          </a:prstGeom>
          <a:solidFill>
            <a:srgbClr val="CDE7F0"/>
          </a:solidFill>
          <a:ln/>
        </p:spPr>
        <p:txBody>
          <a:bodyPr wrap="square" rtlCol="0" anchor="ctr"/>
          <a:lstStyle/>
          <a:p>
            <a:pPr marL="0" indent="0">
              <a:buNone/>
            </a:pPr>
            <a:endParaRPr lang="en-US" dirty="0"/>
          </a:p>
        </p:txBody>
      </p:sp>
      <p:sp>
        <p:nvSpPr>
          <p:cNvPr id="28" name="Text 26"/>
          <p:cNvSpPr/>
          <p:nvPr/>
        </p:nvSpPr>
        <p:spPr>
          <a:xfrm>
            <a:off x="4819687" y="3343833"/>
            <a:ext cx="697743" cy="128016"/>
          </a:xfrm>
          <a:prstGeom prst="rect">
            <a:avLst/>
          </a:prstGeom>
          <a:noFill/>
          <a:ln/>
        </p:spPr>
        <p:txBody>
          <a:bodyPr wrap="none" lIns="0" tIns="0" rIns="0" bIns="0" rtlCol="0" anchor="t"/>
          <a:lstStyle/>
          <a:p>
            <a:pPr marL="0" indent="0" algn="l">
              <a:lnSpc>
                <a:spcPts val="1013"/>
              </a:lnSpc>
              <a:buNone/>
            </a:pPr>
            <a:r>
              <a:rPr lang="en-US" sz="675" b="1" dirty="0">
                <a:solidFill>
                  <a:srgbClr val="1B4965"/>
                </a:solidFill>
                <a:latin typeface="Carlito" pitchFamily="34" charset="0"/>
                <a:ea typeface="Carlito" pitchFamily="34" charset="-122"/>
                <a:cs typeface="Carlito" pitchFamily="34" charset="-120"/>
              </a:rPr>
              <a:t>پایداری در زمان</a:t>
            </a:r>
            <a:endParaRPr lang="en-US" sz="675" dirty="0"/>
          </a:p>
        </p:txBody>
      </p:sp>
      <p:sp>
        <p:nvSpPr>
          <p:cNvPr id="29" name="Text 27"/>
          <p:cNvSpPr/>
          <p:nvPr/>
        </p:nvSpPr>
        <p:spPr>
          <a:xfrm>
            <a:off x="5560293" y="3343833"/>
            <a:ext cx="100013" cy="100013"/>
          </a:xfrm>
          <a:prstGeom prst="rect">
            <a:avLst/>
          </a:prstGeom>
          <a:noFill/>
          <a:ln/>
        </p:spPr>
        <p:txBody>
          <a:bodyPr wrap="none" lIns="0" tIns="0" rIns="0" bIns="0" rtlCol="0" anchor="ctr"/>
          <a:lstStyle/>
          <a:p>
            <a:pPr marL="0" indent="0" algn="ctr">
              <a:buNone/>
            </a:pPr>
            <a:r>
              <a:rPr lang="en-US" sz="984" dirty="0">
                <a:solidFill>
                  <a:srgbClr val="1B4965"/>
                </a:solidFill>
                <a:latin typeface="Segoe UI Symbol" pitchFamily="34" charset="0"/>
                <a:ea typeface="Segoe UI Symbol" pitchFamily="34" charset="-122"/>
                <a:cs typeface="Segoe UI Symbol" pitchFamily="34" charset="-120"/>
              </a:rPr>
              <a:t>◔</a:t>
            </a:r>
            <a:endParaRPr lang="en-US" sz="984" dirty="0"/>
          </a:p>
        </p:txBody>
      </p:sp>
      <p:sp>
        <p:nvSpPr>
          <p:cNvPr id="30" name="Text 28"/>
          <p:cNvSpPr/>
          <p:nvPr/>
        </p:nvSpPr>
        <p:spPr>
          <a:xfrm>
            <a:off x="403733" y="1308646"/>
            <a:ext cx="2669307" cy="3474095"/>
          </a:xfrm>
          <a:prstGeom prst="roundRect">
            <a:avLst>
              <a:gd name="adj" fmla="val 6423"/>
            </a:avLst>
          </a:prstGeom>
          <a:solidFill>
            <a:srgbClr val="FFFFFF"/>
          </a:solidFill>
          <a:ln w="7144">
            <a:solidFill>
              <a:srgbClr val="D8E3EC"/>
            </a:solidFill>
            <a:prstDash val="solid"/>
          </a:ln>
          <a:effectLst>
            <a:outerShdw blurRad="152400" dist="57150" dir="5400000" algn="bl" rotWithShape="0">
              <a:srgbClr val="1B4965">
                <a:alpha val="6000"/>
              </a:srgbClr>
            </a:outerShdw>
          </a:effectLst>
        </p:spPr>
        <p:txBody>
          <a:bodyPr wrap="square" rtlCol="0" anchor="ctr"/>
          <a:lstStyle/>
          <a:p>
            <a:pPr marL="0" indent="0">
              <a:buNone/>
            </a:pPr>
            <a:endParaRPr lang="en-US" dirty="0"/>
          </a:p>
        </p:txBody>
      </p:sp>
      <p:sp>
        <p:nvSpPr>
          <p:cNvPr id="31" name="Text 29"/>
          <p:cNvSpPr/>
          <p:nvPr/>
        </p:nvSpPr>
        <p:spPr>
          <a:xfrm>
            <a:off x="564468" y="4029075"/>
            <a:ext cx="808958" cy="578644"/>
          </a:xfrm>
          <a:prstGeom prst="rect">
            <a:avLst/>
          </a:prstGeom>
          <a:noFill/>
          <a:ln/>
        </p:spPr>
        <p:txBody>
          <a:bodyPr wrap="none" lIns="0" tIns="0" rIns="0" bIns="0" rtlCol="0" anchor="t"/>
          <a:lstStyle/>
          <a:p>
            <a:pPr marL="0" indent="0" algn="l">
              <a:lnSpc>
                <a:spcPts val="7313"/>
              </a:lnSpc>
              <a:buNone/>
            </a:pPr>
            <a:r>
              <a:rPr lang="en-US" sz="7313" dirty="0">
                <a:solidFill>
                  <a:srgbClr val="E76F51">
                    <a:alpha val="5000"/>
                  </a:srgbClr>
                </a:solidFill>
                <a:latin typeface="Carlito" pitchFamily="34" charset="0"/>
                <a:ea typeface="Carlito" pitchFamily="34" charset="-122"/>
                <a:cs typeface="Carlito" pitchFamily="34" charset="-120"/>
              </a:rPr>
              <a:t>۳</a:t>
            </a:r>
            <a:endParaRPr lang="en-US" sz="7313" dirty="0"/>
          </a:p>
        </p:txBody>
      </p:sp>
      <p:sp>
        <p:nvSpPr>
          <p:cNvPr id="32" name="Text 30"/>
          <p:cNvSpPr/>
          <p:nvPr/>
        </p:nvSpPr>
        <p:spPr>
          <a:xfrm>
            <a:off x="2455106" y="1483668"/>
            <a:ext cx="457200" cy="4572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33" name="Text 31"/>
          <p:cNvSpPr/>
          <p:nvPr/>
        </p:nvSpPr>
        <p:spPr>
          <a:xfrm>
            <a:off x="2497254" y="1525816"/>
            <a:ext cx="372904" cy="372904"/>
          </a:xfrm>
          <a:prstGeom prst="rect">
            <a:avLst/>
          </a:prstGeom>
          <a:noFill/>
          <a:ln/>
        </p:spPr>
        <p:txBody>
          <a:bodyPr wrap="none" lIns="0" tIns="0" rIns="0" bIns="0" rtlCol="0" anchor="ctr"/>
          <a:lstStyle/>
          <a:p>
            <a:pPr marL="0" indent="0" algn="ctr">
              <a:buNone/>
            </a:pPr>
            <a:r>
              <a:rPr lang="en-US" sz="2531" dirty="0">
                <a:solidFill>
                  <a:srgbClr val="E76F51"/>
                </a:solidFill>
                <a:latin typeface="Segoe UI Symbol" pitchFamily="34" charset="0"/>
                <a:ea typeface="Segoe UI Symbol" pitchFamily="34" charset="-122"/>
                <a:cs typeface="Segoe UI Symbol" pitchFamily="34" charset="-120"/>
              </a:rPr>
              <a:t>◯</a:t>
            </a:r>
            <a:endParaRPr lang="en-US" sz="2531" dirty="0"/>
          </a:p>
        </p:txBody>
      </p:sp>
      <p:sp>
        <p:nvSpPr>
          <p:cNvPr id="34" name="Text 32"/>
          <p:cNvSpPr/>
          <p:nvPr/>
        </p:nvSpPr>
        <p:spPr>
          <a:xfrm>
            <a:off x="564468" y="2040880"/>
            <a:ext cx="2347838" cy="129731"/>
          </a:xfrm>
          <a:prstGeom prst="rect">
            <a:avLst/>
          </a:prstGeom>
          <a:noFill/>
          <a:ln/>
        </p:spPr>
        <p:txBody>
          <a:bodyPr wrap="none" lIns="0" tIns="0" rIns="0" bIns="0" rtlCol="0" anchor="t">
            <a:normAutofit/>
          </a:bodyPr>
          <a:lstStyle/>
          <a:p>
            <a:pPr marL="0" indent="0" algn="l">
              <a:lnSpc>
                <a:spcPts val="1013"/>
              </a:lnSpc>
              <a:buNone/>
            </a:pPr>
            <a:r>
              <a:rPr lang="en-US" sz="800" b="1" kern="0" spc="84" dirty="0">
                <a:solidFill>
                  <a:srgbClr val="E76F51"/>
                </a:solidFill>
                <a:latin typeface="Carlito" pitchFamily="34" charset="0"/>
                <a:ea typeface="Carlito" pitchFamily="34" charset="-122"/>
                <a:cs typeface="Carlito" pitchFamily="34" charset="-120"/>
              </a:rPr>
              <a:t>مؤلفه ۳</a:t>
            </a:r>
            <a:endParaRPr lang="en-US" sz="800" dirty="0"/>
          </a:p>
        </p:txBody>
      </p:sp>
      <p:sp>
        <p:nvSpPr>
          <p:cNvPr id="35" name="Text 33"/>
          <p:cNvSpPr/>
          <p:nvPr/>
        </p:nvSpPr>
        <p:spPr>
          <a:xfrm>
            <a:off x="564468" y="2198043"/>
            <a:ext cx="2347838" cy="230614"/>
          </a:xfrm>
          <a:prstGeom prst="rect">
            <a:avLst/>
          </a:prstGeom>
          <a:noFill/>
          <a:ln/>
        </p:spPr>
        <p:txBody>
          <a:bodyPr wrap="none" lIns="0" tIns="0" rIns="0" bIns="0" rtlCol="0" anchor="t"/>
          <a:lstStyle/>
          <a:p>
            <a:pPr marL="0" indent="0" algn="l">
              <a:lnSpc>
                <a:spcPts val="1682"/>
              </a:lnSpc>
              <a:buNone/>
            </a:pPr>
            <a:r>
              <a:rPr lang="en-US" sz="1463" b="1" dirty="0">
                <a:solidFill>
                  <a:srgbClr val="1B4965"/>
                </a:solidFill>
                <a:latin typeface="Carlito" pitchFamily="34" charset="0"/>
                <a:ea typeface="Carlito" pitchFamily="34" charset="-122"/>
                <a:cs typeface="Carlito" pitchFamily="34" charset="-120"/>
              </a:rPr>
              <a:t>رفتار بالقوه</a:t>
            </a:r>
            <a:endParaRPr lang="en-US" sz="1463" dirty="0"/>
          </a:p>
        </p:txBody>
      </p:sp>
      <p:sp>
        <p:nvSpPr>
          <p:cNvPr id="36" name="Text 34"/>
          <p:cNvSpPr/>
          <p:nvPr/>
        </p:nvSpPr>
        <p:spPr>
          <a:xfrm>
            <a:off x="564468" y="2511586"/>
            <a:ext cx="2347838" cy="747665"/>
          </a:xfrm>
          <a:prstGeom prst="rect">
            <a:avLst/>
          </a:prstGeom>
          <a:noFill/>
          <a:ln/>
        </p:spPr>
        <p:txBody>
          <a:bodyPr wrap="square" lIns="0" tIns="0" rIns="0" bIns="0" rtlCol="0" anchor="t">
            <a:normAutofit/>
          </a:bodyPr>
          <a:lstStyle/>
          <a:p>
            <a:pPr marL="0" indent="0" algn="l">
              <a:lnSpc>
                <a:spcPts val="1329"/>
              </a:lnSpc>
              <a:buNone/>
            </a:pPr>
            <a:r>
              <a:rPr lang="en-US" sz="800" dirty="0">
                <a:solidFill>
                  <a:srgbClr val="1A2733"/>
                </a:solidFill>
                <a:latin typeface="Carlito" pitchFamily="34" charset="0"/>
                <a:ea typeface="Carlito" pitchFamily="34" charset="-122"/>
                <a:cs typeface="Carlito" pitchFamily="34" charset="-120"/>
              </a:rPr>
              <a:t>یادگیری یک نوع توانایی در فرد ایجاد می‌کند، نه صرفاً تغییر در رفتار ظاهری. گاهی این توانایی‌ها مدتی پنهان می‌مانند (رفتار بالقوه) و در زمان مناسب بروز می‌کنند.</a:t>
            </a:r>
            <a:endParaRPr lang="en-US" sz="800" dirty="0"/>
          </a:p>
        </p:txBody>
      </p:sp>
      <p:sp>
        <p:nvSpPr>
          <p:cNvPr id="37" name="Text 35"/>
          <p:cNvSpPr/>
          <p:nvPr/>
        </p:nvSpPr>
        <p:spPr>
          <a:xfrm>
            <a:off x="1977390" y="3273882"/>
            <a:ext cx="957776" cy="239916"/>
          </a:xfrm>
          <a:prstGeom prst="roundRect">
            <a:avLst>
              <a:gd name="adj" fmla="val 3966169"/>
            </a:avLst>
          </a:prstGeom>
          <a:solidFill>
            <a:srgbClr val="FCE4DD"/>
          </a:solidFill>
          <a:ln/>
        </p:spPr>
        <p:txBody>
          <a:bodyPr wrap="square" rtlCol="0" anchor="ctr"/>
          <a:lstStyle/>
          <a:p>
            <a:pPr marL="0" indent="0">
              <a:buNone/>
            </a:pPr>
            <a:endParaRPr lang="en-US" dirty="0"/>
          </a:p>
        </p:txBody>
      </p:sp>
      <p:sp>
        <p:nvSpPr>
          <p:cNvPr id="38" name="Text 36"/>
          <p:cNvSpPr/>
          <p:nvPr/>
        </p:nvSpPr>
        <p:spPr>
          <a:xfrm>
            <a:off x="2085975" y="3343833"/>
            <a:ext cx="597731" cy="128016"/>
          </a:xfrm>
          <a:prstGeom prst="rect">
            <a:avLst/>
          </a:prstGeom>
          <a:noFill/>
          <a:ln/>
        </p:spPr>
        <p:txBody>
          <a:bodyPr wrap="none" lIns="0" tIns="0" rIns="0" bIns="0" rtlCol="0" anchor="t"/>
          <a:lstStyle/>
          <a:p>
            <a:pPr marL="0" indent="0" algn="l">
              <a:lnSpc>
                <a:spcPts val="1013"/>
              </a:lnSpc>
              <a:buNone/>
            </a:pPr>
            <a:r>
              <a:rPr lang="en-US" sz="675" b="1" dirty="0">
                <a:solidFill>
                  <a:srgbClr val="E76F51"/>
                </a:solidFill>
                <a:latin typeface="Carlito" pitchFamily="34" charset="0"/>
                <a:ea typeface="Carlito" pitchFamily="34" charset="-122"/>
                <a:cs typeface="Carlito" pitchFamily="34" charset="-120"/>
              </a:rPr>
              <a:t>پنهان تا بروز</a:t>
            </a:r>
            <a:endParaRPr lang="en-US" sz="675" dirty="0"/>
          </a:p>
        </p:txBody>
      </p:sp>
      <p:sp>
        <p:nvSpPr>
          <p:cNvPr id="39" name="Text 37"/>
          <p:cNvSpPr/>
          <p:nvPr/>
        </p:nvSpPr>
        <p:spPr>
          <a:xfrm>
            <a:off x="2726568" y="3343833"/>
            <a:ext cx="100013" cy="100013"/>
          </a:xfrm>
          <a:prstGeom prst="rect">
            <a:avLst/>
          </a:prstGeom>
          <a:noFill/>
          <a:ln/>
        </p:spPr>
        <p:txBody>
          <a:bodyPr wrap="none" lIns="0" tIns="0" rIns="0" bIns="0" rtlCol="0" anchor="ctr"/>
          <a:lstStyle/>
          <a:p>
            <a:pPr marL="0" indent="0" algn="ctr">
              <a:buNone/>
            </a:pPr>
            <a:r>
              <a:rPr lang="en-US" sz="984" dirty="0">
                <a:solidFill>
                  <a:srgbClr val="E76F51"/>
                </a:solidFill>
                <a:latin typeface="Segoe UI Symbol" pitchFamily="34" charset="0"/>
                <a:ea typeface="Segoe UI Symbol" pitchFamily="34" charset="-122"/>
                <a:cs typeface="Segoe UI Symbol" pitchFamily="34" charset="-120"/>
              </a:rPr>
              <a:t>⊘</a:t>
            </a:r>
            <a:endParaRPr lang="en-US" sz="984" dirty="0"/>
          </a:p>
        </p:txBody>
      </p:sp>
      <p:sp>
        <p:nvSpPr>
          <p:cNvPr id="40" name="Shape 38"/>
          <p:cNvSpPr/>
          <p:nvPr/>
        </p:nvSpPr>
        <p:spPr>
          <a:xfrm>
            <a:off x="457200" y="4825603"/>
            <a:ext cx="8229600" cy="0"/>
          </a:xfrm>
          <a:prstGeom prst="line">
            <a:avLst/>
          </a:prstGeom>
          <a:noFill/>
          <a:ln w="7144">
            <a:solidFill>
              <a:srgbClr val="D8E3EC"/>
            </a:solidFill>
            <a:prstDash val="solid"/>
          </a:ln>
        </p:spPr>
      </p:sp>
      <p:sp>
        <p:nvSpPr>
          <p:cNvPr id="41" name="Text 39"/>
          <p:cNvSpPr/>
          <p:nvPr/>
        </p:nvSpPr>
        <p:spPr>
          <a:xfrm>
            <a:off x="7134151" y="4886325"/>
            <a:ext cx="1645808" cy="128588"/>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آموزش و یادگیری در پرستاری — بخش ۲</a:t>
            </a:r>
            <a:endParaRPr lang="en-US" sz="800" dirty="0"/>
          </a:p>
        </p:txBody>
      </p:sp>
      <p:sp>
        <p:nvSpPr>
          <p:cNvPr id="42" name="Text 40"/>
          <p:cNvSpPr/>
          <p:nvPr/>
        </p:nvSpPr>
        <p:spPr>
          <a:xfrm>
            <a:off x="457200" y="4886325"/>
            <a:ext cx="6662663"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۰۸ از ۲۲</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2235994" y="400050"/>
            <a:ext cx="6179344"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یادگیری: فرآیند مستمر و مبتنی بر تجربه</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۰۹ / ۲۲</a:t>
            </a:r>
            <a:endParaRPr lang="en-US" sz="1013" dirty="0"/>
          </a:p>
        </p:txBody>
      </p:sp>
      <p:sp>
        <p:nvSpPr>
          <p:cNvPr id="7" name="Text 5"/>
          <p:cNvSpPr/>
          <p:nvPr/>
        </p:nvSpPr>
        <p:spPr>
          <a:xfrm>
            <a:off x="3957638" y="1074353"/>
            <a:ext cx="4729163" cy="234471"/>
          </a:xfrm>
          <a:prstGeom prst="rect">
            <a:avLst/>
          </a:prstGeom>
          <a:noFill/>
          <a:ln/>
        </p:spPr>
        <p:txBody>
          <a:bodyPr wrap="square" lIns="0" tIns="0" rIns="0" bIns="0" rtlCol="0" anchor="t"/>
          <a:lstStyle/>
          <a:p>
            <a:pPr marL="0" indent="0" algn="l">
              <a:lnSpc>
                <a:spcPts val="1710"/>
              </a:lnSpc>
              <a:buNone/>
            </a:pPr>
            <a:r>
              <a:rPr lang="en-US" sz="900" dirty="0">
                <a:solidFill>
                  <a:srgbClr val="5A6B7B"/>
                </a:solidFill>
                <a:latin typeface="Carlito" pitchFamily="34" charset="0"/>
                <a:ea typeface="Carlito" pitchFamily="34" charset="-122"/>
                <a:cs typeface="Carlito" pitchFamily="34" charset="-120"/>
              </a:rPr>
              <a:t>دو ویژگی بنیادی یادگیری که آن را از سایر تغییرات رفتاری متمایز می‌کند:</a:t>
            </a:r>
            <a:endParaRPr lang="en-US" sz="900" dirty="0"/>
          </a:p>
        </p:txBody>
      </p:sp>
      <p:sp>
        <p:nvSpPr>
          <p:cNvPr id="8" name="Text 6"/>
          <p:cNvSpPr/>
          <p:nvPr/>
        </p:nvSpPr>
        <p:spPr>
          <a:xfrm>
            <a:off x="3957638" y="1405756"/>
            <a:ext cx="4729163" cy="1680790"/>
          </a:xfrm>
          <a:prstGeom prst="roundRect">
            <a:avLst>
              <a:gd name="adj" fmla="val 9067"/>
            </a:avLst>
          </a:prstGeom>
          <a:solidFill>
            <a:srgbClr val="FFFFFF"/>
          </a:solidFill>
          <a:ln/>
          <a:effectLst>
            <a:outerShdw blurRad="57150" dist="19050" dir="5400000" algn="bl" rotWithShape="0">
              <a:srgbClr val="1B4965">
                <a:alpha val="4000"/>
              </a:srgbClr>
            </a:outerShdw>
          </a:effectLst>
        </p:spPr>
        <p:txBody>
          <a:bodyPr wrap="square" rtlCol="0" anchor="ctr"/>
          <a:lstStyle/>
          <a:p>
            <a:pPr marL="0" indent="0">
              <a:buNone/>
            </a:pPr>
            <a:endParaRPr lang="en-US" dirty="0"/>
          </a:p>
        </p:txBody>
      </p:sp>
      <p:sp>
        <p:nvSpPr>
          <p:cNvPr id="9" name="Shape 7"/>
          <p:cNvSpPr/>
          <p:nvPr/>
        </p:nvSpPr>
        <p:spPr>
          <a:xfrm>
            <a:off x="3957638" y="1409328"/>
            <a:ext cx="4729163" cy="0"/>
          </a:xfrm>
          <a:prstGeom prst="line">
            <a:avLst/>
          </a:prstGeom>
          <a:noFill/>
          <a:ln w="7144">
            <a:solidFill>
              <a:srgbClr val="D8E3EC"/>
            </a:solidFill>
            <a:prstDash val="solid"/>
          </a:ln>
        </p:spPr>
      </p:sp>
      <p:sp>
        <p:nvSpPr>
          <p:cNvPr id="10" name="Shape 8"/>
          <p:cNvSpPr/>
          <p:nvPr/>
        </p:nvSpPr>
        <p:spPr>
          <a:xfrm>
            <a:off x="8668941" y="1405756"/>
            <a:ext cx="0" cy="1680790"/>
          </a:xfrm>
          <a:prstGeom prst="line">
            <a:avLst/>
          </a:prstGeom>
          <a:noFill/>
          <a:ln w="35719">
            <a:solidFill>
              <a:srgbClr val="1B4965"/>
            </a:solidFill>
            <a:prstDash val="solid"/>
          </a:ln>
        </p:spPr>
      </p:sp>
      <p:sp>
        <p:nvSpPr>
          <p:cNvPr id="11" name="Shape 9"/>
          <p:cNvSpPr/>
          <p:nvPr/>
        </p:nvSpPr>
        <p:spPr>
          <a:xfrm>
            <a:off x="3957638" y="3082975"/>
            <a:ext cx="4729163" cy="0"/>
          </a:xfrm>
          <a:prstGeom prst="line">
            <a:avLst/>
          </a:prstGeom>
          <a:noFill/>
          <a:ln w="7144">
            <a:solidFill>
              <a:srgbClr val="D8E3EC"/>
            </a:solidFill>
            <a:prstDash val="solid"/>
          </a:ln>
        </p:spPr>
      </p:sp>
      <p:sp>
        <p:nvSpPr>
          <p:cNvPr id="12" name="Shape 10"/>
          <p:cNvSpPr/>
          <p:nvPr/>
        </p:nvSpPr>
        <p:spPr>
          <a:xfrm>
            <a:off x="3961209" y="1405756"/>
            <a:ext cx="0" cy="1680790"/>
          </a:xfrm>
          <a:prstGeom prst="line">
            <a:avLst/>
          </a:prstGeom>
          <a:noFill/>
          <a:ln w="7144">
            <a:solidFill>
              <a:srgbClr val="D8E3EC"/>
            </a:solidFill>
            <a:prstDash val="solid"/>
          </a:ln>
        </p:spPr>
      </p:sp>
      <p:sp>
        <p:nvSpPr>
          <p:cNvPr id="13" name="Text 11"/>
          <p:cNvSpPr/>
          <p:nvPr/>
        </p:nvSpPr>
        <p:spPr>
          <a:xfrm>
            <a:off x="8136731" y="1577541"/>
            <a:ext cx="328613" cy="328613"/>
          </a:xfrm>
          <a:prstGeom prst="ellipse">
            <a:avLst/>
          </a:prstGeom>
          <a:solidFill>
            <a:srgbClr val="CDE7F0"/>
          </a:solidFill>
          <a:ln/>
        </p:spPr>
        <p:txBody>
          <a:bodyPr wrap="square" rtlCol="0" anchor="ctr"/>
          <a:lstStyle/>
          <a:p>
            <a:pPr marL="0" indent="0">
              <a:buNone/>
            </a:pPr>
            <a:endParaRPr lang="en-US" dirty="0"/>
          </a:p>
        </p:txBody>
      </p:sp>
      <p:sp>
        <p:nvSpPr>
          <p:cNvPr id="14" name="Text 12"/>
          <p:cNvSpPr/>
          <p:nvPr/>
        </p:nvSpPr>
        <p:spPr>
          <a:xfrm>
            <a:off x="8166378" y="1607187"/>
            <a:ext cx="269319" cy="269319"/>
          </a:xfrm>
          <a:prstGeom prst="rect">
            <a:avLst/>
          </a:prstGeom>
          <a:noFill/>
          <a:ln/>
        </p:spPr>
        <p:txBody>
          <a:bodyPr wrap="none" lIns="0" tIns="0" rIns="0" bIns="0" rtlCol="0" anchor="ctr"/>
          <a:lstStyle/>
          <a:p>
            <a:pPr marL="0" indent="0" algn="ctr">
              <a:buNone/>
            </a:pPr>
            <a:r>
              <a:rPr lang="en-US" sz="1828" dirty="0">
                <a:solidFill>
                  <a:srgbClr val="1B4965"/>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6985695" y="1570062"/>
            <a:ext cx="1401051" cy="111871"/>
          </a:xfrm>
          <a:prstGeom prst="rect">
            <a:avLst/>
          </a:prstGeom>
          <a:noFill/>
          <a:ln/>
        </p:spPr>
        <p:txBody>
          <a:bodyPr wrap="none" lIns="0" tIns="0" rIns="0" bIns="0" rtlCol="0" anchor="t">
            <a:normAutofit/>
          </a:bodyPr>
          <a:lstStyle/>
          <a:p>
            <a:pPr marL="0" indent="0" algn="l">
              <a:lnSpc>
                <a:spcPts val="1097"/>
              </a:lnSpc>
              <a:buNone/>
            </a:pPr>
            <a:r>
              <a:rPr lang="en-US" sz="800" kern="0" spc="28" dirty="0">
                <a:solidFill>
                  <a:srgbClr val="5A6B7B"/>
                </a:solidFill>
                <a:latin typeface="Carlito" pitchFamily="34" charset="0"/>
                <a:ea typeface="Carlito" pitchFamily="34" charset="-122"/>
                <a:cs typeface="Carlito" pitchFamily="34" charset="-120"/>
              </a:rPr>
              <a:t>کارت ۱</a:t>
            </a:r>
            <a:endParaRPr lang="en-US" sz="800" dirty="0"/>
          </a:p>
        </p:txBody>
      </p:sp>
      <p:sp>
        <p:nvSpPr>
          <p:cNvPr id="16" name="Text 14"/>
          <p:cNvSpPr/>
          <p:nvPr/>
        </p:nvSpPr>
        <p:spPr>
          <a:xfrm>
            <a:off x="6985695" y="1709365"/>
            <a:ext cx="1248545" cy="220608"/>
          </a:xfrm>
          <a:prstGeom prst="rect">
            <a:avLst/>
          </a:prstGeom>
          <a:noFill/>
          <a:ln/>
        </p:spPr>
        <p:txBody>
          <a:bodyPr wrap="none" lIns="0" tIns="0" rIns="0" bIns="0" rtlCol="0" anchor="t"/>
          <a:lstStyle/>
          <a:p>
            <a:pPr marL="0" indent="0" algn="l">
              <a:lnSpc>
                <a:spcPts val="1609"/>
              </a:lnSpc>
              <a:buNone/>
            </a:pPr>
            <a:r>
              <a:rPr lang="en-US" sz="1238" b="1" dirty="0">
                <a:solidFill>
                  <a:srgbClr val="1B4965"/>
                </a:solidFill>
                <a:latin typeface="Carlito" pitchFamily="34" charset="0"/>
                <a:ea typeface="Carlito" pitchFamily="34" charset="-122"/>
                <a:cs typeface="Carlito" pitchFamily="34" charset="-120"/>
              </a:rPr>
              <a:t>فرآیند مستمر</a:t>
            </a:r>
            <a:endParaRPr lang="en-US" sz="1238" dirty="0"/>
          </a:p>
        </p:txBody>
      </p:sp>
      <p:sp>
        <p:nvSpPr>
          <p:cNvPr id="17" name="Text 15"/>
          <p:cNvSpPr/>
          <p:nvPr/>
        </p:nvSpPr>
        <p:spPr>
          <a:xfrm>
            <a:off x="4150519" y="1999357"/>
            <a:ext cx="4314825" cy="922883"/>
          </a:xfrm>
          <a:prstGeom prst="rect">
            <a:avLst/>
          </a:prstGeom>
          <a:noFill/>
          <a:ln/>
        </p:spPr>
        <p:txBody>
          <a:bodyPr wrap="square" lIns="0" tIns="0" rIns="0" bIns="0" rtlCol="0" anchor="t"/>
          <a:lstStyle/>
          <a:p>
            <a:pPr marL="0" indent="0" algn="l">
              <a:lnSpc>
                <a:spcPts val="1817"/>
              </a:lnSpc>
              <a:buNone/>
            </a:pPr>
            <a:r>
              <a:rPr lang="en-US" sz="956" dirty="0">
                <a:solidFill>
                  <a:srgbClr val="1A2733"/>
                </a:solidFill>
                <a:latin typeface="Carlito" pitchFamily="34" charset="0"/>
                <a:ea typeface="Carlito" pitchFamily="34" charset="-122"/>
                <a:cs typeface="Carlito" pitchFamily="34" charset="-120"/>
              </a:rPr>
              <a:t>یادگیری یک فرآیند است؛ یعنی بر وقایع و روابط پویا، مستمر و پیوسته و در حال تغییر اطلاق می‌شود. یادگیری از طریق تعامل دائم فرد با محیط، همیشه و در همه جا به صورت پیوسته و مستمر صورت می‌گیرد. این ویژگی نشان می‌دهد آموزش یک رویداد یک‌باره نیست.</a:t>
            </a:r>
            <a:endParaRPr lang="en-US" sz="956" dirty="0"/>
          </a:p>
        </p:txBody>
      </p:sp>
      <p:sp>
        <p:nvSpPr>
          <p:cNvPr id="18" name="Text 16"/>
          <p:cNvSpPr/>
          <p:nvPr/>
        </p:nvSpPr>
        <p:spPr>
          <a:xfrm>
            <a:off x="3957638" y="3200846"/>
            <a:ext cx="4729163" cy="1680790"/>
          </a:xfrm>
          <a:prstGeom prst="roundRect">
            <a:avLst>
              <a:gd name="adj" fmla="val 9067"/>
            </a:avLst>
          </a:prstGeom>
          <a:solidFill>
            <a:srgbClr val="FFFFFF"/>
          </a:solidFill>
          <a:ln/>
          <a:effectLst>
            <a:outerShdw blurRad="57150" dist="19050" dir="5400000" algn="bl" rotWithShape="0">
              <a:srgbClr val="1B4965">
                <a:alpha val="4000"/>
              </a:srgbClr>
            </a:outerShdw>
          </a:effectLst>
        </p:spPr>
        <p:txBody>
          <a:bodyPr wrap="square" rtlCol="0" anchor="ctr"/>
          <a:lstStyle/>
          <a:p>
            <a:pPr marL="0" indent="0">
              <a:buNone/>
            </a:pPr>
            <a:endParaRPr lang="en-US" dirty="0"/>
          </a:p>
        </p:txBody>
      </p:sp>
      <p:sp>
        <p:nvSpPr>
          <p:cNvPr id="19" name="Shape 17"/>
          <p:cNvSpPr/>
          <p:nvPr/>
        </p:nvSpPr>
        <p:spPr>
          <a:xfrm>
            <a:off x="3957638" y="3204418"/>
            <a:ext cx="4729163" cy="0"/>
          </a:xfrm>
          <a:prstGeom prst="line">
            <a:avLst/>
          </a:prstGeom>
          <a:noFill/>
          <a:ln w="7144">
            <a:solidFill>
              <a:srgbClr val="D8E3EC"/>
            </a:solidFill>
            <a:prstDash val="solid"/>
          </a:ln>
        </p:spPr>
      </p:sp>
      <p:sp>
        <p:nvSpPr>
          <p:cNvPr id="20" name="Shape 18"/>
          <p:cNvSpPr/>
          <p:nvPr/>
        </p:nvSpPr>
        <p:spPr>
          <a:xfrm>
            <a:off x="8668941" y="3200846"/>
            <a:ext cx="0" cy="1680790"/>
          </a:xfrm>
          <a:prstGeom prst="line">
            <a:avLst/>
          </a:prstGeom>
          <a:noFill/>
          <a:ln w="35719">
            <a:solidFill>
              <a:srgbClr val="2A9D8F"/>
            </a:solidFill>
            <a:prstDash val="solid"/>
          </a:ln>
        </p:spPr>
      </p:sp>
      <p:sp>
        <p:nvSpPr>
          <p:cNvPr id="21" name="Shape 19"/>
          <p:cNvSpPr/>
          <p:nvPr/>
        </p:nvSpPr>
        <p:spPr>
          <a:xfrm>
            <a:off x="3957638" y="4878065"/>
            <a:ext cx="4729163" cy="0"/>
          </a:xfrm>
          <a:prstGeom prst="line">
            <a:avLst/>
          </a:prstGeom>
          <a:noFill/>
          <a:ln w="7144">
            <a:solidFill>
              <a:srgbClr val="D8E3EC"/>
            </a:solidFill>
            <a:prstDash val="solid"/>
          </a:ln>
        </p:spPr>
      </p:sp>
      <p:sp>
        <p:nvSpPr>
          <p:cNvPr id="22" name="Shape 20"/>
          <p:cNvSpPr/>
          <p:nvPr/>
        </p:nvSpPr>
        <p:spPr>
          <a:xfrm>
            <a:off x="3961209" y="3200846"/>
            <a:ext cx="0" cy="1680790"/>
          </a:xfrm>
          <a:prstGeom prst="line">
            <a:avLst/>
          </a:prstGeom>
          <a:noFill/>
          <a:ln w="7144">
            <a:solidFill>
              <a:srgbClr val="D8E3EC"/>
            </a:solidFill>
            <a:prstDash val="solid"/>
          </a:ln>
        </p:spPr>
      </p:sp>
      <p:sp>
        <p:nvSpPr>
          <p:cNvPr id="23" name="Text 21"/>
          <p:cNvSpPr/>
          <p:nvPr/>
        </p:nvSpPr>
        <p:spPr>
          <a:xfrm>
            <a:off x="8136731" y="3372631"/>
            <a:ext cx="328613" cy="328613"/>
          </a:xfrm>
          <a:prstGeom prst="ellipse">
            <a:avLst/>
          </a:prstGeom>
          <a:solidFill>
            <a:srgbClr val="D4F1ED"/>
          </a:solidFill>
          <a:ln/>
        </p:spPr>
        <p:txBody>
          <a:bodyPr wrap="square" rtlCol="0" anchor="ctr"/>
          <a:lstStyle/>
          <a:p>
            <a:pPr marL="0" indent="0">
              <a:buNone/>
            </a:pPr>
            <a:endParaRPr lang="en-US" dirty="0"/>
          </a:p>
        </p:txBody>
      </p:sp>
      <p:sp>
        <p:nvSpPr>
          <p:cNvPr id="24" name="Text 22"/>
          <p:cNvSpPr/>
          <p:nvPr/>
        </p:nvSpPr>
        <p:spPr>
          <a:xfrm>
            <a:off x="8166378" y="3402278"/>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6849182" y="3365153"/>
            <a:ext cx="1580587" cy="111871"/>
          </a:xfrm>
          <a:prstGeom prst="rect">
            <a:avLst/>
          </a:prstGeom>
          <a:noFill/>
          <a:ln/>
        </p:spPr>
        <p:txBody>
          <a:bodyPr wrap="none" lIns="0" tIns="0" rIns="0" bIns="0" rtlCol="0" anchor="t">
            <a:normAutofit/>
          </a:bodyPr>
          <a:lstStyle/>
          <a:p>
            <a:pPr marL="0" indent="0" algn="l">
              <a:lnSpc>
                <a:spcPts val="1097"/>
              </a:lnSpc>
              <a:buNone/>
            </a:pPr>
            <a:r>
              <a:rPr lang="en-US" sz="800" kern="0" spc="28" dirty="0">
                <a:solidFill>
                  <a:srgbClr val="5A6B7B"/>
                </a:solidFill>
                <a:latin typeface="Carlito" pitchFamily="34" charset="0"/>
                <a:ea typeface="Carlito" pitchFamily="34" charset="-122"/>
                <a:cs typeface="Carlito" pitchFamily="34" charset="-120"/>
              </a:rPr>
              <a:t>کارت ۲</a:t>
            </a:r>
            <a:endParaRPr lang="en-US" sz="800" dirty="0"/>
          </a:p>
        </p:txBody>
      </p:sp>
      <p:sp>
        <p:nvSpPr>
          <p:cNvPr id="26" name="Text 24"/>
          <p:cNvSpPr/>
          <p:nvPr/>
        </p:nvSpPr>
        <p:spPr>
          <a:xfrm>
            <a:off x="6849182" y="3504456"/>
            <a:ext cx="1408538" cy="220608"/>
          </a:xfrm>
          <a:prstGeom prst="rect">
            <a:avLst/>
          </a:prstGeom>
          <a:noFill/>
          <a:ln/>
        </p:spPr>
        <p:txBody>
          <a:bodyPr wrap="none" lIns="0" tIns="0" rIns="0" bIns="0" rtlCol="0" anchor="t"/>
          <a:lstStyle/>
          <a:p>
            <a:pPr marL="0" indent="0" algn="l">
              <a:lnSpc>
                <a:spcPts val="1609"/>
              </a:lnSpc>
              <a:buNone/>
            </a:pPr>
            <a:r>
              <a:rPr lang="en-US" sz="1238" b="1" dirty="0">
                <a:solidFill>
                  <a:srgbClr val="1B4965"/>
                </a:solidFill>
                <a:latin typeface="Carlito" pitchFamily="34" charset="0"/>
                <a:ea typeface="Carlito" pitchFamily="34" charset="-122"/>
                <a:cs typeface="Carlito" pitchFamily="34" charset="-120"/>
              </a:rPr>
              <a:t>مبتنی بر تجربه</a:t>
            </a:r>
            <a:endParaRPr lang="en-US" sz="1238" dirty="0"/>
          </a:p>
        </p:txBody>
      </p:sp>
      <p:sp>
        <p:nvSpPr>
          <p:cNvPr id="27" name="Text 25"/>
          <p:cNvSpPr/>
          <p:nvPr/>
        </p:nvSpPr>
        <p:spPr>
          <a:xfrm>
            <a:off x="4150519" y="3794447"/>
            <a:ext cx="4314825" cy="922883"/>
          </a:xfrm>
          <a:prstGeom prst="rect">
            <a:avLst/>
          </a:prstGeom>
          <a:noFill/>
          <a:ln/>
        </p:spPr>
        <p:txBody>
          <a:bodyPr wrap="square" lIns="0" tIns="0" rIns="0" bIns="0" rtlCol="0" anchor="t"/>
          <a:lstStyle/>
          <a:p>
            <a:pPr marL="0" indent="0" algn="l">
              <a:lnSpc>
                <a:spcPts val="1817"/>
              </a:lnSpc>
              <a:buNone/>
            </a:pPr>
            <a:r>
              <a:rPr lang="en-US" sz="956" dirty="0">
                <a:solidFill>
                  <a:srgbClr val="1A2733"/>
                </a:solidFill>
                <a:latin typeface="Carlito" pitchFamily="34" charset="0"/>
                <a:ea typeface="Carlito" pitchFamily="34" charset="-122"/>
                <a:cs typeface="Carlito" pitchFamily="34" charset="-120"/>
              </a:rPr>
              <a:t>تغییر یادگیری باید در اثر تجربه باشد، نه عوامل فیزیولوژیک. تجربه شامل محرک‌های بیرونی (مطالعه، گوش دادن به سخنرانی، زمین خوردن کودک) و محرک‌های درونی (فکر کردن درباره یک مطلب) است. عوامل غیرتجربی مانند مصرف دارو، بلوغ، پیری یا ورزش کردن، یادگیری محسوب نمی‌شوند.</a:t>
            </a:r>
            <a:endParaRPr lang="en-US" sz="956" dirty="0"/>
          </a:p>
        </p:txBody>
      </p:sp>
      <p:pic>
        <p:nvPicPr>
          <p:cNvPr id="28" name="Image 0" descr="/tmp/h2p-fit-1791663262044-2b5fzh.png"/>
          <p:cNvPicPr>
            <a:picLocks noChangeAspect="1"/>
          </p:cNvPicPr>
          <p:nvPr/>
        </p:nvPicPr>
        <p:blipFill>
          <a:blip r:embed="rId3"/>
          <a:stretch>
            <a:fillRect/>
          </a:stretch>
        </p:blipFill>
        <p:spPr>
          <a:xfrm>
            <a:off x="457200" y="1074353"/>
            <a:ext cx="3328988" cy="3271503"/>
          </a:xfrm>
          <a:prstGeom prst="rect">
            <a:avLst/>
          </a:prstGeom>
        </p:spPr>
      </p:pic>
      <p:pic>
        <p:nvPicPr>
          <p:cNvPr id="29" name="Image 1" descr="preencoded.png"/>
          <p:cNvPicPr>
            <a:picLocks noChangeAspect="1"/>
          </p:cNvPicPr>
          <p:nvPr/>
        </p:nvPicPr>
        <p:blipFill>
          <a:blip r:embed="rId4"/>
          <a:stretch>
            <a:fillRect/>
          </a:stretch>
        </p:blipFill>
        <p:spPr>
          <a:xfrm>
            <a:off x="457200" y="3602906"/>
            <a:ext cx="3328988" cy="742950"/>
          </a:xfrm>
          <a:prstGeom prst="rect">
            <a:avLst/>
          </a:prstGeom>
        </p:spPr>
      </p:pic>
      <p:sp>
        <p:nvSpPr>
          <p:cNvPr id="30" name="Text 26"/>
          <p:cNvSpPr/>
          <p:nvPr/>
        </p:nvSpPr>
        <p:spPr>
          <a:xfrm>
            <a:off x="3514725" y="3745781"/>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31" name="Text 27"/>
          <p:cNvSpPr/>
          <p:nvPr/>
        </p:nvSpPr>
        <p:spPr>
          <a:xfrm>
            <a:off x="2883619" y="3745781"/>
            <a:ext cx="737623" cy="164592"/>
          </a:xfrm>
          <a:prstGeom prst="rect">
            <a:avLst/>
          </a:prstGeom>
          <a:noFill/>
          <a:ln/>
        </p:spPr>
        <p:txBody>
          <a:bodyPr wrap="none" lIns="0" tIns="0" rIns="0" bIns="0" rtlCol="0" anchor="t"/>
          <a:lstStyle/>
          <a:p>
            <a:pPr marL="0" indent="0" algn="l">
              <a:lnSpc>
                <a:spcPts val="1013"/>
              </a:lnSpc>
              <a:buNone/>
            </a:pPr>
            <a:r>
              <a:rPr lang="en-US" sz="800" b="1" kern="0" spc="28" dirty="0">
                <a:solidFill>
                  <a:srgbClr val="2A9D8F"/>
                </a:solidFill>
                <a:latin typeface="Carlito" pitchFamily="34" charset="0"/>
                <a:ea typeface="Carlito" pitchFamily="34" charset="-122"/>
                <a:cs typeface="Carlito" pitchFamily="34" charset="-120"/>
              </a:rPr>
              <a:t>تصویر مفهومی</a:t>
            </a:r>
            <a:endParaRPr lang="en-US" sz="800" dirty="0"/>
          </a:p>
        </p:txBody>
      </p:sp>
      <p:sp>
        <p:nvSpPr>
          <p:cNvPr id="32" name="Text 28"/>
          <p:cNvSpPr/>
          <p:nvPr/>
        </p:nvSpPr>
        <p:spPr>
          <a:xfrm>
            <a:off x="600075" y="3902943"/>
            <a:ext cx="3043238" cy="300038"/>
          </a:xfrm>
          <a:prstGeom prst="rect">
            <a:avLst/>
          </a:prstGeom>
          <a:noFill/>
          <a:ln/>
        </p:spPr>
        <p:txBody>
          <a:bodyPr wrap="square" lIns="0" tIns="0" rIns="0" bIns="0" rtlCol="0" anchor="t"/>
          <a:lstStyle/>
          <a:p>
            <a:pPr marL="0" indent="0" algn="l">
              <a:lnSpc>
                <a:spcPts val="1181"/>
              </a:lnSpc>
              <a:buNone/>
            </a:pPr>
            <a:r>
              <a:rPr lang="en-US" sz="800" dirty="0">
                <a:solidFill>
                  <a:srgbClr val="FFFFFF"/>
                </a:solidFill>
                <a:latin typeface="Carlito" pitchFamily="34" charset="0"/>
                <a:ea typeface="Carlito" pitchFamily="34" charset="-122"/>
                <a:cs typeface="Carlito" pitchFamily="34" charset="-120"/>
              </a:rPr>
              <a:t>مغز پازلی — نماد یکپارچگی اطلاعات و پیوستگی فرآیند یادگیری در ساحت ذهن</a:t>
            </a:r>
            <a:endParaRPr lang="en-US" sz="800" dirty="0"/>
          </a:p>
        </p:txBody>
      </p:sp>
      <p:sp>
        <p:nvSpPr>
          <p:cNvPr id="33" name="Text 29"/>
          <p:cNvSpPr/>
          <p:nvPr/>
        </p:nvSpPr>
        <p:spPr>
          <a:xfrm>
            <a:off x="457200" y="4431581"/>
            <a:ext cx="3328988" cy="450056"/>
          </a:xfrm>
          <a:prstGeom prst="roundRect">
            <a:avLst>
              <a:gd name="adj" fmla="val 29630"/>
            </a:avLst>
          </a:prstGeom>
          <a:solidFill>
            <a:srgbClr val="CDE7F0"/>
          </a:solidFill>
          <a:ln/>
        </p:spPr>
        <p:txBody>
          <a:bodyPr wrap="square" rtlCol="0" anchor="ctr"/>
          <a:lstStyle/>
          <a:p>
            <a:pPr marL="0" indent="0">
              <a:buNone/>
            </a:pPr>
            <a:endParaRPr lang="en-US" dirty="0"/>
          </a:p>
        </p:txBody>
      </p:sp>
      <p:sp>
        <p:nvSpPr>
          <p:cNvPr id="34" name="Text 30"/>
          <p:cNvSpPr/>
          <p:nvPr/>
        </p:nvSpPr>
        <p:spPr>
          <a:xfrm>
            <a:off x="3514725" y="4578028"/>
            <a:ext cx="157163" cy="157163"/>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35" name="Text 31"/>
          <p:cNvSpPr/>
          <p:nvPr/>
        </p:nvSpPr>
        <p:spPr>
          <a:xfrm>
            <a:off x="571500" y="4517306"/>
            <a:ext cx="2900363" cy="278606"/>
          </a:xfrm>
          <a:prstGeom prst="rect">
            <a:avLst/>
          </a:prstGeom>
          <a:noFill/>
          <a:ln/>
        </p:spPr>
        <p:txBody>
          <a:bodyPr wrap="square" lIns="0" tIns="0" rIns="0" bIns="0" rtlCol="0" anchor="t"/>
          <a:lstStyle/>
          <a:p>
            <a:pPr marL="0" indent="0" algn="l">
              <a:lnSpc>
                <a:spcPts val="1097"/>
              </a:lnSpc>
              <a:buNone/>
            </a:pPr>
            <a:r>
              <a:rPr lang="en-US" sz="800" dirty="0">
                <a:solidFill>
                  <a:srgbClr val="1B4965"/>
                </a:solidFill>
                <a:latin typeface="Carlito" pitchFamily="34" charset="0"/>
                <a:ea typeface="Carlito" pitchFamily="34" charset="-122"/>
                <a:cs typeface="Carlito" pitchFamily="34" charset="-120"/>
              </a:rPr>
              <a:t>یادگیری فرآیندی پویاست — نه یک رویداد یک‌باره. تجربه، نه دارو یا بلوغ، موتور محرک آن است.</a:t>
            </a:r>
            <a:endParaRPr lang="en-US" sz="800" dirty="0"/>
          </a:p>
        </p:txBody>
      </p:sp>
      <p:sp>
        <p:nvSpPr>
          <p:cNvPr id="36" name="Shape 32"/>
          <p:cNvSpPr/>
          <p:nvPr/>
        </p:nvSpPr>
        <p:spPr>
          <a:xfrm>
            <a:off x="457200" y="4825603"/>
            <a:ext cx="8229600" cy="0"/>
          </a:xfrm>
          <a:prstGeom prst="line">
            <a:avLst/>
          </a:prstGeom>
          <a:noFill/>
          <a:ln w="7144">
            <a:solidFill>
              <a:srgbClr val="D8E3EC"/>
            </a:solidFill>
            <a:prstDash val="solid"/>
          </a:ln>
        </p:spPr>
      </p:sp>
      <p:sp>
        <p:nvSpPr>
          <p:cNvPr id="37" name="Text 33"/>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38" name="Text 34"/>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۹ از ۲۲</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6503157" y="400050"/>
            <a:ext cx="2183643"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آموزش چیست؟</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۱۰ / ۲۲</a:t>
            </a:r>
            <a:endParaRPr lang="en-US" sz="1013" dirty="0"/>
          </a:p>
        </p:txBody>
      </p:sp>
      <p:sp>
        <p:nvSpPr>
          <p:cNvPr id="7" name="Text 5"/>
          <p:cNvSpPr/>
          <p:nvPr/>
        </p:nvSpPr>
        <p:spPr>
          <a:xfrm>
            <a:off x="8529638" y="1095784"/>
            <a:ext cx="157163" cy="157163"/>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8" name="Text 6"/>
          <p:cNvSpPr/>
          <p:nvPr/>
        </p:nvSpPr>
        <p:spPr>
          <a:xfrm>
            <a:off x="457200" y="1074353"/>
            <a:ext cx="8029575" cy="485096"/>
          </a:xfrm>
          <a:prstGeom prst="rect">
            <a:avLst/>
          </a:prstGeom>
          <a:noFill/>
          <a:ln/>
        </p:spPr>
        <p:txBody>
          <a:bodyPr wrap="square" lIns="0" tIns="0" rIns="0" bIns="0" rtlCol="0" anchor="t"/>
          <a:lstStyle/>
          <a:p>
            <a:pPr marL="0" indent="0" algn="l">
              <a:lnSpc>
                <a:spcPts val="1769"/>
              </a:lnSpc>
              <a:buNone/>
            </a:pPr>
            <a:r>
              <a:rPr lang="en-US" sz="956" dirty="0">
                <a:solidFill>
                  <a:srgbClr val="1A2733"/>
                </a:solidFill>
                <a:latin typeface="Carlito" pitchFamily="34" charset="0"/>
                <a:ea typeface="Carlito" pitchFamily="34" charset="-122"/>
                <a:cs typeface="Carlito" pitchFamily="34" charset="-120"/>
              </a:rPr>
              <a:t>آموزش فعالیت آگاهانه و از پیش طراحی شده‌ای است که با هدف آسان کردن فرآیند یادگیری انجام می‌شود. آموزش یک فرآیند ارتباطی است که منجر به ارتقاء یادگیری می‌شود.</a:t>
            </a:r>
            <a:endParaRPr lang="en-US" sz="956" dirty="0"/>
          </a:p>
        </p:txBody>
      </p:sp>
      <p:sp>
        <p:nvSpPr>
          <p:cNvPr id="9" name="Text 7"/>
          <p:cNvSpPr/>
          <p:nvPr/>
        </p:nvSpPr>
        <p:spPr>
          <a:xfrm>
            <a:off x="6042496" y="1641388"/>
            <a:ext cx="2640732" cy="2564495"/>
          </a:xfrm>
          <a:prstGeom prst="roundRect">
            <a:avLst>
              <a:gd name="adj" fmla="val 6686"/>
            </a:avLst>
          </a:prstGeom>
          <a:solidFill>
            <a:srgbClr val="FFFFFF"/>
          </a:solidFill>
          <a:ln w="7144">
            <a:solidFill>
              <a:srgbClr val="D8E3EC"/>
            </a:solidFill>
            <a:prstDash val="solid"/>
          </a:ln>
          <a:effectLst>
            <a:outerShdw blurRad="133350" dist="38100" dir="5400000" algn="bl" rotWithShape="0">
              <a:srgbClr val="1B4965">
                <a:alpha val="6000"/>
              </a:srgbClr>
            </a:outerShdw>
          </a:effectLst>
        </p:spPr>
        <p:txBody>
          <a:bodyPr wrap="square" rtlCol="0" anchor="ctr"/>
          <a:lstStyle/>
          <a:p>
            <a:pPr marL="0" indent="0">
              <a:buNone/>
            </a:pPr>
            <a:endParaRPr lang="en-US" dirty="0"/>
          </a:p>
        </p:txBody>
      </p:sp>
      <p:sp>
        <p:nvSpPr>
          <p:cNvPr id="10" name="Text 8"/>
          <p:cNvSpPr/>
          <p:nvPr/>
        </p:nvSpPr>
        <p:spPr>
          <a:xfrm>
            <a:off x="8208169" y="1802123"/>
            <a:ext cx="314325" cy="314325"/>
          </a:xfrm>
          <a:prstGeom prst="ellipse">
            <a:avLst/>
          </a:prstGeom>
          <a:solidFill>
            <a:srgbClr val="CDE7F0"/>
          </a:solidFill>
          <a:ln/>
        </p:spPr>
        <p:txBody>
          <a:bodyPr wrap="square" rtlCol="0" anchor="ctr"/>
          <a:lstStyle/>
          <a:p>
            <a:pPr marL="0" indent="0">
              <a:buNone/>
            </a:pPr>
            <a:endParaRPr lang="en-US" dirty="0"/>
          </a:p>
        </p:txBody>
      </p:sp>
      <p:sp>
        <p:nvSpPr>
          <p:cNvPr id="11" name="Text 9"/>
          <p:cNvSpPr/>
          <p:nvPr/>
        </p:nvSpPr>
        <p:spPr>
          <a:xfrm>
            <a:off x="8241030" y="1834984"/>
            <a:ext cx="248602" cy="248602"/>
          </a:xfrm>
          <a:prstGeom prst="rect">
            <a:avLst/>
          </a:prstGeom>
          <a:noFill/>
          <a:ln/>
        </p:spPr>
        <p:txBody>
          <a:bodyPr wrap="none" lIns="0" tIns="0" rIns="0" bIns="0" rtlCol="0" anchor="ctr"/>
          <a:lstStyle/>
          <a:p>
            <a:pPr marL="0" indent="0" algn="ctr">
              <a:buNone/>
            </a:pPr>
            <a:r>
              <a:rPr lang="en-US" sz="1688" dirty="0">
                <a:solidFill>
                  <a:srgbClr val="1B4965"/>
                </a:solidFill>
                <a:latin typeface="Segoe UI Symbol" pitchFamily="34" charset="0"/>
                <a:ea typeface="Segoe UI Symbol" pitchFamily="34" charset="-122"/>
                <a:cs typeface="Segoe UI Symbol" pitchFamily="34" charset="-120"/>
              </a:rPr>
              <a:t>▤</a:t>
            </a:r>
            <a:endParaRPr lang="en-US" sz="1688" dirty="0"/>
          </a:p>
        </p:txBody>
      </p:sp>
      <p:sp>
        <p:nvSpPr>
          <p:cNvPr id="12" name="Text 10"/>
          <p:cNvSpPr/>
          <p:nvPr/>
        </p:nvSpPr>
        <p:spPr>
          <a:xfrm>
            <a:off x="6203231" y="1894991"/>
            <a:ext cx="1990651" cy="164592"/>
          </a:xfrm>
          <a:prstGeom prst="rect">
            <a:avLst/>
          </a:prstGeom>
          <a:noFill/>
          <a:ln/>
        </p:spPr>
        <p:txBody>
          <a:bodyPr wrap="none" lIns="0" tIns="0" rIns="0" bIns="0" rtlCol="0" anchor="t"/>
          <a:lstStyle/>
          <a:p>
            <a:pPr marL="0" indent="0" algn="l">
              <a:lnSpc>
                <a:spcPts val="1013"/>
              </a:lnSpc>
              <a:buNone/>
            </a:pPr>
            <a:r>
              <a:rPr lang="en-US" sz="800" b="1" kern="0" spc="34" dirty="0">
                <a:solidFill>
                  <a:srgbClr val="1B4965"/>
                </a:solidFill>
                <a:latin typeface="Carlito" pitchFamily="34" charset="0"/>
                <a:ea typeface="Carlito" pitchFamily="34" charset="-122"/>
                <a:cs typeface="Carlito" pitchFamily="34" charset="-120"/>
              </a:rPr>
              <a:t>۱ — فرهنگ لغت</a:t>
            </a:r>
            <a:endParaRPr lang="en-US" sz="800" dirty="0"/>
          </a:p>
        </p:txBody>
      </p:sp>
      <p:sp>
        <p:nvSpPr>
          <p:cNvPr id="13" name="Text 11"/>
          <p:cNvSpPr/>
          <p:nvPr/>
        </p:nvSpPr>
        <p:spPr>
          <a:xfrm>
            <a:off x="6203231" y="2202173"/>
            <a:ext cx="2319263" cy="212169"/>
          </a:xfrm>
          <a:prstGeom prst="rect">
            <a:avLst/>
          </a:prstGeom>
          <a:noFill/>
          <a:ln/>
        </p:spPr>
        <p:txBody>
          <a:bodyPr wrap="none" lIns="0" tIns="0" rIns="0" bIns="0" rtlCol="0" anchor="t"/>
          <a:lstStyle/>
          <a:p>
            <a:pPr marL="0" indent="0" algn="l">
              <a:lnSpc>
                <a:spcPts val="1547"/>
              </a:lnSpc>
              <a:buNone/>
            </a:pPr>
            <a:r>
              <a:rPr lang="en-US" sz="1238" b="1" dirty="0">
                <a:solidFill>
                  <a:srgbClr val="1B4965"/>
                </a:solidFill>
                <a:latin typeface="Carlito" pitchFamily="34" charset="0"/>
                <a:ea typeface="Carlito" pitchFamily="34" charset="-122"/>
                <a:cs typeface="Carlito" pitchFamily="34" charset="-120"/>
              </a:rPr>
              <a:t>تعریف سنتی</a:t>
            </a:r>
            <a:endParaRPr lang="en-US" sz="1238" dirty="0"/>
          </a:p>
        </p:txBody>
      </p:sp>
      <p:sp>
        <p:nvSpPr>
          <p:cNvPr id="14" name="Text 12"/>
          <p:cNvSpPr/>
          <p:nvPr/>
        </p:nvSpPr>
        <p:spPr>
          <a:xfrm>
            <a:off x="6203231" y="2484351"/>
            <a:ext cx="2319263" cy="1319053"/>
          </a:xfrm>
          <a:prstGeom prst="rect">
            <a:avLst/>
          </a:prstGeom>
          <a:noFill/>
          <a:ln/>
        </p:spPr>
        <p:txBody>
          <a:bodyPr wrap="square" lIns="0" tIns="0" rIns="0" bIns="0" rtlCol="0" anchor="t">
            <a:normAutofit/>
          </a:bodyPr>
          <a:lstStyle/>
          <a:p>
            <a:pPr marL="0" indent="0" algn="l">
              <a:lnSpc>
                <a:spcPts val="1613"/>
              </a:lnSpc>
              <a:buNone/>
            </a:pPr>
            <a:r>
              <a:rPr lang="en-US" sz="872" dirty="0">
                <a:solidFill>
                  <a:srgbClr val="1A2733"/>
                </a:solidFill>
                <a:latin typeface="Carlito" pitchFamily="34" charset="0"/>
                <a:ea typeface="Carlito" pitchFamily="34" charset="-122"/>
                <a:cs typeface="Carlito" pitchFamily="34" charset="-120"/>
              </a:rPr>
              <a:t>«پرورش دادن، تربیت کردن، رشد دادن ذهن، شخصیت و جسم به وسیله ضوابط طراحی شده.»</a:t>
            </a:r>
            <a:endParaRPr lang="en-US" sz="872" dirty="0"/>
          </a:p>
        </p:txBody>
      </p:sp>
      <p:sp>
        <p:nvSpPr>
          <p:cNvPr id="15" name="Text 13"/>
          <p:cNvSpPr/>
          <p:nvPr/>
        </p:nvSpPr>
        <p:spPr>
          <a:xfrm>
            <a:off x="7711366" y="3818834"/>
            <a:ext cx="833988" cy="224028"/>
          </a:xfrm>
          <a:prstGeom prst="roundRect">
            <a:avLst>
              <a:gd name="adj" fmla="val 4247449"/>
            </a:avLst>
          </a:prstGeom>
          <a:solidFill>
            <a:srgbClr val="CDE7F0"/>
          </a:solidFill>
          <a:ln/>
        </p:spPr>
        <p:txBody>
          <a:bodyPr wrap="square" rtlCol="0" anchor="ctr"/>
          <a:lstStyle/>
          <a:p>
            <a:pPr marL="0" indent="0">
              <a:buNone/>
            </a:pPr>
            <a:endParaRPr lang="en-US" dirty="0"/>
          </a:p>
        </p:txBody>
      </p:sp>
      <p:sp>
        <p:nvSpPr>
          <p:cNvPr id="16" name="Text 14"/>
          <p:cNvSpPr/>
          <p:nvPr/>
        </p:nvSpPr>
        <p:spPr>
          <a:xfrm>
            <a:off x="7819951" y="3880842"/>
            <a:ext cx="473943" cy="128016"/>
          </a:xfrm>
          <a:prstGeom prst="rect">
            <a:avLst/>
          </a:prstGeom>
          <a:noFill/>
          <a:ln/>
        </p:spPr>
        <p:txBody>
          <a:bodyPr wrap="none" lIns="0" tIns="0" rIns="0" bIns="0" rtlCol="0" anchor="t"/>
          <a:lstStyle/>
          <a:p>
            <a:pPr marL="0" indent="0" algn="l">
              <a:lnSpc>
                <a:spcPts val="1013"/>
              </a:lnSpc>
              <a:buNone/>
            </a:pPr>
            <a:r>
              <a:rPr lang="en-US" sz="675" b="1" dirty="0">
                <a:solidFill>
                  <a:srgbClr val="1B4965"/>
                </a:solidFill>
                <a:latin typeface="Carlito" pitchFamily="34" charset="0"/>
                <a:ea typeface="Carlito" pitchFamily="34" charset="-122"/>
                <a:cs typeface="Carlito" pitchFamily="34" charset="-120"/>
              </a:rPr>
              <a:t>تعریف سنتی</a:t>
            </a:r>
            <a:endParaRPr lang="en-US" sz="675" dirty="0"/>
          </a:p>
        </p:txBody>
      </p:sp>
      <p:sp>
        <p:nvSpPr>
          <p:cNvPr id="17" name="Text 15"/>
          <p:cNvSpPr/>
          <p:nvPr/>
        </p:nvSpPr>
        <p:spPr>
          <a:xfrm>
            <a:off x="8336756" y="3880842"/>
            <a:ext cx="100013" cy="100013"/>
          </a:xfrm>
          <a:prstGeom prst="rect">
            <a:avLst/>
          </a:prstGeom>
          <a:noFill/>
          <a:ln/>
        </p:spPr>
        <p:txBody>
          <a:bodyPr wrap="none" lIns="0" tIns="0" rIns="0" bIns="0" rtlCol="0" anchor="ctr"/>
          <a:lstStyle/>
          <a:p>
            <a:pPr marL="0" indent="0" algn="ctr">
              <a:buNone/>
            </a:pPr>
            <a:r>
              <a:rPr lang="en-US" sz="984" dirty="0">
                <a:solidFill>
                  <a:srgbClr val="1B4965"/>
                </a:solidFill>
                <a:latin typeface="Segoe UI Symbol" pitchFamily="34" charset="0"/>
                <a:ea typeface="Segoe UI Symbol" pitchFamily="34" charset="-122"/>
                <a:cs typeface="Segoe UI Symbol" pitchFamily="34" charset="-120"/>
              </a:rPr>
              <a:t>✦</a:t>
            </a:r>
            <a:endParaRPr lang="en-US" sz="984" dirty="0"/>
          </a:p>
        </p:txBody>
      </p:sp>
      <p:sp>
        <p:nvSpPr>
          <p:cNvPr id="18" name="Text 16"/>
          <p:cNvSpPr/>
          <p:nvPr/>
        </p:nvSpPr>
        <p:spPr>
          <a:xfrm>
            <a:off x="3251634" y="1641388"/>
            <a:ext cx="2640843" cy="2564495"/>
          </a:xfrm>
          <a:prstGeom prst="roundRect">
            <a:avLst>
              <a:gd name="adj" fmla="val 6686"/>
            </a:avLst>
          </a:prstGeom>
          <a:solidFill>
            <a:srgbClr val="FFFFFF"/>
          </a:solidFill>
          <a:ln w="7144">
            <a:solidFill>
              <a:srgbClr val="D8E3EC"/>
            </a:solidFill>
            <a:prstDash val="solid"/>
          </a:ln>
          <a:effectLst>
            <a:outerShdw blurRad="133350" dist="38100" dir="5400000" algn="bl" rotWithShape="0">
              <a:srgbClr val="1B4965">
                <a:alpha val="6000"/>
              </a:srgbClr>
            </a:outerShdw>
          </a:effectLst>
        </p:spPr>
        <p:txBody>
          <a:bodyPr wrap="square" rtlCol="0" anchor="ctr"/>
          <a:lstStyle/>
          <a:p>
            <a:pPr marL="0" indent="0">
              <a:buNone/>
            </a:pPr>
            <a:endParaRPr lang="en-US" dirty="0"/>
          </a:p>
        </p:txBody>
      </p:sp>
      <p:sp>
        <p:nvSpPr>
          <p:cNvPr id="19" name="Text 17"/>
          <p:cNvSpPr/>
          <p:nvPr/>
        </p:nvSpPr>
        <p:spPr>
          <a:xfrm>
            <a:off x="5417418" y="1802123"/>
            <a:ext cx="314325" cy="314325"/>
          </a:xfrm>
          <a:prstGeom prst="ellipse">
            <a:avLst/>
          </a:prstGeom>
          <a:solidFill>
            <a:srgbClr val="D4F1ED"/>
          </a:solidFill>
          <a:ln/>
        </p:spPr>
        <p:txBody>
          <a:bodyPr wrap="square" rtlCol="0" anchor="ctr"/>
          <a:lstStyle/>
          <a:p>
            <a:pPr marL="0" indent="0">
              <a:buNone/>
            </a:pPr>
            <a:endParaRPr lang="en-US" dirty="0"/>
          </a:p>
        </p:txBody>
      </p:sp>
      <p:sp>
        <p:nvSpPr>
          <p:cNvPr id="20" name="Text 18"/>
          <p:cNvSpPr/>
          <p:nvPr/>
        </p:nvSpPr>
        <p:spPr>
          <a:xfrm>
            <a:off x="5450279" y="1834984"/>
            <a:ext cx="248602" cy="248602"/>
          </a:xfrm>
          <a:prstGeom prst="rect">
            <a:avLst/>
          </a:prstGeom>
          <a:noFill/>
          <a:ln/>
        </p:spPr>
        <p:txBody>
          <a:bodyPr wrap="none" lIns="0" tIns="0" rIns="0" bIns="0" rtlCol="0" anchor="ctr"/>
          <a:lstStyle/>
          <a:p>
            <a:pPr marL="0" indent="0" algn="ctr">
              <a:buNone/>
            </a:pPr>
            <a:r>
              <a:rPr lang="en-US" sz="1688" dirty="0">
                <a:solidFill>
                  <a:srgbClr val="2A9D8F"/>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3412368" y="1894991"/>
            <a:ext cx="1990762" cy="164592"/>
          </a:xfrm>
          <a:prstGeom prst="rect">
            <a:avLst/>
          </a:prstGeom>
          <a:noFill/>
          <a:ln/>
        </p:spPr>
        <p:txBody>
          <a:bodyPr wrap="none" lIns="0" tIns="0" rIns="0" bIns="0" rtlCol="0" anchor="t"/>
          <a:lstStyle/>
          <a:p>
            <a:pPr marL="0" indent="0" algn="l">
              <a:lnSpc>
                <a:spcPts val="1013"/>
              </a:lnSpc>
              <a:buNone/>
            </a:pPr>
            <a:r>
              <a:rPr lang="en-US" sz="800" b="1" kern="0" spc="34" dirty="0">
                <a:solidFill>
                  <a:srgbClr val="2A9D8F"/>
                </a:solidFill>
                <a:latin typeface="Carlito" pitchFamily="34" charset="0"/>
                <a:ea typeface="Carlito" pitchFamily="34" charset="-122"/>
                <a:cs typeface="Carlito" pitchFamily="34" charset="-120"/>
              </a:rPr>
              <a:t>۲ — براون و اتکینس</a:t>
            </a:r>
            <a:endParaRPr lang="en-US" sz="800" dirty="0"/>
          </a:p>
        </p:txBody>
      </p:sp>
      <p:sp>
        <p:nvSpPr>
          <p:cNvPr id="22" name="Text 20"/>
          <p:cNvSpPr/>
          <p:nvPr/>
        </p:nvSpPr>
        <p:spPr>
          <a:xfrm>
            <a:off x="3412368" y="2202173"/>
            <a:ext cx="2319375" cy="424339"/>
          </a:xfrm>
          <a:prstGeom prst="rect">
            <a:avLst/>
          </a:prstGeom>
          <a:noFill/>
          <a:ln/>
        </p:spPr>
        <p:txBody>
          <a:bodyPr wrap="square" lIns="0" tIns="0" rIns="0" bIns="0" rtlCol="0" anchor="t"/>
          <a:lstStyle/>
          <a:p>
            <a:pPr marL="0" indent="0" algn="l">
              <a:lnSpc>
                <a:spcPts val="1547"/>
              </a:lnSpc>
              <a:buNone/>
            </a:pPr>
            <a:r>
              <a:rPr lang="en-US" sz="1238" b="1" dirty="0">
                <a:solidFill>
                  <a:srgbClr val="2A9D8F"/>
                </a:solidFill>
                <a:latin typeface="Carlito" pitchFamily="34" charset="0"/>
                <a:ea typeface="Carlito" pitchFamily="34" charset="-122"/>
                <a:cs typeface="Carlito" pitchFamily="34" charset="-120"/>
              </a:rPr>
              <a:t>تعریف مدرن مبتنی بر یادگیرنده</a:t>
            </a:r>
            <a:endParaRPr lang="en-US" sz="1238" dirty="0"/>
          </a:p>
        </p:txBody>
      </p:sp>
      <p:sp>
        <p:nvSpPr>
          <p:cNvPr id="23" name="Text 21"/>
          <p:cNvSpPr/>
          <p:nvPr/>
        </p:nvSpPr>
        <p:spPr>
          <a:xfrm>
            <a:off x="3412368" y="2680804"/>
            <a:ext cx="2319375" cy="1122600"/>
          </a:xfrm>
          <a:prstGeom prst="rect">
            <a:avLst/>
          </a:prstGeom>
          <a:noFill/>
          <a:ln/>
        </p:spPr>
        <p:txBody>
          <a:bodyPr wrap="square" lIns="0" tIns="0" rIns="0" bIns="0" rtlCol="0" anchor="t">
            <a:normAutofit/>
          </a:bodyPr>
          <a:lstStyle/>
          <a:p>
            <a:pPr marL="0" indent="0" algn="l">
              <a:lnSpc>
                <a:spcPts val="1613"/>
              </a:lnSpc>
              <a:buNone/>
            </a:pPr>
            <a:r>
              <a:rPr lang="en-US" sz="872" dirty="0">
                <a:solidFill>
                  <a:srgbClr val="1A2733"/>
                </a:solidFill>
                <a:latin typeface="Carlito" pitchFamily="34" charset="0"/>
                <a:ea typeface="Carlito" pitchFamily="34" charset="-122"/>
                <a:cs typeface="Carlito" pitchFamily="34" charset="-120"/>
              </a:rPr>
              <a:t>«فراهم آوردن فرصت‌هایی برای یادگیری فراگیران.»</a:t>
            </a:r>
            <a:endParaRPr lang="en-US" sz="872" dirty="0"/>
          </a:p>
        </p:txBody>
      </p:sp>
      <p:sp>
        <p:nvSpPr>
          <p:cNvPr id="24" name="Text 22"/>
          <p:cNvSpPr/>
          <p:nvPr/>
        </p:nvSpPr>
        <p:spPr>
          <a:xfrm>
            <a:off x="4920615" y="3818834"/>
            <a:ext cx="833988" cy="224028"/>
          </a:xfrm>
          <a:prstGeom prst="roundRect">
            <a:avLst>
              <a:gd name="adj" fmla="val 4247449"/>
            </a:avLst>
          </a:prstGeom>
          <a:solidFill>
            <a:srgbClr val="D4F1ED"/>
          </a:solidFill>
          <a:ln/>
        </p:spPr>
        <p:txBody>
          <a:bodyPr wrap="square" rtlCol="0" anchor="ctr"/>
          <a:lstStyle/>
          <a:p>
            <a:pPr marL="0" indent="0">
              <a:buNone/>
            </a:pPr>
            <a:endParaRPr lang="en-US" dirty="0"/>
          </a:p>
        </p:txBody>
      </p:sp>
      <p:sp>
        <p:nvSpPr>
          <p:cNvPr id="25" name="Text 23"/>
          <p:cNvSpPr/>
          <p:nvPr/>
        </p:nvSpPr>
        <p:spPr>
          <a:xfrm>
            <a:off x="5029200" y="3880842"/>
            <a:ext cx="473943" cy="128016"/>
          </a:xfrm>
          <a:prstGeom prst="rect">
            <a:avLst/>
          </a:prstGeom>
          <a:noFill/>
          <a:ln/>
        </p:spPr>
        <p:txBody>
          <a:bodyPr wrap="none" lIns="0" tIns="0" rIns="0" bIns="0" rtlCol="0" anchor="t"/>
          <a:lstStyle/>
          <a:p>
            <a:pPr marL="0" indent="0" algn="l">
              <a:lnSpc>
                <a:spcPts val="1013"/>
              </a:lnSpc>
              <a:buNone/>
            </a:pPr>
            <a:r>
              <a:rPr lang="en-US" sz="675" b="1" dirty="0">
                <a:solidFill>
                  <a:srgbClr val="2A9D8F"/>
                </a:solidFill>
                <a:latin typeface="Carlito" pitchFamily="34" charset="0"/>
                <a:ea typeface="Carlito" pitchFamily="34" charset="-122"/>
                <a:cs typeface="Carlito" pitchFamily="34" charset="-120"/>
              </a:rPr>
              <a:t>تعریف مدرن</a:t>
            </a:r>
            <a:endParaRPr lang="en-US" sz="675" dirty="0"/>
          </a:p>
        </p:txBody>
      </p:sp>
      <p:sp>
        <p:nvSpPr>
          <p:cNvPr id="26" name="Text 24"/>
          <p:cNvSpPr/>
          <p:nvPr/>
        </p:nvSpPr>
        <p:spPr>
          <a:xfrm>
            <a:off x="5546006" y="3880842"/>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27" name="Text 25"/>
          <p:cNvSpPr/>
          <p:nvPr/>
        </p:nvSpPr>
        <p:spPr>
          <a:xfrm>
            <a:off x="460883" y="1641388"/>
            <a:ext cx="2640732" cy="2564495"/>
          </a:xfrm>
          <a:prstGeom prst="roundRect">
            <a:avLst>
              <a:gd name="adj" fmla="val 6686"/>
            </a:avLst>
          </a:prstGeom>
          <a:solidFill>
            <a:srgbClr val="FFFFFF"/>
          </a:solidFill>
          <a:ln w="7144">
            <a:solidFill>
              <a:srgbClr val="D8E3EC"/>
            </a:solidFill>
            <a:prstDash val="solid"/>
          </a:ln>
          <a:effectLst>
            <a:outerShdw blurRad="133350" dist="38100" dir="5400000" algn="bl" rotWithShape="0">
              <a:srgbClr val="1B4965">
                <a:alpha val="6000"/>
              </a:srgbClr>
            </a:outerShdw>
          </a:effectLst>
        </p:spPr>
        <p:txBody>
          <a:bodyPr wrap="square" rtlCol="0" anchor="ctr"/>
          <a:lstStyle/>
          <a:p>
            <a:pPr marL="0" indent="0">
              <a:buNone/>
            </a:pPr>
            <a:endParaRPr lang="en-US" dirty="0"/>
          </a:p>
        </p:txBody>
      </p:sp>
      <p:sp>
        <p:nvSpPr>
          <p:cNvPr id="28" name="Text 26"/>
          <p:cNvSpPr/>
          <p:nvPr/>
        </p:nvSpPr>
        <p:spPr>
          <a:xfrm>
            <a:off x="2626556" y="1802123"/>
            <a:ext cx="314325" cy="314325"/>
          </a:xfrm>
          <a:prstGeom prst="ellipse">
            <a:avLst/>
          </a:prstGeom>
          <a:solidFill>
            <a:srgbClr val="FCE4DD"/>
          </a:solidFill>
          <a:ln/>
        </p:spPr>
        <p:txBody>
          <a:bodyPr wrap="square" rtlCol="0" anchor="ctr"/>
          <a:lstStyle/>
          <a:p>
            <a:pPr marL="0" indent="0">
              <a:buNone/>
            </a:pPr>
            <a:endParaRPr lang="en-US" dirty="0"/>
          </a:p>
        </p:txBody>
      </p:sp>
      <p:sp>
        <p:nvSpPr>
          <p:cNvPr id="29" name="Text 27"/>
          <p:cNvSpPr/>
          <p:nvPr/>
        </p:nvSpPr>
        <p:spPr>
          <a:xfrm>
            <a:off x="2659417" y="1834984"/>
            <a:ext cx="248602" cy="248602"/>
          </a:xfrm>
          <a:prstGeom prst="rect">
            <a:avLst/>
          </a:prstGeom>
          <a:noFill/>
          <a:ln/>
        </p:spPr>
        <p:txBody>
          <a:bodyPr wrap="none" lIns="0" tIns="0" rIns="0" bIns="0" rtlCol="0" anchor="ctr"/>
          <a:lstStyle/>
          <a:p>
            <a:pPr marL="0" indent="0" algn="ctr">
              <a:buNone/>
            </a:pPr>
            <a:r>
              <a:rPr lang="en-US" sz="1688" dirty="0">
                <a:solidFill>
                  <a:srgbClr val="E76F51"/>
                </a:solidFill>
                <a:latin typeface="Segoe UI Symbol" pitchFamily="34" charset="0"/>
                <a:ea typeface="Segoe UI Symbol" pitchFamily="34" charset="-122"/>
                <a:cs typeface="Segoe UI Symbol" pitchFamily="34" charset="-120"/>
              </a:rPr>
              <a:t>✦</a:t>
            </a:r>
            <a:endParaRPr lang="en-US" sz="1688" dirty="0"/>
          </a:p>
        </p:txBody>
      </p:sp>
      <p:sp>
        <p:nvSpPr>
          <p:cNvPr id="30" name="Text 28"/>
          <p:cNvSpPr/>
          <p:nvPr/>
        </p:nvSpPr>
        <p:spPr>
          <a:xfrm>
            <a:off x="621618" y="1894991"/>
            <a:ext cx="1990651" cy="164592"/>
          </a:xfrm>
          <a:prstGeom prst="rect">
            <a:avLst/>
          </a:prstGeom>
          <a:noFill/>
          <a:ln/>
        </p:spPr>
        <p:txBody>
          <a:bodyPr wrap="none" lIns="0" tIns="0" rIns="0" bIns="0" rtlCol="0" anchor="t"/>
          <a:lstStyle/>
          <a:p>
            <a:pPr marL="0" indent="0" algn="l">
              <a:lnSpc>
                <a:spcPts val="1013"/>
              </a:lnSpc>
              <a:buNone/>
            </a:pPr>
            <a:r>
              <a:rPr lang="en-US" sz="800" b="1" kern="0" spc="34" dirty="0">
                <a:solidFill>
                  <a:srgbClr val="E76F51"/>
                </a:solidFill>
                <a:latin typeface="Carlito" pitchFamily="34" charset="0"/>
                <a:ea typeface="Carlito" pitchFamily="34" charset="-122"/>
                <a:cs typeface="Carlito" pitchFamily="34" charset="-120"/>
              </a:rPr>
              <a:t>۳ — تعریف جامع</a:t>
            </a:r>
            <a:endParaRPr lang="en-US" sz="800" dirty="0"/>
          </a:p>
        </p:txBody>
      </p:sp>
      <p:sp>
        <p:nvSpPr>
          <p:cNvPr id="31" name="Text 29"/>
          <p:cNvSpPr/>
          <p:nvPr/>
        </p:nvSpPr>
        <p:spPr>
          <a:xfrm>
            <a:off x="621618" y="2202173"/>
            <a:ext cx="2319263" cy="212169"/>
          </a:xfrm>
          <a:prstGeom prst="rect">
            <a:avLst/>
          </a:prstGeom>
          <a:noFill/>
          <a:ln/>
        </p:spPr>
        <p:txBody>
          <a:bodyPr wrap="none" lIns="0" tIns="0" rIns="0" bIns="0" rtlCol="0" anchor="t"/>
          <a:lstStyle/>
          <a:p>
            <a:pPr marL="0" indent="0" algn="l">
              <a:lnSpc>
                <a:spcPts val="1547"/>
              </a:lnSpc>
              <a:buNone/>
            </a:pPr>
            <a:r>
              <a:rPr lang="en-US" sz="1238" b="1" dirty="0">
                <a:solidFill>
                  <a:srgbClr val="E76F51"/>
                </a:solidFill>
                <a:latin typeface="Carlito" pitchFamily="34" charset="0"/>
                <a:ea typeface="Carlito" pitchFamily="34" charset="-122"/>
                <a:cs typeface="Carlito" pitchFamily="34" charset="-120"/>
              </a:rPr>
              <a:t>تعریف کاربردی</a:t>
            </a:r>
            <a:endParaRPr lang="en-US" sz="1238" dirty="0"/>
          </a:p>
        </p:txBody>
      </p:sp>
      <p:sp>
        <p:nvSpPr>
          <p:cNvPr id="32" name="Text 30"/>
          <p:cNvSpPr/>
          <p:nvPr/>
        </p:nvSpPr>
        <p:spPr>
          <a:xfrm>
            <a:off x="621618" y="2484351"/>
            <a:ext cx="2319263" cy="1319053"/>
          </a:xfrm>
          <a:prstGeom prst="rect">
            <a:avLst/>
          </a:prstGeom>
          <a:noFill/>
          <a:ln/>
        </p:spPr>
        <p:txBody>
          <a:bodyPr wrap="square" lIns="0" tIns="0" rIns="0" bIns="0" rtlCol="0" anchor="t">
            <a:normAutofit/>
          </a:bodyPr>
          <a:lstStyle/>
          <a:p>
            <a:pPr marL="0" indent="0" algn="l">
              <a:lnSpc>
                <a:spcPts val="1613"/>
              </a:lnSpc>
              <a:buNone/>
            </a:pPr>
            <a:r>
              <a:rPr lang="en-US" sz="872" dirty="0">
                <a:solidFill>
                  <a:srgbClr val="1A2733"/>
                </a:solidFill>
                <a:latin typeface="Carlito" pitchFamily="34" charset="0"/>
                <a:ea typeface="Carlito" pitchFamily="34" charset="-122"/>
                <a:cs typeface="Carlito" pitchFamily="34" charset="-120"/>
              </a:rPr>
              <a:t>«هرگونه فعالیت یا تدبیر از پیش طراحی شده با هدف آسان کردن فرآیند یادگیری؛ شامل مجموعه تصمیمات و اقدامات اتخاذ شده با هدف دستیابی به اهداف آموزشی.»</a:t>
            </a:r>
            <a:endParaRPr lang="en-US" sz="872" dirty="0"/>
          </a:p>
        </p:txBody>
      </p:sp>
      <p:sp>
        <p:nvSpPr>
          <p:cNvPr id="33" name="Text 31"/>
          <p:cNvSpPr/>
          <p:nvPr/>
        </p:nvSpPr>
        <p:spPr>
          <a:xfrm>
            <a:off x="1979734" y="3818834"/>
            <a:ext cx="984007" cy="224028"/>
          </a:xfrm>
          <a:prstGeom prst="roundRect">
            <a:avLst>
              <a:gd name="adj" fmla="val 4247449"/>
            </a:avLst>
          </a:prstGeom>
          <a:solidFill>
            <a:srgbClr val="FCE4DD"/>
          </a:solidFill>
          <a:ln/>
        </p:spPr>
        <p:txBody>
          <a:bodyPr wrap="square" rtlCol="0" anchor="ctr"/>
          <a:lstStyle/>
          <a:p>
            <a:pPr marL="0" indent="0">
              <a:buNone/>
            </a:pPr>
            <a:endParaRPr lang="en-US" dirty="0"/>
          </a:p>
        </p:txBody>
      </p:sp>
      <p:sp>
        <p:nvSpPr>
          <p:cNvPr id="34" name="Text 32"/>
          <p:cNvSpPr/>
          <p:nvPr/>
        </p:nvSpPr>
        <p:spPr>
          <a:xfrm>
            <a:off x="2088319" y="3880842"/>
            <a:ext cx="623962" cy="128016"/>
          </a:xfrm>
          <a:prstGeom prst="rect">
            <a:avLst/>
          </a:prstGeom>
          <a:noFill/>
          <a:ln/>
        </p:spPr>
        <p:txBody>
          <a:bodyPr wrap="none" lIns="0" tIns="0" rIns="0" bIns="0" rtlCol="0" anchor="t"/>
          <a:lstStyle/>
          <a:p>
            <a:pPr marL="0" indent="0" algn="l">
              <a:lnSpc>
                <a:spcPts val="1013"/>
              </a:lnSpc>
              <a:buNone/>
            </a:pPr>
            <a:r>
              <a:rPr lang="en-US" sz="675" b="1" dirty="0">
                <a:solidFill>
                  <a:srgbClr val="E76F51"/>
                </a:solidFill>
                <a:latin typeface="Carlito" pitchFamily="34" charset="0"/>
                <a:ea typeface="Carlito" pitchFamily="34" charset="-122"/>
                <a:cs typeface="Carlito" pitchFamily="34" charset="-120"/>
              </a:rPr>
              <a:t>تعریف کاربردی</a:t>
            </a:r>
            <a:endParaRPr lang="en-US" sz="675" dirty="0"/>
          </a:p>
        </p:txBody>
      </p:sp>
      <p:sp>
        <p:nvSpPr>
          <p:cNvPr id="35" name="Text 33"/>
          <p:cNvSpPr/>
          <p:nvPr/>
        </p:nvSpPr>
        <p:spPr>
          <a:xfrm>
            <a:off x="2755143" y="3880842"/>
            <a:ext cx="100013" cy="100013"/>
          </a:xfrm>
          <a:prstGeom prst="rect">
            <a:avLst/>
          </a:prstGeom>
          <a:noFill/>
          <a:ln/>
        </p:spPr>
        <p:txBody>
          <a:bodyPr wrap="none" lIns="0" tIns="0" rIns="0" bIns="0" rtlCol="0" anchor="ctr"/>
          <a:lstStyle/>
          <a:p>
            <a:pPr marL="0" indent="0" algn="ctr">
              <a:buNone/>
            </a:pPr>
            <a:r>
              <a:rPr lang="en-US" sz="984" dirty="0">
                <a:solidFill>
                  <a:srgbClr val="E76F51"/>
                </a:solidFill>
                <a:latin typeface="Segoe UI Symbol" pitchFamily="34" charset="0"/>
                <a:ea typeface="Segoe UI Symbol" pitchFamily="34" charset="-122"/>
                <a:cs typeface="Segoe UI Symbol" pitchFamily="34" charset="-120"/>
              </a:rPr>
              <a:t>✓</a:t>
            </a:r>
            <a:endParaRPr lang="en-US" sz="984" dirty="0"/>
          </a:p>
        </p:txBody>
      </p:sp>
      <p:sp>
        <p:nvSpPr>
          <p:cNvPr id="36" name="Text 34"/>
          <p:cNvSpPr/>
          <p:nvPr/>
        </p:nvSpPr>
        <p:spPr>
          <a:xfrm>
            <a:off x="457200" y="4323755"/>
            <a:ext cx="8229600" cy="419695"/>
          </a:xfrm>
          <a:prstGeom prst="roundRect">
            <a:avLst>
              <a:gd name="adj" fmla="val 31773"/>
            </a:avLst>
          </a:prstGeom>
          <a:solidFill>
            <a:srgbClr val="0F2A3D"/>
          </a:solidFill>
          <a:ln/>
        </p:spPr>
        <p:txBody>
          <a:bodyPr wrap="square" rtlCol="0" anchor="ctr"/>
          <a:lstStyle/>
          <a:p>
            <a:pPr marL="0" indent="0">
              <a:buNone/>
            </a:pPr>
            <a:endParaRPr lang="en-US" dirty="0"/>
          </a:p>
        </p:txBody>
      </p:sp>
      <p:sp>
        <p:nvSpPr>
          <p:cNvPr id="37" name="Text 35"/>
          <p:cNvSpPr/>
          <p:nvPr/>
        </p:nvSpPr>
        <p:spPr>
          <a:xfrm>
            <a:off x="8386763" y="4462165"/>
            <a:ext cx="142875" cy="142875"/>
          </a:xfrm>
          <a:prstGeom prst="rect">
            <a:avLst/>
          </a:prstGeom>
          <a:noFill/>
          <a:ln/>
        </p:spPr>
        <p:txBody>
          <a:bodyPr wrap="none" lIns="0" tIns="0" rIns="0" bIns="0" rtlCol="0" anchor="ctr"/>
          <a:lstStyle/>
          <a:p>
            <a:pPr marL="0" indent="0" algn="ctr">
              <a:buNone/>
            </a:pPr>
            <a:r>
              <a:rPr lang="en-US" sz="1406" dirty="0">
                <a:solidFill>
                  <a:srgbClr val="2A9D8F"/>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7307945" y="4469309"/>
            <a:ext cx="1221693" cy="164592"/>
          </a:xfrm>
          <a:prstGeom prst="rect">
            <a:avLst/>
          </a:prstGeom>
          <a:noFill/>
          <a:ln/>
        </p:spPr>
        <p:txBody>
          <a:bodyPr wrap="none" lIns="0" tIns="0" rIns="0" bIns="0" rtlCol="0" anchor="t"/>
          <a:lstStyle/>
          <a:p>
            <a:pPr marL="0" indent="0" algn="l">
              <a:lnSpc>
                <a:spcPts val="1013"/>
              </a:lnSpc>
              <a:buNone/>
            </a:pPr>
            <a:r>
              <a:rPr lang="en-US" sz="800" b="1" kern="0" spc="28" dirty="0">
                <a:solidFill>
                  <a:srgbClr val="2A9D8F"/>
                </a:solidFill>
                <a:latin typeface="Carlito" pitchFamily="34" charset="0"/>
                <a:ea typeface="Carlito" pitchFamily="34" charset="-122"/>
                <a:cs typeface="Carlito" pitchFamily="34" charset="-120"/>
              </a:rPr>
              <a:t>چهار ویژگی کلیدی آموزش</a:t>
            </a:r>
            <a:endParaRPr lang="en-US" sz="800" dirty="0"/>
          </a:p>
        </p:txBody>
      </p:sp>
      <p:sp>
        <p:nvSpPr>
          <p:cNvPr id="39" name="Text 37"/>
          <p:cNvSpPr/>
          <p:nvPr/>
        </p:nvSpPr>
        <p:spPr>
          <a:xfrm>
            <a:off x="6104334" y="4410966"/>
            <a:ext cx="1089310" cy="245274"/>
          </a:xfrm>
          <a:prstGeom prst="roundRect">
            <a:avLst>
              <a:gd name="adj" fmla="val 3879529"/>
            </a:avLst>
          </a:prstGeom>
          <a:solidFill>
            <a:srgbClr val="FFFFFF">
              <a:alpha val="8000"/>
            </a:srgbClr>
          </a:solidFill>
          <a:ln w="7144">
            <a:solidFill>
              <a:srgbClr val="D4F1ED"/>
            </a:solidFill>
            <a:prstDash val="solid"/>
          </a:ln>
        </p:spPr>
        <p:txBody>
          <a:bodyPr wrap="square" rtlCol="0" anchor="ctr"/>
          <a:lstStyle/>
          <a:p>
            <a:pPr marL="0" indent="0">
              <a:buNone/>
            </a:pPr>
            <a:endParaRPr lang="en-US" dirty="0"/>
          </a:p>
        </p:txBody>
      </p:sp>
      <p:sp>
        <p:nvSpPr>
          <p:cNvPr id="40" name="Text 38"/>
          <p:cNvSpPr/>
          <p:nvPr/>
        </p:nvSpPr>
        <p:spPr>
          <a:xfrm>
            <a:off x="6197203" y="4480917"/>
            <a:ext cx="996442" cy="122895"/>
          </a:xfrm>
          <a:prstGeom prst="rect">
            <a:avLst/>
          </a:prstGeom>
          <a:noFill/>
          <a:ln/>
        </p:spPr>
        <p:txBody>
          <a:bodyPr wrap="none" lIns="0" tIns="0" rIns="0" bIns="0" rtlCol="0" anchor="t"/>
          <a:lstStyle/>
          <a:p>
            <a:pPr marL="0" indent="0" algn="l">
              <a:lnSpc>
                <a:spcPts val="1055"/>
              </a:lnSpc>
              <a:buNone/>
            </a:pPr>
            <a:r>
              <a:rPr lang="en-US" sz="800" dirty="0">
                <a:solidFill>
                  <a:srgbClr val="E6F1F8"/>
                </a:solidFill>
                <a:latin typeface="Carlito" pitchFamily="34" charset="0"/>
                <a:ea typeface="Carlito" pitchFamily="34" charset="-122"/>
                <a:cs typeface="Carlito" pitchFamily="34" charset="-120"/>
              </a:rPr>
              <a:t>فرآیند ارتباطی</a:t>
            </a:r>
            <a:endParaRPr lang="en-US" sz="800" dirty="0"/>
          </a:p>
        </p:txBody>
      </p:sp>
      <p:sp>
        <p:nvSpPr>
          <p:cNvPr id="41" name="Text 39"/>
          <p:cNvSpPr/>
          <p:nvPr/>
        </p:nvSpPr>
        <p:spPr>
          <a:xfrm>
            <a:off x="7000763" y="4483596"/>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42" name="Text 40"/>
          <p:cNvSpPr/>
          <p:nvPr/>
        </p:nvSpPr>
        <p:spPr>
          <a:xfrm>
            <a:off x="4736864" y="4410966"/>
            <a:ext cx="1310320" cy="245274"/>
          </a:xfrm>
          <a:prstGeom prst="roundRect">
            <a:avLst>
              <a:gd name="adj" fmla="val 3879529"/>
            </a:avLst>
          </a:prstGeom>
          <a:solidFill>
            <a:srgbClr val="FFFFFF">
              <a:alpha val="8000"/>
            </a:srgbClr>
          </a:solidFill>
          <a:ln w="7144">
            <a:solidFill>
              <a:srgbClr val="D4F1ED"/>
            </a:solidFill>
            <a:prstDash val="solid"/>
          </a:ln>
        </p:spPr>
        <p:txBody>
          <a:bodyPr wrap="square" rtlCol="0" anchor="ctr"/>
          <a:lstStyle/>
          <a:p>
            <a:pPr marL="0" indent="0">
              <a:buNone/>
            </a:pPr>
            <a:endParaRPr lang="en-US" dirty="0"/>
          </a:p>
        </p:txBody>
      </p:sp>
      <p:sp>
        <p:nvSpPr>
          <p:cNvPr id="43" name="Text 41"/>
          <p:cNvSpPr/>
          <p:nvPr/>
        </p:nvSpPr>
        <p:spPr>
          <a:xfrm>
            <a:off x="4829733" y="4480917"/>
            <a:ext cx="1246026" cy="122895"/>
          </a:xfrm>
          <a:prstGeom prst="rect">
            <a:avLst/>
          </a:prstGeom>
          <a:noFill/>
          <a:ln/>
        </p:spPr>
        <p:txBody>
          <a:bodyPr wrap="none" lIns="0" tIns="0" rIns="0" bIns="0" rtlCol="0" anchor="t"/>
          <a:lstStyle/>
          <a:p>
            <a:pPr marL="0" indent="0" algn="l">
              <a:lnSpc>
                <a:spcPts val="1055"/>
              </a:lnSpc>
              <a:buNone/>
            </a:pPr>
            <a:r>
              <a:rPr lang="en-US" sz="800" dirty="0">
                <a:solidFill>
                  <a:srgbClr val="E6F1F8"/>
                </a:solidFill>
                <a:latin typeface="Carlito" pitchFamily="34" charset="0"/>
                <a:ea typeface="Carlito" pitchFamily="34" charset="-122"/>
                <a:cs typeface="Carlito" pitchFamily="34" charset="-120"/>
              </a:rPr>
              <a:t>پاسخ به نیاز فراگیر</a:t>
            </a:r>
            <a:endParaRPr lang="en-US" sz="800" dirty="0"/>
          </a:p>
        </p:txBody>
      </p:sp>
      <p:sp>
        <p:nvSpPr>
          <p:cNvPr id="44" name="Text 42"/>
          <p:cNvSpPr/>
          <p:nvPr/>
        </p:nvSpPr>
        <p:spPr>
          <a:xfrm>
            <a:off x="5854303" y="4483596"/>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45" name="Text 43"/>
          <p:cNvSpPr/>
          <p:nvPr/>
        </p:nvSpPr>
        <p:spPr>
          <a:xfrm>
            <a:off x="2828813" y="4427339"/>
            <a:ext cx="1847329" cy="212527"/>
          </a:xfrm>
          <a:prstGeom prst="roundRect">
            <a:avLst>
              <a:gd name="adj" fmla="val 4477302"/>
            </a:avLst>
          </a:prstGeom>
          <a:solidFill>
            <a:srgbClr val="FFFFFF">
              <a:alpha val="8000"/>
            </a:srgbClr>
          </a:solidFill>
          <a:ln w="7144">
            <a:solidFill>
              <a:srgbClr val="D4F1ED"/>
            </a:solidFill>
            <a:prstDash val="solid"/>
          </a:ln>
        </p:spPr>
        <p:txBody>
          <a:bodyPr wrap="square" rtlCol="0" anchor="ctr"/>
          <a:lstStyle/>
          <a:p>
            <a:pPr marL="0" indent="0">
              <a:buNone/>
            </a:pPr>
            <a:endParaRPr lang="en-US" dirty="0"/>
          </a:p>
        </p:txBody>
      </p:sp>
      <p:sp>
        <p:nvSpPr>
          <p:cNvPr id="46" name="Text 44"/>
          <p:cNvSpPr/>
          <p:nvPr/>
        </p:nvSpPr>
        <p:spPr>
          <a:xfrm>
            <a:off x="2918110" y="4480917"/>
            <a:ext cx="1790179" cy="122895"/>
          </a:xfrm>
          <a:prstGeom prst="rect">
            <a:avLst/>
          </a:prstGeom>
          <a:noFill/>
          <a:ln/>
        </p:spPr>
        <p:txBody>
          <a:bodyPr wrap="none" lIns="85725" tIns="35719" rIns="85725" bIns="35719" rtlCol="0" anchor="t"/>
          <a:lstStyle/>
          <a:p>
            <a:pPr marL="0" indent="0" algn="l">
              <a:lnSpc>
                <a:spcPts val="1055"/>
              </a:lnSpc>
              <a:buNone/>
            </a:pPr>
            <a:r>
              <a:rPr lang="en-US" sz="800" dirty="0">
                <a:solidFill>
                  <a:srgbClr val="E6F1F8"/>
                </a:solidFill>
                <a:latin typeface="Carlito" pitchFamily="34" charset="0"/>
                <a:ea typeface="Carlito" pitchFamily="34" charset="-122"/>
                <a:cs typeface="Carlito" pitchFamily="34" charset="-120"/>
              </a:rPr>
              <a:t>نیاز به ارتباط معلم-یادگیرنده</a:t>
            </a:r>
            <a:endParaRPr lang="en-US" sz="800" dirty="0"/>
          </a:p>
        </p:txBody>
      </p:sp>
      <p:sp>
        <p:nvSpPr>
          <p:cNvPr id="47" name="Text 45"/>
          <p:cNvSpPr/>
          <p:nvPr/>
        </p:nvSpPr>
        <p:spPr>
          <a:xfrm>
            <a:off x="4486833" y="4483596"/>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48" name="Text 46"/>
          <p:cNvSpPr/>
          <p:nvPr/>
        </p:nvSpPr>
        <p:spPr>
          <a:xfrm>
            <a:off x="1678781" y="4410966"/>
            <a:ext cx="1089310" cy="245274"/>
          </a:xfrm>
          <a:prstGeom prst="roundRect">
            <a:avLst>
              <a:gd name="adj" fmla="val 3879529"/>
            </a:avLst>
          </a:prstGeom>
          <a:solidFill>
            <a:srgbClr val="FFFFFF">
              <a:alpha val="8000"/>
            </a:srgbClr>
          </a:solidFill>
          <a:ln w="7144">
            <a:solidFill>
              <a:srgbClr val="D4F1ED"/>
            </a:solidFill>
            <a:prstDash val="solid"/>
          </a:ln>
        </p:spPr>
        <p:txBody>
          <a:bodyPr wrap="square" rtlCol="0" anchor="ctr"/>
          <a:lstStyle/>
          <a:p>
            <a:pPr marL="0" indent="0">
              <a:buNone/>
            </a:pPr>
            <a:endParaRPr lang="en-US" dirty="0"/>
          </a:p>
        </p:txBody>
      </p:sp>
      <p:sp>
        <p:nvSpPr>
          <p:cNvPr id="49" name="Text 47"/>
          <p:cNvSpPr/>
          <p:nvPr/>
        </p:nvSpPr>
        <p:spPr>
          <a:xfrm>
            <a:off x="1771650" y="4480917"/>
            <a:ext cx="1025017" cy="122895"/>
          </a:xfrm>
          <a:prstGeom prst="rect">
            <a:avLst/>
          </a:prstGeom>
          <a:noFill/>
          <a:ln/>
        </p:spPr>
        <p:txBody>
          <a:bodyPr wrap="none" lIns="0" tIns="0" rIns="0" bIns="0" rtlCol="0" anchor="t"/>
          <a:lstStyle/>
          <a:p>
            <a:pPr marL="0" indent="0" algn="l">
              <a:lnSpc>
                <a:spcPts val="1055"/>
              </a:lnSpc>
              <a:buNone/>
            </a:pPr>
            <a:r>
              <a:rPr lang="en-US" sz="800" dirty="0">
                <a:solidFill>
                  <a:srgbClr val="E6F1F8"/>
                </a:solidFill>
                <a:latin typeface="Carlito" pitchFamily="34" charset="0"/>
                <a:ea typeface="Carlito" pitchFamily="34" charset="-122"/>
                <a:cs typeface="Carlito" pitchFamily="34" charset="-120"/>
              </a:rPr>
              <a:t>فعالیت آگاهانه</a:t>
            </a:r>
            <a:endParaRPr lang="en-US" sz="800" dirty="0"/>
          </a:p>
        </p:txBody>
      </p:sp>
      <p:sp>
        <p:nvSpPr>
          <p:cNvPr id="50" name="Text 48"/>
          <p:cNvSpPr/>
          <p:nvPr/>
        </p:nvSpPr>
        <p:spPr>
          <a:xfrm>
            <a:off x="2575210" y="4483596"/>
            <a:ext cx="100013" cy="100013"/>
          </a:xfrm>
          <a:prstGeom prst="rect">
            <a:avLst/>
          </a:prstGeom>
          <a:noFill/>
          <a:ln/>
        </p:spPr>
        <p:txBody>
          <a:bodyPr wrap="none" lIns="0" tIns="0" rIns="0" bIns="0" rtlCol="0" anchor="ctr"/>
          <a:lstStyle/>
          <a:p>
            <a:pPr marL="0" indent="0" algn="ctr">
              <a:buNone/>
            </a:pPr>
            <a:r>
              <a:rPr lang="en-US" sz="984" dirty="0">
                <a:solidFill>
                  <a:srgbClr val="2A9D8F"/>
                </a:solidFill>
                <a:latin typeface="Segoe UI Symbol" pitchFamily="34" charset="0"/>
                <a:ea typeface="Segoe UI Symbol" pitchFamily="34" charset="-122"/>
                <a:cs typeface="Segoe UI Symbol" pitchFamily="34" charset="-120"/>
              </a:rPr>
              <a:t>◯</a:t>
            </a:r>
            <a:endParaRPr lang="en-US" sz="984" dirty="0"/>
          </a:p>
        </p:txBody>
      </p:sp>
      <p:sp>
        <p:nvSpPr>
          <p:cNvPr id="51" name="Shape 49"/>
          <p:cNvSpPr/>
          <p:nvPr/>
        </p:nvSpPr>
        <p:spPr>
          <a:xfrm>
            <a:off x="457200" y="4825603"/>
            <a:ext cx="8229600" cy="0"/>
          </a:xfrm>
          <a:prstGeom prst="line">
            <a:avLst/>
          </a:prstGeom>
          <a:noFill/>
          <a:ln w="7144">
            <a:solidFill>
              <a:srgbClr val="D8E3EC"/>
            </a:solidFill>
            <a:prstDash val="solid"/>
          </a:ln>
        </p:spPr>
      </p:sp>
      <p:sp>
        <p:nvSpPr>
          <p:cNvPr id="52" name="Text 50"/>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53" name="Text 51"/>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۱۰ از ۲۲</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4729051" y="400050"/>
            <a:ext cx="3957749"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آموزش در برابر یادگیری</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۱۱ / ۲۲</a:t>
            </a:r>
            <a:endParaRPr lang="en-US" sz="1013" dirty="0"/>
          </a:p>
        </p:txBody>
      </p:sp>
      <p:sp>
        <p:nvSpPr>
          <p:cNvPr id="7" name="Text 5"/>
          <p:cNvSpPr/>
          <p:nvPr/>
        </p:nvSpPr>
        <p:spPr>
          <a:xfrm>
            <a:off x="457200" y="1074353"/>
            <a:ext cx="8229600" cy="222175"/>
          </a:xfrm>
          <a:prstGeom prst="rect">
            <a:avLst/>
          </a:prstGeom>
          <a:noFill/>
          <a:ln/>
        </p:spPr>
        <p:txBody>
          <a:bodyPr wrap="square" lIns="0" tIns="0" rIns="0" bIns="0" rtlCol="0" anchor="t"/>
          <a:lstStyle/>
          <a:p>
            <a:pPr marL="0" indent="0" algn="l">
              <a:lnSpc>
                <a:spcPts val="1620"/>
              </a:lnSpc>
              <a:buNone/>
            </a:pPr>
            <a:r>
              <a:rPr lang="en-US" sz="900" dirty="0">
                <a:solidFill>
                  <a:srgbClr val="1A2733"/>
                </a:solidFill>
                <a:latin typeface="Carlito" pitchFamily="34" charset="0"/>
                <a:ea typeface="Carlito" pitchFamily="34" charset="-122"/>
                <a:cs typeface="Carlito" pitchFamily="34" charset="-120"/>
              </a:rPr>
              <a:t>آموزش و یادگیری دو فرآیند مستقل اما مرتبط به هم هستند. درک تفاوت آن‌ها برای طراحی آموزش مؤثر ضروری است.</a:t>
            </a:r>
            <a:endParaRPr lang="en-US" sz="900" dirty="0"/>
          </a:p>
        </p:txBody>
      </p:sp>
      <p:pic>
        <p:nvPicPr>
          <p:cNvPr id="8" name="Image 0" descr="preencoded.png"/>
          <p:cNvPicPr>
            <a:picLocks noChangeAspect="1"/>
          </p:cNvPicPr>
          <p:nvPr/>
        </p:nvPicPr>
        <p:blipFill>
          <a:blip r:embed="rId3"/>
          <a:stretch>
            <a:fillRect/>
          </a:stretch>
        </p:blipFill>
        <p:spPr>
          <a:xfrm>
            <a:off x="4643438" y="1365796"/>
            <a:ext cx="4043363" cy="2877592"/>
          </a:xfrm>
          <a:prstGeom prst="rect">
            <a:avLst/>
          </a:prstGeom>
        </p:spPr>
      </p:pic>
      <p:sp>
        <p:nvSpPr>
          <p:cNvPr id="9" name="Text 6"/>
          <p:cNvSpPr/>
          <p:nvPr/>
        </p:nvSpPr>
        <p:spPr>
          <a:xfrm>
            <a:off x="4647009" y="1369368"/>
            <a:ext cx="4036219" cy="2870448"/>
          </a:xfrm>
          <a:prstGeom prst="roundRect">
            <a:avLst>
              <a:gd name="adj" fmla="val 5973"/>
            </a:avLst>
          </a:prstGeom>
          <a:noFill/>
          <a:ln w="7144">
            <a:solidFill>
              <a:srgbClr val="D4F1ED"/>
            </a:solidFill>
            <a:prstDash val="solid"/>
          </a:ln>
          <a:effectLst>
            <a:outerShdw blurRad="133350" dist="38100" dir="5400000" algn="bl" rotWithShape="0">
              <a:srgbClr val="1B4965">
                <a:alpha val="6000"/>
              </a:srgbClr>
            </a:outerShdw>
          </a:effectLst>
        </p:spPr>
        <p:txBody>
          <a:bodyPr wrap="square" rtlCol="0" anchor="ctr"/>
          <a:lstStyle/>
          <a:p>
            <a:pPr marL="0" indent="0">
              <a:buNone/>
            </a:pPr>
            <a:endParaRPr lang="en-US" dirty="0"/>
          </a:p>
        </p:txBody>
      </p:sp>
      <p:sp>
        <p:nvSpPr>
          <p:cNvPr id="10" name="Shape 7"/>
          <p:cNvSpPr/>
          <p:nvPr/>
        </p:nvSpPr>
        <p:spPr>
          <a:xfrm>
            <a:off x="4807744" y="2008733"/>
            <a:ext cx="3714750" cy="0"/>
          </a:xfrm>
          <a:prstGeom prst="line">
            <a:avLst/>
          </a:prstGeom>
          <a:noFill/>
          <a:ln w="14288">
            <a:solidFill>
              <a:srgbClr val="D4F1ED"/>
            </a:solidFill>
            <a:prstDash val="dash"/>
          </a:ln>
        </p:spPr>
      </p:sp>
      <p:sp>
        <p:nvSpPr>
          <p:cNvPr id="11" name="Text 8"/>
          <p:cNvSpPr/>
          <p:nvPr/>
        </p:nvSpPr>
        <p:spPr>
          <a:xfrm>
            <a:off x="8151019" y="1530102"/>
            <a:ext cx="371475" cy="371475"/>
          </a:xfrm>
          <a:prstGeom prst="roundRect">
            <a:avLst>
              <a:gd name="adj" fmla="val 35897"/>
            </a:avLst>
          </a:prstGeom>
          <a:solidFill>
            <a:srgbClr val="2A9D8F"/>
          </a:solidFill>
          <a:ln/>
        </p:spPr>
        <p:txBody>
          <a:bodyPr wrap="square" rtlCol="0" anchor="ctr"/>
          <a:lstStyle/>
          <a:p>
            <a:pPr marL="0" indent="0">
              <a:buNone/>
            </a:pPr>
            <a:endParaRPr lang="en-US" dirty="0"/>
          </a:p>
        </p:txBody>
      </p:sp>
      <p:sp>
        <p:nvSpPr>
          <p:cNvPr id="12" name="Text 9"/>
          <p:cNvSpPr/>
          <p:nvPr/>
        </p:nvSpPr>
        <p:spPr>
          <a:xfrm>
            <a:off x="8191738" y="1570821"/>
            <a:ext cx="290036" cy="290036"/>
          </a:xfrm>
          <a:prstGeom prst="rect">
            <a:avLst/>
          </a:prstGeom>
          <a:noFill/>
          <a:ln/>
        </p:spPr>
        <p:txBody>
          <a:bodyPr wrap="none" lIns="0" tIns="0" rIns="0" bIns="0" rtlCol="0" anchor="ctr"/>
          <a:lstStyle/>
          <a:p>
            <a:pPr marL="0" indent="0" algn="ctr">
              <a:buNone/>
            </a:pPr>
            <a:r>
              <a:rPr lang="en-US" sz="1969" dirty="0">
                <a:solidFill>
                  <a:srgbClr val="FFFFFF"/>
                </a:solidFill>
                <a:latin typeface="Segoe UI Symbol" pitchFamily="34" charset="0"/>
                <a:ea typeface="Segoe UI Symbol" pitchFamily="34" charset="-122"/>
                <a:cs typeface="Segoe UI Symbol" pitchFamily="34" charset="-120"/>
              </a:rPr>
              <a:t>◯</a:t>
            </a:r>
            <a:endParaRPr lang="en-US" sz="1969" dirty="0"/>
          </a:p>
        </p:txBody>
      </p:sp>
      <p:sp>
        <p:nvSpPr>
          <p:cNvPr id="13" name="Text 10"/>
          <p:cNvSpPr/>
          <p:nvPr/>
        </p:nvSpPr>
        <p:spPr>
          <a:xfrm>
            <a:off x="6863135" y="1541487"/>
            <a:ext cx="1538764" cy="192573"/>
          </a:xfrm>
          <a:prstGeom prst="rect">
            <a:avLst/>
          </a:prstGeom>
          <a:noFill/>
          <a:ln/>
        </p:spPr>
        <p:txBody>
          <a:bodyPr wrap="none" lIns="0" tIns="0" rIns="0" bIns="0" rtlCol="0" anchor="t">
            <a:normAutofit/>
          </a:bodyPr>
          <a:lstStyle/>
          <a:p>
            <a:pPr marL="0" indent="0" algn="l">
              <a:lnSpc>
                <a:spcPts val="1620"/>
              </a:lnSpc>
              <a:buNone/>
            </a:pPr>
            <a:r>
              <a:rPr lang="en-US" sz="1350" b="1" dirty="0">
                <a:solidFill>
                  <a:srgbClr val="2A9D8F"/>
                </a:solidFill>
                <a:latin typeface="Carlito" pitchFamily="34" charset="0"/>
                <a:ea typeface="Carlito" pitchFamily="34" charset="-122"/>
                <a:cs typeface="Carlito" pitchFamily="34" charset="-120"/>
              </a:rPr>
              <a:t>یادگیری</a:t>
            </a:r>
            <a:endParaRPr lang="en-US" sz="1350" dirty="0"/>
          </a:p>
        </p:txBody>
      </p:sp>
      <p:sp>
        <p:nvSpPr>
          <p:cNvPr id="14" name="Text 11"/>
          <p:cNvSpPr/>
          <p:nvPr/>
        </p:nvSpPr>
        <p:spPr>
          <a:xfrm>
            <a:off x="6863135" y="1761492"/>
            <a:ext cx="1373091" cy="140084"/>
          </a:xfrm>
          <a:prstGeom prst="rect">
            <a:avLst/>
          </a:prstGeom>
          <a:noFill/>
          <a:ln/>
        </p:spPr>
        <p:txBody>
          <a:bodyPr wrap="none" lIns="0" tIns="0" rIns="0" bIns="0" rtlCol="0" anchor="t"/>
          <a:lstStyle/>
          <a:p>
            <a:pPr marL="0" indent="0" algn="l">
              <a:lnSpc>
                <a:spcPts val="1013"/>
              </a:lnSpc>
              <a:buNone/>
            </a:pPr>
            <a:r>
              <a:rPr lang="en-US" sz="800" b="1" kern="0" spc="34" dirty="0">
                <a:solidFill>
                  <a:srgbClr val="2A9D8F">
                    <a:alpha val="70000"/>
                  </a:srgbClr>
                </a:solidFill>
                <a:latin typeface="Carlito" pitchFamily="34" charset="0"/>
                <a:ea typeface="Carlito" pitchFamily="34" charset="-122"/>
                <a:cs typeface="Carlito" pitchFamily="34" charset="-120"/>
              </a:rPr>
              <a:t>LEARNING — فرآیند درونی</a:t>
            </a:r>
            <a:endParaRPr lang="en-US" sz="800" dirty="0"/>
          </a:p>
        </p:txBody>
      </p:sp>
      <p:sp>
        <p:nvSpPr>
          <p:cNvPr id="15" name="Text 12"/>
          <p:cNvSpPr/>
          <p:nvPr/>
        </p:nvSpPr>
        <p:spPr>
          <a:xfrm>
            <a:off x="4807744" y="2115889"/>
            <a:ext cx="3714750" cy="2449873"/>
          </a:xfrm>
          <a:prstGeom prst="rect">
            <a:avLst/>
          </a:prstGeom>
          <a:noFill/>
          <a:ln/>
        </p:spPr>
        <p:txBody>
          <a:bodyPr wrap="square" lIns="0" tIns="0" rIns="0" bIns="0" rtlCol="0" anchor="t"/>
          <a:lstStyle/>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☻معطوف به یادگیرنده</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✦فعالیتی از سوی یادگیرنده</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✦می‌تواند غیرفعال یا اتفاقی باشد</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⚑هدف نهایی است</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▦در مغز فرد رخ می‌دهد</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⊘غیرقابل مشاهده مستقیم</a:t>
            </a:r>
            <a:endParaRPr lang="en-US" sz="872" dirty="0"/>
          </a:p>
        </p:txBody>
      </p:sp>
      <p:pic>
        <p:nvPicPr>
          <p:cNvPr id="16" name="Image 1" descr="preencoded.png"/>
          <p:cNvPicPr>
            <a:picLocks noChangeAspect="1"/>
          </p:cNvPicPr>
          <p:nvPr/>
        </p:nvPicPr>
        <p:blipFill>
          <a:blip r:embed="rId4"/>
          <a:stretch>
            <a:fillRect/>
          </a:stretch>
        </p:blipFill>
        <p:spPr>
          <a:xfrm>
            <a:off x="457200" y="1365796"/>
            <a:ext cx="4043363" cy="2877592"/>
          </a:xfrm>
          <a:prstGeom prst="rect">
            <a:avLst/>
          </a:prstGeom>
        </p:spPr>
      </p:pic>
      <p:sp>
        <p:nvSpPr>
          <p:cNvPr id="17" name="Text 13"/>
          <p:cNvSpPr/>
          <p:nvPr/>
        </p:nvSpPr>
        <p:spPr>
          <a:xfrm>
            <a:off x="460772" y="1369368"/>
            <a:ext cx="4036219" cy="2870448"/>
          </a:xfrm>
          <a:prstGeom prst="roundRect">
            <a:avLst>
              <a:gd name="adj" fmla="val 5973"/>
            </a:avLst>
          </a:prstGeom>
          <a:noFill/>
          <a:ln w="7144">
            <a:solidFill>
              <a:srgbClr val="CDE7F0"/>
            </a:solidFill>
            <a:prstDash val="solid"/>
          </a:ln>
          <a:effectLst>
            <a:outerShdw blurRad="133350" dist="38100" dir="5400000" algn="bl" rotWithShape="0">
              <a:srgbClr val="1B4965">
                <a:alpha val="6000"/>
              </a:srgbClr>
            </a:outerShdw>
          </a:effectLst>
        </p:spPr>
        <p:txBody>
          <a:bodyPr wrap="square" rtlCol="0" anchor="ctr"/>
          <a:lstStyle/>
          <a:p>
            <a:pPr marL="0" indent="0">
              <a:buNone/>
            </a:pPr>
            <a:endParaRPr lang="en-US" dirty="0"/>
          </a:p>
        </p:txBody>
      </p:sp>
      <p:sp>
        <p:nvSpPr>
          <p:cNvPr id="18" name="Shape 14"/>
          <p:cNvSpPr/>
          <p:nvPr/>
        </p:nvSpPr>
        <p:spPr>
          <a:xfrm>
            <a:off x="621506" y="2008733"/>
            <a:ext cx="3714750" cy="0"/>
          </a:xfrm>
          <a:prstGeom prst="line">
            <a:avLst/>
          </a:prstGeom>
          <a:noFill/>
          <a:ln w="14288">
            <a:solidFill>
              <a:srgbClr val="CDE7F0"/>
            </a:solidFill>
            <a:prstDash val="dash"/>
          </a:ln>
        </p:spPr>
      </p:sp>
      <p:sp>
        <p:nvSpPr>
          <p:cNvPr id="19" name="Text 15"/>
          <p:cNvSpPr/>
          <p:nvPr/>
        </p:nvSpPr>
        <p:spPr>
          <a:xfrm>
            <a:off x="3964781" y="1530102"/>
            <a:ext cx="371475" cy="371475"/>
          </a:xfrm>
          <a:prstGeom prst="roundRect">
            <a:avLst>
              <a:gd name="adj" fmla="val 35897"/>
            </a:avLst>
          </a:prstGeom>
          <a:solidFill>
            <a:srgbClr val="1B4965"/>
          </a:solidFill>
          <a:ln/>
        </p:spPr>
        <p:txBody>
          <a:bodyPr wrap="square" rtlCol="0" anchor="ctr"/>
          <a:lstStyle/>
          <a:p>
            <a:pPr marL="0" indent="0">
              <a:buNone/>
            </a:pPr>
            <a:endParaRPr lang="en-US" dirty="0"/>
          </a:p>
        </p:txBody>
      </p:sp>
      <p:sp>
        <p:nvSpPr>
          <p:cNvPr id="20" name="Text 16"/>
          <p:cNvSpPr/>
          <p:nvPr/>
        </p:nvSpPr>
        <p:spPr>
          <a:xfrm>
            <a:off x="4005501" y="1570821"/>
            <a:ext cx="290036" cy="290036"/>
          </a:xfrm>
          <a:prstGeom prst="rect">
            <a:avLst/>
          </a:prstGeom>
          <a:noFill/>
          <a:ln/>
        </p:spPr>
        <p:txBody>
          <a:bodyPr wrap="none" lIns="0" tIns="0" rIns="0" bIns="0" rtlCol="0" anchor="ctr"/>
          <a:lstStyle/>
          <a:p>
            <a:pPr marL="0" indent="0" algn="ctr">
              <a:buNone/>
            </a:pPr>
            <a:r>
              <a:rPr lang="en-US" sz="1969" dirty="0">
                <a:solidFill>
                  <a:srgbClr val="FFFFFF"/>
                </a:solidFill>
                <a:latin typeface="Segoe UI Symbol" pitchFamily="34" charset="0"/>
                <a:ea typeface="Segoe UI Symbol" pitchFamily="34" charset="-122"/>
                <a:cs typeface="Segoe UI Symbol" pitchFamily="34" charset="-120"/>
              </a:rPr>
              <a:t>◖</a:t>
            </a:r>
            <a:endParaRPr lang="en-US" sz="1969" dirty="0"/>
          </a:p>
        </p:txBody>
      </p:sp>
      <p:sp>
        <p:nvSpPr>
          <p:cNvPr id="21" name="Text 17"/>
          <p:cNvSpPr/>
          <p:nvPr/>
        </p:nvSpPr>
        <p:spPr>
          <a:xfrm>
            <a:off x="2626891" y="1541487"/>
            <a:ext cx="1709365" cy="192573"/>
          </a:xfrm>
          <a:prstGeom prst="rect">
            <a:avLst/>
          </a:prstGeom>
          <a:noFill/>
          <a:ln/>
        </p:spPr>
        <p:txBody>
          <a:bodyPr wrap="none" lIns="0" tIns="0" rIns="0" bIns="0" rtlCol="0" anchor="t">
            <a:normAutofit/>
          </a:bodyPr>
          <a:lstStyle/>
          <a:p>
            <a:pPr marL="0" indent="0" algn="l">
              <a:lnSpc>
                <a:spcPts val="1620"/>
              </a:lnSpc>
              <a:buNone/>
            </a:pPr>
            <a:r>
              <a:rPr lang="en-US" sz="1350" b="1" dirty="0">
                <a:solidFill>
                  <a:srgbClr val="1B4965"/>
                </a:solidFill>
                <a:latin typeface="Carlito" pitchFamily="34" charset="0"/>
                <a:ea typeface="Carlito" pitchFamily="34" charset="-122"/>
                <a:cs typeface="Carlito" pitchFamily="34" charset="-120"/>
              </a:rPr>
              <a:t>آموزش</a:t>
            </a:r>
            <a:endParaRPr lang="en-US" sz="1350" dirty="0"/>
          </a:p>
        </p:txBody>
      </p:sp>
      <p:sp>
        <p:nvSpPr>
          <p:cNvPr id="22" name="Text 18"/>
          <p:cNvSpPr/>
          <p:nvPr/>
        </p:nvSpPr>
        <p:spPr>
          <a:xfrm>
            <a:off x="2626891" y="1761492"/>
            <a:ext cx="1430208" cy="140084"/>
          </a:xfrm>
          <a:prstGeom prst="rect">
            <a:avLst/>
          </a:prstGeom>
          <a:noFill/>
          <a:ln/>
        </p:spPr>
        <p:txBody>
          <a:bodyPr wrap="none" lIns="0" tIns="0" rIns="0" bIns="0" rtlCol="0" anchor="t"/>
          <a:lstStyle/>
          <a:p>
            <a:pPr marL="0" indent="0" algn="l">
              <a:lnSpc>
                <a:spcPts val="1013"/>
              </a:lnSpc>
              <a:buNone/>
            </a:pPr>
            <a:r>
              <a:rPr lang="en-US" sz="800" b="1" kern="0" spc="34" dirty="0">
                <a:solidFill>
                  <a:srgbClr val="1B4965">
                    <a:alpha val="70000"/>
                  </a:srgbClr>
                </a:solidFill>
                <a:latin typeface="Carlito" pitchFamily="34" charset="0"/>
                <a:ea typeface="Carlito" pitchFamily="34" charset="-122"/>
                <a:cs typeface="Carlito" pitchFamily="34" charset="-120"/>
              </a:rPr>
              <a:t>TEACHING — فرآیند بیرونی</a:t>
            </a:r>
            <a:endParaRPr lang="en-US" sz="800" dirty="0"/>
          </a:p>
        </p:txBody>
      </p:sp>
      <p:sp>
        <p:nvSpPr>
          <p:cNvPr id="23" name="Text 19"/>
          <p:cNvSpPr/>
          <p:nvPr/>
        </p:nvSpPr>
        <p:spPr>
          <a:xfrm>
            <a:off x="621506" y="2115889"/>
            <a:ext cx="3714750" cy="2449873"/>
          </a:xfrm>
          <a:prstGeom prst="rect">
            <a:avLst/>
          </a:prstGeom>
          <a:noFill/>
          <a:ln/>
        </p:spPr>
        <p:txBody>
          <a:bodyPr wrap="square" lIns="0" tIns="0" rIns="0" bIns="0" rtlCol="0" anchor="t"/>
          <a:lstStyle/>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✚معطوف به معلم/پرستار</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◖فعالیتی از سوی معلم</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❄فرآیندی آگاهانه و طراحی‌شده</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⫯وسیله رسیدن به هدف</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✦در تعامل رخ می‌دهد</a:t>
            </a:r>
            <a:endParaRPr lang="en-US" sz="872" dirty="0"/>
          </a:p>
          <a:p>
            <a:pPr marL="342900" indent="-342900" algn="l">
              <a:lnSpc>
                <a:spcPts val="1351"/>
              </a:lnSpc>
              <a:spcAft>
                <a:spcPts val="563"/>
              </a:spcAft>
              <a:buSzPct val="100000"/>
              <a:buChar char="•"/>
            </a:pPr>
            <a:r>
              <a:rPr lang="en-US" sz="872" dirty="0">
                <a:solidFill>
                  <a:srgbClr val="1A2733"/>
                </a:solidFill>
                <a:latin typeface="Carlito" pitchFamily="34" charset="0"/>
                <a:ea typeface="Carlito" pitchFamily="34" charset="-122"/>
                <a:cs typeface="Carlito" pitchFamily="34" charset="-120"/>
              </a:rPr>
              <a:t>⊖همیشه به یادگیری ختم نمی‌شود</a:t>
            </a:r>
            <a:endParaRPr lang="en-US" sz="872" dirty="0"/>
          </a:p>
        </p:txBody>
      </p:sp>
      <p:pic>
        <p:nvPicPr>
          <p:cNvPr id="24" name="Image 2" descr="preencoded.png"/>
          <p:cNvPicPr>
            <a:picLocks noChangeAspect="1"/>
          </p:cNvPicPr>
          <p:nvPr/>
        </p:nvPicPr>
        <p:blipFill>
          <a:blip r:embed="rId5"/>
          <a:stretch>
            <a:fillRect/>
          </a:stretch>
        </p:blipFill>
        <p:spPr>
          <a:xfrm>
            <a:off x="457200" y="4329113"/>
            <a:ext cx="8229600" cy="414338"/>
          </a:xfrm>
          <a:prstGeom prst="rect">
            <a:avLst/>
          </a:prstGeom>
        </p:spPr>
      </p:pic>
      <p:sp>
        <p:nvSpPr>
          <p:cNvPr id="25" name="Text 20"/>
          <p:cNvSpPr/>
          <p:nvPr/>
        </p:nvSpPr>
        <p:spPr>
          <a:xfrm>
            <a:off x="8343900" y="4443413"/>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26" name="Text 21"/>
          <p:cNvSpPr/>
          <p:nvPr/>
        </p:nvSpPr>
        <p:spPr>
          <a:xfrm>
            <a:off x="2422401" y="4444864"/>
            <a:ext cx="5871493" cy="184286"/>
          </a:xfrm>
          <a:prstGeom prst="rect">
            <a:avLst/>
          </a:prstGeom>
          <a:noFill/>
          <a:ln/>
        </p:spPr>
        <p:txBody>
          <a:bodyPr wrap="square" lIns="0" tIns="0" rIns="0" bIns="0" rtlCol="0" anchor="t"/>
          <a:lstStyle/>
          <a:p>
            <a:pPr marL="0" indent="0" algn="l">
              <a:lnSpc>
                <a:spcPts val="1440"/>
              </a:lnSpc>
              <a:buNone/>
            </a:pPr>
            <a:r>
              <a:rPr lang="en-US" sz="900" b="1" dirty="0">
                <a:solidFill>
                  <a:srgbClr val="FFFFFF"/>
                </a:solidFill>
                <a:latin typeface="Carlito" pitchFamily="34" charset="0"/>
                <a:ea typeface="Carlito" pitchFamily="34" charset="-122"/>
                <a:cs typeface="Carlito" pitchFamily="34" charset="-120"/>
              </a:rPr>
              <a:t>یادگیری هدف است و آموزش وسیله رسیدن به آن هدف —</a:t>
            </a:r>
            <a:r>
              <a:rPr lang="en-US" sz="900" dirty="0">
                <a:solidFill>
                  <a:srgbClr val="FFFFFF"/>
                </a:solidFill>
                <a:latin typeface="Carlito" pitchFamily="34" charset="0"/>
                <a:ea typeface="Carlito" pitchFamily="34" charset="-122"/>
                <a:cs typeface="Carlito" pitchFamily="34" charset="-120"/>
              </a:rPr>
              <a:t> آموزش موفق زمانی است که به یادگیری منجر شود.</a:t>
            </a:r>
            <a:endParaRPr lang="en-US" sz="900" dirty="0"/>
          </a:p>
        </p:txBody>
      </p:sp>
      <p:sp>
        <p:nvSpPr>
          <p:cNvPr id="27" name="Shape 22"/>
          <p:cNvSpPr/>
          <p:nvPr/>
        </p:nvSpPr>
        <p:spPr>
          <a:xfrm>
            <a:off x="457200" y="4825603"/>
            <a:ext cx="8229600" cy="0"/>
          </a:xfrm>
          <a:prstGeom prst="line">
            <a:avLst/>
          </a:prstGeom>
          <a:noFill/>
          <a:ln w="7144">
            <a:solidFill>
              <a:srgbClr val="D8E3EC"/>
            </a:solidFill>
            <a:prstDash val="solid"/>
          </a:ln>
        </p:spPr>
      </p:sp>
      <p:sp>
        <p:nvSpPr>
          <p:cNvPr id="28" name="Text 23"/>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29" name="Text 24"/>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۱۱ از ۲۲</a:t>
            </a:r>
            <a:endParaRPr lang="en-US" sz="800" dirty="0"/>
          </a:p>
        </p:txBody>
      </p:sp>
      <p:sp>
        <p:nvSpPr>
          <p:cNvPr id="30" name="Text 25"/>
          <p:cNvSpPr/>
          <p:nvPr/>
        </p:nvSpPr>
        <p:spPr>
          <a:xfrm>
            <a:off x="4382691" y="2615282"/>
            <a:ext cx="378619" cy="378619"/>
          </a:xfrm>
          <a:prstGeom prst="ellipse">
            <a:avLst/>
          </a:prstGeom>
          <a:solidFill>
            <a:srgbClr val="0F2A3D"/>
          </a:solidFill>
          <a:ln w="21431">
            <a:solidFill>
              <a:srgbClr val="F4F8FB"/>
            </a:solidFill>
            <a:prstDash val="solid"/>
          </a:ln>
          <a:effectLst>
            <a:outerShdw blurRad="171450" dist="57150" dir="5400000" algn="bl" rotWithShape="0">
              <a:srgbClr val="0F2A3D">
                <a:alpha val="25000"/>
              </a:srgbClr>
            </a:outerShdw>
          </a:effectLst>
        </p:spPr>
        <p:txBody>
          <a:bodyPr wrap="square" rtlCol="0" anchor="ctr"/>
          <a:lstStyle/>
          <a:p>
            <a:pPr marL="0" indent="0">
              <a:buNone/>
            </a:pPr>
            <a:endParaRPr lang="en-US" dirty="0"/>
          </a:p>
        </p:txBody>
      </p:sp>
      <p:sp>
        <p:nvSpPr>
          <p:cNvPr id="31" name="Text 26"/>
          <p:cNvSpPr/>
          <p:nvPr/>
        </p:nvSpPr>
        <p:spPr>
          <a:xfrm>
            <a:off x="4371975" y="2604567"/>
            <a:ext cx="400050" cy="4000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Carlito" pitchFamily="34" charset="0"/>
                <a:ea typeface="Carlito" pitchFamily="34" charset="-122"/>
                <a:cs typeface="Carlito" pitchFamily="34" charset="-120"/>
              </a:rPr>
              <a:t>VS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4991026" y="400050"/>
            <a:ext cx="3695774"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مراحل فرآوری یادگیری</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۱۲ / ۲۲</a:t>
            </a:r>
            <a:endParaRPr lang="en-US" sz="1013" dirty="0"/>
          </a:p>
        </p:txBody>
      </p:sp>
      <p:sp>
        <p:nvSpPr>
          <p:cNvPr id="7" name="Text 5"/>
          <p:cNvSpPr/>
          <p:nvPr/>
        </p:nvSpPr>
        <p:spPr>
          <a:xfrm>
            <a:off x="457200" y="1074353"/>
            <a:ext cx="8229600" cy="444350"/>
          </a:xfrm>
          <a:prstGeom prst="rect">
            <a:avLst/>
          </a:prstGeom>
          <a:noFill/>
          <a:ln/>
        </p:spPr>
        <p:txBody>
          <a:bodyPr wrap="square" lIns="0" tIns="0" rIns="0" bIns="0" rtlCol="0" anchor="t"/>
          <a:lstStyle/>
          <a:p>
            <a:pPr marL="0" indent="0" algn="l">
              <a:lnSpc>
                <a:spcPts val="1620"/>
              </a:lnSpc>
              <a:buNone/>
            </a:pPr>
            <a:r>
              <a:rPr lang="en-US" sz="900" dirty="0">
                <a:solidFill>
                  <a:srgbClr val="1A2733"/>
                </a:solidFill>
                <a:latin typeface="Carlito" pitchFamily="34" charset="0"/>
                <a:ea typeface="Carlito" pitchFamily="34" charset="-122"/>
                <a:cs typeface="Carlito" pitchFamily="34" charset="-120"/>
              </a:rPr>
              <a:t>یادگیری زمانی اتفاق می‌افتد که اطلاعات دریافتی این چهار مرحله را به ترتیب طی کنند. هر مرحله برای یادگیری پایدار ضروری است و اختلال در هر یک، کل فرآیند را مختل می‌کند.</a:t>
            </a:r>
            <a:endParaRPr lang="en-US" sz="900" dirty="0"/>
          </a:p>
        </p:txBody>
      </p:sp>
      <p:sp>
        <p:nvSpPr>
          <p:cNvPr id="8" name="Text 6"/>
          <p:cNvSpPr/>
          <p:nvPr/>
        </p:nvSpPr>
        <p:spPr>
          <a:xfrm>
            <a:off x="6822281" y="1671526"/>
            <a:ext cx="1864519" cy="2649103"/>
          </a:xfrm>
          <a:prstGeom prst="roundRect">
            <a:avLst>
              <a:gd name="adj" fmla="val 8174"/>
            </a:avLst>
          </a:prstGeom>
          <a:solidFill>
            <a:srgbClr val="FFFFFF"/>
          </a:solidFill>
          <a:ln/>
          <a:effectLst>
            <a:outerShdw blurRad="133350" dist="38100" dir="5400000" algn="bl" rotWithShape="0">
              <a:srgbClr val="1B4965">
                <a:alpha val="7000"/>
              </a:srgbClr>
            </a:outerShdw>
          </a:effectLst>
        </p:spPr>
        <p:txBody>
          <a:bodyPr wrap="square" rtlCol="0" anchor="ctr"/>
          <a:lstStyle/>
          <a:p>
            <a:pPr marL="0" indent="0">
              <a:buNone/>
            </a:pPr>
            <a:endParaRPr lang="en-US" dirty="0"/>
          </a:p>
        </p:txBody>
      </p:sp>
      <p:sp>
        <p:nvSpPr>
          <p:cNvPr id="9" name="Shape 7"/>
          <p:cNvSpPr/>
          <p:nvPr/>
        </p:nvSpPr>
        <p:spPr>
          <a:xfrm>
            <a:off x="6822281" y="1685813"/>
            <a:ext cx="1864519" cy="0"/>
          </a:xfrm>
          <a:prstGeom prst="line">
            <a:avLst/>
          </a:prstGeom>
          <a:noFill/>
          <a:ln w="28575">
            <a:solidFill>
              <a:srgbClr val="1B4965"/>
            </a:solidFill>
            <a:prstDash val="solid"/>
          </a:ln>
        </p:spPr>
      </p:sp>
      <p:sp>
        <p:nvSpPr>
          <p:cNvPr id="10" name="Shape 8"/>
          <p:cNvSpPr/>
          <p:nvPr/>
        </p:nvSpPr>
        <p:spPr>
          <a:xfrm>
            <a:off x="8683228" y="1671526"/>
            <a:ext cx="0" cy="2649103"/>
          </a:xfrm>
          <a:prstGeom prst="line">
            <a:avLst/>
          </a:prstGeom>
          <a:noFill/>
          <a:ln w="7144">
            <a:solidFill>
              <a:srgbClr val="D8E3EC"/>
            </a:solidFill>
            <a:prstDash val="solid"/>
          </a:ln>
        </p:spPr>
      </p:sp>
      <p:sp>
        <p:nvSpPr>
          <p:cNvPr id="11" name="Shape 9"/>
          <p:cNvSpPr/>
          <p:nvPr/>
        </p:nvSpPr>
        <p:spPr>
          <a:xfrm>
            <a:off x="6822281" y="4317057"/>
            <a:ext cx="1864519" cy="0"/>
          </a:xfrm>
          <a:prstGeom prst="line">
            <a:avLst/>
          </a:prstGeom>
          <a:noFill/>
          <a:ln w="7144">
            <a:solidFill>
              <a:srgbClr val="D8E3EC"/>
            </a:solidFill>
            <a:prstDash val="solid"/>
          </a:ln>
        </p:spPr>
      </p:sp>
      <p:sp>
        <p:nvSpPr>
          <p:cNvPr id="12" name="Shape 10"/>
          <p:cNvSpPr/>
          <p:nvPr/>
        </p:nvSpPr>
        <p:spPr>
          <a:xfrm>
            <a:off x="6825853" y="1671526"/>
            <a:ext cx="0" cy="2649103"/>
          </a:xfrm>
          <a:prstGeom prst="line">
            <a:avLst/>
          </a:prstGeom>
          <a:noFill/>
          <a:ln w="7144">
            <a:solidFill>
              <a:srgbClr val="D8E3EC"/>
            </a:solidFill>
            <a:prstDash val="solid"/>
          </a:ln>
        </p:spPr>
      </p:sp>
      <p:sp>
        <p:nvSpPr>
          <p:cNvPr id="13" name="Text 11"/>
          <p:cNvSpPr/>
          <p:nvPr/>
        </p:nvSpPr>
        <p:spPr>
          <a:xfrm>
            <a:off x="8351044" y="1600088"/>
            <a:ext cx="228600" cy="228600"/>
          </a:xfrm>
          <a:prstGeom prst="ellipse">
            <a:avLst/>
          </a:prstGeom>
          <a:solidFill>
            <a:srgbClr val="1B4965"/>
          </a:solidFill>
          <a:ln/>
          <a:effectLst>
            <a:outerShdw blurRad="76200" dist="28575" dir="5400000" algn="bl" rotWithShape="0">
              <a:srgbClr val="1B4965">
                <a:alpha val="25000"/>
              </a:srgbClr>
            </a:outerShdw>
          </a:effectLst>
        </p:spPr>
        <p:txBody>
          <a:bodyPr wrap="square" rtlCol="0" anchor="ctr"/>
          <a:lstStyle/>
          <a:p>
            <a:pPr marL="0" indent="0">
              <a:buNone/>
            </a:pPr>
            <a:endParaRPr lang="en-US" dirty="0"/>
          </a:p>
        </p:txBody>
      </p:sp>
      <p:sp>
        <p:nvSpPr>
          <p:cNvPr id="14" name="Text 12"/>
          <p:cNvSpPr/>
          <p:nvPr/>
        </p:nvSpPr>
        <p:spPr>
          <a:xfrm>
            <a:off x="8351044" y="1600088"/>
            <a:ext cx="214313"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Carlito" pitchFamily="34" charset="0"/>
                <a:ea typeface="Carlito" pitchFamily="34" charset="-122"/>
                <a:cs typeface="Carlito" pitchFamily="34" charset="-120"/>
              </a:rPr>
              <a:t>۱</a:t>
            </a:r>
            <a:endParaRPr lang="en-US" sz="800" dirty="0"/>
          </a:p>
        </p:txBody>
      </p:sp>
      <p:sp>
        <p:nvSpPr>
          <p:cNvPr id="15" name="Text 13"/>
          <p:cNvSpPr/>
          <p:nvPr/>
        </p:nvSpPr>
        <p:spPr>
          <a:xfrm>
            <a:off x="8165306" y="1828688"/>
            <a:ext cx="400050" cy="400050"/>
          </a:xfrm>
          <a:prstGeom prst="roundRect">
            <a:avLst>
              <a:gd name="adj" fmla="val 33333"/>
            </a:avLst>
          </a:prstGeom>
          <a:solidFill>
            <a:srgbClr val="CDE7F0"/>
          </a:solidFill>
          <a:ln/>
        </p:spPr>
        <p:txBody>
          <a:bodyPr wrap="square" rtlCol="0" anchor="ctr"/>
          <a:lstStyle/>
          <a:p>
            <a:pPr marL="0" indent="0">
              <a:buNone/>
            </a:pPr>
            <a:endParaRPr lang="en-US" dirty="0"/>
          </a:p>
        </p:txBody>
      </p:sp>
      <p:sp>
        <p:nvSpPr>
          <p:cNvPr id="16" name="Text 14"/>
          <p:cNvSpPr/>
          <p:nvPr/>
        </p:nvSpPr>
        <p:spPr>
          <a:xfrm>
            <a:off x="8209955" y="1873337"/>
            <a:ext cx="310753" cy="310753"/>
          </a:xfrm>
          <a:prstGeom prst="rect">
            <a:avLst/>
          </a:prstGeom>
          <a:noFill/>
          <a:ln/>
        </p:spPr>
        <p:txBody>
          <a:bodyPr wrap="none" lIns="0" tIns="0" rIns="0" bIns="0" rtlCol="0" anchor="ctr"/>
          <a:lstStyle/>
          <a:p>
            <a:pPr marL="0" indent="0" algn="ctr">
              <a:buNone/>
            </a:pPr>
            <a:r>
              <a:rPr lang="en-US" sz="2109" dirty="0">
                <a:solidFill>
                  <a:srgbClr val="1B4965"/>
                </a:solidFill>
                <a:latin typeface="Segoe UI Symbol" pitchFamily="34" charset="0"/>
                <a:ea typeface="Segoe UI Symbol" pitchFamily="34" charset="-122"/>
                <a:cs typeface="Segoe UI Symbol" pitchFamily="34" charset="-120"/>
              </a:rPr>
              <a:t>✦</a:t>
            </a:r>
            <a:endParaRPr lang="en-US" sz="2109" dirty="0"/>
          </a:p>
        </p:txBody>
      </p:sp>
      <p:sp>
        <p:nvSpPr>
          <p:cNvPr id="17" name="Text 15"/>
          <p:cNvSpPr/>
          <p:nvPr/>
        </p:nvSpPr>
        <p:spPr>
          <a:xfrm>
            <a:off x="6943725" y="2300176"/>
            <a:ext cx="1621631" cy="9144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مرحله ۱</a:t>
            </a:r>
            <a:endParaRPr lang="en-US" sz="800" dirty="0"/>
          </a:p>
        </p:txBody>
      </p:sp>
      <p:sp>
        <p:nvSpPr>
          <p:cNvPr id="18" name="Text 16"/>
          <p:cNvSpPr/>
          <p:nvPr/>
        </p:nvSpPr>
        <p:spPr>
          <a:xfrm>
            <a:off x="6943725" y="2418048"/>
            <a:ext cx="1621631" cy="120801"/>
          </a:xfrm>
          <a:prstGeom prst="rect">
            <a:avLst/>
          </a:prstGeom>
          <a:noFill/>
          <a:ln/>
        </p:spPr>
        <p:txBody>
          <a:bodyPr wrap="none" lIns="0" tIns="0" rIns="0" bIns="0" rtlCol="0" anchor="t">
            <a:normAutofit/>
          </a:bodyPr>
          <a:lstStyle/>
          <a:p>
            <a:pPr marL="0" indent="0" algn="l">
              <a:lnSpc>
                <a:spcPts val="1336"/>
              </a:lnSpc>
              <a:buNone/>
            </a:pPr>
            <a:r>
              <a:rPr lang="en-US" sz="1069" b="1" dirty="0">
                <a:solidFill>
                  <a:srgbClr val="1B4965"/>
                </a:solidFill>
                <a:latin typeface="Carlito" pitchFamily="34" charset="0"/>
                <a:ea typeface="Carlito" pitchFamily="34" charset="-122"/>
                <a:cs typeface="Carlito" pitchFamily="34" charset="-120"/>
              </a:rPr>
              <a:t>فراگرفتن</a:t>
            </a:r>
            <a:endParaRPr lang="en-US" sz="1069" dirty="0"/>
          </a:p>
        </p:txBody>
      </p:sp>
      <p:sp>
        <p:nvSpPr>
          <p:cNvPr id="19" name="Text 17"/>
          <p:cNvSpPr/>
          <p:nvPr/>
        </p:nvSpPr>
        <p:spPr>
          <a:xfrm>
            <a:off x="6943725" y="2566281"/>
            <a:ext cx="1621631" cy="164592"/>
          </a:xfrm>
          <a:prstGeom prst="rect">
            <a:avLst/>
          </a:prstGeom>
          <a:noFill/>
          <a:ln/>
        </p:spPr>
        <p:txBody>
          <a:bodyPr wrap="none" lIns="0" tIns="0" rIns="0" bIns="0" rtlCol="0" anchor="t"/>
          <a:lstStyle/>
          <a:p>
            <a:pPr marL="0" indent="0" algn="l">
              <a:lnSpc>
                <a:spcPts val="970"/>
              </a:lnSpc>
              <a:buNone/>
            </a:pPr>
            <a:r>
              <a:rPr lang="en-US" sz="800" dirty="0">
                <a:solidFill>
                  <a:srgbClr val="5A6B7B"/>
                </a:solidFill>
                <a:latin typeface="Carlito" pitchFamily="34" charset="0"/>
                <a:ea typeface="Carlito" pitchFamily="34" charset="-122"/>
                <a:cs typeface="Carlito" pitchFamily="34" charset="-120"/>
              </a:rPr>
              <a:t>Acquisition</a:t>
            </a:r>
            <a:endParaRPr lang="en-US" sz="800" dirty="0"/>
          </a:p>
        </p:txBody>
      </p:sp>
      <p:sp>
        <p:nvSpPr>
          <p:cNvPr id="20" name="Text 18"/>
          <p:cNvSpPr/>
          <p:nvPr/>
        </p:nvSpPr>
        <p:spPr>
          <a:xfrm>
            <a:off x="6943725" y="2760948"/>
            <a:ext cx="1621631" cy="372872"/>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کسب اطلاعات از طریق حواس و ادراک. این مرحله پایه یادگیری است.</a:t>
            </a:r>
            <a:endParaRPr lang="en-US" sz="800" dirty="0"/>
          </a:p>
        </p:txBody>
      </p:sp>
      <p:sp>
        <p:nvSpPr>
          <p:cNvPr id="21" name="Text 19"/>
          <p:cNvSpPr/>
          <p:nvPr/>
        </p:nvSpPr>
        <p:spPr>
          <a:xfrm>
            <a:off x="6565106" y="2867490"/>
            <a:ext cx="257175" cy="257175"/>
          </a:xfrm>
          <a:prstGeom prst="rect">
            <a:avLst/>
          </a:prstGeom>
          <a:noFill/>
          <a:ln/>
        </p:spPr>
        <p:txBody>
          <a:bodyPr wrap="none" lIns="0" tIns="0" rIns="0" bIns="0" rtlCol="0" anchor="ctr"/>
          <a:lstStyle/>
          <a:p>
            <a:pPr marL="0" indent="0" algn="ctr">
              <a:buNone/>
            </a:pPr>
            <a:r>
              <a:rPr lang="en-US" sz="2250" dirty="0">
                <a:solidFill>
                  <a:srgbClr val="5FA8D3"/>
                </a:solidFill>
                <a:latin typeface="Segoe UI Symbol" pitchFamily="34" charset="0"/>
                <a:ea typeface="Segoe UI Symbol" pitchFamily="34" charset="-122"/>
                <a:cs typeface="Segoe UI Symbol" pitchFamily="34" charset="-120"/>
              </a:rPr>
              <a:t>‹</a:t>
            </a:r>
            <a:endParaRPr lang="en-US" sz="2250" dirty="0"/>
          </a:p>
        </p:txBody>
      </p:sp>
      <p:sp>
        <p:nvSpPr>
          <p:cNvPr id="22" name="Text 20"/>
          <p:cNvSpPr/>
          <p:nvPr/>
        </p:nvSpPr>
        <p:spPr>
          <a:xfrm>
            <a:off x="4700588" y="1671526"/>
            <a:ext cx="1864519" cy="2649103"/>
          </a:xfrm>
          <a:prstGeom prst="roundRect">
            <a:avLst>
              <a:gd name="adj" fmla="val 8174"/>
            </a:avLst>
          </a:prstGeom>
          <a:solidFill>
            <a:srgbClr val="FFFFFF"/>
          </a:solidFill>
          <a:ln/>
          <a:effectLst>
            <a:outerShdw blurRad="133350" dist="38100" dir="5400000" algn="bl" rotWithShape="0">
              <a:srgbClr val="1B4965">
                <a:alpha val="7000"/>
              </a:srgbClr>
            </a:outerShdw>
          </a:effectLst>
        </p:spPr>
        <p:txBody>
          <a:bodyPr wrap="square" rtlCol="0" anchor="ctr"/>
          <a:lstStyle/>
          <a:p>
            <a:pPr marL="0" indent="0">
              <a:buNone/>
            </a:pPr>
            <a:endParaRPr lang="en-US" dirty="0"/>
          </a:p>
        </p:txBody>
      </p:sp>
      <p:sp>
        <p:nvSpPr>
          <p:cNvPr id="23" name="Shape 21"/>
          <p:cNvSpPr/>
          <p:nvPr/>
        </p:nvSpPr>
        <p:spPr>
          <a:xfrm>
            <a:off x="4700588" y="1685813"/>
            <a:ext cx="1864519" cy="0"/>
          </a:xfrm>
          <a:prstGeom prst="line">
            <a:avLst/>
          </a:prstGeom>
          <a:noFill/>
          <a:ln w="28575">
            <a:solidFill>
              <a:srgbClr val="5FA8D3"/>
            </a:solidFill>
            <a:prstDash val="solid"/>
          </a:ln>
        </p:spPr>
      </p:sp>
      <p:sp>
        <p:nvSpPr>
          <p:cNvPr id="24" name="Shape 22"/>
          <p:cNvSpPr/>
          <p:nvPr/>
        </p:nvSpPr>
        <p:spPr>
          <a:xfrm>
            <a:off x="6561534" y="1671526"/>
            <a:ext cx="0" cy="2649103"/>
          </a:xfrm>
          <a:prstGeom prst="line">
            <a:avLst/>
          </a:prstGeom>
          <a:noFill/>
          <a:ln w="7144">
            <a:solidFill>
              <a:srgbClr val="D8E3EC"/>
            </a:solidFill>
            <a:prstDash val="solid"/>
          </a:ln>
        </p:spPr>
      </p:sp>
      <p:sp>
        <p:nvSpPr>
          <p:cNvPr id="25" name="Shape 23"/>
          <p:cNvSpPr/>
          <p:nvPr/>
        </p:nvSpPr>
        <p:spPr>
          <a:xfrm>
            <a:off x="4700588" y="4317057"/>
            <a:ext cx="1864519" cy="0"/>
          </a:xfrm>
          <a:prstGeom prst="line">
            <a:avLst/>
          </a:prstGeom>
          <a:noFill/>
          <a:ln w="7144">
            <a:solidFill>
              <a:srgbClr val="D8E3EC"/>
            </a:solidFill>
            <a:prstDash val="solid"/>
          </a:ln>
        </p:spPr>
      </p:sp>
      <p:sp>
        <p:nvSpPr>
          <p:cNvPr id="26" name="Shape 24"/>
          <p:cNvSpPr/>
          <p:nvPr/>
        </p:nvSpPr>
        <p:spPr>
          <a:xfrm>
            <a:off x="4704159" y="1671526"/>
            <a:ext cx="0" cy="2649103"/>
          </a:xfrm>
          <a:prstGeom prst="line">
            <a:avLst/>
          </a:prstGeom>
          <a:noFill/>
          <a:ln w="7144">
            <a:solidFill>
              <a:srgbClr val="D8E3EC"/>
            </a:solidFill>
            <a:prstDash val="solid"/>
          </a:ln>
        </p:spPr>
      </p:sp>
      <p:sp>
        <p:nvSpPr>
          <p:cNvPr id="27" name="Text 25"/>
          <p:cNvSpPr/>
          <p:nvPr/>
        </p:nvSpPr>
        <p:spPr>
          <a:xfrm>
            <a:off x="6229350" y="1600088"/>
            <a:ext cx="228600" cy="228600"/>
          </a:xfrm>
          <a:prstGeom prst="ellipse">
            <a:avLst/>
          </a:prstGeom>
          <a:solidFill>
            <a:srgbClr val="5FA8D3"/>
          </a:solidFill>
          <a:ln/>
          <a:effectLst>
            <a:outerShdw blurRad="76200" dist="28575" dir="5400000" algn="bl" rotWithShape="0">
              <a:srgbClr val="1B4965">
                <a:alpha val="25000"/>
              </a:srgbClr>
            </a:outerShdw>
          </a:effectLst>
        </p:spPr>
        <p:txBody>
          <a:bodyPr wrap="square" rtlCol="0" anchor="ctr"/>
          <a:lstStyle/>
          <a:p>
            <a:pPr marL="0" indent="0">
              <a:buNone/>
            </a:pPr>
            <a:endParaRPr lang="en-US" dirty="0"/>
          </a:p>
        </p:txBody>
      </p:sp>
      <p:sp>
        <p:nvSpPr>
          <p:cNvPr id="28" name="Text 26"/>
          <p:cNvSpPr/>
          <p:nvPr/>
        </p:nvSpPr>
        <p:spPr>
          <a:xfrm>
            <a:off x="6229350" y="1600088"/>
            <a:ext cx="214313"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Carlito" pitchFamily="34" charset="0"/>
                <a:ea typeface="Carlito" pitchFamily="34" charset="-122"/>
                <a:cs typeface="Carlito" pitchFamily="34" charset="-120"/>
              </a:rPr>
              <a:t>۲</a:t>
            </a:r>
            <a:endParaRPr lang="en-US" sz="800" dirty="0"/>
          </a:p>
        </p:txBody>
      </p:sp>
      <p:sp>
        <p:nvSpPr>
          <p:cNvPr id="29" name="Text 27"/>
          <p:cNvSpPr/>
          <p:nvPr/>
        </p:nvSpPr>
        <p:spPr>
          <a:xfrm>
            <a:off x="6043613" y="1828688"/>
            <a:ext cx="400050" cy="400050"/>
          </a:xfrm>
          <a:prstGeom prst="roundRect">
            <a:avLst>
              <a:gd name="adj" fmla="val 33333"/>
            </a:avLst>
          </a:prstGeom>
          <a:solidFill>
            <a:srgbClr val="DCEBF5"/>
          </a:solidFill>
          <a:ln/>
        </p:spPr>
        <p:txBody>
          <a:bodyPr wrap="square" rtlCol="0" anchor="ctr"/>
          <a:lstStyle/>
          <a:p>
            <a:pPr marL="0" indent="0">
              <a:buNone/>
            </a:pPr>
            <a:endParaRPr lang="en-US" dirty="0"/>
          </a:p>
        </p:txBody>
      </p:sp>
      <p:sp>
        <p:nvSpPr>
          <p:cNvPr id="30" name="Text 28"/>
          <p:cNvSpPr/>
          <p:nvPr/>
        </p:nvSpPr>
        <p:spPr>
          <a:xfrm>
            <a:off x="6088261" y="1873337"/>
            <a:ext cx="310753" cy="310753"/>
          </a:xfrm>
          <a:prstGeom prst="rect">
            <a:avLst/>
          </a:prstGeom>
          <a:noFill/>
          <a:ln/>
        </p:spPr>
        <p:txBody>
          <a:bodyPr wrap="none" lIns="0" tIns="0" rIns="0" bIns="0" rtlCol="0" anchor="ctr"/>
          <a:lstStyle/>
          <a:p>
            <a:pPr marL="0" indent="0" algn="ctr">
              <a:buNone/>
            </a:pPr>
            <a:r>
              <a:rPr lang="en-US" sz="2109" dirty="0">
                <a:solidFill>
                  <a:srgbClr val="5FA8D3"/>
                </a:solidFill>
                <a:latin typeface="Segoe UI Symbol" pitchFamily="34" charset="0"/>
                <a:ea typeface="Segoe UI Symbol" pitchFamily="34" charset="-122"/>
                <a:cs typeface="Segoe UI Symbol" pitchFamily="34" charset="-120"/>
              </a:rPr>
              <a:t>❏</a:t>
            </a:r>
            <a:endParaRPr lang="en-US" sz="2109" dirty="0"/>
          </a:p>
        </p:txBody>
      </p:sp>
      <p:sp>
        <p:nvSpPr>
          <p:cNvPr id="31" name="Text 29"/>
          <p:cNvSpPr/>
          <p:nvPr/>
        </p:nvSpPr>
        <p:spPr>
          <a:xfrm>
            <a:off x="4822031" y="2300176"/>
            <a:ext cx="1621631" cy="9144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مرحله ۲</a:t>
            </a:r>
            <a:endParaRPr lang="en-US" sz="800" dirty="0"/>
          </a:p>
        </p:txBody>
      </p:sp>
      <p:sp>
        <p:nvSpPr>
          <p:cNvPr id="32" name="Text 30"/>
          <p:cNvSpPr/>
          <p:nvPr/>
        </p:nvSpPr>
        <p:spPr>
          <a:xfrm>
            <a:off x="4822031" y="2418048"/>
            <a:ext cx="1621631" cy="120801"/>
          </a:xfrm>
          <a:prstGeom prst="rect">
            <a:avLst/>
          </a:prstGeom>
          <a:noFill/>
          <a:ln/>
        </p:spPr>
        <p:txBody>
          <a:bodyPr wrap="none" lIns="0" tIns="0" rIns="0" bIns="0" rtlCol="0" anchor="t">
            <a:normAutofit/>
          </a:bodyPr>
          <a:lstStyle/>
          <a:p>
            <a:pPr marL="0" indent="0" algn="l">
              <a:lnSpc>
                <a:spcPts val="1336"/>
              </a:lnSpc>
              <a:buNone/>
            </a:pPr>
            <a:r>
              <a:rPr lang="en-US" sz="1069" b="1" dirty="0">
                <a:solidFill>
                  <a:srgbClr val="1B4965"/>
                </a:solidFill>
                <a:latin typeface="Carlito" pitchFamily="34" charset="0"/>
                <a:ea typeface="Carlito" pitchFamily="34" charset="-122"/>
                <a:cs typeface="Carlito" pitchFamily="34" charset="-120"/>
              </a:rPr>
              <a:t>نگهداری</a:t>
            </a:r>
            <a:endParaRPr lang="en-US" sz="1069" dirty="0"/>
          </a:p>
        </p:txBody>
      </p:sp>
      <p:sp>
        <p:nvSpPr>
          <p:cNvPr id="33" name="Text 31"/>
          <p:cNvSpPr/>
          <p:nvPr/>
        </p:nvSpPr>
        <p:spPr>
          <a:xfrm>
            <a:off x="4822031" y="2566281"/>
            <a:ext cx="1621631" cy="164592"/>
          </a:xfrm>
          <a:prstGeom prst="rect">
            <a:avLst/>
          </a:prstGeom>
          <a:noFill/>
          <a:ln/>
        </p:spPr>
        <p:txBody>
          <a:bodyPr wrap="none" lIns="0" tIns="0" rIns="0" bIns="0" rtlCol="0" anchor="t"/>
          <a:lstStyle/>
          <a:p>
            <a:pPr marL="0" indent="0" algn="l">
              <a:lnSpc>
                <a:spcPts val="970"/>
              </a:lnSpc>
              <a:buNone/>
            </a:pPr>
            <a:r>
              <a:rPr lang="en-US" sz="800" dirty="0">
                <a:solidFill>
                  <a:srgbClr val="5A6B7B"/>
                </a:solidFill>
                <a:latin typeface="Carlito" pitchFamily="34" charset="0"/>
                <a:ea typeface="Carlito" pitchFamily="34" charset="-122"/>
                <a:cs typeface="Carlito" pitchFamily="34" charset="-120"/>
              </a:rPr>
              <a:t>Retention</a:t>
            </a:r>
            <a:endParaRPr lang="en-US" sz="800" dirty="0"/>
          </a:p>
        </p:txBody>
      </p:sp>
      <p:sp>
        <p:nvSpPr>
          <p:cNvPr id="34" name="Text 32"/>
          <p:cNvSpPr/>
          <p:nvPr/>
        </p:nvSpPr>
        <p:spPr>
          <a:xfrm>
            <a:off x="4822031" y="2760948"/>
            <a:ext cx="1621631" cy="559308"/>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به یادسپاری و ذخیره‌سازی اطلاعات در حافظه کوتاه‌مدت و بلندمدت مغز.</a:t>
            </a:r>
            <a:endParaRPr lang="en-US" sz="800" dirty="0"/>
          </a:p>
        </p:txBody>
      </p:sp>
      <p:sp>
        <p:nvSpPr>
          <p:cNvPr id="35" name="Text 33"/>
          <p:cNvSpPr/>
          <p:nvPr/>
        </p:nvSpPr>
        <p:spPr>
          <a:xfrm>
            <a:off x="4443413" y="2867490"/>
            <a:ext cx="257175" cy="257175"/>
          </a:xfrm>
          <a:prstGeom prst="rect">
            <a:avLst/>
          </a:prstGeom>
          <a:noFill/>
          <a:ln/>
        </p:spPr>
        <p:txBody>
          <a:bodyPr wrap="none" lIns="0" tIns="0" rIns="0" bIns="0" rtlCol="0" anchor="ctr"/>
          <a:lstStyle/>
          <a:p>
            <a:pPr marL="0" indent="0" algn="ctr">
              <a:buNone/>
            </a:pPr>
            <a:r>
              <a:rPr lang="en-US" sz="2250" dirty="0">
                <a:solidFill>
                  <a:srgbClr val="5FA8D3"/>
                </a:solidFill>
                <a:latin typeface="Segoe UI Symbol" pitchFamily="34" charset="0"/>
                <a:ea typeface="Segoe UI Symbol" pitchFamily="34" charset="-122"/>
                <a:cs typeface="Segoe UI Symbol" pitchFamily="34" charset="-120"/>
              </a:rPr>
              <a:t>‹</a:t>
            </a:r>
            <a:endParaRPr lang="en-US" sz="2250" dirty="0"/>
          </a:p>
        </p:txBody>
      </p:sp>
      <p:sp>
        <p:nvSpPr>
          <p:cNvPr id="36" name="Text 34"/>
          <p:cNvSpPr/>
          <p:nvPr/>
        </p:nvSpPr>
        <p:spPr>
          <a:xfrm>
            <a:off x="2578894" y="1671526"/>
            <a:ext cx="1864519" cy="2649103"/>
          </a:xfrm>
          <a:prstGeom prst="roundRect">
            <a:avLst>
              <a:gd name="adj" fmla="val 8174"/>
            </a:avLst>
          </a:prstGeom>
          <a:solidFill>
            <a:srgbClr val="FFFFFF"/>
          </a:solidFill>
          <a:ln/>
          <a:effectLst>
            <a:outerShdw blurRad="133350" dist="38100" dir="5400000" algn="bl" rotWithShape="0">
              <a:srgbClr val="1B4965">
                <a:alpha val="7000"/>
              </a:srgbClr>
            </a:outerShdw>
          </a:effectLst>
        </p:spPr>
        <p:txBody>
          <a:bodyPr wrap="square" rtlCol="0" anchor="ctr"/>
          <a:lstStyle/>
          <a:p>
            <a:pPr marL="0" indent="0">
              <a:buNone/>
            </a:pPr>
            <a:endParaRPr lang="en-US" dirty="0"/>
          </a:p>
        </p:txBody>
      </p:sp>
      <p:sp>
        <p:nvSpPr>
          <p:cNvPr id="37" name="Shape 35"/>
          <p:cNvSpPr/>
          <p:nvPr/>
        </p:nvSpPr>
        <p:spPr>
          <a:xfrm>
            <a:off x="2578894" y="1685813"/>
            <a:ext cx="1864519" cy="0"/>
          </a:xfrm>
          <a:prstGeom prst="line">
            <a:avLst/>
          </a:prstGeom>
          <a:noFill/>
          <a:ln w="28575">
            <a:solidFill>
              <a:srgbClr val="2A9D8F"/>
            </a:solidFill>
            <a:prstDash val="solid"/>
          </a:ln>
        </p:spPr>
      </p:sp>
      <p:sp>
        <p:nvSpPr>
          <p:cNvPr id="38" name="Shape 36"/>
          <p:cNvSpPr/>
          <p:nvPr/>
        </p:nvSpPr>
        <p:spPr>
          <a:xfrm>
            <a:off x="4439841" y="1671526"/>
            <a:ext cx="0" cy="2649103"/>
          </a:xfrm>
          <a:prstGeom prst="line">
            <a:avLst/>
          </a:prstGeom>
          <a:noFill/>
          <a:ln w="7144">
            <a:solidFill>
              <a:srgbClr val="D8E3EC"/>
            </a:solidFill>
            <a:prstDash val="solid"/>
          </a:ln>
        </p:spPr>
      </p:sp>
      <p:sp>
        <p:nvSpPr>
          <p:cNvPr id="39" name="Shape 37"/>
          <p:cNvSpPr/>
          <p:nvPr/>
        </p:nvSpPr>
        <p:spPr>
          <a:xfrm>
            <a:off x="2578894" y="4317057"/>
            <a:ext cx="1864519" cy="0"/>
          </a:xfrm>
          <a:prstGeom prst="line">
            <a:avLst/>
          </a:prstGeom>
          <a:noFill/>
          <a:ln w="7144">
            <a:solidFill>
              <a:srgbClr val="D8E3EC"/>
            </a:solidFill>
            <a:prstDash val="solid"/>
          </a:ln>
        </p:spPr>
      </p:sp>
      <p:sp>
        <p:nvSpPr>
          <p:cNvPr id="40" name="Shape 38"/>
          <p:cNvSpPr/>
          <p:nvPr/>
        </p:nvSpPr>
        <p:spPr>
          <a:xfrm>
            <a:off x="2582466" y="1671526"/>
            <a:ext cx="0" cy="2649103"/>
          </a:xfrm>
          <a:prstGeom prst="line">
            <a:avLst/>
          </a:prstGeom>
          <a:noFill/>
          <a:ln w="7144">
            <a:solidFill>
              <a:srgbClr val="D8E3EC"/>
            </a:solidFill>
            <a:prstDash val="solid"/>
          </a:ln>
        </p:spPr>
      </p:sp>
      <p:sp>
        <p:nvSpPr>
          <p:cNvPr id="41" name="Text 39"/>
          <p:cNvSpPr/>
          <p:nvPr/>
        </p:nvSpPr>
        <p:spPr>
          <a:xfrm>
            <a:off x="4107656" y="1600088"/>
            <a:ext cx="228600" cy="228600"/>
          </a:xfrm>
          <a:prstGeom prst="ellipse">
            <a:avLst/>
          </a:prstGeom>
          <a:solidFill>
            <a:srgbClr val="2A9D8F"/>
          </a:solidFill>
          <a:ln/>
          <a:effectLst>
            <a:outerShdw blurRad="76200" dist="28575" dir="5400000" algn="bl" rotWithShape="0">
              <a:srgbClr val="1B4965">
                <a:alpha val="25000"/>
              </a:srgbClr>
            </a:outerShdw>
          </a:effectLst>
        </p:spPr>
        <p:txBody>
          <a:bodyPr wrap="square" rtlCol="0" anchor="ctr"/>
          <a:lstStyle/>
          <a:p>
            <a:pPr marL="0" indent="0">
              <a:buNone/>
            </a:pPr>
            <a:endParaRPr lang="en-US" dirty="0"/>
          </a:p>
        </p:txBody>
      </p:sp>
      <p:sp>
        <p:nvSpPr>
          <p:cNvPr id="42" name="Text 40"/>
          <p:cNvSpPr/>
          <p:nvPr/>
        </p:nvSpPr>
        <p:spPr>
          <a:xfrm>
            <a:off x="4107656" y="1600088"/>
            <a:ext cx="214313"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Carlito" pitchFamily="34" charset="0"/>
                <a:ea typeface="Carlito" pitchFamily="34" charset="-122"/>
                <a:cs typeface="Carlito" pitchFamily="34" charset="-120"/>
              </a:rPr>
              <a:t>۳</a:t>
            </a:r>
            <a:endParaRPr lang="en-US" sz="800" dirty="0"/>
          </a:p>
        </p:txBody>
      </p:sp>
      <p:sp>
        <p:nvSpPr>
          <p:cNvPr id="43" name="Text 41"/>
          <p:cNvSpPr/>
          <p:nvPr/>
        </p:nvSpPr>
        <p:spPr>
          <a:xfrm>
            <a:off x="3921919" y="1828688"/>
            <a:ext cx="400050" cy="40005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44" name="Text 42"/>
          <p:cNvSpPr/>
          <p:nvPr/>
        </p:nvSpPr>
        <p:spPr>
          <a:xfrm>
            <a:off x="3966567" y="1873337"/>
            <a:ext cx="310753" cy="310753"/>
          </a:xfrm>
          <a:prstGeom prst="rect">
            <a:avLst/>
          </a:prstGeom>
          <a:noFill/>
          <a:ln/>
        </p:spPr>
        <p:txBody>
          <a:bodyPr wrap="none" lIns="0" tIns="0" rIns="0" bIns="0" rtlCol="0" anchor="ctr"/>
          <a:lstStyle/>
          <a:p>
            <a:pPr marL="0" indent="0" algn="ctr">
              <a:buNone/>
            </a:pPr>
            <a:r>
              <a:rPr lang="en-US" sz="2109" dirty="0">
                <a:solidFill>
                  <a:srgbClr val="2A9D8F"/>
                </a:solidFill>
                <a:latin typeface="Segoe UI Symbol" pitchFamily="34" charset="0"/>
                <a:ea typeface="Segoe UI Symbol" pitchFamily="34" charset="-122"/>
                <a:cs typeface="Segoe UI Symbol" pitchFamily="34" charset="-120"/>
              </a:rPr>
              <a:t>↻</a:t>
            </a:r>
            <a:endParaRPr lang="en-US" sz="2109" dirty="0"/>
          </a:p>
        </p:txBody>
      </p:sp>
      <p:sp>
        <p:nvSpPr>
          <p:cNvPr id="45" name="Text 43"/>
          <p:cNvSpPr/>
          <p:nvPr/>
        </p:nvSpPr>
        <p:spPr>
          <a:xfrm>
            <a:off x="2700338" y="2300176"/>
            <a:ext cx="1621631" cy="9144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مرحله ۳</a:t>
            </a:r>
            <a:endParaRPr lang="en-US" sz="800" dirty="0"/>
          </a:p>
        </p:txBody>
      </p:sp>
      <p:sp>
        <p:nvSpPr>
          <p:cNvPr id="46" name="Text 44"/>
          <p:cNvSpPr/>
          <p:nvPr/>
        </p:nvSpPr>
        <p:spPr>
          <a:xfrm>
            <a:off x="2700338" y="2418048"/>
            <a:ext cx="1621631" cy="120801"/>
          </a:xfrm>
          <a:prstGeom prst="rect">
            <a:avLst/>
          </a:prstGeom>
          <a:noFill/>
          <a:ln/>
        </p:spPr>
        <p:txBody>
          <a:bodyPr wrap="none" lIns="0" tIns="0" rIns="0" bIns="0" rtlCol="0" anchor="t">
            <a:normAutofit/>
          </a:bodyPr>
          <a:lstStyle/>
          <a:p>
            <a:pPr marL="0" indent="0" algn="l">
              <a:lnSpc>
                <a:spcPts val="1336"/>
              </a:lnSpc>
              <a:buNone/>
            </a:pPr>
            <a:r>
              <a:rPr lang="en-US" sz="1069" b="1" dirty="0">
                <a:solidFill>
                  <a:srgbClr val="1B4965"/>
                </a:solidFill>
                <a:latin typeface="Carlito" pitchFamily="34" charset="0"/>
                <a:ea typeface="Carlito" pitchFamily="34" charset="-122"/>
                <a:cs typeface="Carlito" pitchFamily="34" charset="-120"/>
              </a:rPr>
              <a:t>یادآوری</a:t>
            </a:r>
            <a:endParaRPr lang="en-US" sz="1069" dirty="0"/>
          </a:p>
        </p:txBody>
      </p:sp>
      <p:sp>
        <p:nvSpPr>
          <p:cNvPr id="47" name="Text 45"/>
          <p:cNvSpPr/>
          <p:nvPr/>
        </p:nvSpPr>
        <p:spPr>
          <a:xfrm>
            <a:off x="2700338" y="2566281"/>
            <a:ext cx="1621631" cy="164592"/>
          </a:xfrm>
          <a:prstGeom prst="rect">
            <a:avLst/>
          </a:prstGeom>
          <a:noFill/>
          <a:ln/>
        </p:spPr>
        <p:txBody>
          <a:bodyPr wrap="none" lIns="0" tIns="0" rIns="0" bIns="0" rtlCol="0" anchor="t"/>
          <a:lstStyle/>
          <a:p>
            <a:pPr marL="0" indent="0" algn="l">
              <a:lnSpc>
                <a:spcPts val="970"/>
              </a:lnSpc>
              <a:buNone/>
            </a:pPr>
            <a:r>
              <a:rPr lang="en-US" sz="800" dirty="0">
                <a:solidFill>
                  <a:srgbClr val="5A6B7B"/>
                </a:solidFill>
                <a:latin typeface="Carlito" pitchFamily="34" charset="0"/>
                <a:ea typeface="Carlito" pitchFamily="34" charset="-122"/>
                <a:cs typeface="Carlito" pitchFamily="34" charset="-120"/>
              </a:rPr>
              <a:t>Recall</a:t>
            </a:r>
            <a:endParaRPr lang="en-US" sz="800" dirty="0"/>
          </a:p>
        </p:txBody>
      </p:sp>
      <p:sp>
        <p:nvSpPr>
          <p:cNvPr id="48" name="Text 46"/>
          <p:cNvSpPr/>
          <p:nvPr/>
        </p:nvSpPr>
        <p:spPr>
          <a:xfrm>
            <a:off x="2700338" y="2760948"/>
            <a:ext cx="1621631" cy="559308"/>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شامل دو بخش: بازشناسی (تشخیص آشنایی مطلب) و بازخوانی (فراخوانی کامل از حافظه).</a:t>
            </a:r>
            <a:endParaRPr lang="en-US" sz="800" dirty="0"/>
          </a:p>
        </p:txBody>
      </p:sp>
      <p:sp>
        <p:nvSpPr>
          <p:cNvPr id="49" name="Text 47"/>
          <p:cNvSpPr/>
          <p:nvPr/>
        </p:nvSpPr>
        <p:spPr>
          <a:xfrm>
            <a:off x="2321719" y="2867490"/>
            <a:ext cx="257175" cy="257175"/>
          </a:xfrm>
          <a:prstGeom prst="rect">
            <a:avLst/>
          </a:prstGeom>
          <a:noFill/>
          <a:ln/>
        </p:spPr>
        <p:txBody>
          <a:bodyPr wrap="none" lIns="0" tIns="0" rIns="0" bIns="0" rtlCol="0" anchor="ctr"/>
          <a:lstStyle/>
          <a:p>
            <a:pPr marL="0" indent="0" algn="ctr">
              <a:buNone/>
            </a:pPr>
            <a:r>
              <a:rPr lang="en-US" sz="2250" dirty="0">
                <a:solidFill>
                  <a:srgbClr val="5FA8D3"/>
                </a:solidFill>
                <a:latin typeface="Segoe UI Symbol" pitchFamily="34" charset="0"/>
                <a:ea typeface="Segoe UI Symbol" pitchFamily="34" charset="-122"/>
                <a:cs typeface="Segoe UI Symbol" pitchFamily="34" charset="-120"/>
              </a:rPr>
              <a:t>‹</a:t>
            </a:r>
            <a:endParaRPr lang="en-US" sz="2250" dirty="0"/>
          </a:p>
        </p:txBody>
      </p:sp>
      <p:sp>
        <p:nvSpPr>
          <p:cNvPr id="50" name="Text 48"/>
          <p:cNvSpPr/>
          <p:nvPr/>
        </p:nvSpPr>
        <p:spPr>
          <a:xfrm>
            <a:off x="457200" y="1671526"/>
            <a:ext cx="1864519" cy="2649103"/>
          </a:xfrm>
          <a:prstGeom prst="roundRect">
            <a:avLst>
              <a:gd name="adj" fmla="val 8174"/>
            </a:avLst>
          </a:prstGeom>
          <a:solidFill>
            <a:srgbClr val="FFFFFF"/>
          </a:solidFill>
          <a:ln/>
          <a:effectLst>
            <a:outerShdw blurRad="133350" dist="38100" dir="5400000" algn="bl" rotWithShape="0">
              <a:srgbClr val="1B4965">
                <a:alpha val="7000"/>
              </a:srgbClr>
            </a:outerShdw>
          </a:effectLst>
        </p:spPr>
        <p:txBody>
          <a:bodyPr wrap="square" rtlCol="0" anchor="ctr"/>
          <a:lstStyle/>
          <a:p>
            <a:pPr marL="0" indent="0">
              <a:buNone/>
            </a:pPr>
            <a:endParaRPr lang="en-US" dirty="0"/>
          </a:p>
        </p:txBody>
      </p:sp>
      <p:sp>
        <p:nvSpPr>
          <p:cNvPr id="51" name="Shape 49"/>
          <p:cNvSpPr/>
          <p:nvPr/>
        </p:nvSpPr>
        <p:spPr>
          <a:xfrm>
            <a:off x="457200" y="1685813"/>
            <a:ext cx="1864519" cy="0"/>
          </a:xfrm>
          <a:prstGeom prst="line">
            <a:avLst/>
          </a:prstGeom>
          <a:noFill/>
          <a:ln w="28575">
            <a:solidFill>
              <a:srgbClr val="E76F51"/>
            </a:solidFill>
            <a:prstDash val="solid"/>
          </a:ln>
        </p:spPr>
      </p:sp>
      <p:sp>
        <p:nvSpPr>
          <p:cNvPr id="52" name="Shape 50"/>
          <p:cNvSpPr/>
          <p:nvPr/>
        </p:nvSpPr>
        <p:spPr>
          <a:xfrm>
            <a:off x="2318147" y="1671526"/>
            <a:ext cx="0" cy="2649103"/>
          </a:xfrm>
          <a:prstGeom prst="line">
            <a:avLst/>
          </a:prstGeom>
          <a:noFill/>
          <a:ln w="7144">
            <a:solidFill>
              <a:srgbClr val="D8E3EC"/>
            </a:solidFill>
            <a:prstDash val="solid"/>
          </a:ln>
        </p:spPr>
      </p:sp>
      <p:sp>
        <p:nvSpPr>
          <p:cNvPr id="53" name="Shape 51"/>
          <p:cNvSpPr/>
          <p:nvPr/>
        </p:nvSpPr>
        <p:spPr>
          <a:xfrm>
            <a:off x="457200" y="4317057"/>
            <a:ext cx="1864519" cy="0"/>
          </a:xfrm>
          <a:prstGeom prst="line">
            <a:avLst/>
          </a:prstGeom>
          <a:noFill/>
          <a:ln w="7144">
            <a:solidFill>
              <a:srgbClr val="D8E3EC"/>
            </a:solidFill>
            <a:prstDash val="solid"/>
          </a:ln>
        </p:spPr>
      </p:sp>
      <p:sp>
        <p:nvSpPr>
          <p:cNvPr id="54" name="Shape 52"/>
          <p:cNvSpPr/>
          <p:nvPr/>
        </p:nvSpPr>
        <p:spPr>
          <a:xfrm>
            <a:off x="460772" y="1671526"/>
            <a:ext cx="0" cy="2649103"/>
          </a:xfrm>
          <a:prstGeom prst="line">
            <a:avLst/>
          </a:prstGeom>
          <a:noFill/>
          <a:ln w="7144">
            <a:solidFill>
              <a:srgbClr val="D8E3EC"/>
            </a:solidFill>
            <a:prstDash val="solid"/>
          </a:ln>
        </p:spPr>
      </p:sp>
      <p:sp>
        <p:nvSpPr>
          <p:cNvPr id="55" name="Text 53"/>
          <p:cNvSpPr/>
          <p:nvPr/>
        </p:nvSpPr>
        <p:spPr>
          <a:xfrm>
            <a:off x="1985963" y="1600088"/>
            <a:ext cx="228600" cy="228600"/>
          </a:xfrm>
          <a:prstGeom prst="ellipse">
            <a:avLst/>
          </a:prstGeom>
          <a:solidFill>
            <a:srgbClr val="E76F51"/>
          </a:solidFill>
          <a:ln/>
          <a:effectLst>
            <a:outerShdw blurRad="76200" dist="28575" dir="5400000" algn="bl" rotWithShape="0">
              <a:srgbClr val="1B4965">
                <a:alpha val="25000"/>
              </a:srgbClr>
            </a:outerShdw>
          </a:effectLst>
        </p:spPr>
        <p:txBody>
          <a:bodyPr wrap="square" rtlCol="0" anchor="ctr"/>
          <a:lstStyle/>
          <a:p>
            <a:pPr marL="0" indent="0">
              <a:buNone/>
            </a:pPr>
            <a:endParaRPr lang="en-US" dirty="0"/>
          </a:p>
        </p:txBody>
      </p:sp>
      <p:sp>
        <p:nvSpPr>
          <p:cNvPr id="56" name="Text 54"/>
          <p:cNvSpPr/>
          <p:nvPr/>
        </p:nvSpPr>
        <p:spPr>
          <a:xfrm>
            <a:off x="1985963" y="1600088"/>
            <a:ext cx="214313"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Carlito" pitchFamily="34" charset="0"/>
                <a:ea typeface="Carlito" pitchFamily="34" charset="-122"/>
                <a:cs typeface="Carlito" pitchFamily="34" charset="-120"/>
              </a:rPr>
              <a:t>۴</a:t>
            </a:r>
            <a:endParaRPr lang="en-US" sz="800" dirty="0"/>
          </a:p>
        </p:txBody>
      </p:sp>
      <p:sp>
        <p:nvSpPr>
          <p:cNvPr id="57" name="Text 55"/>
          <p:cNvSpPr/>
          <p:nvPr/>
        </p:nvSpPr>
        <p:spPr>
          <a:xfrm>
            <a:off x="1800225" y="1828688"/>
            <a:ext cx="400050" cy="40005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58" name="Text 56"/>
          <p:cNvSpPr/>
          <p:nvPr/>
        </p:nvSpPr>
        <p:spPr>
          <a:xfrm>
            <a:off x="1844873" y="1873337"/>
            <a:ext cx="310753" cy="310753"/>
          </a:xfrm>
          <a:prstGeom prst="rect">
            <a:avLst/>
          </a:prstGeom>
          <a:noFill/>
          <a:ln/>
        </p:spPr>
        <p:txBody>
          <a:bodyPr wrap="none" lIns="0" tIns="0" rIns="0" bIns="0" rtlCol="0" anchor="ctr"/>
          <a:lstStyle/>
          <a:p>
            <a:pPr marL="0" indent="0" algn="ctr">
              <a:buNone/>
            </a:pPr>
            <a:r>
              <a:rPr lang="en-US" sz="2109" dirty="0">
                <a:solidFill>
                  <a:srgbClr val="E76F51"/>
                </a:solidFill>
                <a:latin typeface="Segoe UI Symbol" pitchFamily="34" charset="0"/>
                <a:ea typeface="Segoe UI Symbol" pitchFamily="34" charset="-122"/>
                <a:cs typeface="Segoe UI Symbol" pitchFamily="34" charset="-120"/>
              </a:rPr>
              <a:t>▶</a:t>
            </a:r>
            <a:endParaRPr lang="en-US" sz="2109" dirty="0"/>
          </a:p>
        </p:txBody>
      </p:sp>
      <p:sp>
        <p:nvSpPr>
          <p:cNvPr id="59" name="Text 57"/>
          <p:cNvSpPr/>
          <p:nvPr/>
        </p:nvSpPr>
        <p:spPr>
          <a:xfrm>
            <a:off x="578644" y="2300176"/>
            <a:ext cx="1621631" cy="9144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مرحله ۴</a:t>
            </a:r>
            <a:endParaRPr lang="en-US" sz="800" dirty="0"/>
          </a:p>
        </p:txBody>
      </p:sp>
      <p:sp>
        <p:nvSpPr>
          <p:cNvPr id="60" name="Text 58"/>
          <p:cNvSpPr/>
          <p:nvPr/>
        </p:nvSpPr>
        <p:spPr>
          <a:xfrm>
            <a:off x="578644" y="2418048"/>
            <a:ext cx="1621631" cy="120801"/>
          </a:xfrm>
          <a:prstGeom prst="rect">
            <a:avLst/>
          </a:prstGeom>
          <a:noFill/>
          <a:ln/>
        </p:spPr>
        <p:txBody>
          <a:bodyPr wrap="none" lIns="0" tIns="0" rIns="0" bIns="0" rtlCol="0" anchor="t">
            <a:normAutofit/>
          </a:bodyPr>
          <a:lstStyle/>
          <a:p>
            <a:pPr marL="0" indent="0" algn="l">
              <a:lnSpc>
                <a:spcPts val="1336"/>
              </a:lnSpc>
              <a:buNone/>
            </a:pPr>
            <a:r>
              <a:rPr lang="en-US" sz="1069" b="1" dirty="0">
                <a:solidFill>
                  <a:srgbClr val="1B4965"/>
                </a:solidFill>
                <a:latin typeface="Carlito" pitchFamily="34" charset="0"/>
                <a:ea typeface="Carlito" pitchFamily="34" charset="-122"/>
                <a:cs typeface="Carlito" pitchFamily="34" charset="-120"/>
              </a:rPr>
              <a:t>بازتولید</a:t>
            </a:r>
            <a:endParaRPr lang="en-US" sz="1069" dirty="0"/>
          </a:p>
        </p:txBody>
      </p:sp>
      <p:sp>
        <p:nvSpPr>
          <p:cNvPr id="61" name="Text 59"/>
          <p:cNvSpPr/>
          <p:nvPr/>
        </p:nvSpPr>
        <p:spPr>
          <a:xfrm>
            <a:off x="578644" y="2566281"/>
            <a:ext cx="1621631" cy="164592"/>
          </a:xfrm>
          <a:prstGeom prst="rect">
            <a:avLst/>
          </a:prstGeom>
          <a:noFill/>
          <a:ln/>
        </p:spPr>
        <p:txBody>
          <a:bodyPr wrap="none" lIns="0" tIns="0" rIns="0" bIns="0" rtlCol="0" anchor="t"/>
          <a:lstStyle/>
          <a:p>
            <a:pPr marL="0" indent="0" algn="l">
              <a:lnSpc>
                <a:spcPts val="970"/>
              </a:lnSpc>
              <a:buNone/>
            </a:pPr>
            <a:r>
              <a:rPr lang="en-US" sz="800" dirty="0">
                <a:solidFill>
                  <a:srgbClr val="5A6B7B"/>
                </a:solidFill>
                <a:latin typeface="Carlito" pitchFamily="34" charset="0"/>
                <a:ea typeface="Carlito" pitchFamily="34" charset="-122"/>
                <a:cs typeface="Carlito" pitchFamily="34" charset="-120"/>
              </a:rPr>
              <a:t>Reproduction</a:t>
            </a:r>
            <a:endParaRPr lang="en-US" sz="800" dirty="0"/>
          </a:p>
        </p:txBody>
      </p:sp>
      <p:sp>
        <p:nvSpPr>
          <p:cNvPr id="62" name="Text 60"/>
          <p:cNvSpPr/>
          <p:nvPr/>
        </p:nvSpPr>
        <p:spPr>
          <a:xfrm>
            <a:off x="578644" y="2760948"/>
            <a:ext cx="1621631" cy="559308"/>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تبدیل یادگیری به رفتار قابل مشاهده. این مرحله در آموزش بالینی حیاتی است.</a:t>
            </a:r>
            <a:endParaRPr lang="en-US" sz="800" dirty="0"/>
          </a:p>
        </p:txBody>
      </p:sp>
      <p:pic>
        <p:nvPicPr>
          <p:cNvPr id="63" name="Image 0" descr="preencoded.png"/>
          <p:cNvPicPr>
            <a:picLocks noChangeAspect="1"/>
          </p:cNvPicPr>
          <p:nvPr/>
        </p:nvPicPr>
        <p:blipFill>
          <a:blip r:embed="rId3"/>
          <a:stretch>
            <a:fillRect/>
          </a:stretch>
        </p:blipFill>
        <p:spPr>
          <a:xfrm>
            <a:off x="457200" y="4406354"/>
            <a:ext cx="8229600" cy="337096"/>
          </a:xfrm>
          <a:prstGeom prst="rect">
            <a:avLst/>
          </a:prstGeom>
        </p:spPr>
      </p:pic>
      <p:sp>
        <p:nvSpPr>
          <p:cNvPr id="64" name="Shape 61"/>
          <p:cNvSpPr/>
          <p:nvPr/>
        </p:nvSpPr>
        <p:spPr>
          <a:xfrm>
            <a:off x="8672513" y="4406354"/>
            <a:ext cx="0" cy="337096"/>
          </a:xfrm>
          <a:prstGeom prst="line">
            <a:avLst/>
          </a:prstGeom>
          <a:noFill/>
          <a:ln w="28575">
            <a:solidFill>
              <a:srgbClr val="E76F51"/>
            </a:solidFill>
            <a:prstDash val="solid"/>
          </a:ln>
        </p:spPr>
      </p:sp>
      <p:sp>
        <p:nvSpPr>
          <p:cNvPr id="65" name="Text 62"/>
          <p:cNvSpPr/>
          <p:nvPr/>
        </p:nvSpPr>
        <p:spPr>
          <a:xfrm>
            <a:off x="8372475" y="4496321"/>
            <a:ext cx="157163" cy="157163"/>
          </a:xfrm>
          <a:prstGeom prst="rect">
            <a:avLst/>
          </a:prstGeom>
          <a:noFill/>
          <a:ln/>
        </p:spPr>
        <p:txBody>
          <a:bodyPr wrap="none" lIns="0" tIns="0" rIns="0" bIns="0" rtlCol="0" anchor="ctr"/>
          <a:lstStyle/>
          <a:p>
            <a:pPr marL="0" indent="0" algn="ctr">
              <a:buNone/>
            </a:pPr>
            <a:r>
              <a:rPr lang="en-US" sz="1547" dirty="0">
                <a:solidFill>
                  <a:srgbClr val="E76F51"/>
                </a:solidFill>
                <a:latin typeface="Segoe UI Symbol" pitchFamily="34" charset="0"/>
                <a:ea typeface="Segoe UI Symbol" pitchFamily="34" charset="-122"/>
                <a:cs typeface="Segoe UI Symbol" pitchFamily="34" charset="-120"/>
              </a:rPr>
              <a:t>⌘</a:t>
            </a:r>
            <a:endParaRPr lang="en-US" sz="1547" dirty="0"/>
          </a:p>
        </p:txBody>
      </p:sp>
      <p:sp>
        <p:nvSpPr>
          <p:cNvPr id="66" name="Text 63"/>
          <p:cNvSpPr/>
          <p:nvPr/>
        </p:nvSpPr>
        <p:spPr>
          <a:xfrm>
            <a:off x="4283348" y="4492079"/>
            <a:ext cx="4046265" cy="165646"/>
          </a:xfrm>
          <a:prstGeom prst="rect">
            <a:avLst/>
          </a:prstGeom>
          <a:noFill/>
          <a:ln/>
        </p:spPr>
        <p:txBody>
          <a:bodyPr wrap="square" lIns="0" tIns="0" rIns="0" bIns="0" rtlCol="0" anchor="t"/>
          <a:lstStyle/>
          <a:p>
            <a:pPr marL="0" indent="0" algn="l">
              <a:lnSpc>
                <a:spcPts val="1305"/>
              </a:lnSpc>
              <a:buNone/>
            </a:pPr>
            <a:r>
              <a:rPr lang="en-US" sz="816" dirty="0">
                <a:solidFill>
                  <a:srgbClr val="1A2733"/>
                </a:solidFill>
                <a:latin typeface="Carlito" pitchFamily="34" charset="0"/>
                <a:ea typeface="Carlito" pitchFamily="34" charset="-122"/>
                <a:cs typeface="Carlito" pitchFamily="34" charset="-120"/>
              </a:rPr>
              <a:t>هر گونه اختلال در این زنجیره منجر به یادگیری ناقص یا عدم یادگیری می‌شود.</a:t>
            </a:r>
            <a:endParaRPr lang="en-US" sz="816" dirty="0"/>
          </a:p>
        </p:txBody>
      </p:sp>
      <p:sp>
        <p:nvSpPr>
          <p:cNvPr id="67" name="Shape 64"/>
          <p:cNvSpPr/>
          <p:nvPr/>
        </p:nvSpPr>
        <p:spPr>
          <a:xfrm>
            <a:off x="457200" y="4825603"/>
            <a:ext cx="8229600" cy="0"/>
          </a:xfrm>
          <a:prstGeom prst="line">
            <a:avLst/>
          </a:prstGeom>
          <a:noFill/>
          <a:ln w="7144">
            <a:solidFill>
              <a:srgbClr val="D8E3EC"/>
            </a:solidFill>
            <a:prstDash val="solid"/>
          </a:ln>
        </p:spPr>
      </p:sp>
      <p:sp>
        <p:nvSpPr>
          <p:cNvPr id="68" name="Text 65"/>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69" name="Text 66"/>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۱۲ از ۲۲</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2859732" y="400050"/>
            <a:ext cx="5555605"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اصول یازده‌گانه یادگیری در پرستاری</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۱۳ / ۲۲</a:t>
            </a:r>
            <a:endParaRPr lang="en-US" sz="1013" dirty="0"/>
          </a:p>
        </p:txBody>
      </p:sp>
      <p:sp>
        <p:nvSpPr>
          <p:cNvPr id="7" name="Text 5"/>
          <p:cNvSpPr/>
          <p:nvPr/>
        </p:nvSpPr>
        <p:spPr>
          <a:xfrm>
            <a:off x="457200" y="1074353"/>
            <a:ext cx="8229600" cy="418552"/>
          </a:xfrm>
          <a:prstGeom prst="rect">
            <a:avLst/>
          </a:prstGeom>
          <a:noFill/>
          <a:ln/>
        </p:spPr>
        <p:txBody>
          <a:bodyPr wrap="square" lIns="0" tIns="0" rIns="0" bIns="0" rtlCol="0" anchor="t"/>
          <a:lstStyle/>
          <a:p>
            <a:pPr marL="0" indent="0" algn="l">
              <a:lnSpc>
                <a:spcPts val="1526"/>
              </a:lnSpc>
              <a:buNone/>
            </a:pPr>
            <a:r>
              <a:rPr lang="en-US" sz="872" dirty="0">
                <a:solidFill>
                  <a:srgbClr val="1A2733"/>
                </a:solidFill>
                <a:latin typeface="Carlito" pitchFamily="34" charset="0"/>
                <a:ea typeface="Carlito" pitchFamily="34" charset="-122"/>
                <a:cs typeface="Carlito" pitchFamily="34" charset="-120"/>
              </a:rPr>
              <a:t>این اصول بر اساس نظریه‌های یادگیری بزرگانی چون پیاژه، اسکینر و باندورا تدوین شده‌اند و در طراحی برنامه آموزش بیمار کاربرد مستقیم دارند.</a:t>
            </a:r>
            <a:endParaRPr lang="en-US" sz="872" dirty="0"/>
          </a:p>
        </p:txBody>
      </p:sp>
      <p:sp>
        <p:nvSpPr>
          <p:cNvPr id="8" name="Text 6"/>
          <p:cNvSpPr/>
          <p:nvPr/>
        </p:nvSpPr>
        <p:spPr>
          <a:xfrm>
            <a:off x="6697266" y="1551198"/>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9" name="Text 7"/>
          <p:cNvSpPr/>
          <p:nvPr/>
        </p:nvSpPr>
        <p:spPr>
          <a:xfrm>
            <a:off x="6800850" y="1611920"/>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۰۱</a:t>
            </a:r>
            <a:endParaRPr lang="en-US" sz="2138" dirty="0"/>
          </a:p>
        </p:txBody>
      </p:sp>
      <p:sp>
        <p:nvSpPr>
          <p:cNvPr id="10" name="Text 8"/>
          <p:cNvSpPr/>
          <p:nvPr/>
        </p:nvSpPr>
        <p:spPr>
          <a:xfrm>
            <a:off x="8351044" y="1654783"/>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11" name="Text 9"/>
          <p:cNvSpPr/>
          <p:nvPr/>
        </p:nvSpPr>
        <p:spPr>
          <a:xfrm>
            <a:off x="8372118" y="1675857"/>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6800850" y="1926245"/>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۱</a:t>
            </a:r>
            <a:endParaRPr lang="en-US" sz="1575" dirty="0"/>
          </a:p>
        </p:txBody>
      </p:sp>
      <p:sp>
        <p:nvSpPr>
          <p:cNvPr id="13" name="Text 11"/>
          <p:cNvSpPr/>
          <p:nvPr/>
        </p:nvSpPr>
        <p:spPr>
          <a:xfrm>
            <a:off x="6800850" y="2169133"/>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یادگیری مبتنی بر نیاز فراگیر، تأثیر بیشتری دارد.</a:t>
            </a:r>
            <a:endParaRPr lang="en-US" sz="800" dirty="0"/>
          </a:p>
        </p:txBody>
      </p:sp>
      <p:sp>
        <p:nvSpPr>
          <p:cNvPr id="14" name="Text 12"/>
          <p:cNvSpPr/>
          <p:nvPr/>
        </p:nvSpPr>
        <p:spPr>
          <a:xfrm>
            <a:off x="4618434" y="1551198"/>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15" name="Text 13"/>
          <p:cNvSpPr/>
          <p:nvPr/>
        </p:nvSpPr>
        <p:spPr>
          <a:xfrm>
            <a:off x="4722019" y="1611920"/>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۰۲</a:t>
            </a:r>
            <a:endParaRPr lang="en-US" sz="2138" dirty="0"/>
          </a:p>
        </p:txBody>
      </p:sp>
      <p:sp>
        <p:nvSpPr>
          <p:cNvPr id="16" name="Text 14"/>
          <p:cNvSpPr/>
          <p:nvPr/>
        </p:nvSpPr>
        <p:spPr>
          <a:xfrm>
            <a:off x="6272213" y="1654783"/>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17" name="Text 15"/>
          <p:cNvSpPr/>
          <p:nvPr/>
        </p:nvSpPr>
        <p:spPr>
          <a:xfrm>
            <a:off x="6293287" y="1675857"/>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18" name="Text 16"/>
          <p:cNvSpPr/>
          <p:nvPr/>
        </p:nvSpPr>
        <p:spPr>
          <a:xfrm>
            <a:off x="4722019" y="1926245"/>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۲</a:t>
            </a:r>
            <a:endParaRPr lang="en-US" sz="1575" dirty="0"/>
          </a:p>
        </p:txBody>
      </p:sp>
      <p:sp>
        <p:nvSpPr>
          <p:cNvPr id="19" name="Text 17"/>
          <p:cNvSpPr/>
          <p:nvPr/>
        </p:nvSpPr>
        <p:spPr>
          <a:xfrm>
            <a:off x="4722019" y="2169133"/>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یادگیرنده باید به پاداش برسد (تشویق).</a:t>
            </a:r>
            <a:endParaRPr lang="en-US" sz="800" dirty="0"/>
          </a:p>
        </p:txBody>
      </p:sp>
      <p:sp>
        <p:nvSpPr>
          <p:cNvPr id="20" name="Text 18"/>
          <p:cNvSpPr/>
          <p:nvPr/>
        </p:nvSpPr>
        <p:spPr>
          <a:xfrm>
            <a:off x="2539603" y="1551198"/>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21" name="Text 19"/>
          <p:cNvSpPr/>
          <p:nvPr/>
        </p:nvSpPr>
        <p:spPr>
          <a:xfrm>
            <a:off x="2643188" y="1611920"/>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۰۳</a:t>
            </a:r>
            <a:endParaRPr lang="en-US" sz="2138" dirty="0"/>
          </a:p>
        </p:txBody>
      </p:sp>
      <p:sp>
        <p:nvSpPr>
          <p:cNvPr id="22" name="Text 20"/>
          <p:cNvSpPr/>
          <p:nvPr/>
        </p:nvSpPr>
        <p:spPr>
          <a:xfrm>
            <a:off x="4193381" y="1654783"/>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23" name="Text 21"/>
          <p:cNvSpPr/>
          <p:nvPr/>
        </p:nvSpPr>
        <p:spPr>
          <a:xfrm>
            <a:off x="4214455" y="1675857"/>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24" name="Text 22"/>
          <p:cNvSpPr/>
          <p:nvPr/>
        </p:nvSpPr>
        <p:spPr>
          <a:xfrm>
            <a:off x="2643188" y="1926245"/>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۳</a:t>
            </a:r>
            <a:endParaRPr lang="en-US" sz="1575" dirty="0"/>
          </a:p>
        </p:txBody>
      </p:sp>
      <p:sp>
        <p:nvSpPr>
          <p:cNvPr id="25" name="Text 23"/>
          <p:cNvSpPr/>
          <p:nvPr/>
        </p:nvSpPr>
        <p:spPr>
          <a:xfrm>
            <a:off x="2643188" y="2169133"/>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مفاهیم بنیادی باید اول فرا گرفته شوند.</a:t>
            </a:r>
            <a:endParaRPr lang="en-US" sz="800" dirty="0"/>
          </a:p>
        </p:txBody>
      </p:sp>
      <p:sp>
        <p:nvSpPr>
          <p:cNvPr id="26" name="Text 24"/>
          <p:cNvSpPr/>
          <p:nvPr/>
        </p:nvSpPr>
        <p:spPr>
          <a:xfrm>
            <a:off x="460772" y="1551198"/>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27" name="Text 25"/>
          <p:cNvSpPr/>
          <p:nvPr/>
        </p:nvSpPr>
        <p:spPr>
          <a:xfrm>
            <a:off x="564356" y="1611920"/>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۰۴</a:t>
            </a:r>
            <a:endParaRPr lang="en-US" sz="2138" dirty="0"/>
          </a:p>
        </p:txBody>
      </p:sp>
      <p:sp>
        <p:nvSpPr>
          <p:cNvPr id="28" name="Text 26"/>
          <p:cNvSpPr/>
          <p:nvPr/>
        </p:nvSpPr>
        <p:spPr>
          <a:xfrm>
            <a:off x="2114550" y="1654783"/>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29" name="Text 27"/>
          <p:cNvSpPr/>
          <p:nvPr/>
        </p:nvSpPr>
        <p:spPr>
          <a:xfrm>
            <a:off x="2135624" y="1675857"/>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564356" y="1926245"/>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۴</a:t>
            </a:r>
            <a:endParaRPr lang="en-US" sz="1575" dirty="0"/>
          </a:p>
        </p:txBody>
      </p:sp>
      <p:sp>
        <p:nvSpPr>
          <p:cNvPr id="31" name="Text 29"/>
          <p:cNvSpPr/>
          <p:nvPr/>
        </p:nvSpPr>
        <p:spPr>
          <a:xfrm>
            <a:off x="564356" y="2169133"/>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موارد یادگیری به صورت جزء به کل بیان شوند.</a:t>
            </a:r>
            <a:endParaRPr lang="en-US" sz="800" dirty="0"/>
          </a:p>
        </p:txBody>
      </p:sp>
      <p:sp>
        <p:nvSpPr>
          <p:cNvPr id="32" name="Text 30"/>
          <p:cNvSpPr/>
          <p:nvPr/>
        </p:nvSpPr>
        <p:spPr>
          <a:xfrm>
            <a:off x="6697266" y="2650220"/>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33" name="Text 31"/>
          <p:cNvSpPr/>
          <p:nvPr/>
        </p:nvSpPr>
        <p:spPr>
          <a:xfrm>
            <a:off x="6800850" y="2710942"/>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۰۵</a:t>
            </a:r>
            <a:endParaRPr lang="en-US" sz="2138" dirty="0"/>
          </a:p>
        </p:txBody>
      </p:sp>
      <p:sp>
        <p:nvSpPr>
          <p:cNvPr id="34" name="Text 32"/>
          <p:cNvSpPr/>
          <p:nvPr/>
        </p:nvSpPr>
        <p:spPr>
          <a:xfrm>
            <a:off x="8351044" y="2753804"/>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35" name="Text 33"/>
          <p:cNvSpPr/>
          <p:nvPr/>
        </p:nvSpPr>
        <p:spPr>
          <a:xfrm>
            <a:off x="8372118" y="2774878"/>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36" name="Text 34"/>
          <p:cNvSpPr/>
          <p:nvPr/>
        </p:nvSpPr>
        <p:spPr>
          <a:xfrm>
            <a:off x="6800850" y="3025267"/>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۵</a:t>
            </a:r>
            <a:endParaRPr lang="en-US" sz="1575" dirty="0"/>
          </a:p>
        </p:txBody>
      </p:sp>
      <p:sp>
        <p:nvSpPr>
          <p:cNvPr id="37" name="Text 35"/>
          <p:cNvSpPr/>
          <p:nvPr/>
        </p:nvSpPr>
        <p:spPr>
          <a:xfrm>
            <a:off x="6800850" y="3268154"/>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موارد جدید در ارتباط با آموخته‌های قبلی باشند.</a:t>
            </a:r>
            <a:endParaRPr lang="en-US" sz="800" dirty="0"/>
          </a:p>
        </p:txBody>
      </p:sp>
      <p:sp>
        <p:nvSpPr>
          <p:cNvPr id="38" name="Text 36"/>
          <p:cNvSpPr/>
          <p:nvPr/>
        </p:nvSpPr>
        <p:spPr>
          <a:xfrm>
            <a:off x="4618434" y="2650220"/>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39" name="Text 37"/>
          <p:cNvSpPr/>
          <p:nvPr/>
        </p:nvSpPr>
        <p:spPr>
          <a:xfrm>
            <a:off x="4722019" y="2710942"/>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۰۶</a:t>
            </a:r>
            <a:endParaRPr lang="en-US" sz="2138" dirty="0"/>
          </a:p>
        </p:txBody>
      </p:sp>
      <p:sp>
        <p:nvSpPr>
          <p:cNvPr id="40" name="Text 38"/>
          <p:cNvSpPr/>
          <p:nvPr/>
        </p:nvSpPr>
        <p:spPr>
          <a:xfrm>
            <a:off x="6272213" y="2753804"/>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41" name="Text 39"/>
          <p:cNvSpPr/>
          <p:nvPr/>
        </p:nvSpPr>
        <p:spPr>
          <a:xfrm>
            <a:off x="6293287" y="2774878"/>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42" name="Text 40"/>
          <p:cNvSpPr/>
          <p:nvPr/>
        </p:nvSpPr>
        <p:spPr>
          <a:xfrm>
            <a:off x="4722019" y="3025267"/>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۶</a:t>
            </a:r>
            <a:endParaRPr lang="en-US" sz="1575" dirty="0"/>
          </a:p>
        </p:txBody>
      </p:sp>
      <p:sp>
        <p:nvSpPr>
          <p:cNvPr id="43" name="Text 41"/>
          <p:cNvSpPr/>
          <p:nvPr/>
        </p:nvSpPr>
        <p:spPr>
          <a:xfrm>
            <a:off x="4722019" y="3268154"/>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یادگیری از آنچه فراگیرنده فعلاً قادر است انجام دهد شروع شود.</a:t>
            </a:r>
            <a:endParaRPr lang="en-US" sz="800" dirty="0"/>
          </a:p>
        </p:txBody>
      </p:sp>
      <p:sp>
        <p:nvSpPr>
          <p:cNvPr id="44" name="Text 42"/>
          <p:cNvSpPr/>
          <p:nvPr/>
        </p:nvSpPr>
        <p:spPr>
          <a:xfrm>
            <a:off x="2539603" y="2650220"/>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45" name="Text 43"/>
          <p:cNvSpPr/>
          <p:nvPr/>
        </p:nvSpPr>
        <p:spPr>
          <a:xfrm>
            <a:off x="2643188" y="2710942"/>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۰۷</a:t>
            </a:r>
            <a:endParaRPr lang="en-US" sz="2138" dirty="0"/>
          </a:p>
        </p:txBody>
      </p:sp>
      <p:sp>
        <p:nvSpPr>
          <p:cNvPr id="46" name="Text 44"/>
          <p:cNvSpPr/>
          <p:nvPr/>
        </p:nvSpPr>
        <p:spPr>
          <a:xfrm>
            <a:off x="4193381" y="2753804"/>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47" name="Text 45"/>
          <p:cNvSpPr/>
          <p:nvPr/>
        </p:nvSpPr>
        <p:spPr>
          <a:xfrm>
            <a:off x="4214455" y="2774878"/>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48" name="Text 46"/>
          <p:cNvSpPr/>
          <p:nvPr/>
        </p:nvSpPr>
        <p:spPr>
          <a:xfrm>
            <a:off x="2643188" y="3025267"/>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۷</a:t>
            </a:r>
            <a:endParaRPr lang="en-US" sz="1575" dirty="0"/>
          </a:p>
        </p:txBody>
      </p:sp>
      <p:sp>
        <p:nvSpPr>
          <p:cNvPr id="49" name="Text 47"/>
          <p:cNvSpPr/>
          <p:nvPr/>
        </p:nvSpPr>
        <p:spPr>
          <a:xfrm>
            <a:off x="2643188" y="3268154"/>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موارد یادگیری برای یادگیرنده واضح باشند.</a:t>
            </a:r>
            <a:endParaRPr lang="en-US" sz="800" dirty="0"/>
          </a:p>
        </p:txBody>
      </p:sp>
      <p:sp>
        <p:nvSpPr>
          <p:cNvPr id="50" name="Text 48"/>
          <p:cNvSpPr/>
          <p:nvPr/>
        </p:nvSpPr>
        <p:spPr>
          <a:xfrm>
            <a:off x="460772" y="2650220"/>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51" name="Text 49"/>
          <p:cNvSpPr/>
          <p:nvPr/>
        </p:nvSpPr>
        <p:spPr>
          <a:xfrm>
            <a:off x="564356" y="2710942"/>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۰۸</a:t>
            </a:r>
            <a:endParaRPr lang="en-US" sz="2138" dirty="0"/>
          </a:p>
        </p:txBody>
      </p:sp>
      <p:sp>
        <p:nvSpPr>
          <p:cNvPr id="52" name="Text 50"/>
          <p:cNvSpPr/>
          <p:nvPr/>
        </p:nvSpPr>
        <p:spPr>
          <a:xfrm>
            <a:off x="2114550" y="2753804"/>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53" name="Text 51"/>
          <p:cNvSpPr/>
          <p:nvPr/>
        </p:nvSpPr>
        <p:spPr>
          <a:xfrm>
            <a:off x="2135624" y="2774878"/>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54" name="Text 52"/>
          <p:cNvSpPr/>
          <p:nvPr/>
        </p:nvSpPr>
        <p:spPr>
          <a:xfrm>
            <a:off x="564356" y="3025267"/>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۸</a:t>
            </a:r>
            <a:endParaRPr lang="en-US" sz="1575" dirty="0"/>
          </a:p>
        </p:txBody>
      </p:sp>
      <p:sp>
        <p:nvSpPr>
          <p:cNvPr id="55" name="Text 53"/>
          <p:cNvSpPr/>
          <p:nvPr/>
        </p:nvSpPr>
        <p:spPr>
          <a:xfrm>
            <a:off x="564356" y="3268154"/>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یادگیری بلافاصله مورد استفاده قرار گیرد.</a:t>
            </a:r>
            <a:endParaRPr lang="en-US" sz="800" dirty="0"/>
          </a:p>
        </p:txBody>
      </p:sp>
      <p:sp>
        <p:nvSpPr>
          <p:cNvPr id="56" name="Text 54"/>
          <p:cNvSpPr/>
          <p:nvPr/>
        </p:nvSpPr>
        <p:spPr>
          <a:xfrm>
            <a:off x="6697266" y="3749241"/>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57" name="Text 55"/>
          <p:cNvSpPr/>
          <p:nvPr/>
        </p:nvSpPr>
        <p:spPr>
          <a:xfrm>
            <a:off x="6800850" y="3809963"/>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۰۹</a:t>
            </a:r>
            <a:endParaRPr lang="en-US" sz="2138" dirty="0"/>
          </a:p>
        </p:txBody>
      </p:sp>
      <p:sp>
        <p:nvSpPr>
          <p:cNvPr id="58" name="Text 56"/>
          <p:cNvSpPr/>
          <p:nvPr/>
        </p:nvSpPr>
        <p:spPr>
          <a:xfrm>
            <a:off x="8351044" y="3852825"/>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59" name="Text 57"/>
          <p:cNvSpPr/>
          <p:nvPr/>
        </p:nvSpPr>
        <p:spPr>
          <a:xfrm>
            <a:off x="8372118" y="3873899"/>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60" name="Text 58"/>
          <p:cNvSpPr/>
          <p:nvPr/>
        </p:nvSpPr>
        <p:spPr>
          <a:xfrm>
            <a:off x="6800850" y="4124288"/>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۹</a:t>
            </a:r>
            <a:endParaRPr lang="en-US" sz="1575" dirty="0"/>
          </a:p>
        </p:txBody>
      </p:sp>
      <p:sp>
        <p:nvSpPr>
          <p:cNvPr id="61" name="Text 59"/>
          <p:cNvSpPr/>
          <p:nvPr/>
        </p:nvSpPr>
        <p:spPr>
          <a:xfrm>
            <a:off x="6800850" y="4367175"/>
            <a:ext cx="1885521" cy="170053"/>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مشارکت فعال یادگیرنده ضروری است.</a:t>
            </a:r>
            <a:endParaRPr lang="en-US" sz="800" dirty="0"/>
          </a:p>
        </p:txBody>
      </p:sp>
      <p:sp>
        <p:nvSpPr>
          <p:cNvPr id="62" name="Text 60"/>
          <p:cNvSpPr/>
          <p:nvPr/>
        </p:nvSpPr>
        <p:spPr>
          <a:xfrm>
            <a:off x="4618434" y="3749241"/>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63" name="Text 61"/>
          <p:cNvSpPr/>
          <p:nvPr/>
        </p:nvSpPr>
        <p:spPr>
          <a:xfrm>
            <a:off x="4722019" y="3809963"/>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۱۰</a:t>
            </a:r>
            <a:endParaRPr lang="en-US" sz="2138" dirty="0"/>
          </a:p>
        </p:txBody>
      </p:sp>
      <p:sp>
        <p:nvSpPr>
          <p:cNvPr id="64" name="Text 62"/>
          <p:cNvSpPr/>
          <p:nvPr/>
        </p:nvSpPr>
        <p:spPr>
          <a:xfrm>
            <a:off x="6272213" y="3852825"/>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65" name="Text 63"/>
          <p:cNvSpPr/>
          <p:nvPr/>
        </p:nvSpPr>
        <p:spPr>
          <a:xfrm>
            <a:off x="6293287" y="3873899"/>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66" name="Text 64"/>
          <p:cNvSpPr/>
          <p:nvPr/>
        </p:nvSpPr>
        <p:spPr>
          <a:xfrm>
            <a:off x="4722019" y="4124288"/>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۱۰</a:t>
            </a:r>
            <a:endParaRPr lang="en-US" sz="1575" dirty="0"/>
          </a:p>
        </p:txBody>
      </p:sp>
      <p:sp>
        <p:nvSpPr>
          <p:cNvPr id="67" name="Text 65"/>
          <p:cNvSpPr/>
          <p:nvPr/>
        </p:nvSpPr>
        <p:spPr>
          <a:xfrm>
            <a:off x="4722019" y="4367175"/>
            <a:ext cx="1778794" cy="298921"/>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یادگیری بیشتر از طریق مکانیسم تداعی معانی صورت می‌گیرد.</a:t>
            </a:r>
            <a:endParaRPr lang="en-US" sz="800" dirty="0"/>
          </a:p>
        </p:txBody>
      </p:sp>
      <p:sp>
        <p:nvSpPr>
          <p:cNvPr id="68" name="Text 66"/>
          <p:cNvSpPr/>
          <p:nvPr/>
        </p:nvSpPr>
        <p:spPr>
          <a:xfrm>
            <a:off x="2539603" y="3749241"/>
            <a:ext cx="1985963" cy="1006153"/>
          </a:xfrm>
          <a:prstGeom prst="roundRect">
            <a:avLst>
              <a:gd name="adj" fmla="val 13253"/>
            </a:avLst>
          </a:prstGeom>
          <a:solidFill>
            <a:srgbClr val="FFFFFF"/>
          </a:solidFill>
          <a:ln w="7144">
            <a:solidFill>
              <a:srgbClr val="D8E3EC"/>
            </a:solidFill>
            <a:prstDash val="solid"/>
          </a:ln>
          <a:effectLst>
            <a:outerShdw blurRad="57150" dist="19050" dir="5400000" algn="bl" rotWithShape="0">
              <a:srgbClr val="1B4965">
                <a:alpha val="5000"/>
              </a:srgbClr>
            </a:outerShdw>
          </a:effectLst>
        </p:spPr>
        <p:txBody>
          <a:bodyPr wrap="square" rtlCol="0" anchor="ctr"/>
          <a:lstStyle/>
          <a:p>
            <a:pPr marL="0" indent="0">
              <a:buNone/>
            </a:pPr>
            <a:endParaRPr lang="en-US" dirty="0"/>
          </a:p>
        </p:txBody>
      </p:sp>
      <p:sp>
        <p:nvSpPr>
          <p:cNvPr id="69" name="Text 67"/>
          <p:cNvSpPr/>
          <p:nvPr/>
        </p:nvSpPr>
        <p:spPr>
          <a:xfrm>
            <a:off x="2643188" y="3809963"/>
            <a:ext cx="504920" cy="293180"/>
          </a:xfrm>
          <a:prstGeom prst="rect">
            <a:avLst/>
          </a:prstGeom>
          <a:noFill/>
          <a:ln/>
        </p:spPr>
        <p:txBody>
          <a:bodyPr wrap="none" lIns="0" tIns="0" rIns="0" bIns="0" rtlCol="0" anchor="t"/>
          <a:lstStyle/>
          <a:p>
            <a:pPr marL="0" indent="0" algn="l">
              <a:lnSpc>
                <a:spcPts val="2138"/>
              </a:lnSpc>
              <a:buNone/>
            </a:pPr>
            <a:r>
              <a:rPr lang="en-US" sz="2138" b="1" dirty="0">
                <a:solidFill>
                  <a:srgbClr val="CDE7F0">
                    <a:alpha val="45000"/>
                  </a:srgbClr>
                </a:solidFill>
                <a:latin typeface="Carlito" pitchFamily="34" charset="0"/>
                <a:ea typeface="Carlito" pitchFamily="34" charset="-122"/>
                <a:cs typeface="Carlito" pitchFamily="34" charset="-120"/>
              </a:rPr>
              <a:t>۱۱</a:t>
            </a:r>
            <a:endParaRPr lang="en-US" sz="2138" dirty="0"/>
          </a:p>
        </p:txBody>
      </p:sp>
      <p:sp>
        <p:nvSpPr>
          <p:cNvPr id="70" name="Text 68"/>
          <p:cNvSpPr/>
          <p:nvPr/>
        </p:nvSpPr>
        <p:spPr>
          <a:xfrm>
            <a:off x="4193381" y="3852825"/>
            <a:ext cx="228600" cy="2286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71" name="Text 69"/>
          <p:cNvSpPr/>
          <p:nvPr/>
        </p:nvSpPr>
        <p:spPr>
          <a:xfrm>
            <a:off x="4214455" y="3873899"/>
            <a:ext cx="186452" cy="186452"/>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72" name="Text 70"/>
          <p:cNvSpPr/>
          <p:nvPr/>
        </p:nvSpPr>
        <p:spPr>
          <a:xfrm>
            <a:off x="2643188" y="4124288"/>
            <a:ext cx="1778794" cy="215456"/>
          </a:xfrm>
          <a:prstGeom prst="rect">
            <a:avLst/>
          </a:prstGeom>
          <a:noFill/>
          <a:ln/>
        </p:spPr>
        <p:txBody>
          <a:bodyPr wrap="none" lIns="0" tIns="0" rIns="0" bIns="0" rtlCol="0" anchor="t"/>
          <a:lstStyle/>
          <a:p>
            <a:pPr marL="0" indent="0" algn="l">
              <a:lnSpc>
                <a:spcPts val="1575"/>
              </a:lnSpc>
              <a:buNone/>
            </a:pPr>
            <a:r>
              <a:rPr lang="en-US" sz="1575" b="1" dirty="0">
                <a:solidFill>
                  <a:srgbClr val="1B4965"/>
                </a:solidFill>
                <a:latin typeface="Carlito" pitchFamily="34" charset="0"/>
                <a:ea typeface="Carlito" pitchFamily="34" charset="-122"/>
                <a:cs typeface="Carlito" pitchFamily="34" charset="-120"/>
              </a:rPr>
              <a:t>۱۱</a:t>
            </a:r>
            <a:endParaRPr lang="en-US" sz="1575" dirty="0"/>
          </a:p>
        </p:txBody>
      </p:sp>
      <p:sp>
        <p:nvSpPr>
          <p:cNvPr id="73" name="Text 71"/>
          <p:cNvSpPr/>
          <p:nvPr/>
        </p:nvSpPr>
        <p:spPr>
          <a:xfrm>
            <a:off x="2643188" y="4367175"/>
            <a:ext cx="1885521" cy="170053"/>
          </a:xfrm>
          <a:prstGeom prst="rect">
            <a:avLst/>
          </a:prstGeom>
          <a:noFill/>
          <a:ln/>
        </p:spPr>
        <p:txBody>
          <a:bodyPr wrap="square" lIns="0" tIns="0" rIns="0" bIns="0" rtlCol="0" anchor="t"/>
          <a:lstStyle/>
          <a:p>
            <a:pPr marL="0" indent="0" algn="l">
              <a:lnSpc>
                <a:spcPts val="1177"/>
              </a:lnSpc>
              <a:buNone/>
            </a:pPr>
            <a:r>
              <a:rPr lang="en-US" sz="800" dirty="0">
                <a:solidFill>
                  <a:srgbClr val="1A2733"/>
                </a:solidFill>
                <a:latin typeface="Carlito" pitchFamily="34" charset="0"/>
                <a:ea typeface="Carlito" pitchFamily="34" charset="-122"/>
                <a:cs typeface="Carlito" pitchFamily="34" charset="-120"/>
              </a:rPr>
              <a:t>یادگیری با تکرار تقویت می‌شود.</a:t>
            </a:r>
            <a:endParaRPr lang="en-US" sz="800" dirty="0"/>
          </a:p>
        </p:txBody>
      </p:sp>
      <p:pic>
        <p:nvPicPr>
          <p:cNvPr id="74" name="Image 0" descr="preencoded.png"/>
          <p:cNvPicPr>
            <a:picLocks noChangeAspect="1"/>
          </p:cNvPicPr>
          <p:nvPr/>
        </p:nvPicPr>
        <p:blipFill>
          <a:blip r:embed="rId3"/>
          <a:stretch>
            <a:fillRect/>
          </a:stretch>
        </p:blipFill>
        <p:spPr>
          <a:xfrm>
            <a:off x="457200" y="3745669"/>
            <a:ext cx="1993106" cy="1013296"/>
          </a:xfrm>
          <a:prstGeom prst="rect">
            <a:avLst/>
          </a:prstGeom>
        </p:spPr>
      </p:pic>
      <p:sp>
        <p:nvSpPr>
          <p:cNvPr id="75" name="Text 72"/>
          <p:cNvSpPr/>
          <p:nvPr/>
        </p:nvSpPr>
        <p:spPr>
          <a:xfrm>
            <a:off x="2178844" y="4011216"/>
            <a:ext cx="171450" cy="171450"/>
          </a:xfrm>
          <a:prstGeom prst="rect">
            <a:avLst/>
          </a:prstGeom>
          <a:noFill/>
          <a:ln/>
        </p:spPr>
        <p:txBody>
          <a:bodyPr wrap="none" lIns="0" tIns="0" rIns="0" bIns="0" rtlCol="0" anchor="ctr"/>
          <a:lstStyle/>
          <a:p>
            <a:pPr marL="0" indent="0" algn="ctr">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76" name="Text 73"/>
          <p:cNvSpPr/>
          <p:nvPr/>
        </p:nvSpPr>
        <p:spPr>
          <a:xfrm>
            <a:off x="1497732" y="4032647"/>
            <a:ext cx="801889" cy="164592"/>
          </a:xfrm>
          <a:prstGeom prst="rect">
            <a:avLst/>
          </a:prstGeom>
          <a:noFill/>
          <a:ln/>
        </p:spPr>
        <p:txBody>
          <a:bodyPr wrap="none" lIns="0" tIns="0" rIns="0" bIns="0" rtlCol="0" anchor="t"/>
          <a:lstStyle/>
          <a:p>
            <a:pPr marL="0" indent="0" algn="l">
              <a:lnSpc>
                <a:spcPts val="1013"/>
              </a:lnSpc>
              <a:buNone/>
            </a:pPr>
            <a:r>
              <a:rPr lang="en-US" sz="800" b="1" kern="0" spc="28" dirty="0">
                <a:solidFill>
                  <a:srgbClr val="FFFFFF"/>
                </a:solidFill>
                <a:latin typeface="Carlito" pitchFamily="34" charset="0"/>
                <a:ea typeface="Carlito" pitchFamily="34" charset="-122"/>
                <a:cs typeface="Carlito" pitchFamily="34" charset="-120"/>
              </a:rPr>
              <a:t>الگوی کاربردی</a:t>
            </a:r>
            <a:endParaRPr lang="en-US" sz="800" dirty="0"/>
          </a:p>
        </p:txBody>
      </p:sp>
      <p:sp>
        <p:nvSpPr>
          <p:cNvPr id="77" name="Text 74"/>
          <p:cNvSpPr/>
          <p:nvPr/>
        </p:nvSpPr>
        <p:spPr>
          <a:xfrm>
            <a:off x="557213" y="4225528"/>
            <a:ext cx="1793081" cy="329184"/>
          </a:xfrm>
          <a:prstGeom prst="rect">
            <a:avLst/>
          </a:prstGeom>
          <a:noFill/>
          <a:ln/>
        </p:spPr>
        <p:txBody>
          <a:bodyPr wrap="square" lIns="0" tIns="0" rIns="0" bIns="0" rtlCol="0" anchor="t"/>
          <a:lstStyle/>
          <a:p>
            <a:pPr marL="0" indent="0" algn="l">
              <a:lnSpc>
                <a:spcPts val="1055"/>
              </a:lnSpc>
              <a:buNone/>
            </a:pPr>
            <a:r>
              <a:rPr lang="en-US" sz="800" dirty="0">
                <a:solidFill>
                  <a:srgbClr val="FFFFFF"/>
                </a:solidFill>
                <a:latin typeface="Carlito" pitchFamily="34" charset="0"/>
                <a:ea typeface="Carlito" pitchFamily="34" charset="-122"/>
                <a:cs typeface="Carlito" pitchFamily="34" charset="-120"/>
              </a:rPr>
              <a:t>این ۱۱ اصل، چارچوب طراحی هر جلسه آموزش بیمار را تشکیل می‌دهند.</a:t>
            </a:r>
            <a:endParaRPr lang="en-US" sz="800" dirty="0"/>
          </a:p>
        </p:txBody>
      </p:sp>
      <p:sp>
        <p:nvSpPr>
          <p:cNvPr id="78" name="Shape 75"/>
          <p:cNvSpPr/>
          <p:nvPr/>
        </p:nvSpPr>
        <p:spPr>
          <a:xfrm>
            <a:off x="457200" y="4825603"/>
            <a:ext cx="8229600" cy="0"/>
          </a:xfrm>
          <a:prstGeom prst="line">
            <a:avLst/>
          </a:prstGeom>
          <a:noFill/>
          <a:ln w="7144">
            <a:solidFill>
              <a:srgbClr val="D8E3EC"/>
            </a:solidFill>
            <a:prstDash val="solid"/>
          </a:ln>
        </p:spPr>
      </p:sp>
      <p:sp>
        <p:nvSpPr>
          <p:cNvPr id="79" name="Text 76"/>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80" name="Text 77"/>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۱۳ از ۲۲</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2A9D8F"/>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4907645" y="400050"/>
            <a:ext cx="3779155"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عوامل مؤثر بر یادگیری</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۱۴ / ۲۲</a:t>
            </a:r>
            <a:endParaRPr lang="en-US" sz="1013" dirty="0"/>
          </a:p>
        </p:txBody>
      </p:sp>
      <p:sp>
        <p:nvSpPr>
          <p:cNvPr id="7" name="Text 5"/>
          <p:cNvSpPr/>
          <p:nvPr/>
        </p:nvSpPr>
        <p:spPr>
          <a:xfrm>
            <a:off x="457200" y="1074353"/>
            <a:ext cx="8229600" cy="209276"/>
          </a:xfrm>
          <a:prstGeom prst="rect">
            <a:avLst/>
          </a:prstGeom>
          <a:noFill/>
          <a:ln/>
        </p:spPr>
        <p:txBody>
          <a:bodyPr wrap="square" lIns="0" tIns="0" rIns="0" bIns="0" rtlCol="0" anchor="t"/>
          <a:lstStyle/>
          <a:p>
            <a:pPr marL="0" indent="0" algn="l">
              <a:lnSpc>
                <a:spcPts val="1526"/>
              </a:lnSpc>
              <a:buNone/>
            </a:pPr>
            <a:r>
              <a:rPr lang="en-US" sz="872" dirty="0">
                <a:solidFill>
                  <a:srgbClr val="1A2733"/>
                </a:solidFill>
                <a:latin typeface="Carlito" pitchFamily="34" charset="0"/>
                <a:ea typeface="Carlito" pitchFamily="34" charset="-122"/>
                <a:cs typeface="Carlito" pitchFamily="34" charset="-120"/>
              </a:rPr>
              <a:t>پنج عامل کلیدی بر فرآیند یادگیری تأثیر می‌گذارند. شناسایی و کنترل این عوامل توسط پرستار، پیش‌نیاز طراحی آموزش مؤثر است.</a:t>
            </a:r>
            <a:endParaRPr lang="en-US" sz="872" dirty="0"/>
          </a:p>
        </p:txBody>
      </p:sp>
      <p:pic>
        <p:nvPicPr>
          <p:cNvPr id="8" name="Image 0" descr="preencoded.png"/>
          <p:cNvPicPr>
            <a:picLocks noChangeAspect="1"/>
          </p:cNvPicPr>
          <p:nvPr/>
        </p:nvPicPr>
        <p:blipFill>
          <a:blip r:embed="rId3"/>
          <a:stretch>
            <a:fillRect/>
          </a:stretch>
        </p:blipFill>
        <p:spPr>
          <a:xfrm>
            <a:off x="5380583" y="1353852"/>
            <a:ext cx="3306217" cy="3389598"/>
          </a:xfrm>
          <a:prstGeom prst="rect">
            <a:avLst/>
          </a:prstGeom>
        </p:spPr>
      </p:pic>
      <p:sp>
        <p:nvSpPr>
          <p:cNvPr id="9" name="Text 6"/>
          <p:cNvSpPr/>
          <p:nvPr/>
        </p:nvSpPr>
        <p:spPr>
          <a:xfrm>
            <a:off x="8133159" y="1528874"/>
            <a:ext cx="392906" cy="392906"/>
          </a:xfrm>
          <a:prstGeom prst="roundRect">
            <a:avLst>
              <a:gd name="adj" fmla="val 38788"/>
            </a:avLst>
          </a:prstGeom>
          <a:solidFill>
            <a:srgbClr val="FFFFFF">
              <a:alpha val="12000"/>
            </a:srgbClr>
          </a:solidFill>
          <a:ln w="7144">
            <a:solidFill>
              <a:srgbClr val="FFFFFF"/>
            </a:solidFill>
            <a:prstDash val="solid"/>
          </a:ln>
        </p:spPr>
        <p:txBody>
          <a:bodyPr wrap="square" rtlCol="0" anchor="ctr"/>
          <a:lstStyle/>
          <a:p>
            <a:pPr marL="0" indent="0">
              <a:buNone/>
            </a:pPr>
            <a:endParaRPr lang="en-US" dirty="0"/>
          </a:p>
        </p:txBody>
      </p:sp>
      <p:sp>
        <p:nvSpPr>
          <p:cNvPr id="10" name="Text 7"/>
          <p:cNvSpPr/>
          <p:nvPr/>
        </p:nvSpPr>
        <p:spPr>
          <a:xfrm>
            <a:off x="8174236" y="1569951"/>
            <a:ext cx="310753" cy="31075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11" name="Text 8"/>
          <p:cNvSpPr/>
          <p:nvPr/>
        </p:nvSpPr>
        <p:spPr>
          <a:xfrm>
            <a:off x="5537746" y="1666391"/>
            <a:ext cx="2577554" cy="164592"/>
          </a:xfrm>
          <a:prstGeom prst="rect">
            <a:avLst/>
          </a:prstGeom>
          <a:noFill/>
          <a:ln/>
        </p:spPr>
        <p:txBody>
          <a:bodyPr wrap="none" lIns="0" tIns="0" rIns="0" bIns="0" rtlCol="0" anchor="t"/>
          <a:lstStyle/>
          <a:p>
            <a:pPr marL="0" indent="0" algn="l">
              <a:lnSpc>
                <a:spcPts val="928"/>
              </a:lnSpc>
              <a:buNone/>
            </a:pPr>
            <a:r>
              <a:rPr lang="en-US" sz="800" b="1" kern="0" spc="34" dirty="0">
                <a:solidFill>
                  <a:srgbClr val="2A9D8F"/>
                </a:solidFill>
                <a:latin typeface="Carlito" pitchFamily="34" charset="0"/>
                <a:ea typeface="Carlito" pitchFamily="34" charset="-122"/>
                <a:cs typeface="Carlito" pitchFamily="34" charset="-120"/>
              </a:rPr>
              <a:t>★ عامل محوری</a:t>
            </a:r>
            <a:endParaRPr lang="en-US" sz="800" dirty="0"/>
          </a:p>
        </p:txBody>
      </p:sp>
      <p:sp>
        <p:nvSpPr>
          <p:cNvPr id="12" name="Text 9"/>
          <p:cNvSpPr/>
          <p:nvPr/>
        </p:nvSpPr>
        <p:spPr>
          <a:xfrm>
            <a:off x="5537746" y="2039652"/>
            <a:ext cx="2991892" cy="14759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2A9D8F"/>
                </a:solidFill>
                <a:latin typeface="Carlito" pitchFamily="34" charset="0"/>
                <a:ea typeface="Carlito" pitchFamily="34" charset="-122"/>
                <a:cs typeface="Carlito" pitchFamily="34" charset="-120"/>
              </a:rPr>
              <a:t>عامل ۱</a:t>
            </a:r>
            <a:endParaRPr lang="en-US" sz="800" dirty="0"/>
          </a:p>
        </p:txBody>
      </p:sp>
      <p:sp>
        <p:nvSpPr>
          <p:cNvPr id="13" name="Text 10"/>
          <p:cNvSpPr/>
          <p:nvPr/>
        </p:nvSpPr>
        <p:spPr>
          <a:xfrm>
            <a:off x="5537746" y="2214674"/>
            <a:ext cx="2991892" cy="259184"/>
          </a:xfrm>
          <a:prstGeom prst="rect">
            <a:avLst/>
          </a:prstGeom>
          <a:noFill/>
          <a:ln/>
        </p:spPr>
        <p:txBody>
          <a:bodyPr wrap="none" lIns="0" tIns="0" rIns="0" bIns="0" rtlCol="0" anchor="t"/>
          <a:lstStyle/>
          <a:p>
            <a:pPr marL="0" indent="0" algn="l">
              <a:lnSpc>
                <a:spcPts val="1890"/>
              </a:lnSpc>
              <a:buNone/>
            </a:pPr>
            <a:r>
              <a:rPr lang="en-US" sz="1575" b="1" dirty="0">
                <a:solidFill>
                  <a:srgbClr val="FFFFFF"/>
                </a:solidFill>
                <a:latin typeface="Carlito" pitchFamily="34" charset="0"/>
                <a:ea typeface="Carlito" pitchFamily="34" charset="-122"/>
                <a:cs typeface="Carlito" pitchFamily="34" charset="-120"/>
              </a:rPr>
              <a:t>آمادگی</a:t>
            </a:r>
            <a:endParaRPr lang="en-US" sz="1575" dirty="0"/>
          </a:p>
        </p:txBody>
      </p:sp>
      <p:sp>
        <p:nvSpPr>
          <p:cNvPr id="14" name="Text 11"/>
          <p:cNvSpPr/>
          <p:nvPr/>
        </p:nvSpPr>
        <p:spPr>
          <a:xfrm>
            <a:off x="5537746" y="2511809"/>
            <a:ext cx="2991892" cy="620595"/>
          </a:xfrm>
          <a:prstGeom prst="rect">
            <a:avLst/>
          </a:prstGeom>
          <a:noFill/>
          <a:ln/>
        </p:spPr>
        <p:txBody>
          <a:bodyPr wrap="square" lIns="0" tIns="0" rIns="0" bIns="0" rtlCol="0" anchor="t"/>
          <a:lstStyle/>
          <a:p>
            <a:pPr marL="0" indent="0" algn="l">
              <a:lnSpc>
                <a:spcPts val="1509"/>
              </a:lnSpc>
              <a:buNone/>
            </a:pPr>
            <a:r>
              <a:rPr lang="en-US" sz="816" dirty="0">
                <a:solidFill>
                  <a:srgbClr val="FFFFFF">
                    <a:alpha val="92000"/>
                  </a:srgbClr>
                </a:solidFill>
                <a:latin typeface="Carlito" pitchFamily="34" charset="0"/>
                <a:ea typeface="Carlito" pitchFamily="34" charset="-122"/>
                <a:cs typeface="Carlito" pitchFamily="34" charset="-120"/>
              </a:rPr>
              <a:t>آمادگی یادگیرنده در سه بُعد: روحی، جسمی و فیزیکی، عاطفی. پرستار باید قبل از شروع آموزش، این سه بُعد را ارزیابی کند.</a:t>
            </a:r>
            <a:endParaRPr lang="en-US" sz="816" dirty="0"/>
          </a:p>
        </p:txBody>
      </p:sp>
      <p:sp>
        <p:nvSpPr>
          <p:cNvPr id="15" name="Text 12"/>
          <p:cNvSpPr/>
          <p:nvPr/>
        </p:nvSpPr>
        <p:spPr>
          <a:xfrm>
            <a:off x="5537746" y="3186447"/>
            <a:ext cx="2991892" cy="371475"/>
          </a:xfrm>
          <a:prstGeom prst="roundRect">
            <a:avLst>
              <a:gd name="adj" fmla="val 20513"/>
            </a:avLst>
          </a:prstGeom>
          <a:solidFill>
            <a:srgbClr val="FFFFFF">
              <a:alpha val="8000"/>
            </a:srgbClr>
          </a:solidFill>
          <a:ln/>
        </p:spPr>
        <p:txBody>
          <a:bodyPr wrap="square" rtlCol="0" anchor="ctr"/>
          <a:lstStyle/>
          <a:p>
            <a:pPr marL="0" indent="0">
              <a:buNone/>
            </a:pPr>
            <a:endParaRPr lang="en-US" dirty="0"/>
          </a:p>
        </p:txBody>
      </p:sp>
      <p:sp>
        <p:nvSpPr>
          <p:cNvPr id="16" name="Shape 13"/>
          <p:cNvSpPr/>
          <p:nvPr/>
        </p:nvSpPr>
        <p:spPr>
          <a:xfrm>
            <a:off x="8518922" y="3186447"/>
            <a:ext cx="0" cy="371475"/>
          </a:xfrm>
          <a:prstGeom prst="line">
            <a:avLst/>
          </a:prstGeom>
          <a:noFill/>
          <a:ln w="21431">
            <a:solidFill>
              <a:srgbClr val="2A9D8F"/>
            </a:solidFill>
            <a:prstDash val="solid"/>
          </a:ln>
        </p:spPr>
      </p:sp>
      <p:sp>
        <p:nvSpPr>
          <p:cNvPr id="17" name="Text 14"/>
          <p:cNvSpPr/>
          <p:nvPr/>
        </p:nvSpPr>
        <p:spPr>
          <a:xfrm>
            <a:off x="8293894" y="3243597"/>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18" name="Text 15"/>
          <p:cNvSpPr/>
          <p:nvPr/>
        </p:nvSpPr>
        <p:spPr>
          <a:xfrm>
            <a:off x="7624725" y="3243597"/>
            <a:ext cx="797756" cy="101156"/>
          </a:xfrm>
          <a:prstGeom prst="rect">
            <a:avLst/>
          </a:prstGeom>
          <a:noFill/>
          <a:ln/>
        </p:spPr>
        <p:txBody>
          <a:bodyPr wrap="none" lIns="0" tIns="0" rIns="0" bIns="0" rtlCol="0" anchor="t">
            <a:normAutofit/>
          </a:bodyPr>
          <a:lstStyle/>
          <a:p>
            <a:pPr marL="0" indent="0" algn="l">
              <a:lnSpc>
                <a:spcPts val="1013"/>
              </a:lnSpc>
              <a:buNone/>
            </a:pPr>
            <a:r>
              <a:rPr lang="en-US" sz="800" b="1" dirty="0">
                <a:solidFill>
                  <a:srgbClr val="2A9D8F"/>
                </a:solidFill>
                <a:latin typeface="Carlito" pitchFamily="34" charset="0"/>
                <a:ea typeface="Carlito" pitchFamily="34" charset="-122"/>
                <a:cs typeface="Carlito" pitchFamily="34" charset="-120"/>
              </a:rPr>
              <a:t>روحی</a:t>
            </a:r>
            <a:endParaRPr lang="en-US" sz="800" dirty="0"/>
          </a:p>
        </p:txBody>
      </p:sp>
      <p:sp>
        <p:nvSpPr>
          <p:cNvPr id="19" name="Text 16"/>
          <p:cNvSpPr/>
          <p:nvPr/>
        </p:nvSpPr>
        <p:spPr>
          <a:xfrm>
            <a:off x="7624725" y="3372185"/>
            <a:ext cx="700541" cy="128588"/>
          </a:xfrm>
          <a:prstGeom prst="rect">
            <a:avLst/>
          </a:prstGeom>
          <a:noFill/>
          <a:ln/>
        </p:spPr>
        <p:txBody>
          <a:bodyPr wrap="none" lIns="0" tIns="0" rIns="0" bIns="0" rtlCol="0" anchor="t"/>
          <a:lstStyle/>
          <a:p>
            <a:pPr marL="0" indent="0" algn="l">
              <a:lnSpc>
                <a:spcPts val="1013"/>
              </a:lnSpc>
              <a:buNone/>
            </a:pPr>
            <a:r>
              <a:rPr lang="en-US" sz="800" dirty="0">
                <a:solidFill>
                  <a:srgbClr val="FFFFFF">
                    <a:alpha val="88000"/>
                  </a:srgbClr>
                </a:solidFill>
                <a:latin typeface="Carlito" pitchFamily="34" charset="0"/>
                <a:ea typeface="Carlito" pitchFamily="34" charset="-122"/>
                <a:cs typeface="Carlito" pitchFamily="34" charset="-120"/>
              </a:rPr>
              <a:t>آرامش و تمرکز</a:t>
            </a:r>
            <a:endParaRPr lang="en-US" sz="800" dirty="0"/>
          </a:p>
        </p:txBody>
      </p:sp>
      <p:sp>
        <p:nvSpPr>
          <p:cNvPr id="20" name="Text 17"/>
          <p:cNvSpPr/>
          <p:nvPr/>
        </p:nvSpPr>
        <p:spPr>
          <a:xfrm>
            <a:off x="5537746" y="3615072"/>
            <a:ext cx="2991892" cy="371475"/>
          </a:xfrm>
          <a:prstGeom prst="roundRect">
            <a:avLst>
              <a:gd name="adj" fmla="val 20513"/>
            </a:avLst>
          </a:prstGeom>
          <a:solidFill>
            <a:srgbClr val="FFFFFF">
              <a:alpha val="8000"/>
            </a:srgbClr>
          </a:solidFill>
          <a:ln/>
        </p:spPr>
        <p:txBody>
          <a:bodyPr wrap="square" rtlCol="0" anchor="ctr"/>
          <a:lstStyle/>
          <a:p>
            <a:pPr marL="0" indent="0">
              <a:buNone/>
            </a:pPr>
            <a:endParaRPr lang="en-US" dirty="0"/>
          </a:p>
        </p:txBody>
      </p:sp>
      <p:sp>
        <p:nvSpPr>
          <p:cNvPr id="21" name="Shape 18"/>
          <p:cNvSpPr/>
          <p:nvPr/>
        </p:nvSpPr>
        <p:spPr>
          <a:xfrm>
            <a:off x="8518922" y="3615072"/>
            <a:ext cx="0" cy="371475"/>
          </a:xfrm>
          <a:prstGeom prst="line">
            <a:avLst/>
          </a:prstGeom>
          <a:noFill/>
          <a:ln w="21431">
            <a:solidFill>
              <a:srgbClr val="2A9D8F"/>
            </a:solidFill>
            <a:prstDash val="solid"/>
          </a:ln>
        </p:spPr>
      </p:sp>
      <p:sp>
        <p:nvSpPr>
          <p:cNvPr id="22" name="Text 19"/>
          <p:cNvSpPr/>
          <p:nvPr/>
        </p:nvSpPr>
        <p:spPr>
          <a:xfrm>
            <a:off x="8293894" y="3672222"/>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23" name="Text 20"/>
          <p:cNvSpPr/>
          <p:nvPr/>
        </p:nvSpPr>
        <p:spPr>
          <a:xfrm>
            <a:off x="7277026" y="3672222"/>
            <a:ext cx="1145456" cy="101156"/>
          </a:xfrm>
          <a:prstGeom prst="rect">
            <a:avLst/>
          </a:prstGeom>
          <a:noFill/>
          <a:ln/>
        </p:spPr>
        <p:txBody>
          <a:bodyPr wrap="none" lIns="0" tIns="0" rIns="0" bIns="0" rtlCol="0" anchor="t">
            <a:normAutofit/>
          </a:bodyPr>
          <a:lstStyle/>
          <a:p>
            <a:pPr marL="0" indent="0" algn="l">
              <a:lnSpc>
                <a:spcPts val="1013"/>
              </a:lnSpc>
              <a:buNone/>
            </a:pPr>
            <a:r>
              <a:rPr lang="en-US" sz="800" b="1" dirty="0">
                <a:solidFill>
                  <a:srgbClr val="2A9D8F"/>
                </a:solidFill>
                <a:latin typeface="Carlito" pitchFamily="34" charset="0"/>
                <a:ea typeface="Carlito" pitchFamily="34" charset="-122"/>
                <a:cs typeface="Carlito" pitchFamily="34" charset="-120"/>
              </a:rPr>
              <a:t>جسمی و فیزیکی</a:t>
            </a:r>
            <a:endParaRPr lang="en-US" sz="800" dirty="0"/>
          </a:p>
        </p:txBody>
      </p:sp>
      <p:sp>
        <p:nvSpPr>
          <p:cNvPr id="24" name="Text 21"/>
          <p:cNvSpPr/>
          <p:nvPr/>
        </p:nvSpPr>
        <p:spPr>
          <a:xfrm>
            <a:off x="7277026" y="3800810"/>
            <a:ext cx="1108045" cy="128588"/>
          </a:xfrm>
          <a:prstGeom prst="rect">
            <a:avLst/>
          </a:prstGeom>
          <a:noFill/>
          <a:ln/>
        </p:spPr>
        <p:txBody>
          <a:bodyPr wrap="none" lIns="0" tIns="0" rIns="0" bIns="0" rtlCol="0" anchor="t"/>
          <a:lstStyle/>
          <a:p>
            <a:pPr marL="0" indent="0" algn="l">
              <a:lnSpc>
                <a:spcPts val="1013"/>
              </a:lnSpc>
              <a:buNone/>
            </a:pPr>
            <a:r>
              <a:rPr lang="en-US" sz="800" dirty="0">
                <a:solidFill>
                  <a:srgbClr val="FFFFFF">
                    <a:alpha val="88000"/>
                  </a:srgbClr>
                </a:solidFill>
                <a:latin typeface="Carlito" pitchFamily="34" charset="0"/>
                <a:ea typeface="Carlito" pitchFamily="34" charset="-122"/>
                <a:cs typeface="Carlito" pitchFamily="34" charset="-120"/>
              </a:rPr>
              <a:t>بدون درد، خستگی یا تب</a:t>
            </a:r>
            <a:endParaRPr lang="en-US" sz="800" dirty="0"/>
          </a:p>
        </p:txBody>
      </p:sp>
      <p:sp>
        <p:nvSpPr>
          <p:cNvPr id="25" name="Text 22"/>
          <p:cNvSpPr/>
          <p:nvPr/>
        </p:nvSpPr>
        <p:spPr>
          <a:xfrm>
            <a:off x="5537746" y="4043697"/>
            <a:ext cx="2991892" cy="371475"/>
          </a:xfrm>
          <a:prstGeom prst="roundRect">
            <a:avLst>
              <a:gd name="adj" fmla="val 20513"/>
            </a:avLst>
          </a:prstGeom>
          <a:solidFill>
            <a:srgbClr val="FFFFFF">
              <a:alpha val="8000"/>
            </a:srgbClr>
          </a:solidFill>
          <a:ln/>
        </p:spPr>
        <p:txBody>
          <a:bodyPr wrap="square" rtlCol="0" anchor="ctr"/>
          <a:lstStyle/>
          <a:p>
            <a:pPr marL="0" indent="0">
              <a:buNone/>
            </a:pPr>
            <a:endParaRPr lang="en-US" dirty="0"/>
          </a:p>
        </p:txBody>
      </p:sp>
      <p:sp>
        <p:nvSpPr>
          <p:cNvPr id="26" name="Shape 23"/>
          <p:cNvSpPr/>
          <p:nvPr/>
        </p:nvSpPr>
        <p:spPr>
          <a:xfrm>
            <a:off x="8518922" y="4043697"/>
            <a:ext cx="0" cy="371475"/>
          </a:xfrm>
          <a:prstGeom prst="line">
            <a:avLst/>
          </a:prstGeom>
          <a:noFill/>
          <a:ln w="21431">
            <a:solidFill>
              <a:srgbClr val="2A9D8F"/>
            </a:solidFill>
            <a:prstDash val="solid"/>
          </a:ln>
        </p:spPr>
      </p:sp>
      <p:sp>
        <p:nvSpPr>
          <p:cNvPr id="27" name="Text 24"/>
          <p:cNvSpPr/>
          <p:nvPr/>
        </p:nvSpPr>
        <p:spPr>
          <a:xfrm>
            <a:off x="8293894" y="4100847"/>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28" name="Text 25"/>
          <p:cNvSpPr/>
          <p:nvPr/>
        </p:nvSpPr>
        <p:spPr>
          <a:xfrm>
            <a:off x="7648501" y="4100847"/>
            <a:ext cx="773981" cy="101156"/>
          </a:xfrm>
          <a:prstGeom prst="rect">
            <a:avLst/>
          </a:prstGeom>
          <a:noFill/>
          <a:ln/>
        </p:spPr>
        <p:txBody>
          <a:bodyPr wrap="none" lIns="0" tIns="0" rIns="0" bIns="0" rtlCol="0" anchor="t">
            <a:normAutofit/>
          </a:bodyPr>
          <a:lstStyle/>
          <a:p>
            <a:pPr marL="0" indent="0" algn="l">
              <a:lnSpc>
                <a:spcPts val="1013"/>
              </a:lnSpc>
              <a:buNone/>
            </a:pPr>
            <a:r>
              <a:rPr lang="en-US" sz="800" b="1" dirty="0">
                <a:solidFill>
                  <a:srgbClr val="2A9D8F"/>
                </a:solidFill>
                <a:latin typeface="Carlito" pitchFamily="34" charset="0"/>
                <a:ea typeface="Carlito" pitchFamily="34" charset="-122"/>
                <a:cs typeface="Carlito" pitchFamily="34" charset="-120"/>
              </a:rPr>
              <a:t>عاطفی</a:t>
            </a:r>
            <a:endParaRPr lang="en-US" sz="800" dirty="0"/>
          </a:p>
        </p:txBody>
      </p:sp>
      <p:sp>
        <p:nvSpPr>
          <p:cNvPr id="29" name="Text 26"/>
          <p:cNvSpPr/>
          <p:nvPr/>
        </p:nvSpPr>
        <p:spPr>
          <a:xfrm>
            <a:off x="7648501" y="4229435"/>
            <a:ext cx="672676" cy="128588"/>
          </a:xfrm>
          <a:prstGeom prst="rect">
            <a:avLst/>
          </a:prstGeom>
          <a:noFill/>
          <a:ln/>
        </p:spPr>
        <p:txBody>
          <a:bodyPr wrap="none" lIns="0" tIns="0" rIns="0" bIns="0" rtlCol="0" anchor="t"/>
          <a:lstStyle/>
          <a:p>
            <a:pPr marL="0" indent="0" algn="l">
              <a:lnSpc>
                <a:spcPts val="1013"/>
              </a:lnSpc>
              <a:buNone/>
            </a:pPr>
            <a:r>
              <a:rPr lang="en-US" sz="800" dirty="0">
                <a:solidFill>
                  <a:srgbClr val="FFFFFF">
                    <a:alpha val="88000"/>
                  </a:srgbClr>
                </a:solidFill>
                <a:latin typeface="Carlito" pitchFamily="34" charset="0"/>
                <a:ea typeface="Carlito" pitchFamily="34" charset="-122"/>
                <a:cs typeface="Carlito" pitchFamily="34" charset="-120"/>
              </a:rPr>
              <a:t>پذیرش موقعیت</a:t>
            </a:r>
            <a:endParaRPr lang="en-US" sz="800" dirty="0"/>
          </a:p>
        </p:txBody>
      </p:sp>
      <p:sp>
        <p:nvSpPr>
          <p:cNvPr id="30" name="Text 27"/>
          <p:cNvSpPr/>
          <p:nvPr/>
        </p:nvSpPr>
        <p:spPr>
          <a:xfrm>
            <a:off x="2922463" y="1357424"/>
            <a:ext cx="2354535" cy="1637593"/>
          </a:xfrm>
          <a:prstGeom prst="roundRect">
            <a:avLst>
              <a:gd name="adj" fmla="val 9306"/>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31" name="Text 28"/>
          <p:cNvSpPr/>
          <p:nvPr/>
        </p:nvSpPr>
        <p:spPr>
          <a:xfrm>
            <a:off x="4830514" y="1489583"/>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32" name="Text 29"/>
          <p:cNvSpPr/>
          <p:nvPr/>
        </p:nvSpPr>
        <p:spPr>
          <a:xfrm>
            <a:off x="4873734" y="1532803"/>
            <a:ext cx="227886" cy="227886"/>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33" name="Text 30"/>
          <p:cNvSpPr/>
          <p:nvPr/>
        </p:nvSpPr>
        <p:spPr>
          <a:xfrm>
            <a:off x="3054623" y="1861058"/>
            <a:ext cx="2090217" cy="14759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عامل ۲</a:t>
            </a:r>
            <a:endParaRPr lang="en-US" sz="800" dirty="0"/>
          </a:p>
        </p:txBody>
      </p:sp>
      <p:sp>
        <p:nvSpPr>
          <p:cNvPr id="34" name="Text 31"/>
          <p:cNvSpPr/>
          <p:nvPr/>
        </p:nvSpPr>
        <p:spPr>
          <a:xfrm>
            <a:off x="3054623" y="2036080"/>
            <a:ext cx="2090217" cy="173593"/>
          </a:xfrm>
          <a:prstGeom prst="rect">
            <a:avLst/>
          </a:prstGeom>
          <a:noFill/>
          <a:ln/>
        </p:spPr>
        <p:txBody>
          <a:bodyPr wrap="none" lIns="0" tIns="0" rIns="0" bIns="0" rtlCol="0" anchor="t"/>
          <a:lstStyle/>
          <a:p>
            <a:pPr marL="0" indent="0" algn="l">
              <a:lnSpc>
                <a:spcPts val="1266"/>
              </a:lnSpc>
              <a:buNone/>
            </a:pPr>
            <a:r>
              <a:rPr lang="en-US" sz="1013" b="1" dirty="0">
                <a:solidFill>
                  <a:srgbClr val="1B4965"/>
                </a:solidFill>
                <a:latin typeface="Carlito" pitchFamily="34" charset="0"/>
                <a:ea typeface="Carlito" pitchFamily="34" charset="-122"/>
                <a:cs typeface="Carlito" pitchFamily="34" charset="-120"/>
              </a:rPr>
              <a:t>انگیزه و هدف</a:t>
            </a:r>
            <a:endParaRPr lang="en-US" sz="1013" dirty="0"/>
          </a:p>
        </p:txBody>
      </p:sp>
      <p:sp>
        <p:nvSpPr>
          <p:cNvPr id="35" name="Text 32"/>
          <p:cNvSpPr/>
          <p:nvPr/>
        </p:nvSpPr>
        <p:spPr>
          <a:xfrm>
            <a:off x="3054623" y="2253965"/>
            <a:ext cx="2090217" cy="361891"/>
          </a:xfrm>
          <a:prstGeom prst="rect">
            <a:avLst/>
          </a:prstGeom>
          <a:noFill/>
          <a:ln/>
        </p:spPr>
        <p:txBody>
          <a:bodyPr wrap="square" lIns="0" tIns="0" rIns="0" bIns="0" rtlCol="0" anchor="t"/>
          <a:lstStyle/>
          <a:p>
            <a:pPr marL="0" indent="0" algn="l">
              <a:lnSpc>
                <a:spcPts val="1207"/>
              </a:lnSpc>
              <a:buNone/>
            </a:pPr>
            <a:r>
              <a:rPr lang="en-US" sz="800" dirty="0">
                <a:solidFill>
                  <a:srgbClr val="1A2733"/>
                </a:solidFill>
                <a:latin typeface="Carlito" pitchFamily="34" charset="0"/>
                <a:ea typeface="Carlito" pitchFamily="34" charset="-122"/>
                <a:cs typeface="Carlito" pitchFamily="34" charset="-120"/>
              </a:rPr>
              <a:t>محور حرکت یادگیرنده. بدون انگیزه، آموزش تأثیری ندارد.</a:t>
            </a:r>
            <a:endParaRPr lang="en-US" sz="800" dirty="0"/>
          </a:p>
        </p:txBody>
      </p:sp>
      <p:sp>
        <p:nvSpPr>
          <p:cNvPr id="36" name="Text 33"/>
          <p:cNvSpPr/>
          <p:nvPr/>
        </p:nvSpPr>
        <p:spPr>
          <a:xfrm>
            <a:off x="460883" y="1357424"/>
            <a:ext cx="2354424" cy="1637593"/>
          </a:xfrm>
          <a:prstGeom prst="roundRect">
            <a:avLst>
              <a:gd name="adj" fmla="val 9306"/>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37" name="Text 34"/>
          <p:cNvSpPr/>
          <p:nvPr/>
        </p:nvSpPr>
        <p:spPr>
          <a:xfrm>
            <a:off x="2368823" y="1489583"/>
            <a:ext cx="314325" cy="314325"/>
          </a:xfrm>
          <a:prstGeom prst="roundRect">
            <a:avLst>
              <a:gd name="adj" fmla="val 36364"/>
            </a:avLst>
          </a:prstGeom>
          <a:solidFill>
            <a:srgbClr val="CDE7F0"/>
          </a:solidFill>
          <a:ln/>
        </p:spPr>
        <p:txBody>
          <a:bodyPr wrap="square" rtlCol="0" anchor="ctr"/>
          <a:lstStyle/>
          <a:p>
            <a:pPr marL="0" indent="0">
              <a:buNone/>
            </a:pPr>
            <a:endParaRPr lang="en-US" dirty="0"/>
          </a:p>
        </p:txBody>
      </p:sp>
      <p:sp>
        <p:nvSpPr>
          <p:cNvPr id="38" name="Text 35"/>
          <p:cNvSpPr/>
          <p:nvPr/>
        </p:nvSpPr>
        <p:spPr>
          <a:xfrm>
            <a:off x="2412043" y="1532803"/>
            <a:ext cx="227886" cy="227886"/>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39" name="Text 36"/>
          <p:cNvSpPr/>
          <p:nvPr/>
        </p:nvSpPr>
        <p:spPr>
          <a:xfrm>
            <a:off x="593043" y="1861058"/>
            <a:ext cx="2090105" cy="14759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عامل ۳</a:t>
            </a:r>
            <a:endParaRPr lang="en-US" sz="800" dirty="0"/>
          </a:p>
        </p:txBody>
      </p:sp>
      <p:sp>
        <p:nvSpPr>
          <p:cNvPr id="40" name="Text 37"/>
          <p:cNvSpPr/>
          <p:nvPr/>
        </p:nvSpPr>
        <p:spPr>
          <a:xfrm>
            <a:off x="593043" y="2036080"/>
            <a:ext cx="2090105" cy="173593"/>
          </a:xfrm>
          <a:prstGeom prst="rect">
            <a:avLst/>
          </a:prstGeom>
          <a:noFill/>
          <a:ln/>
        </p:spPr>
        <p:txBody>
          <a:bodyPr wrap="none" lIns="0" tIns="0" rIns="0" bIns="0" rtlCol="0" anchor="t"/>
          <a:lstStyle/>
          <a:p>
            <a:pPr marL="0" indent="0" algn="l">
              <a:lnSpc>
                <a:spcPts val="1266"/>
              </a:lnSpc>
              <a:buNone/>
            </a:pPr>
            <a:r>
              <a:rPr lang="en-US" sz="1013" b="1" dirty="0">
                <a:solidFill>
                  <a:srgbClr val="1B4965"/>
                </a:solidFill>
                <a:latin typeface="Carlito" pitchFamily="34" charset="0"/>
                <a:ea typeface="Carlito" pitchFamily="34" charset="-122"/>
                <a:cs typeface="Carlito" pitchFamily="34" charset="-120"/>
              </a:rPr>
              <a:t>تجارب قبلی</a:t>
            </a:r>
            <a:endParaRPr lang="en-US" sz="1013" dirty="0"/>
          </a:p>
        </p:txBody>
      </p:sp>
      <p:sp>
        <p:nvSpPr>
          <p:cNvPr id="41" name="Text 38"/>
          <p:cNvSpPr/>
          <p:nvPr/>
        </p:nvSpPr>
        <p:spPr>
          <a:xfrm>
            <a:off x="593043" y="2253965"/>
            <a:ext cx="2090105" cy="361891"/>
          </a:xfrm>
          <a:prstGeom prst="rect">
            <a:avLst/>
          </a:prstGeom>
          <a:noFill/>
          <a:ln/>
        </p:spPr>
        <p:txBody>
          <a:bodyPr wrap="square" lIns="0" tIns="0" rIns="0" bIns="0" rtlCol="0" anchor="t"/>
          <a:lstStyle/>
          <a:p>
            <a:pPr marL="0" indent="0" algn="l">
              <a:lnSpc>
                <a:spcPts val="1207"/>
              </a:lnSpc>
              <a:buNone/>
            </a:pPr>
            <a:r>
              <a:rPr lang="en-US" sz="800" dirty="0">
                <a:solidFill>
                  <a:srgbClr val="1A2733"/>
                </a:solidFill>
                <a:latin typeface="Carlito" pitchFamily="34" charset="0"/>
                <a:ea typeface="Carlito" pitchFamily="34" charset="-122"/>
                <a:cs typeface="Carlito" pitchFamily="34" charset="-120"/>
              </a:rPr>
              <a:t>دانش و مهارت‌های پیشین، پایه یادگیری جدید را تشکیل می‌دهند.</a:t>
            </a:r>
            <a:endParaRPr lang="en-US" sz="800" dirty="0"/>
          </a:p>
        </p:txBody>
      </p:sp>
      <p:sp>
        <p:nvSpPr>
          <p:cNvPr id="42" name="Text 39"/>
          <p:cNvSpPr/>
          <p:nvPr/>
        </p:nvSpPr>
        <p:spPr>
          <a:xfrm>
            <a:off x="2922463" y="3102173"/>
            <a:ext cx="2354535" cy="1637705"/>
          </a:xfrm>
          <a:prstGeom prst="roundRect">
            <a:avLst>
              <a:gd name="adj" fmla="val 9306"/>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43" name="Text 40"/>
          <p:cNvSpPr/>
          <p:nvPr/>
        </p:nvSpPr>
        <p:spPr>
          <a:xfrm>
            <a:off x="4830514" y="3234333"/>
            <a:ext cx="314325" cy="314325"/>
          </a:xfrm>
          <a:prstGeom prst="roundRect">
            <a:avLst>
              <a:gd name="adj" fmla="val 36364"/>
            </a:avLst>
          </a:prstGeom>
          <a:solidFill>
            <a:srgbClr val="FCE4DD"/>
          </a:solidFill>
          <a:ln/>
        </p:spPr>
        <p:txBody>
          <a:bodyPr wrap="square" rtlCol="0" anchor="ctr"/>
          <a:lstStyle/>
          <a:p>
            <a:pPr marL="0" indent="0">
              <a:buNone/>
            </a:pPr>
            <a:endParaRPr lang="en-US" dirty="0"/>
          </a:p>
        </p:txBody>
      </p:sp>
      <p:sp>
        <p:nvSpPr>
          <p:cNvPr id="44" name="Text 41"/>
          <p:cNvSpPr/>
          <p:nvPr/>
        </p:nvSpPr>
        <p:spPr>
          <a:xfrm>
            <a:off x="4873734" y="3277553"/>
            <a:ext cx="227886" cy="227886"/>
          </a:xfrm>
          <a:prstGeom prst="rect">
            <a:avLst/>
          </a:prstGeom>
          <a:noFill/>
          <a:ln/>
        </p:spPr>
        <p:txBody>
          <a:bodyPr wrap="none" lIns="0" tIns="0" rIns="0" bIns="0" rtlCol="0" anchor="ctr"/>
          <a:lstStyle/>
          <a:p>
            <a:pPr marL="0" indent="0" algn="ctr">
              <a:buNone/>
            </a:pPr>
            <a:r>
              <a:rPr lang="en-US" sz="1547" dirty="0">
                <a:solidFill>
                  <a:srgbClr val="E76F51"/>
                </a:solidFill>
                <a:latin typeface="Segoe UI Symbol" pitchFamily="34" charset="0"/>
                <a:ea typeface="Segoe UI Symbol" pitchFamily="34" charset="-122"/>
                <a:cs typeface="Segoe UI Symbol" pitchFamily="34" charset="-120"/>
              </a:rPr>
              <a:t>⌂</a:t>
            </a:r>
            <a:endParaRPr lang="en-US" sz="1547" dirty="0"/>
          </a:p>
        </p:txBody>
      </p:sp>
      <p:sp>
        <p:nvSpPr>
          <p:cNvPr id="45" name="Text 42"/>
          <p:cNvSpPr/>
          <p:nvPr/>
        </p:nvSpPr>
        <p:spPr>
          <a:xfrm>
            <a:off x="3054623" y="3605808"/>
            <a:ext cx="2090217" cy="14759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عامل ۴</a:t>
            </a:r>
            <a:endParaRPr lang="en-US" sz="800" dirty="0"/>
          </a:p>
        </p:txBody>
      </p:sp>
      <p:sp>
        <p:nvSpPr>
          <p:cNvPr id="46" name="Text 43"/>
          <p:cNvSpPr/>
          <p:nvPr/>
        </p:nvSpPr>
        <p:spPr>
          <a:xfrm>
            <a:off x="3054623" y="3780830"/>
            <a:ext cx="2090217" cy="173593"/>
          </a:xfrm>
          <a:prstGeom prst="rect">
            <a:avLst/>
          </a:prstGeom>
          <a:noFill/>
          <a:ln/>
        </p:spPr>
        <p:txBody>
          <a:bodyPr wrap="none" lIns="0" tIns="0" rIns="0" bIns="0" rtlCol="0" anchor="t"/>
          <a:lstStyle/>
          <a:p>
            <a:pPr marL="0" indent="0" algn="l">
              <a:lnSpc>
                <a:spcPts val="1266"/>
              </a:lnSpc>
              <a:buNone/>
            </a:pPr>
            <a:r>
              <a:rPr lang="en-US" sz="1013" b="1" dirty="0">
                <a:solidFill>
                  <a:srgbClr val="1B4965"/>
                </a:solidFill>
                <a:latin typeface="Carlito" pitchFamily="34" charset="0"/>
                <a:ea typeface="Carlito" pitchFamily="34" charset="-122"/>
                <a:cs typeface="Carlito" pitchFamily="34" charset="-120"/>
              </a:rPr>
              <a:t>محیط فیزیکی</a:t>
            </a:r>
            <a:endParaRPr lang="en-US" sz="1013" dirty="0"/>
          </a:p>
        </p:txBody>
      </p:sp>
      <p:sp>
        <p:nvSpPr>
          <p:cNvPr id="47" name="Text 44"/>
          <p:cNvSpPr/>
          <p:nvPr/>
        </p:nvSpPr>
        <p:spPr>
          <a:xfrm>
            <a:off x="3054623" y="3998714"/>
            <a:ext cx="2090217" cy="361891"/>
          </a:xfrm>
          <a:prstGeom prst="rect">
            <a:avLst/>
          </a:prstGeom>
          <a:noFill/>
          <a:ln/>
        </p:spPr>
        <p:txBody>
          <a:bodyPr wrap="square" lIns="0" tIns="0" rIns="0" bIns="0" rtlCol="0" anchor="t"/>
          <a:lstStyle/>
          <a:p>
            <a:pPr marL="0" indent="0" algn="l">
              <a:lnSpc>
                <a:spcPts val="1207"/>
              </a:lnSpc>
              <a:buNone/>
            </a:pPr>
            <a:r>
              <a:rPr lang="en-US" sz="800" dirty="0">
                <a:solidFill>
                  <a:srgbClr val="1A2733"/>
                </a:solidFill>
                <a:latin typeface="Carlito" pitchFamily="34" charset="0"/>
                <a:ea typeface="Carlito" pitchFamily="34" charset="-122"/>
                <a:cs typeface="Carlito" pitchFamily="34" charset="-120"/>
              </a:rPr>
              <a:t>نور، تهویه، دما، امکانات آموزشی و سروصدا.</a:t>
            </a:r>
            <a:endParaRPr lang="en-US" sz="800" dirty="0"/>
          </a:p>
        </p:txBody>
      </p:sp>
      <p:sp>
        <p:nvSpPr>
          <p:cNvPr id="48" name="Text 45"/>
          <p:cNvSpPr/>
          <p:nvPr/>
        </p:nvSpPr>
        <p:spPr>
          <a:xfrm>
            <a:off x="460883" y="3102173"/>
            <a:ext cx="2354424" cy="1637705"/>
          </a:xfrm>
          <a:prstGeom prst="roundRect">
            <a:avLst>
              <a:gd name="adj" fmla="val 9306"/>
            </a:avLst>
          </a:prstGeom>
          <a:solidFill>
            <a:srgbClr val="FFFFFF"/>
          </a:solidFill>
          <a:ln w="7144">
            <a:solidFill>
              <a:srgbClr val="D8E3EC"/>
            </a:solidFill>
            <a:prstDash val="solid"/>
          </a:ln>
          <a:effectLst>
            <a:outerShdw blurRad="114300" dist="38100" dir="5400000" algn="bl" rotWithShape="0">
              <a:srgbClr val="1B4965">
                <a:alpha val="6000"/>
              </a:srgbClr>
            </a:outerShdw>
          </a:effectLst>
        </p:spPr>
        <p:txBody>
          <a:bodyPr wrap="square" rtlCol="0" anchor="ctr"/>
          <a:lstStyle/>
          <a:p>
            <a:pPr marL="0" indent="0">
              <a:buNone/>
            </a:pPr>
            <a:endParaRPr lang="en-US" dirty="0"/>
          </a:p>
        </p:txBody>
      </p:sp>
      <p:sp>
        <p:nvSpPr>
          <p:cNvPr id="49" name="Text 46"/>
          <p:cNvSpPr/>
          <p:nvPr/>
        </p:nvSpPr>
        <p:spPr>
          <a:xfrm>
            <a:off x="2368823" y="3234333"/>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50" name="Text 47"/>
          <p:cNvSpPr/>
          <p:nvPr/>
        </p:nvSpPr>
        <p:spPr>
          <a:xfrm>
            <a:off x="2412043" y="3277553"/>
            <a:ext cx="227886" cy="227886"/>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51" name="Text 48"/>
          <p:cNvSpPr/>
          <p:nvPr/>
        </p:nvSpPr>
        <p:spPr>
          <a:xfrm>
            <a:off x="593043" y="3605808"/>
            <a:ext cx="2090105" cy="147590"/>
          </a:xfrm>
          <a:prstGeom prst="rect">
            <a:avLst/>
          </a:prstGeom>
          <a:noFill/>
          <a:ln/>
        </p:spPr>
        <p:txBody>
          <a:bodyPr wrap="none" lIns="0" tIns="0" rIns="0" bIns="0" rtlCol="0" anchor="t">
            <a:normAutofit/>
          </a:bodyPr>
          <a:lstStyle/>
          <a:p>
            <a:pPr marL="0" indent="0" algn="l">
              <a:lnSpc>
                <a:spcPts val="928"/>
              </a:lnSpc>
              <a:buNone/>
            </a:pPr>
            <a:r>
              <a:rPr lang="en-US" sz="800" b="1" kern="0" spc="34" dirty="0">
                <a:solidFill>
                  <a:srgbClr val="5A6B7B"/>
                </a:solidFill>
                <a:latin typeface="Carlito" pitchFamily="34" charset="0"/>
                <a:ea typeface="Carlito" pitchFamily="34" charset="-122"/>
                <a:cs typeface="Carlito" pitchFamily="34" charset="-120"/>
              </a:rPr>
              <a:t>عامل ۵</a:t>
            </a:r>
            <a:endParaRPr lang="en-US" sz="800" dirty="0"/>
          </a:p>
        </p:txBody>
      </p:sp>
      <p:sp>
        <p:nvSpPr>
          <p:cNvPr id="52" name="Text 49"/>
          <p:cNvSpPr/>
          <p:nvPr/>
        </p:nvSpPr>
        <p:spPr>
          <a:xfrm>
            <a:off x="593043" y="3780830"/>
            <a:ext cx="2090105" cy="173593"/>
          </a:xfrm>
          <a:prstGeom prst="rect">
            <a:avLst/>
          </a:prstGeom>
          <a:noFill/>
          <a:ln/>
        </p:spPr>
        <p:txBody>
          <a:bodyPr wrap="none" lIns="0" tIns="0" rIns="0" bIns="0" rtlCol="0" anchor="t"/>
          <a:lstStyle/>
          <a:p>
            <a:pPr marL="0" indent="0" algn="l">
              <a:lnSpc>
                <a:spcPts val="1266"/>
              </a:lnSpc>
              <a:buNone/>
            </a:pPr>
            <a:r>
              <a:rPr lang="en-US" sz="1013" b="1" dirty="0">
                <a:solidFill>
                  <a:srgbClr val="1B4965"/>
                </a:solidFill>
                <a:latin typeface="Carlito" pitchFamily="34" charset="0"/>
                <a:ea typeface="Carlito" pitchFamily="34" charset="-122"/>
                <a:cs typeface="Carlito" pitchFamily="34" charset="-120"/>
              </a:rPr>
              <a:t>روش تدریس</a:t>
            </a:r>
            <a:endParaRPr lang="en-US" sz="1013" dirty="0"/>
          </a:p>
        </p:txBody>
      </p:sp>
      <p:sp>
        <p:nvSpPr>
          <p:cNvPr id="53" name="Text 50"/>
          <p:cNvSpPr/>
          <p:nvPr/>
        </p:nvSpPr>
        <p:spPr>
          <a:xfrm>
            <a:off x="593043" y="3998714"/>
            <a:ext cx="2090105" cy="361891"/>
          </a:xfrm>
          <a:prstGeom prst="rect">
            <a:avLst/>
          </a:prstGeom>
          <a:noFill/>
          <a:ln/>
        </p:spPr>
        <p:txBody>
          <a:bodyPr wrap="square" lIns="0" tIns="0" rIns="0" bIns="0" rtlCol="0" anchor="t"/>
          <a:lstStyle/>
          <a:p>
            <a:pPr marL="0" indent="0" algn="l">
              <a:lnSpc>
                <a:spcPts val="1207"/>
              </a:lnSpc>
              <a:buNone/>
            </a:pPr>
            <a:r>
              <a:rPr lang="en-US" sz="800" dirty="0">
                <a:solidFill>
                  <a:srgbClr val="1A2733"/>
                </a:solidFill>
                <a:latin typeface="Carlito" pitchFamily="34" charset="0"/>
                <a:ea typeface="Carlito" pitchFamily="34" charset="-122"/>
                <a:cs typeface="Carlito" pitchFamily="34" charset="-120"/>
              </a:rPr>
              <a:t>تناسب روش با محتوا، یادگیرنده و هدف آموزشی.</a:t>
            </a:r>
            <a:endParaRPr lang="en-US" sz="800" dirty="0"/>
          </a:p>
        </p:txBody>
      </p:sp>
      <p:sp>
        <p:nvSpPr>
          <p:cNvPr id="54" name="Shape 51"/>
          <p:cNvSpPr/>
          <p:nvPr/>
        </p:nvSpPr>
        <p:spPr>
          <a:xfrm>
            <a:off x="457200" y="4825603"/>
            <a:ext cx="8229600" cy="0"/>
          </a:xfrm>
          <a:prstGeom prst="line">
            <a:avLst/>
          </a:prstGeom>
          <a:noFill/>
          <a:ln w="7144">
            <a:solidFill>
              <a:srgbClr val="D8E3EC"/>
            </a:solidFill>
            <a:prstDash val="solid"/>
          </a:ln>
        </p:spPr>
      </p:sp>
      <p:sp>
        <p:nvSpPr>
          <p:cNvPr id="55" name="Text 52"/>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56" name="Text 53"/>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۱۴ از ۲۲</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8458200" y="465683"/>
            <a:ext cx="228600" cy="228600"/>
          </a:xfrm>
          <a:prstGeom prst="rect">
            <a:avLst/>
          </a:prstGeom>
          <a:noFill/>
          <a:ln/>
        </p:spPr>
        <p:txBody>
          <a:bodyPr wrap="none" lIns="0" tIns="0" rIns="0" bIns="0" rtlCol="0" anchor="ctr"/>
          <a:lstStyle/>
          <a:p>
            <a:pPr marL="0" indent="0" algn="ctr">
              <a:buNone/>
            </a:pPr>
            <a:r>
              <a:rPr lang="en-US" sz="2250" dirty="0">
                <a:solidFill>
                  <a:srgbClr val="E76F51"/>
                </a:solidFill>
                <a:latin typeface="Segoe UI Symbol" pitchFamily="34" charset="0"/>
                <a:ea typeface="Segoe UI Symbol" pitchFamily="34" charset="-122"/>
                <a:cs typeface="Segoe UI Symbol" pitchFamily="34" charset="-120"/>
              </a:rPr>
              <a:t>⚠</a:t>
            </a:r>
            <a:endParaRPr lang="en-US" sz="2250" dirty="0"/>
          </a:p>
        </p:txBody>
      </p:sp>
      <p:sp>
        <p:nvSpPr>
          <p:cNvPr id="4" name="Text 2"/>
          <p:cNvSpPr/>
          <p:nvPr/>
        </p:nvSpPr>
        <p:spPr>
          <a:xfrm>
            <a:off x="4729051" y="400050"/>
            <a:ext cx="3957749"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موانع یادگیری در بیمار</a:t>
            </a:r>
            <a:endParaRPr lang="en-US" sz="2363" dirty="0"/>
          </a:p>
        </p:txBody>
      </p:sp>
      <p:sp>
        <p:nvSpPr>
          <p:cNvPr id="5" name="Text 3"/>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6" name="Text 4"/>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۱۵ / ۲۲</a:t>
            </a:r>
            <a:endParaRPr lang="en-US" sz="1013" dirty="0"/>
          </a:p>
        </p:txBody>
      </p:sp>
      <p:pic>
        <p:nvPicPr>
          <p:cNvPr id="7" name="Image 0" descr="preencoded.png"/>
          <p:cNvPicPr>
            <a:picLocks noChangeAspect="1"/>
          </p:cNvPicPr>
          <p:nvPr/>
        </p:nvPicPr>
        <p:blipFill>
          <a:blip r:embed="rId3"/>
          <a:stretch>
            <a:fillRect/>
          </a:stretch>
        </p:blipFill>
        <p:spPr>
          <a:xfrm>
            <a:off x="457200" y="1074353"/>
            <a:ext cx="8229600" cy="804900"/>
          </a:xfrm>
          <a:prstGeom prst="rect">
            <a:avLst/>
          </a:prstGeom>
        </p:spPr>
      </p:pic>
      <p:sp>
        <p:nvSpPr>
          <p:cNvPr id="8" name="Shape 5"/>
          <p:cNvSpPr/>
          <p:nvPr/>
        </p:nvSpPr>
        <p:spPr>
          <a:xfrm>
            <a:off x="8668941" y="1074353"/>
            <a:ext cx="0" cy="804900"/>
          </a:xfrm>
          <a:prstGeom prst="line">
            <a:avLst/>
          </a:prstGeom>
          <a:noFill/>
          <a:ln w="35719">
            <a:solidFill>
              <a:srgbClr val="E76F51"/>
            </a:solidFill>
            <a:prstDash val="solid"/>
          </a:ln>
        </p:spPr>
      </p:sp>
      <p:sp>
        <p:nvSpPr>
          <p:cNvPr id="9" name="Text 6"/>
          <p:cNvSpPr/>
          <p:nvPr/>
        </p:nvSpPr>
        <p:spPr>
          <a:xfrm>
            <a:off x="8108156" y="1276722"/>
            <a:ext cx="400050" cy="400050"/>
          </a:xfrm>
          <a:prstGeom prst="roundRect">
            <a:avLst>
              <a:gd name="adj" fmla="val 33333"/>
            </a:avLst>
          </a:prstGeom>
          <a:solidFill>
            <a:srgbClr val="E76F51"/>
          </a:solidFill>
          <a:ln/>
        </p:spPr>
        <p:txBody>
          <a:bodyPr wrap="square" rtlCol="0" anchor="ctr"/>
          <a:lstStyle/>
          <a:p>
            <a:pPr marL="0" indent="0">
              <a:buNone/>
            </a:pPr>
            <a:endParaRPr lang="en-US" dirty="0"/>
          </a:p>
        </p:txBody>
      </p:sp>
      <p:sp>
        <p:nvSpPr>
          <p:cNvPr id="10" name="Text 7"/>
          <p:cNvSpPr/>
          <p:nvPr/>
        </p:nvSpPr>
        <p:spPr>
          <a:xfrm>
            <a:off x="8152805" y="1321371"/>
            <a:ext cx="310753" cy="31075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11" name="Text 8"/>
          <p:cNvSpPr/>
          <p:nvPr/>
        </p:nvSpPr>
        <p:spPr>
          <a:xfrm>
            <a:off x="5607732" y="1188653"/>
            <a:ext cx="2624737" cy="180465"/>
          </a:xfrm>
          <a:prstGeom prst="rect">
            <a:avLst/>
          </a:prstGeom>
          <a:noFill/>
          <a:ln/>
        </p:spPr>
        <p:txBody>
          <a:bodyPr wrap="square" lIns="0" tIns="0" rIns="0" bIns="0" rtlCol="0" anchor="t"/>
          <a:lstStyle/>
          <a:p>
            <a:pPr marL="0" indent="0" algn="l">
              <a:lnSpc>
                <a:spcPts val="1316"/>
              </a:lnSpc>
              <a:buNone/>
            </a:pPr>
            <a:r>
              <a:rPr lang="en-US" sz="1013" b="1" dirty="0">
                <a:solidFill>
                  <a:srgbClr val="E76F51"/>
                </a:solidFill>
                <a:latin typeface="Carlito" pitchFamily="34" charset="0"/>
                <a:ea typeface="Carlito" pitchFamily="34" charset="-122"/>
                <a:cs typeface="Carlito" pitchFamily="34" charset="-120"/>
              </a:rPr>
              <a:t>موانع عمومی — ناشی از وضعیت بیمار</a:t>
            </a:r>
            <a:endParaRPr lang="en-US" sz="1013" dirty="0"/>
          </a:p>
        </p:txBody>
      </p:sp>
      <p:sp>
        <p:nvSpPr>
          <p:cNvPr id="12" name="Text 9"/>
          <p:cNvSpPr/>
          <p:nvPr/>
        </p:nvSpPr>
        <p:spPr>
          <a:xfrm>
            <a:off x="4863889" y="1196422"/>
            <a:ext cx="686693" cy="180023"/>
          </a:xfrm>
          <a:prstGeom prst="roundRect">
            <a:avLst>
              <a:gd name="adj" fmla="val 5285700"/>
            </a:avLst>
          </a:prstGeom>
          <a:solidFill>
            <a:srgbClr val="FCE4DD"/>
          </a:solidFill>
          <a:ln/>
        </p:spPr>
        <p:txBody>
          <a:bodyPr wrap="square" rtlCol="0" anchor="ctr"/>
          <a:lstStyle/>
          <a:p>
            <a:pPr marL="0" indent="0">
              <a:buNone/>
            </a:pPr>
            <a:endParaRPr lang="en-US" dirty="0"/>
          </a:p>
        </p:txBody>
      </p:sp>
      <p:sp>
        <p:nvSpPr>
          <p:cNvPr id="13" name="Text 10"/>
          <p:cNvSpPr/>
          <p:nvPr/>
        </p:nvSpPr>
        <p:spPr>
          <a:xfrm>
            <a:off x="4863889" y="1206066"/>
            <a:ext cx="686693" cy="160734"/>
          </a:xfrm>
          <a:prstGeom prst="rect">
            <a:avLst/>
          </a:prstGeom>
          <a:noFill/>
          <a:ln/>
        </p:spPr>
        <p:txBody>
          <a:bodyPr wrap="none" lIns="0" tIns="0" rIns="0" bIns="0" rtlCol="0" anchor="ctr"/>
          <a:lstStyle/>
          <a:p>
            <a:pPr marL="0" indent="0" algn="ctr">
              <a:lnSpc>
                <a:spcPts val="928"/>
              </a:lnSpc>
              <a:buNone/>
            </a:pPr>
            <a:r>
              <a:rPr lang="en-US" sz="800" dirty="0">
                <a:solidFill>
                  <a:srgbClr val="E76F51"/>
                </a:solidFill>
                <a:latin typeface="Carlito" pitchFamily="34" charset="0"/>
                <a:ea typeface="Carlito" pitchFamily="34" charset="-122"/>
                <a:cs typeface="Carlito" pitchFamily="34" charset="-120"/>
              </a:rPr>
              <a:t>۴ عامل کلیدی</a:t>
            </a:r>
            <a:endParaRPr lang="en-US" sz="800" dirty="0"/>
          </a:p>
        </p:txBody>
      </p:sp>
      <p:sp>
        <p:nvSpPr>
          <p:cNvPr id="14" name="Text 11"/>
          <p:cNvSpPr/>
          <p:nvPr/>
        </p:nvSpPr>
        <p:spPr>
          <a:xfrm>
            <a:off x="600075" y="1412900"/>
            <a:ext cx="7393781" cy="352053"/>
          </a:xfrm>
          <a:prstGeom prst="rect">
            <a:avLst/>
          </a:prstGeom>
          <a:noFill/>
          <a:ln/>
        </p:spPr>
        <p:txBody>
          <a:bodyPr wrap="square" lIns="0" tIns="0" rIns="0" bIns="0" rtlCol="0" anchor="t"/>
          <a:lstStyle/>
          <a:p>
            <a:pPr marL="0" indent="0" algn="l">
              <a:lnSpc>
                <a:spcPts val="1387"/>
              </a:lnSpc>
              <a:buNone/>
            </a:pPr>
            <a:r>
              <a:rPr lang="en-US" sz="816" dirty="0">
                <a:solidFill>
                  <a:srgbClr val="1A2733"/>
                </a:solidFill>
                <a:latin typeface="Carlito" pitchFamily="34" charset="0"/>
                <a:ea typeface="Carlito" pitchFamily="34" charset="-122"/>
                <a:cs typeface="Carlito" pitchFamily="34" charset="-120"/>
              </a:rPr>
              <a:t>فشار جسمی و روشی بیمار موجب کاهش دامنه توجه و کاهش ظرفیت یادگیری می‌شود. </a:t>
            </a:r>
            <a:r>
              <a:rPr lang="en-US" sz="816" b="1" dirty="0">
                <a:solidFill>
                  <a:srgbClr val="E76F51"/>
                </a:solidFill>
                <a:latin typeface="Carlito" pitchFamily="34" charset="0"/>
                <a:ea typeface="Carlito" pitchFamily="34" charset="-122"/>
                <a:cs typeface="Carlito" pitchFamily="34" charset="-120"/>
              </a:rPr>
              <a:t>درد، اضطراب، خستگی و داروهای آرام‌بخش</a:t>
            </a:r>
            <a:r>
              <a:rPr lang="en-US" sz="816" dirty="0">
                <a:solidFill>
                  <a:srgbClr val="1A2733"/>
                </a:solidFill>
                <a:latin typeface="Carlito" pitchFamily="34" charset="0"/>
                <a:ea typeface="Carlito" pitchFamily="34" charset="-122"/>
                <a:cs typeface="Carlito" pitchFamily="34" charset="-120"/>
              </a:rPr>
              <a:t> از مهم‌ترین موانع هستند.</a:t>
            </a:r>
            <a:endParaRPr lang="en-US" sz="816" dirty="0"/>
          </a:p>
        </p:txBody>
      </p:sp>
      <p:sp>
        <p:nvSpPr>
          <p:cNvPr id="15" name="Text 12"/>
          <p:cNvSpPr/>
          <p:nvPr/>
        </p:nvSpPr>
        <p:spPr>
          <a:xfrm>
            <a:off x="6098642" y="1984623"/>
            <a:ext cx="414784" cy="175022"/>
          </a:xfrm>
          <a:prstGeom prst="roundRect">
            <a:avLst>
              <a:gd name="adj" fmla="val 5436731"/>
            </a:avLst>
          </a:prstGeom>
          <a:solidFill>
            <a:srgbClr val="E76F51"/>
          </a:solidFill>
          <a:ln/>
        </p:spPr>
        <p:txBody>
          <a:bodyPr wrap="square" rtlCol="0" anchor="ctr"/>
          <a:lstStyle/>
          <a:p>
            <a:pPr marL="0" indent="0">
              <a:buNone/>
            </a:pPr>
            <a:endParaRPr lang="en-US" dirty="0"/>
          </a:p>
        </p:txBody>
      </p:sp>
      <p:sp>
        <p:nvSpPr>
          <p:cNvPr id="16" name="Text 13"/>
          <p:cNvSpPr/>
          <p:nvPr/>
        </p:nvSpPr>
        <p:spPr>
          <a:xfrm>
            <a:off x="6584863" y="1993553"/>
            <a:ext cx="2341671" cy="169736"/>
          </a:xfrm>
          <a:prstGeom prst="rect">
            <a:avLst/>
          </a:prstGeom>
          <a:noFill/>
          <a:ln/>
        </p:spPr>
        <p:txBody>
          <a:bodyPr wrap="none" lIns="0" tIns="0" rIns="0" bIns="0" rtlCol="0" anchor="t"/>
          <a:lstStyle/>
          <a:p>
            <a:pPr marL="0" indent="0" algn="l">
              <a:lnSpc>
                <a:spcPts val="1688"/>
              </a:lnSpc>
              <a:buNone/>
            </a:pPr>
            <a:r>
              <a:rPr lang="en-US" sz="1125" b="1" dirty="0">
                <a:solidFill>
                  <a:srgbClr val="1B4965"/>
                </a:solidFill>
                <a:latin typeface="Carlito" pitchFamily="34" charset="0"/>
                <a:ea typeface="Carlito" pitchFamily="34" charset="-122"/>
                <a:cs typeface="Carlito" pitchFamily="34" charset="-120"/>
              </a:rPr>
              <a:t>گاهی خود پرستار مانع است</a:t>
            </a:r>
            <a:endParaRPr lang="en-US" sz="1125" dirty="0"/>
          </a:p>
        </p:txBody>
      </p:sp>
      <p:sp>
        <p:nvSpPr>
          <p:cNvPr id="17" name="Text 14"/>
          <p:cNvSpPr/>
          <p:nvPr/>
        </p:nvSpPr>
        <p:spPr>
          <a:xfrm>
            <a:off x="6098642" y="1984623"/>
            <a:ext cx="414784" cy="175022"/>
          </a:xfrm>
          <a:prstGeom prst="rect">
            <a:avLst/>
          </a:prstGeom>
          <a:noFill/>
          <a:ln/>
        </p:spPr>
        <p:txBody>
          <a:bodyPr wrap="none" lIns="0" tIns="0" rIns="0" bIns="0" rtlCol="0" anchor="ctr"/>
          <a:lstStyle/>
          <a:p>
            <a:pPr marL="0" indent="0" algn="ctr">
              <a:lnSpc>
                <a:spcPts val="928"/>
              </a:lnSpc>
              <a:buNone/>
            </a:pPr>
            <a:r>
              <a:rPr lang="en-US" sz="800" b="1" kern="0" spc="28" dirty="0">
                <a:solidFill>
                  <a:srgbClr val="FFFFFF"/>
                </a:solidFill>
                <a:latin typeface="Carlito" pitchFamily="34" charset="0"/>
                <a:ea typeface="Carlito" pitchFamily="34" charset="-122"/>
                <a:cs typeface="Carlito" pitchFamily="34" charset="-120"/>
              </a:rPr>
              <a:t>۸ مورد</a:t>
            </a:r>
            <a:endParaRPr lang="en-US" sz="800" dirty="0"/>
          </a:p>
        </p:txBody>
      </p:sp>
      <p:sp>
        <p:nvSpPr>
          <p:cNvPr id="18" name="Text 15"/>
          <p:cNvSpPr/>
          <p:nvPr/>
        </p:nvSpPr>
        <p:spPr>
          <a:xfrm>
            <a:off x="457200" y="2007840"/>
            <a:ext cx="5627154" cy="164592"/>
          </a:xfrm>
          <a:prstGeom prst="rect">
            <a:avLst/>
          </a:prstGeom>
          <a:noFill/>
          <a:ln/>
        </p:spPr>
        <p:txBody>
          <a:bodyPr wrap="squar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موانع ناشی از عملکرد پرستار در فرآیند آموزش</a:t>
            </a:r>
            <a:endParaRPr lang="en-US" sz="800" dirty="0"/>
          </a:p>
        </p:txBody>
      </p:sp>
      <p:sp>
        <p:nvSpPr>
          <p:cNvPr id="19" name="Text 16"/>
          <p:cNvSpPr/>
          <p:nvPr/>
        </p:nvSpPr>
        <p:spPr>
          <a:xfrm>
            <a:off x="6697266" y="226858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20" name="Text 17"/>
          <p:cNvSpPr/>
          <p:nvPr/>
        </p:nvSpPr>
        <p:spPr>
          <a:xfrm>
            <a:off x="8365331" y="235788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21" name="Text 18"/>
          <p:cNvSpPr/>
          <p:nvPr/>
        </p:nvSpPr>
        <p:spPr>
          <a:xfrm>
            <a:off x="8386405" y="237895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22" name="Text 19"/>
          <p:cNvSpPr/>
          <p:nvPr/>
        </p:nvSpPr>
        <p:spPr>
          <a:xfrm>
            <a:off x="6786563" y="240253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۰۱</a:t>
            </a:r>
            <a:endParaRPr lang="en-US" sz="800" dirty="0"/>
          </a:p>
        </p:txBody>
      </p:sp>
      <p:sp>
        <p:nvSpPr>
          <p:cNvPr id="23" name="Text 20"/>
          <p:cNvSpPr/>
          <p:nvPr/>
        </p:nvSpPr>
        <p:spPr>
          <a:xfrm>
            <a:off x="6786563" y="2629346"/>
            <a:ext cx="1915811" cy="169999"/>
          </a:xfrm>
          <a:prstGeom prst="rect">
            <a:avLst/>
          </a:prstGeom>
          <a:noFill/>
          <a:ln/>
        </p:spPr>
        <p:txBody>
          <a:bodyPr wrap="squar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بررسی نامناسب آمادگی بیمار</a:t>
            </a:r>
            <a:endParaRPr lang="en-US" sz="800" dirty="0"/>
          </a:p>
        </p:txBody>
      </p:sp>
      <p:sp>
        <p:nvSpPr>
          <p:cNvPr id="24" name="Text 21"/>
          <p:cNvSpPr/>
          <p:nvPr/>
        </p:nvSpPr>
        <p:spPr>
          <a:xfrm>
            <a:off x="4618434" y="226858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25" name="Text 22"/>
          <p:cNvSpPr/>
          <p:nvPr/>
        </p:nvSpPr>
        <p:spPr>
          <a:xfrm>
            <a:off x="6286500" y="235788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26" name="Text 23"/>
          <p:cNvSpPr/>
          <p:nvPr/>
        </p:nvSpPr>
        <p:spPr>
          <a:xfrm>
            <a:off x="6307574" y="237895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27" name="Text 24"/>
          <p:cNvSpPr/>
          <p:nvPr/>
        </p:nvSpPr>
        <p:spPr>
          <a:xfrm>
            <a:off x="4707731" y="240253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۰۲</a:t>
            </a:r>
            <a:endParaRPr lang="en-US" sz="800" dirty="0"/>
          </a:p>
        </p:txBody>
      </p:sp>
      <p:sp>
        <p:nvSpPr>
          <p:cNvPr id="28" name="Text 25"/>
          <p:cNvSpPr/>
          <p:nvPr/>
        </p:nvSpPr>
        <p:spPr>
          <a:xfrm>
            <a:off x="4707731" y="2629346"/>
            <a:ext cx="1915811" cy="169999"/>
          </a:xfrm>
          <a:prstGeom prst="rect">
            <a:avLst/>
          </a:prstGeom>
          <a:noFill/>
          <a:ln/>
        </p:spPr>
        <p:txBody>
          <a:bodyPr wrap="squar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برنامه‌ریزی نامناسب زمان آموزش</a:t>
            </a:r>
            <a:endParaRPr lang="en-US" sz="800" dirty="0"/>
          </a:p>
        </p:txBody>
      </p:sp>
      <p:sp>
        <p:nvSpPr>
          <p:cNvPr id="29" name="Text 26"/>
          <p:cNvSpPr/>
          <p:nvPr/>
        </p:nvSpPr>
        <p:spPr>
          <a:xfrm>
            <a:off x="2539603" y="226858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30" name="Text 27"/>
          <p:cNvSpPr/>
          <p:nvPr/>
        </p:nvSpPr>
        <p:spPr>
          <a:xfrm>
            <a:off x="4207669" y="235788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31" name="Text 28"/>
          <p:cNvSpPr/>
          <p:nvPr/>
        </p:nvSpPr>
        <p:spPr>
          <a:xfrm>
            <a:off x="4228743" y="237895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32" name="Text 29"/>
          <p:cNvSpPr/>
          <p:nvPr/>
        </p:nvSpPr>
        <p:spPr>
          <a:xfrm>
            <a:off x="2628900" y="240253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۰۳</a:t>
            </a:r>
            <a:endParaRPr lang="en-US" sz="800" dirty="0"/>
          </a:p>
        </p:txBody>
      </p:sp>
      <p:sp>
        <p:nvSpPr>
          <p:cNvPr id="33" name="Text 30"/>
          <p:cNvSpPr/>
          <p:nvPr/>
        </p:nvSpPr>
        <p:spPr>
          <a:xfrm>
            <a:off x="2628900" y="2629346"/>
            <a:ext cx="1807369" cy="169999"/>
          </a:xfrm>
          <a:prstGeom prst="rect">
            <a:avLst/>
          </a:prstGeom>
          <a:noFill/>
          <a:ln/>
        </p:spPr>
        <p:txBody>
          <a:bodyPr wrap="non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ارائه محتوا با شتاب و عجله</a:t>
            </a:r>
            <a:endParaRPr lang="en-US" sz="800" dirty="0"/>
          </a:p>
        </p:txBody>
      </p:sp>
      <p:sp>
        <p:nvSpPr>
          <p:cNvPr id="34" name="Text 31"/>
          <p:cNvSpPr/>
          <p:nvPr/>
        </p:nvSpPr>
        <p:spPr>
          <a:xfrm>
            <a:off x="460772" y="226858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35" name="Text 32"/>
          <p:cNvSpPr/>
          <p:nvPr/>
        </p:nvSpPr>
        <p:spPr>
          <a:xfrm>
            <a:off x="2128838" y="235788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36" name="Text 33"/>
          <p:cNvSpPr/>
          <p:nvPr/>
        </p:nvSpPr>
        <p:spPr>
          <a:xfrm>
            <a:off x="2149912" y="237895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37" name="Text 34"/>
          <p:cNvSpPr/>
          <p:nvPr/>
        </p:nvSpPr>
        <p:spPr>
          <a:xfrm>
            <a:off x="550069" y="240253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۰۴</a:t>
            </a:r>
            <a:endParaRPr lang="en-US" sz="800" dirty="0"/>
          </a:p>
        </p:txBody>
      </p:sp>
      <p:sp>
        <p:nvSpPr>
          <p:cNvPr id="38" name="Text 35"/>
          <p:cNvSpPr/>
          <p:nvPr/>
        </p:nvSpPr>
        <p:spPr>
          <a:xfrm>
            <a:off x="550069" y="2629346"/>
            <a:ext cx="1915811" cy="169999"/>
          </a:xfrm>
          <a:prstGeom prst="rect">
            <a:avLst/>
          </a:prstGeom>
          <a:noFill/>
          <a:ln/>
        </p:spPr>
        <p:txBody>
          <a:bodyPr wrap="squar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عدم تفهیم مطالب (زبان پیچیده)</a:t>
            </a:r>
            <a:endParaRPr lang="en-US" sz="800" dirty="0"/>
          </a:p>
        </p:txBody>
      </p:sp>
      <p:sp>
        <p:nvSpPr>
          <p:cNvPr id="39" name="Text 36"/>
          <p:cNvSpPr/>
          <p:nvPr/>
        </p:nvSpPr>
        <p:spPr>
          <a:xfrm>
            <a:off x="6697266" y="332206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40" name="Text 37"/>
          <p:cNvSpPr/>
          <p:nvPr/>
        </p:nvSpPr>
        <p:spPr>
          <a:xfrm>
            <a:off x="8365331" y="341136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41" name="Text 38"/>
          <p:cNvSpPr/>
          <p:nvPr/>
        </p:nvSpPr>
        <p:spPr>
          <a:xfrm>
            <a:off x="8386405" y="343243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42" name="Text 39"/>
          <p:cNvSpPr/>
          <p:nvPr/>
        </p:nvSpPr>
        <p:spPr>
          <a:xfrm>
            <a:off x="6786563" y="345601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۰۵</a:t>
            </a:r>
            <a:endParaRPr lang="en-US" sz="800" dirty="0"/>
          </a:p>
        </p:txBody>
      </p:sp>
      <p:sp>
        <p:nvSpPr>
          <p:cNvPr id="43" name="Text 40"/>
          <p:cNvSpPr/>
          <p:nvPr/>
        </p:nvSpPr>
        <p:spPr>
          <a:xfrm>
            <a:off x="6786563" y="3682826"/>
            <a:ext cx="1807369" cy="169999"/>
          </a:xfrm>
          <a:prstGeom prst="rect">
            <a:avLst/>
          </a:prstGeom>
          <a:noFill/>
          <a:ln/>
        </p:spPr>
        <p:txBody>
          <a:bodyPr wrap="non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عدم ارتباط دادن مطالب به هم</a:t>
            </a:r>
            <a:endParaRPr lang="en-US" sz="800" dirty="0"/>
          </a:p>
        </p:txBody>
      </p:sp>
      <p:sp>
        <p:nvSpPr>
          <p:cNvPr id="44" name="Text 41"/>
          <p:cNvSpPr/>
          <p:nvPr/>
        </p:nvSpPr>
        <p:spPr>
          <a:xfrm>
            <a:off x="4618434" y="332206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45" name="Text 42"/>
          <p:cNvSpPr/>
          <p:nvPr/>
        </p:nvSpPr>
        <p:spPr>
          <a:xfrm>
            <a:off x="6286500" y="341136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46" name="Text 43"/>
          <p:cNvSpPr/>
          <p:nvPr/>
        </p:nvSpPr>
        <p:spPr>
          <a:xfrm>
            <a:off x="6307574" y="343243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47" name="Text 44"/>
          <p:cNvSpPr/>
          <p:nvPr/>
        </p:nvSpPr>
        <p:spPr>
          <a:xfrm>
            <a:off x="4707731" y="345601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۰۶</a:t>
            </a:r>
            <a:endParaRPr lang="en-US" sz="800" dirty="0"/>
          </a:p>
        </p:txBody>
      </p:sp>
      <p:sp>
        <p:nvSpPr>
          <p:cNvPr id="48" name="Text 45"/>
          <p:cNvSpPr/>
          <p:nvPr/>
        </p:nvSpPr>
        <p:spPr>
          <a:xfrm>
            <a:off x="4707731" y="3682826"/>
            <a:ext cx="1807369" cy="169999"/>
          </a:xfrm>
          <a:prstGeom prst="rect">
            <a:avLst/>
          </a:prstGeom>
          <a:noFill/>
          <a:ln/>
        </p:spPr>
        <p:txBody>
          <a:bodyPr wrap="non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بيان متناقض اطلاعات</a:t>
            </a:r>
            <a:endParaRPr lang="en-US" sz="800" dirty="0"/>
          </a:p>
        </p:txBody>
      </p:sp>
      <p:sp>
        <p:nvSpPr>
          <p:cNvPr id="49" name="Text 46"/>
          <p:cNvSpPr/>
          <p:nvPr/>
        </p:nvSpPr>
        <p:spPr>
          <a:xfrm>
            <a:off x="2539603" y="332206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50" name="Text 47"/>
          <p:cNvSpPr/>
          <p:nvPr/>
        </p:nvSpPr>
        <p:spPr>
          <a:xfrm>
            <a:off x="4207669" y="341136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51" name="Text 48"/>
          <p:cNvSpPr/>
          <p:nvPr/>
        </p:nvSpPr>
        <p:spPr>
          <a:xfrm>
            <a:off x="4228743" y="343243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52" name="Text 49"/>
          <p:cNvSpPr/>
          <p:nvPr/>
        </p:nvSpPr>
        <p:spPr>
          <a:xfrm>
            <a:off x="2628900" y="345601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۰۷</a:t>
            </a:r>
            <a:endParaRPr lang="en-US" sz="800" dirty="0"/>
          </a:p>
        </p:txBody>
      </p:sp>
      <p:sp>
        <p:nvSpPr>
          <p:cNvPr id="53" name="Text 50"/>
          <p:cNvSpPr/>
          <p:nvPr/>
        </p:nvSpPr>
        <p:spPr>
          <a:xfrm>
            <a:off x="2628900" y="3682826"/>
            <a:ext cx="1807369" cy="169999"/>
          </a:xfrm>
          <a:prstGeom prst="rect">
            <a:avLst/>
          </a:prstGeom>
          <a:noFill/>
          <a:ln/>
        </p:spPr>
        <p:txBody>
          <a:bodyPr wrap="non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عدم بازخورد مناسب به بیمار</a:t>
            </a:r>
            <a:endParaRPr lang="en-US" sz="800" dirty="0"/>
          </a:p>
        </p:txBody>
      </p:sp>
      <p:sp>
        <p:nvSpPr>
          <p:cNvPr id="54" name="Text 51"/>
          <p:cNvSpPr/>
          <p:nvPr/>
        </p:nvSpPr>
        <p:spPr>
          <a:xfrm>
            <a:off x="460772" y="3322067"/>
            <a:ext cx="1985963" cy="960611"/>
          </a:xfrm>
          <a:prstGeom prst="roundRect">
            <a:avLst>
              <a:gd name="adj" fmla="val 11899"/>
            </a:avLst>
          </a:prstGeom>
          <a:solidFill>
            <a:srgbClr val="FFFFFF"/>
          </a:solidFill>
          <a:ln w="7144">
            <a:solidFill>
              <a:srgbClr val="D8E3EC"/>
            </a:solidFill>
            <a:prstDash val="solid"/>
          </a:ln>
          <a:effectLst>
            <a:outerShdw blurRad="76200" dist="19050" dir="5400000" algn="bl" rotWithShape="0">
              <a:srgbClr val="E76F51">
                <a:alpha val="6000"/>
              </a:srgbClr>
            </a:outerShdw>
          </a:effectLst>
        </p:spPr>
        <p:txBody>
          <a:bodyPr wrap="square" rtlCol="0" anchor="ctr"/>
          <a:lstStyle/>
          <a:p>
            <a:pPr marL="0" indent="0">
              <a:buNone/>
            </a:pPr>
            <a:endParaRPr lang="en-US" dirty="0"/>
          </a:p>
        </p:txBody>
      </p:sp>
      <p:sp>
        <p:nvSpPr>
          <p:cNvPr id="55" name="Text 52"/>
          <p:cNvSpPr/>
          <p:nvPr/>
        </p:nvSpPr>
        <p:spPr>
          <a:xfrm>
            <a:off x="2128838" y="3411364"/>
            <a:ext cx="228600" cy="2286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56" name="Text 53"/>
          <p:cNvSpPr/>
          <p:nvPr/>
        </p:nvSpPr>
        <p:spPr>
          <a:xfrm>
            <a:off x="2149912" y="3432438"/>
            <a:ext cx="186452" cy="186452"/>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57" name="Text 54"/>
          <p:cNvSpPr/>
          <p:nvPr/>
        </p:nvSpPr>
        <p:spPr>
          <a:xfrm>
            <a:off x="550069" y="3456012"/>
            <a:ext cx="1564481" cy="164592"/>
          </a:xfrm>
          <a:prstGeom prst="rect">
            <a:avLst/>
          </a:prstGeom>
          <a:noFill/>
          <a:ln/>
        </p:spPr>
        <p:txBody>
          <a:bodyPr wrap="none" lIns="0" tIns="0" rIns="0" bIns="0" rtlCol="0" anchor="t"/>
          <a:lstStyle/>
          <a:p>
            <a:pPr marL="0" indent="0" algn="l">
              <a:lnSpc>
                <a:spcPts val="1097"/>
              </a:lnSpc>
              <a:buNone/>
            </a:pPr>
            <a:r>
              <a:rPr lang="en-US" sz="800" b="1" dirty="0">
                <a:solidFill>
                  <a:srgbClr val="E76F51"/>
                </a:solidFill>
                <a:latin typeface="Carlito" pitchFamily="34" charset="0"/>
                <a:ea typeface="Carlito" pitchFamily="34" charset="-122"/>
                <a:cs typeface="Carlito" pitchFamily="34" charset="-120"/>
              </a:rPr>
              <a:t>۰۸</a:t>
            </a:r>
            <a:endParaRPr lang="en-US" sz="800" dirty="0"/>
          </a:p>
        </p:txBody>
      </p:sp>
      <p:sp>
        <p:nvSpPr>
          <p:cNvPr id="58" name="Text 55"/>
          <p:cNvSpPr/>
          <p:nvPr/>
        </p:nvSpPr>
        <p:spPr>
          <a:xfrm>
            <a:off x="550069" y="3682826"/>
            <a:ext cx="1915811" cy="169999"/>
          </a:xfrm>
          <a:prstGeom prst="rect">
            <a:avLst/>
          </a:prstGeom>
          <a:noFill/>
          <a:ln/>
        </p:spPr>
        <p:txBody>
          <a:bodyPr wrap="square" lIns="0" tIns="0" rIns="0" bIns="0" rtlCol="0" anchor="t"/>
          <a:lstStyle/>
          <a:p>
            <a:pPr marL="0" indent="0" algn="l">
              <a:lnSpc>
                <a:spcPts val="1133"/>
              </a:lnSpc>
              <a:buNone/>
            </a:pPr>
            <a:r>
              <a:rPr lang="en-US" sz="800" dirty="0">
                <a:solidFill>
                  <a:srgbClr val="1A2733"/>
                </a:solidFill>
                <a:latin typeface="Carlito" pitchFamily="34" charset="0"/>
                <a:ea typeface="Carlito" pitchFamily="34" charset="-122"/>
                <a:cs typeface="Carlito" pitchFamily="34" charset="-120"/>
              </a:rPr>
              <a:t>عدم ارزشیابی میانی و پایانی</a:t>
            </a:r>
            <a:endParaRPr lang="en-US" sz="800" dirty="0"/>
          </a:p>
        </p:txBody>
      </p:sp>
      <p:sp>
        <p:nvSpPr>
          <p:cNvPr id="59" name="Text 56"/>
          <p:cNvSpPr/>
          <p:nvPr/>
        </p:nvSpPr>
        <p:spPr>
          <a:xfrm>
            <a:off x="457200" y="4371975"/>
            <a:ext cx="8229600" cy="371475"/>
          </a:xfrm>
          <a:prstGeom prst="roundRect">
            <a:avLst>
              <a:gd name="adj" fmla="val 30769"/>
            </a:avLst>
          </a:prstGeom>
          <a:solidFill>
            <a:srgbClr val="0F2A3D"/>
          </a:solidFill>
          <a:ln/>
          <a:effectLst>
            <a:outerShdw blurRad="114300" dist="38100" dir="5400000" algn="bl" rotWithShape="0">
              <a:srgbClr val="0F2A3D">
                <a:alpha val="18000"/>
              </a:srgbClr>
            </a:outerShdw>
          </a:effectLst>
        </p:spPr>
        <p:txBody>
          <a:bodyPr wrap="square" rtlCol="0" anchor="ctr"/>
          <a:lstStyle/>
          <a:p>
            <a:pPr marL="0" indent="0">
              <a:buNone/>
            </a:pPr>
            <a:endParaRPr lang="en-US" dirty="0"/>
          </a:p>
        </p:txBody>
      </p:sp>
      <p:sp>
        <p:nvSpPr>
          <p:cNvPr id="60" name="Text 57"/>
          <p:cNvSpPr/>
          <p:nvPr/>
        </p:nvSpPr>
        <p:spPr>
          <a:xfrm>
            <a:off x="8372475" y="4471988"/>
            <a:ext cx="171450" cy="171450"/>
          </a:xfrm>
          <a:prstGeom prst="rect">
            <a:avLst/>
          </a:prstGeom>
          <a:noFill/>
          <a:ln/>
        </p:spPr>
        <p:txBody>
          <a:bodyPr wrap="none" lIns="0" tIns="0" rIns="0" bIns="0" rtlCol="0" anchor="ctr"/>
          <a:lstStyle/>
          <a:p>
            <a:pPr marL="0" indent="0" algn="ctr">
              <a:buNone/>
            </a:pPr>
            <a:r>
              <a:rPr lang="en-US" sz="1688" dirty="0">
                <a:solidFill>
                  <a:srgbClr val="2A9D8F"/>
                </a:solidFill>
                <a:latin typeface="Segoe UI Symbol" pitchFamily="34" charset="0"/>
                <a:ea typeface="Segoe UI Symbol" pitchFamily="34" charset="-122"/>
                <a:cs typeface="Segoe UI Symbol" pitchFamily="34" charset="-120"/>
              </a:rPr>
              <a:t>✓</a:t>
            </a:r>
            <a:endParaRPr lang="en-US" sz="1688" dirty="0"/>
          </a:p>
        </p:txBody>
      </p:sp>
      <p:sp>
        <p:nvSpPr>
          <p:cNvPr id="61" name="Text 58"/>
          <p:cNvSpPr/>
          <p:nvPr/>
        </p:nvSpPr>
        <p:spPr>
          <a:xfrm>
            <a:off x="5520221" y="4480024"/>
            <a:ext cx="2987851" cy="163413"/>
          </a:xfrm>
          <a:prstGeom prst="rect">
            <a:avLst/>
          </a:prstGeom>
          <a:noFill/>
          <a:ln/>
        </p:spPr>
        <p:txBody>
          <a:bodyPr wrap="none" lIns="0" tIns="0" rIns="0" bIns="0" rtlCol="0" anchor="t"/>
          <a:lstStyle/>
          <a:p>
            <a:pPr marL="0" indent="0" algn="l">
              <a:lnSpc>
                <a:spcPts val="1223"/>
              </a:lnSpc>
              <a:buNone/>
            </a:pPr>
            <a:r>
              <a:rPr lang="en-US" sz="816" b="1" dirty="0">
                <a:solidFill>
                  <a:srgbClr val="FFFFFF"/>
                </a:solidFill>
                <a:latin typeface="Carlito" pitchFamily="34" charset="0"/>
                <a:ea typeface="Carlito" pitchFamily="34" charset="-122"/>
                <a:cs typeface="Carlito" pitchFamily="34" charset="-120"/>
              </a:rPr>
              <a:t>شناسایی و رفع این موانع، پیش‌نیاز آموزش مؤثر است.</a:t>
            </a:r>
            <a:endParaRPr lang="en-US" sz="816" dirty="0"/>
          </a:p>
        </p:txBody>
      </p:sp>
      <p:sp>
        <p:nvSpPr>
          <p:cNvPr id="62" name="Shape 59"/>
          <p:cNvSpPr/>
          <p:nvPr/>
        </p:nvSpPr>
        <p:spPr>
          <a:xfrm>
            <a:off x="457200" y="4825603"/>
            <a:ext cx="8229600" cy="0"/>
          </a:xfrm>
          <a:prstGeom prst="line">
            <a:avLst/>
          </a:prstGeom>
          <a:noFill/>
          <a:ln w="7144">
            <a:solidFill>
              <a:srgbClr val="D8E3EC"/>
            </a:solidFill>
            <a:prstDash val="solid"/>
          </a:ln>
        </p:spPr>
      </p:sp>
      <p:sp>
        <p:nvSpPr>
          <p:cNvPr id="63" name="Text 60"/>
          <p:cNvSpPr/>
          <p:nvPr/>
        </p:nvSpPr>
        <p:spPr>
          <a:xfrm>
            <a:off x="6462526" y="4886325"/>
            <a:ext cx="2334002" cy="128588"/>
          </a:xfrm>
          <a:prstGeom prst="rect">
            <a:avLst/>
          </a:prstGeom>
          <a:noFill/>
          <a:ln/>
        </p:spPr>
        <p:txBody>
          <a:bodyPr wrap="square" lIns="0" tIns="0" rIns="0" bIns="0" rtlCol="0" anchor="t"/>
          <a:lstStyle/>
          <a:p>
            <a:pPr marL="0" indent="0" algn="l">
              <a:lnSpc>
                <a:spcPts val="1013"/>
              </a:lnSpc>
              <a:buNone/>
            </a:pPr>
            <a:r>
              <a:rPr lang="en-US" sz="675" dirty="0">
                <a:solidFill>
                  <a:srgbClr val="5A6B7B"/>
                </a:solidFill>
                <a:latin typeface="Carlito" pitchFamily="34" charset="0"/>
                <a:ea typeface="Carlito" pitchFamily="34" charset="-122"/>
                <a:cs typeface="Carlito" pitchFamily="34" charset="-120"/>
              </a:rPr>
              <a:t>آموزش و یادگیری در پرستاری — بخش ۲: نظریه یادگیری</a:t>
            </a:r>
            <a:endParaRPr lang="en-US" sz="675" dirty="0"/>
          </a:p>
        </p:txBody>
      </p:sp>
      <p:sp>
        <p:nvSpPr>
          <p:cNvPr id="64" name="Text 61"/>
          <p:cNvSpPr/>
          <p:nvPr/>
        </p:nvSpPr>
        <p:spPr>
          <a:xfrm>
            <a:off x="457200" y="4886325"/>
            <a:ext cx="5991039" cy="128588"/>
          </a:xfrm>
          <a:prstGeom prst="rect">
            <a:avLst/>
          </a:prstGeom>
          <a:noFill/>
          <a:ln/>
        </p:spPr>
        <p:txBody>
          <a:bodyPr wrap="none" lIns="0" tIns="0" rIns="0" bIns="0" rtlCol="0" anchor="t"/>
          <a:lstStyle/>
          <a:p>
            <a:pPr marL="0" indent="0" algn="l">
              <a:lnSpc>
                <a:spcPts val="1013"/>
              </a:lnSpc>
              <a:buNone/>
            </a:pPr>
            <a:r>
              <a:rPr lang="en-US" sz="800" dirty="0">
                <a:solidFill>
                  <a:srgbClr val="5A6B7B"/>
                </a:solidFill>
                <a:latin typeface="Carlito" pitchFamily="34" charset="0"/>
                <a:ea typeface="Carlito" pitchFamily="34" charset="-122"/>
                <a:cs typeface="Carlito" pitchFamily="34" charset="-120"/>
              </a:rPr>
              <a:t>صفحه ۱۵ از ۲۲</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4">
            <a:alphaModFix amt="50000"/>
          </a:blip>
          <a:stretch>
            <a:fillRect/>
          </a:stretch>
        </p:blipFill>
        <p:spPr>
          <a:xfrm>
            <a:off x="0" y="0"/>
            <a:ext cx="9144000" cy="5143500"/>
          </a:xfrm>
          <a:prstGeom prst="rect">
            <a:avLst/>
          </a:prstGeom>
        </p:spPr>
      </p:pic>
      <p:sp>
        <p:nvSpPr>
          <p:cNvPr id="5" name="Text 0"/>
          <p:cNvSpPr/>
          <p:nvPr/>
        </p:nvSpPr>
        <p:spPr>
          <a:xfrm>
            <a:off x="6715125" y="-1714500"/>
            <a:ext cx="3714750" cy="3714750"/>
          </a:xfrm>
          <a:prstGeom prst="ellipse">
            <a:avLst/>
          </a:prstGeom>
          <a:solidFill>
            <a:srgbClr val="FFFFFF">
              <a:alpha val="8000"/>
            </a:srgbClr>
          </a:solidFill>
          <a:ln/>
        </p:spPr>
        <p:txBody>
          <a:bodyPr wrap="square" rtlCol="0" anchor="ctr"/>
          <a:lstStyle/>
          <a:p>
            <a:pPr marL="0" indent="0">
              <a:buNone/>
            </a:pPr>
            <a:endParaRPr lang="en-US" dirty="0"/>
          </a:p>
        </p:txBody>
      </p:sp>
      <p:sp>
        <p:nvSpPr>
          <p:cNvPr id="6" name="Text 1"/>
          <p:cNvSpPr/>
          <p:nvPr/>
        </p:nvSpPr>
        <p:spPr>
          <a:xfrm>
            <a:off x="-1285875" y="3286125"/>
            <a:ext cx="3286125" cy="3286125"/>
          </a:xfrm>
          <a:prstGeom prst="ellipse">
            <a:avLst/>
          </a:prstGeom>
          <a:solidFill>
            <a:srgbClr val="FFFFFF">
              <a:alpha val="6000"/>
            </a:srgbClr>
          </a:solidFill>
          <a:ln/>
        </p:spPr>
        <p:txBody>
          <a:bodyPr wrap="square" rtlCol="0" anchor="ctr"/>
          <a:lstStyle/>
          <a:p>
            <a:pPr marL="0" indent="0">
              <a:buNone/>
            </a:pPr>
            <a:endParaRPr lang="en-US" dirty="0"/>
          </a:p>
        </p:txBody>
      </p:sp>
      <p:sp>
        <p:nvSpPr>
          <p:cNvPr id="7" name="Text 2"/>
          <p:cNvSpPr/>
          <p:nvPr/>
        </p:nvSpPr>
        <p:spPr>
          <a:xfrm>
            <a:off x="731453" y="1954485"/>
            <a:ext cx="642938" cy="642938"/>
          </a:xfrm>
          <a:prstGeom prst="ellipse">
            <a:avLst/>
          </a:prstGeom>
          <a:solidFill>
            <a:srgbClr val="FFFFFF">
              <a:alpha val="12000"/>
            </a:srgbClr>
          </a:solidFill>
          <a:ln/>
        </p:spPr>
        <p:txBody>
          <a:bodyPr wrap="square" rtlCol="0" anchor="ctr"/>
          <a:lstStyle/>
          <a:p>
            <a:pPr marL="0" indent="0">
              <a:buNone/>
            </a:pPr>
            <a:endParaRPr lang="en-US" dirty="0"/>
          </a:p>
        </p:txBody>
      </p:sp>
      <p:sp>
        <p:nvSpPr>
          <p:cNvPr id="8" name="Text 3"/>
          <p:cNvSpPr/>
          <p:nvPr/>
        </p:nvSpPr>
        <p:spPr>
          <a:xfrm>
            <a:off x="7549604" y="3389040"/>
            <a:ext cx="314325" cy="314325"/>
          </a:xfrm>
          <a:prstGeom prst="ellipse">
            <a:avLst/>
          </a:prstGeom>
          <a:solidFill>
            <a:srgbClr val="FFFFFF">
              <a:alpha val="20000"/>
            </a:srgbClr>
          </a:solidFill>
          <a:ln/>
        </p:spPr>
        <p:txBody>
          <a:bodyPr wrap="square" rtlCol="0" anchor="ctr"/>
          <a:lstStyle/>
          <a:p>
            <a:pPr marL="0" indent="0">
              <a:buNone/>
            </a:pPr>
            <a:endParaRPr lang="en-US" dirty="0"/>
          </a:p>
        </p:txBody>
      </p:sp>
      <p:sp>
        <p:nvSpPr>
          <p:cNvPr id="9" name="Text 4"/>
          <p:cNvSpPr/>
          <p:nvPr/>
        </p:nvSpPr>
        <p:spPr>
          <a:xfrm>
            <a:off x="1662144" y="1335881"/>
            <a:ext cx="5819824" cy="185166"/>
          </a:xfrm>
          <a:prstGeom prst="rect">
            <a:avLst/>
          </a:prstGeom>
          <a:noFill/>
          <a:ln/>
        </p:spPr>
        <p:txBody>
          <a:bodyPr wrap="none" lIns="0" tIns="0" rIns="0" bIns="0" rtlCol="0" anchor="t"/>
          <a:lstStyle/>
          <a:p>
            <a:pPr marL="0" indent="0" algn="ctr">
              <a:lnSpc>
                <a:spcPts val="1350"/>
              </a:lnSpc>
              <a:buNone/>
            </a:pPr>
            <a:r>
              <a:rPr lang="en-US" sz="900" kern="0" spc="56" dirty="0">
                <a:solidFill>
                  <a:srgbClr val="FFFFFF">
                    <a:alpha val="78000"/>
                  </a:srgbClr>
                </a:solidFill>
                <a:latin typeface="Carlito" pitchFamily="34" charset="0"/>
                <a:ea typeface="Carlito" pitchFamily="34" charset="-122"/>
                <a:cs typeface="Carlito" pitchFamily="34" charset="-120"/>
              </a:rPr>
              <a:t>— بخش سوم —</a:t>
            </a:r>
            <a:endParaRPr lang="en-US" sz="900" dirty="0"/>
          </a:p>
        </p:txBody>
      </p:sp>
      <p:sp>
        <p:nvSpPr>
          <p:cNvPr id="10" name="Text 5"/>
          <p:cNvSpPr/>
          <p:nvPr/>
        </p:nvSpPr>
        <p:spPr>
          <a:xfrm>
            <a:off x="4372734" y="1707356"/>
            <a:ext cx="1211580" cy="678942"/>
          </a:xfrm>
          <a:prstGeom prst="rect">
            <a:avLst/>
          </a:prstGeom>
          <a:noFill/>
          <a:ln/>
        </p:spPr>
        <p:txBody>
          <a:bodyPr wrap="none" lIns="0" tIns="0" rIns="0" bIns="0" rtlCol="0" anchor="t"/>
          <a:lstStyle/>
          <a:p>
            <a:pPr marL="0" indent="0" algn="ctr">
              <a:lnSpc>
                <a:spcPts val="4950"/>
              </a:lnSpc>
              <a:buNone/>
            </a:pPr>
            <a:r>
              <a:rPr lang="en-US" sz="4950" b="1" dirty="0">
                <a:solidFill>
                  <a:srgbClr val="FFFFFF">
                    <a:alpha val="95000"/>
                  </a:srgbClr>
                </a:solidFill>
                <a:latin typeface="Carlito" pitchFamily="34" charset="0"/>
                <a:ea typeface="Carlito" pitchFamily="34" charset="-122"/>
                <a:cs typeface="Carlito" pitchFamily="34" charset="-120"/>
              </a:rPr>
              <a:t>۰۳</a:t>
            </a:r>
            <a:endParaRPr lang="en-US" sz="4950" dirty="0"/>
          </a:p>
        </p:txBody>
      </p:sp>
      <p:sp>
        <p:nvSpPr>
          <p:cNvPr id="11" name="Text 6"/>
          <p:cNvSpPr/>
          <p:nvPr/>
        </p:nvSpPr>
        <p:spPr>
          <a:xfrm>
            <a:off x="4234984" y="1793081"/>
            <a:ext cx="402793" cy="493776"/>
          </a:xfrm>
          <a:prstGeom prst="rect">
            <a:avLst/>
          </a:prstGeom>
          <a:noFill/>
          <a:ln/>
        </p:spPr>
        <p:txBody>
          <a:bodyPr wrap="none" lIns="0" tIns="0" rIns="0" bIns="0" rtlCol="0" anchor="t"/>
          <a:lstStyle/>
          <a:p>
            <a:pPr marL="0" indent="0" algn="ctr">
              <a:lnSpc>
                <a:spcPts val="3600"/>
              </a:lnSpc>
              <a:buNone/>
            </a:pPr>
            <a:r>
              <a:rPr lang="en-US" sz="3600" dirty="0">
                <a:solidFill>
                  <a:srgbClr val="FFFFFF">
                    <a:alpha val="40000"/>
                  </a:srgbClr>
                </a:solidFill>
                <a:latin typeface="Carlito" pitchFamily="34" charset="0"/>
                <a:ea typeface="Carlito" pitchFamily="34" charset="-122"/>
                <a:cs typeface="Carlito" pitchFamily="34" charset="-120"/>
              </a:rPr>
              <a:t>/</a:t>
            </a:r>
            <a:endParaRPr lang="en-US" sz="3600" dirty="0"/>
          </a:p>
        </p:txBody>
      </p:sp>
      <p:sp>
        <p:nvSpPr>
          <p:cNvPr id="12" name="Text 7"/>
          <p:cNvSpPr/>
          <p:nvPr/>
        </p:nvSpPr>
        <p:spPr>
          <a:xfrm>
            <a:off x="3641348" y="1821656"/>
            <a:ext cx="777240" cy="432054"/>
          </a:xfrm>
          <a:prstGeom prst="rect">
            <a:avLst/>
          </a:prstGeom>
          <a:noFill/>
          <a:ln/>
        </p:spPr>
        <p:txBody>
          <a:bodyPr wrap="none" lIns="0" tIns="0" rIns="0" bIns="0" rtlCol="0" anchor="t"/>
          <a:lstStyle/>
          <a:p>
            <a:pPr marL="0" indent="0" algn="ctr">
              <a:lnSpc>
                <a:spcPts val="3150"/>
              </a:lnSpc>
              <a:buNone/>
            </a:pPr>
            <a:r>
              <a:rPr lang="en-US" sz="3150" b="1" dirty="0">
                <a:solidFill>
                  <a:srgbClr val="FFFFFF">
                    <a:alpha val="55000"/>
                  </a:srgbClr>
                </a:solidFill>
                <a:latin typeface="Carlito" pitchFamily="34" charset="0"/>
                <a:ea typeface="Carlito" pitchFamily="34" charset="-122"/>
                <a:cs typeface="Carlito" pitchFamily="34" charset="-120"/>
              </a:rPr>
              <a:t>۰۴</a:t>
            </a:r>
            <a:endParaRPr lang="en-US" sz="3150" dirty="0"/>
          </a:p>
        </p:txBody>
      </p:sp>
      <p:sp>
        <p:nvSpPr>
          <p:cNvPr id="13" name="Text 8"/>
          <p:cNvSpPr/>
          <p:nvPr/>
        </p:nvSpPr>
        <p:spPr>
          <a:xfrm>
            <a:off x="274432" y="2493169"/>
            <a:ext cx="8595248" cy="691961"/>
          </a:xfrm>
          <a:prstGeom prst="rect">
            <a:avLst/>
          </a:prstGeom>
          <a:noFill/>
          <a:ln/>
        </p:spPr>
        <p:txBody>
          <a:bodyPr wrap="none" lIns="0" tIns="0" rIns="0" bIns="0" rtlCol="0" anchor="t"/>
          <a:lstStyle/>
          <a:p>
            <a:pPr marL="0" indent="0" algn="ctr">
              <a:lnSpc>
                <a:spcPts val="5046"/>
              </a:lnSpc>
              <a:buNone/>
            </a:pPr>
            <a:r>
              <a:rPr lang="en-US" sz="4388" b="1" dirty="0">
                <a:solidFill>
                  <a:srgbClr val="FFFFFF"/>
                </a:solidFill>
                <a:latin typeface="Carlito" pitchFamily="34" charset="0"/>
                <a:ea typeface="Carlito" pitchFamily="34" charset="-122"/>
                <a:cs typeface="Carlito" pitchFamily="34" charset="-120"/>
              </a:rPr>
              <a:t>آموزش به بیمار</a:t>
            </a:r>
            <a:endParaRPr lang="en-US" sz="4388" dirty="0"/>
          </a:p>
        </p:txBody>
      </p:sp>
      <p:sp>
        <p:nvSpPr>
          <p:cNvPr id="14" name="Text 9"/>
          <p:cNvSpPr/>
          <p:nvPr/>
        </p:nvSpPr>
        <p:spPr>
          <a:xfrm>
            <a:off x="4272074" y="3319611"/>
            <a:ext cx="600075" cy="42863"/>
          </a:xfrm>
          <a:prstGeom prst="roundRect">
            <a:avLst>
              <a:gd name="adj" fmla="val 88888"/>
            </a:avLst>
          </a:prstGeom>
          <a:solidFill>
            <a:srgbClr val="FFFFFF"/>
          </a:solidFill>
          <a:ln/>
        </p:spPr>
        <p:txBody>
          <a:bodyPr wrap="square" rtlCol="0" anchor="ctr"/>
          <a:lstStyle/>
          <a:p>
            <a:pPr marL="0" indent="0">
              <a:buNone/>
            </a:pPr>
            <a:endParaRPr lang="en-US" dirty="0"/>
          </a:p>
        </p:txBody>
      </p:sp>
      <p:sp>
        <p:nvSpPr>
          <p:cNvPr id="15" name="Text 10"/>
          <p:cNvSpPr/>
          <p:nvPr/>
        </p:nvSpPr>
        <p:spPr>
          <a:xfrm>
            <a:off x="2214897" y="3548211"/>
            <a:ext cx="4714317" cy="280039"/>
          </a:xfrm>
          <a:prstGeom prst="rect">
            <a:avLst/>
          </a:prstGeom>
          <a:noFill/>
          <a:ln/>
        </p:spPr>
        <p:txBody>
          <a:bodyPr wrap="square" lIns="0" tIns="0" rIns="0" bIns="0" rtlCol="0" anchor="t"/>
          <a:lstStyle/>
          <a:p>
            <a:pPr marL="0" indent="0" algn="ctr">
              <a:lnSpc>
                <a:spcPts val="2042"/>
              </a:lnSpc>
              <a:buNone/>
            </a:pPr>
            <a:r>
              <a:rPr lang="en-US" sz="1238" dirty="0">
                <a:solidFill>
                  <a:srgbClr val="FFFFFF">
                    <a:alpha val="88000"/>
                  </a:srgbClr>
                </a:solidFill>
                <a:latin typeface="Carlito" pitchFamily="34" charset="0"/>
                <a:ea typeface="Carlito" pitchFamily="34" charset="-122"/>
                <a:cs typeface="Carlito" pitchFamily="34" charset="-120"/>
              </a:rPr>
              <a:t>فرآیند ۵ مرحله‌ای، روش‌های تدریس بالینی و حیطه‌های یادگیری</a:t>
            </a:r>
            <a:endParaRPr lang="en-US" sz="1238" dirty="0"/>
          </a:p>
        </p:txBody>
      </p:sp>
      <p:sp>
        <p:nvSpPr>
          <p:cNvPr id="16" name="Text 11"/>
          <p:cNvSpPr/>
          <p:nvPr/>
        </p:nvSpPr>
        <p:spPr>
          <a:xfrm>
            <a:off x="6969063" y="257175"/>
            <a:ext cx="1774887" cy="253603"/>
          </a:xfrm>
          <a:prstGeom prst="roundRect">
            <a:avLst>
              <a:gd name="adj" fmla="val 3752115"/>
            </a:avLst>
          </a:prstGeom>
          <a:solidFill>
            <a:srgbClr val="FFFFFF">
              <a:alpha val="12000"/>
            </a:srgbClr>
          </a:solidFill>
          <a:ln/>
        </p:spPr>
        <p:txBody>
          <a:bodyPr wrap="square" rtlCol="0" anchor="ctr"/>
          <a:lstStyle/>
          <a:p>
            <a:pPr marL="0" indent="0">
              <a:buNone/>
            </a:pPr>
            <a:endParaRPr lang="en-US" dirty="0"/>
          </a:p>
        </p:txBody>
      </p:sp>
      <p:sp>
        <p:nvSpPr>
          <p:cNvPr id="17" name="Text 12"/>
          <p:cNvSpPr/>
          <p:nvPr/>
        </p:nvSpPr>
        <p:spPr>
          <a:xfrm>
            <a:off x="8515350" y="326827"/>
            <a:ext cx="114300" cy="114300"/>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18" name="Text 13"/>
          <p:cNvSpPr/>
          <p:nvPr/>
        </p:nvSpPr>
        <p:spPr>
          <a:xfrm>
            <a:off x="7083363" y="314325"/>
            <a:ext cx="1530618" cy="139303"/>
          </a:xfrm>
          <a:prstGeom prst="rect">
            <a:avLst/>
          </a:prstGeom>
          <a:noFill/>
          <a:ln/>
        </p:spPr>
        <p:txBody>
          <a:bodyPr wrap="none" lIns="0" tIns="0" rIns="0" bIns="0" rtlCol="0" anchor="t"/>
          <a:lstStyle/>
          <a:p>
            <a:pPr marL="0" indent="0" algn="ctr">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آموزش و یادگیری در پرستاری</a:t>
            </a:r>
            <a:endParaRPr lang="en-US" sz="800" dirty="0"/>
          </a:p>
        </p:txBody>
      </p:sp>
      <p:sp>
        <p:nvSpPr>
          <p:cNvPr id="19" name="Text 14"/>
          <p:cNvSpPr/>
          <p:nvPr/>
        </p:nvSpPr>
        <p:spPr>
          <a:xfrm>
            <a:off x="1007221" y="4747022"/>
            <a:ext cx="1035047" cy="164592"/>
          </a:xfrm>
          <a:prstGeom prst="rect">
            <a:avLst/>
          </a:prstGeom>
          <a:noFill/>
          <a:ln/>
        </p:spPr>
        <p:txBody>
          <a:bodyPr wrap="none" lIns="0" tIns="0" rIns="0" bIns="0" rtlCol="0" anchor="t"/>
          <a:lstStyle/>
          <a:p>
            <a:pPr marL="0" indent="0" algn="ctr">
              <a:lnSpc>
                <a:spcPts val="1097"/>
              </a:lnSpc>
              <a:buNone/>
            </a:pPr>
            <a:r>
              <a:rPr lang="en-US" sz="800" dirty="0">
                <a:solidFill>
                  <a:srgbClr val="FFFFFF">
                    <a:alpha val="65000"/>
                  </a:srgbClr>
                </a:solidFill>
                <a:latin typeface="Carlito" pitchFamily="34" charset="0"/>
                <a:ea typeface="Carlito" pitchFamily="34" charset="-122"/>
                <a:cs typeface="Carlito" pitchFamily="34" charset="-120"/>
              </a:rPr>
              <a:t>کارشناسی پرستاری</a:t>
            </a:r>
            <a:endParaRPr lang="en-US" sz="800" dirty="0"/>
          </a:p>
        </p:txBody>
      </p:sp>
      <p:sp>
        <p:nvSpPr>
          <p:cNvPr id="20" name="Text 15"/>
          <p:cNvSpPr/>
          <p:nvPr/>
        </p:nvSpPr>
        <p:spPr>
          <a:xfrm>
            <a:off x="940296" y="4802386"/>
            <a:ext cx="28575" cy="28575"/>
          </a:xfrm>
          <a:prstGeom prst="ellipse">
            <a:avLst/>
          </a:prstGeom>
          <a:solidFill>
            <a:srgbClr val="FFFFFF">
              <a:alpha val="50000"/>
            </a:srgbClr>
          </a:solidFill>
          <a:ln/>
        </p:spPr>
        <p:txBody>
          <a:bodyPr wrap="square" rtlCol="0" anchor="ctr"/>
          <a:lstStyle/>
          <a:p>
            <a:pPr marL="0" indent="0">
              <a:buNone/>
            </a:pPr>
            <a:endParaRPr lang="en-US" dirty="0"/>
          </a:p>
        </p:txBody>
      </p:sp>
      <p:sp>
        <p:nvSpPr>
          <p:cNvPr id="21" name="Text 16"/>
          <p:cNvSpPr/>
          <p:nvPr/>
        </p:nvSpPr>
        <p:spPr>
          <a:xfrm>
            <a:off x="340418" y="4747022"/>
            <a:ext cx="545211" cy="164592"/>
          </a:xfrm>
          <a:prstGeom prst="rect">
            <a:avLst/>
          </a:prstGeom>
          <a:noFill/>
          <a:ln/>
        </p:spPr>
        <p:txBody>
          <a:bodyPr wrap="none" lIns="0" tIns="0" rIns="0" bIns="0" rtlCol="0" anchor="t"/>
          <a:lstStyle/>
          <a:p>
            <a:pPr marL="0" indent="0" algn="ctr">
              <a:lnSpc>
                <a:spcPts val="1097"/>
              </a:lnSpc>
              <a:buNone/>
            </a:pPr>
            <a:r>
              <a:rPr lang="en-US" sz="800" dirty="0">
                <a:solidFill>
                  <a:srgbClr val="FFFFFF">
                    <a:alpha val="65000"/>
                  </a:srgbClr>
                </a:solidFill>
                <a:latin typeface="Carlito" pitchFamily="34" charset="0"/>
                <a:ea typeface="Carlito" pitchFamily="34" charset="-122"/>
                <a:cs typeface="Carlito" pitchFamily="34" charset="-120"/>
              </a:rPr>
              <a:t>جلسه اول</a:t>
            </a:r>
            <a:endParaRPr lang="en-US" sz="800" dirty="0"/>
          </a:p>
        </p:txBody>
      </p:sp>
      <p:sp>
        <p:nvSpPr>
          <p:cNvPr id="22" name="Text 17"/>
          <p:cNvSpPr/>
          <p:nvPr/>
        </p:nvSpPr>
        <p:spPr>
          <a:xfrm>
            <a:off x="8643938" y="477202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23" name="Text 18"/>
          <p:cNvSpPr/>
          <p:nvPr/>
        </p:nvSpPr>
        <p:spPr>
          <a:xfrm>
            <a:off x="7359095" y="4757738"/>
            <a:ext cx="1286154" cy="164592"/>
          </a:xfrm>
          <a:prstGeom prst="rect">
            <a:avLst/>
          </a:prstGeom>
          <a:noFill/>
          <a:ln/>
        </p:spPr>
        <p:txBody>
          <a:bodyPr wrap="none" lIns="0" tIns="0" rIns="0" bIns="0" rtlCol="0" anchor="t"/>
          <a:lstStyle/>
          <a:p>
            <a:pPr marL="0" indent="0" algn="ctr">
              <a:lnSpc>
                <a:spcPts val="1013"/>
              </a:lnSpc>
              <a:buNone/>
            </a:pPr>
            <a:r>
              <a:rPr lang="en-US" sz="800" dirty="0">
                <a:solidFill>
                  <a:srgbClr val="FFFFFF">
                    <a:alpha val="60000"/>
                  </a:srgbClr>
                </a:solidFill>
                <a:latin typeface="Carlito" pitchFamily="34" charset="0"/>
                <a:ea typeface="Carlito" pitchFamily="34" charset="-122"/>
                <a:cs typeface="Carlito" pitchFamily="34" charset="-120"/>
              </a:rPr>
              <a:t>گذر از نظریه به عمل بالینی</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5400563" y="400050"/>
            <a:ext cx="3286237" cy="359978"/>
          </a:xfrm>
          <a:prstGeom prst="rect">
            <a:avLst/>
          </a:prstGeom>
          <a:noFill/>
          <a:ln/>
        </p:spPr>
        <p:txBody>
          <a:bodyPr wrap="non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آموزش به بیمار چیست؟</a:t>
            </a:r>
            <a:endParaRPr lang="en-US" sz="2363" dirty="0"/>
          </a:p>
        </p:txBody>
      </p:sp>
      <p:sp>
        <p:nvSpPr>
          <p:cNvPr id="4" name="Text 2"/>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5" name="Text 3"/>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۱۷ / ۲۲</a:t>
            </a:r>
            <a:endParaRPr lang="en-US" sz="1013" dirty="0"/>
          </a:p>
        </p:txBody>
      </p:sp>
      <p:sp>
        <p:nvSpPr>
          <p:cNvPr id="6" name="Text 4"/>
          <p:cNvSpPr/>
          <p:nvPr/>
        </p:nvSpPr>
        <p:spPr>
          <a:xfrm>
            <a:off x="3957638" y="1074353"/>
            <a:ext cx="4729163" cy="1291233"/>
          </a:xfrm>
          <a:prstGeom prst="roundRect">
            <a:avLst>
              <a:gd name="adj" fmla="val 10327"/>
            </a:avLst>
          </a:prstGeom>
          <a:solidFill>
            <a:srgbClr val="FFFFFF"/>
          </a:solidFill>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7" name="Shape 5"/>
          <p:cNvSpPr/>
          <p:nvPr/>
        </p:nvSpPr>
        <p:spPr>
          <a:xfrm>
            <a:off x="3957638" y="1077925"/>
            <a:ext cx="4729163" cy="0"/>
          </a:xfrm>
          <a:prstGeom prst="line">
            <a:avLst/>
          </a:prstGeom>
          <a:noFill/>
          <a:ln w="7144">
            <a:solidFill>
              <a:srgbClr val="D8E3EC"/>
            </a:solidFill>
            <a:prstDash val="solid"/>
          </a:ln>
        </p:spPr>
      </p:sp>
      <p:sp>
        <p:nvSpPr>
          <p:cNvPr id="8" name="Shape 6"/>
          <p:cNvSpPr/>
          <p:nvPr/>
        </p:nvSpPr>
        <p:spPr>
          <a:xfrm>
            <a:off x="8672513" y="1074353"/>
            <a:ext cx="0" cy="1291233"/>
          </a:xfrm>
          <a:prstGeom prst="line">
            <a:avLst/>
          </a:prstGeom>
          <a:noFill/>
          <a:ln w="28575">
            <a:solidFill>
              <a:srgbClr val="1B4965"/>
            </a:solidFill>
            <a:prstDash val="solid"/>
          </a:ln>
        </p:spPr>
      </p:sp>
      <p:sp>
        <p:nvSpPr>
          <p:cNvPr id="9" name="Shape 7"/>
          <p:cNvSpPr/>
          <p:nvPr/>
        </p:nvSpPr>
        <p:spPr>
          <a:xfrm>
            <a:off x="3957638" y="2362014"/>
            <a:ext cx="4729163" cy="0"/>
          </a:xfrm>
          <a:prstGeom prst="line">
            <a:avLst/>
          </a:prstGeom>
          <a:noFill/>
          <a:ln w="7144">
            <a:solidFill>
              <a:srgbClr val="D8E3EC"/>
            </a:solidFill>
            <a:prstDash val="solid"/>
          </a:ln>
        </p:spPr>
      </p:sp>
      <p:sp>
        <p:nvSpPr>
          <p:cNvPr id="10" name="Shape 8"/>
          <p:cNvSpPr/>
          <p:nvPr/>
        </p:nvSpPr>
        <p:spPr>
          <a:xfrm>
            <a:off x="3961209" y="1074353"/>
            <a:ext cx="0" cy="1291233"/>
          </a:xfrm>
          <a:prstGeom prst="line">
            <a:avLst/>
          </a:prstGeom>
          <a:noFill/>
          <a:ln w="7144">
            <a:solidFill>
              <a:srgbClr val="D8E3EC"/>
            </a:solidFill>
            <a:prstDash val="solid"/>
          </a:ln>
        </p:spPr>
      </p:sp>
      <p:sp>
        <p:nvSpPr>
          <p:cNvPr id="11" name="Text 9"/>
          <p:cNvSpPr/>
          <p:nvPr/>
        </p:nvSpPr>
        <p:spPr>
          <a:xfrm>
            <a:off x="8343900" y="1222586"/>
            <a:ext cx="157163" cy="157163"/>
          </a:xfrm>
          <a:prstGeom prst="rect">
            <a:avLst/>
          </a:prstGeom>
          <a:noFill/>
          <a:ln/>
        </p:spPr>
        <p:txBody>
          <a:bodyPr wrap="none" lIns="0" tIns="0" rIns="0" bIns="0" rtlCol="0" anchor="ctr"/>
          <a:lstStyle/>
          <a:p>
            <a:pPr marL="0" indent="0" algn="ctr">
              <a:buNone/>
            </a:pPr>
            <a:r>
              <a:rPr lang="en-US" sz="1547" dirty="0">
                <a:solidFill>
                  <a:srgbClr val="1B4965"/>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7929563" y="1210084"/>
            <a:ext cx="571500" cy="196739"/>
          </a:xfrm>
          <a:prstGeom prst="rect">
            <a:avLst/>
          </a:prstGeom>
          <a:noFill/>
          <a:ln/>
        </p:spPr>
        <p:txBody>
          <a:bodyPr wrap="none" lIns="0" tIns="0" rIns="0" bIns="0" rtlCol="0" anchor="t"/>
          <a:lstStyle/>
          <a:p>
            <a:pPr marL="0" indent="0" algn="l">
              <a:lnSpc>
                <a:spcPts val="1434"/>
              </a:lnSpc>
              <a:buNone/>
            </a:pPr>
            <a:r>
              <a:rPr lang="en-US" sz="956" b="1" dirty="0">
                <a:solidFill>
                  <a:srgbClr val="1B4965"/>
                </a:solidFill>
                <a:latin typeface="Carlito" pitchFamily="34" charset="0"/>
                <a:ea typeface="Carlito" pitchFamily="34" charset="-122"/>
                <a:cs typeface="Carlito" pitchFamily="34" charset="-120"/>
              </a:rPr>
              <a:t>تعریف</a:t>
            </a:r>
            <a:endParaRPr lang="en-US" sz="956" dirty="0"/>
          </a:p>
        </p:txBody>
      </p:sp>
      <p:sp>
        <p:nvSpPr>
          <p:cNvPr id="13" name="Text 11"/>
          <p:cNvSpPr/>
          <p:nvPr/>
        </p:nvSpPr>
        <p:spPr>
          <a:xfrm>
            <a:off x="4121944" y="1463687"/>
            <a:ext cx="4379119" cy="766167"/>
          </a:xfrm>
          <a:prstGeom prst="rect">
            <a:avLst/>
          </a:prstGeom>
          <a:noFill/>
          <a:ln/>
        </p:spPr>
        <p:txBody>
          <a:bodyPr wrap="square" lIns="0" tIns="0" rIns="0" bIns="0" rtlCol="0" anchor="t"/>
          <a:lstStyle/>
          <a:p>
            <a:pPr marL="0" indent="0" algn="l">
              <a:lnSpc>
                <a:spcPts val="1509"/>
              </a:lnSpc>
              <a:buNone/>
            </a:pPr>
            <a:r>
              <a:rPr lang="en-US" sz="816" dirty="0">
                <a:solidFill>
                  <a:srgbClr val="1A2733"/>
                </a:solidFill>
                <a:latin typeface="Carlito" pitchFamily="34" charset="0"/>
                <a:ea typeface="Carlito" pitchFamily="34" charset="-122"/>
                <a:cs typeface="Carlito" pitchFamily="34" charset="-120"/>
              </a:rPr>
              <a:t>آموزش به بیمار عبارت است از استفاده از فرآیند آموزشی برای افراد، خانواده‌ها و سایر اشخاص در رابطه با چهار حوزه: پیشگیری، تشخیص، درمان و بازتوانی. این آموزش به بیماران و اطرافیان کمک می‌کند تا با تغییرات حاصله در وضعیت سلامتی‌شان سازگاری پیدا کنند و به سلامت مطلوب دست یابند.</a:t>
            </a:r>
            <a:endParaRPr lang="en-US" sz="816" dirty="0"/>
          </a:p>
        </p:txBody>
      </p:sp>
      <p:sp>
        <p:nvSpPr>
          <p:cNvPr id="14" name="Text 12"/>
          <p:cNvSpPr/>
          <p:nvPr/>
        </p:nvSpPr>
        <p:spPr>
          <a:xfrm>
            <a:off x="3957638" y="2451311"/>
            <a:ext cx="4729163" cy="1085404"/>
          </a:xfrm>
          <a:prstGeom prst="roundRect">
            <a:avLst>
              <a:gd name="adj" fmla="val 12286"/>
            </a:avLst>
          </a:prstGeom>
          <a:solidFill>
            <a:srgbClr val="D4F1ED"/>
          </a:solidFill>
          <a:ln/>
        </p:spPr>
        <p:txBody>
          <a:bodyPr wrap="square" rtlCol="0" anchor="ctr"/>
          <a:lstStyle/>
          <a:p>
            <a:pPr marL="0" indent="0">
              <a:buNone/>
            </a:pPr>
            <a:endParaRPr lang="en-US" dirty="0"/>
          </a:p>
        </p:txBody>
      </p:sp>
      <p:sp>
        <p:nvSpPr>
          <p:cNvPr id="15" name="Shape 13"/>
          <p:cNvSpPr/>
          <p:nvPr/>
        </p:nvSpPr>
        <p:spPr>
          <a:xfrm>
            <a:off x="8672513" y="2451311"/>
            <a:ext cx="0" cy="1085404"/>
          </a:xfrm>
          <a:prstGeom prst="line">
            <a:avLst/>
          </a:prstGeom>
          <a:noFill/>
          <a:ln w="28575">
            <a:solidFill>
              <a:srgbClr val="2A9D8F"/>
            </a:solidFill>
            <a:prstDash val="solid"/>
          </a:ln>
        </p:spPr>
      </p:sp>
      <p:sp>
        <p:nvSpPr>
          <p:cNvPr id="16" name="Text 14"/>
          <p:cNvSpPr/>
          <p:nvPr/>
        </p:nvSpPr>
        <p:spPr>
          <a:xfrm>
            <a:off x="8343900" y="2592400"/>
            <a:ext cx="157163" cy="157163"/>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7786688" y="2579898"/>
            <a:ext cx="714375" cy="196739"/>
          </a:xfrm>
          <a:prstGeom prst="rect">
            <a:avLst/>
          </a:prstGeom>
          <a:noFill/>
          <a:ln/>
        </p:spPr>
        <p:txBody>
          <a:bodyPr wrap="none" lIns="0" tIns="0" rIns="0" bIns="0" rtlCol="0" anchor="t"/>
          <a:lstStyle/>
          <a:p>
            <a:pPr marL="0" indent="0" algn="l">
              <a:lnSpc>
                <a:spcPts val="1434"/>
              </a:lnSpc>
              <a:buNone/>
            </a:pPr>
            <a:r>
              <a:rPr lang="en-US" sz="956" b="1" dirty="0">
                <a:solidFill>
                  <a:srgbClr val="2A9D8F"/>
                </a:solidFill>
                <a:latin typeface="Carlito" pitchFamily="34" charset="0"/>
                <a:ea typeface="Carlito" pitchFamily="34" charset="-122"/>
                <a:cs typeface="Carlito" pitchFamily="34" charset="-120"/>
              </a:rPr>
              <a:t>جمع‌بندی</a:t>
            </a:r>
            <a:endParaRPr lang="en-US" sz="956" dirty="0"/>
          </a:p>
        </p:txBody>
      </p:sp>
      <p:sp>
        <p:nvSpPr>
          <p:cNvPr id="18" name="Text 16"/>
          <p:cNvSpPr/>
          <p:nvPr/>
        </p:nvSpPr>
        <p:spPr>
          <a:xfrm>
            <a:off x="4114800" y="2833501"/>
            <a:ext cx="4386263" cy="574625"/>
          </a:xfrm>
          <a:prstGeom prst="rect">
            <a:avLst/>
          </a:prstGeom>
          <a:noFill/>
          <a:ln/>
        </p:spPr>
        <p:txBody>
          <a:bodyPr wrap="square" lIns="0" tIns="0" rIns="0" bIns="0" rtlCol="0" anchor="t"/>
          <a:lstStyle/>
          <a:p>
            <a:pPr marL="0" indent="0" algn="l">
              <a:lnSpc>
                <a:spcPts val="1509"/>
              </a:lnSpc>
              <a:buNone/>
            </a:pPr>
            <a:r>
              <a:rPr lang="en-US" sz="816" dirty="0">
                <a:solidFill>
                  <a:srgbClr val="1A2733"/>
                </a:solidFill>
                <a:latin typeface="Carlito" pitchFamily="34" charset="0"/>
                <a:ea typeface="Carlito" pitchFamily="34" charset="-122"/>
                <a:cs typeface="Carlito" pitchFamily="34" charset="-120"/>
              </a:rPr>
              <a:t>در واقع، آموزش به بیمار مداخله‌ای پرستاری است که بیمار و خانواده را برای مشارکت فعال در فرآیند درمان و مراقبت خود توانمند می‌سازد. این مداخله در چهار حوزه پیشگیرانه، تشخیصی، درمانی و توانبخشی کاربرد دارد.</a:t>
            </a:r>
            <a:endParaRPr lang="en-US" sz="816" dirty="0"/>
          </a:p>
        </p:txBody>
      </p:sp>
      <p:sp>
        <p:nvSpPr>
          <p:cNvPr id="19" name="Text 17"/>
          <p:cNvSpPr/>
          <p:nvPr/>
        </p:nvSpPr>
        <p:spPr>
          <a:xfrm>
            <a:off x="7872413" y="4457400"/>
            <a:ext cx="814388" cy="298852"/>
          </a:xfrm>
          <a:prstGeom prst="roundRect">
            <a:avLst>
              <a:gd name="adj" fmla="val 3184009"/>
            </a:avLst>
          </a:prstGeom>
          <a:solidFill>
            <a:srgbClr val="CDE7F0"/>
          </a:solidFill>
          <a:ln/>
        </p:spPr>
        <p:txBody>
          <a:bodyPr wrap="square" rtlCol="0" anchor="ctr"/>
          <a:lstStyle/>
          <a:p>
            <a:pPr marL="0" indent="0">
              <a:buNone/>
            </a:pPr>
            <a:endParaRPr lang="en-US" dirty="0"/>
          </a:p>
        </p:txBody>
      </p:sp>
      <p:sp>
        <p:nvSpPr>
          <p:cNvPr id="20" name="Text 18"/>
          <p:cNvSpPr/>
          <p:nvPr/>
        </p:nvSpPr>
        <p:spPr>
          <a:xfrm>
            <a:off x="7986713" y="4548783"/>
            <a:ext cx="700088" cy="121920"/>
          </a:xfrm>
          <a:prstGeom prst="rect">
            <a:avLst/>
          </a:prstGeom>
          <a:noFill/>
          <a:ln/>
        </p:spPr>
        <p:txBody>
          <a:bodyPr wrap="none" lIns="0" tIns="0" rIns="0" bIns="0" rtlCol="0" anchor="t"/>
          <a:lstStyle/>
          <a:p>
            <a:pPr marL="0" indent="0" algn="l">
              <a:lnSpc>
                <a:spcPts val="1139"/>
              </a:lnSpc>
              <a:buNone/>
            </a:pPr>
            <a:r>
              <a:rPr lang="en-US" sz="800" b="1" dirty="0">
                <a:solidFill>
                  <a:srgbClr val="1B4965"/>
                </a:solidFill>
                <a:latin typeface="Carlito" pitchFamily="34" charset="0"/>
                <a:ea typeface="Carlito" pitchFamily="34" charset="-122"/>
                <a:cs typeface="Carlito" pitchFamily="34" charset="-120"/>
              </a:rPr>
              <a:t>پیشگیری</a:t>
            </a:r>
            <a:endParaRPr lang="en-US" sz="800" dirty="0"/>
          </a:p>
        </p:txBody>
      </p:sp>
      <p:sp>
        <p:nvSpPr>
          <p:cNvPr id="21" name="Text 19"/>
          <p:cNvSpPr/>
          <p:nvPr/>
        </p:nvSpPr>
        <p:spPr>
          <a:xfrm>
            <a:off x="8443913" y="4542532"/>
            <a:ext cx="128588" cy="128588"/>
          </a:xfrm>
          <a:prstGeom prst="rect">
            <a:avLst/>
          </a:prstGeom>
          <a:noFill/>
          <a:ln/>
        </p:spPr>
        <p:txBody>
          <a:bodyPr wrap="none" lIns="0" tIns="0" rIns="0" bIns="0" rtlCol="0" anchor="ctr"/>
          <a:lstStyle/>
          <a:p>
            <a:pPr marL="0" indent="0" algn="ctr">
              <a:buNone/>
            </a:pPr>
            <a:r>
              <a:rPr lang="en-US" sz="1266" dirty="0">
                <a:solidFill>
                  <a:srgbClr val="1B4965"/>
                </a:solidFill>
                <a:latin typeface="Segoe UI Symbol" pitchFamily="34" charset="0"/>
                <a:ea typeface="Segoe UI Symbol" pitchFamily="34" charset="-122"/>
                <a:cs typeface="Segoe UI Symbol" pitchFamily="34" charset="-120"/>
              </a:rPr>
              <a:t>⛨</a:t>
            </a:r>
            <a:endParaRPr lang="en-US" sz="1266" dirty="0"/>
          </a:p>
        </p:txBody>
      </p:sp>
      <p:sp>
        <p:nvSpPr>
          <p:cNvPr id="22" name="Text 20"/>
          <p:cNvSpPr/>
          <p:nvPr/>
        </p:nvSpPr>
        <p:spPr>
          <a:xfrm>
            <a:off x="7115175" y="4457400"/>
            <a:ext cx="700088" cy="298852"/>
          </a:xfrm>
          <a:prstGeom prst="roundRect">
            <a:avLst>
              <a:gd name="adj" fmla="val 3184009"/>
            </a:avLst>
          </a:prstGeom>
          <a:solidFill>
            <a:srgbClr val="E8F4F1"/>
          </a:solidFill>
          <a:ln/>
        </p:spPr>
        <p:txBody>
          <a:bodyPr wrap="square" rtlCol="0" anchor="ctr"/>
          <a:lstStyle/>
          <a:p>
            <a:pPr marL="0" indent="0">
              <a:buNone/>
            </a:pPr>
            <a:endParaRPr lang="en-US" dirty="0"/>
          </a:p>
        </p:txBody>
      </p:sp>
      <p:sp>
        <p:nvSpPr>
          <p:cNvPr id="23" name="Text 21"/>
          <p:cNvSpPr/>
          <p:nvPr/>
        </p:nvSpPr>
        <p:spPr>
          <a:xfrm>
            <a:off x="7229475" y="4548783"/>
            <a:ext cx="614363" cy="121920"/>
          </a:xfrm>
          <a:prstGeom prst="rect">
            <a:avLst/>
          </a:prstGeom>
          <a:noFill/>
          <a:ln/>
        </p:spPr>
        <p:txBody>
          <a:bodyPr wrap="none" lIns="0" tIns="0" rIns="0" bIns="0" rtlCol="0" anchor="t"/>
          <a:lstStyle/>
          <a:p>
            <a:pPr marL="0" indent="0" algn="l">
              <a:lnSpc>
                <a:spcPts val="1139"/>
              </a:lnSpc>
              <a:buNone/>
            </a:pPr>
            <a:r>
              <a:rPr lang="en-US" sz="800" b="1" dirty="0">
                <a:solidFill>
                  <a:srgbClr val="2A9D8F"/>
                </a:solidFill>
                <a:latin typeface="Carlito" pitchFamily="34" charset="0"/>
                <a:ea typeface="Carlito" pitchFamily="34" charset="-122"/>
                <a:cs typeface="Carlito" pitchFamily="34" charset="-120"/>
              </a:rPr>
              <a:t>تشخیص</a:t>
            </a:r>
            <a:endParaRPr lang="en-US" sz="800" dirty="0"/>
          </a:p>
        </p:txBody>
      </p:sp>
      <p:sp>
        <p:nvSpPr>
          <p:cNvPr id="24" name="Text 22"/>
          <p:cNvSpPr/>
          <p:nvPr/>
        </p:nvSpPr>
        <p:spPr>
          <a:xfrm>
            <a:off x="7572375" y="4542532"/>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6357938" y="4457400"/>
            <a:ext cx="700088" cy="298852"/>
          </a:xfrm>
          <a:prstGeom prst="roundRect">
            <a:avLst>
              <a:gd name="adj" fmla="val 3184009"/>
            </a:avLst>
          </a:prstGeom>
          <a:solidFill>
            <a:srgbClr val="FCE4DD"/>
          </a:solidFill>
          <a:ln/>
        </p:spPr>
        <p:txBody>
          <a:bodyPr wrap="square" rtlCol="0" anchor="ctr"/>
          <a:lstStyle/>
          <a:p>
            <a:pPr marL="0" indent="0">
              <a:buNone/>
            </a:pPr>
            <a:endParaRPr lang="en-US" dirty="0"/>
          </a:p>
        </p:txBody>
      </p:sp>
      <p:sp>
        <p:nvSpPr>
          <p:cNvPr id="26" name="Text 24"/>
          <p:cNvSpPr/>
          <p:nvPr/>
        </p:nvSpPr>
        <p:spPr>
          <a:xfrm>
            <a:off x="6472238" y="4548783"/>
            <a:ext cx="614363" cy="121920"/>
          </a:xfrm>
          <a:prstGeom prst="rect">
            <a:avLst/>
          </a:prstGeom>
          <a:noFill/>
          <a:ln/>
        </p:spPr>
        <p:txBody>
          <a:bodyPr wrap="none" lIns="0" tIns="0" rIns="0" bIns="0" rtlCol="0" anchor="t"/>
          <a:lstStyle/>
          <a:p>
            <a:pPr marL="0" indent="0" algn="l">
              <a:lnSpc>
                <a:spcPts val="1139"/>
              </a:lnSpc>
              <a:buNone/>
            </a:pPr>
            <a:r>
              <a:rPr lang="en-US" sz="800" b="1" dirty="0">
                <a:solidFill>
                  <a:srgbClr val="E76F51"/>
                </a:solidFill>
                <a:latin typeface="Carlito" pitchFamily="34" charset="0"/>
                <a:ea typeface="Carlito" pitchFamily="34" charset="-122"/>
                <a:cs typeface="Carlito" pitchFamily="34" charset="-120"/>
              </a:rPr>
              <a:t>درمان</a:t>
            </a:r>
            <a:endParaRPr lang="en-US" sz="800" dirty="0"/>
          </a:p>
        </p:txBody>
      </p:sp>
      <p:sp>
        <p:nvSpPr>
          <p:cNvPr id="27" name="Text 25"/>
          <p:cNvSpPr/>
          <p:nvPr/>
        </p:nvSpPr>
        <p:spPr>
          <a:xfrm>
            <a:off x="6815138" y="4542532"/>
            <a:ext cx="128588" cy="128588"/>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28" name="Text 26"/>
          <p:cNvSpPr/>
          <p:nvPr/>
        </p:nvSpPr>
        <p:spPr>
          <a:xfrm>
            <a:off x="5429250" y="4457400"/>
            <a:ext cx="871538" cy="298852"/>
          </a:xfrm>
          <a:prstGeom prst="roundRect">
            <a:avLst>
              <a:gd name="adj" fmla="val 3184009"/>
            </a:avLst>
          </a:prstGeom>
          <a:solidFill>
            <a:srgbClr val="CDE7F0"/>
          </a:solidFill>
          <a:ln/>
        </p:spPr>
        <p:txBody>
          <a:bodyPr wrap="square" rtlCol="0" anchor="ctr"/>
          <a:lstStyle/>
          <a:p>
            <a:pPr marL="0" indent="0">
              <a:buNone/>
            </a:pPr>
            <a:endParaRPr lang="en-US" dirty="0"/>
          </a:p>
        </p:txBody>
      </p:sp>
      <p:sp>
        <p:nvSpPr>
          <p:cNvPr id="29" name="Text 27"/>
          <p:cNvSpPr/>
          <p:nvPr/>
        </p:nvSpPr>
        <p:spPr>
          <a:xfrm>
            <a:off x="5543550" y="4548783"/>
            <a:ext cx="785813" cy="121920"/>
          </a:xfrm>
          <a:prstGeom prst="rect">
            <a:avLst/>
          </a:prstGeom>
          <a:noFill/>
          <a:ln/>
        </p:spPr>
        <p:txBody>
          <a:bodyPr wrap="none" lIns="0" tIns="0" rIns="0" bIns="0" rtlCol="0" anchor="t"/>
          <a:lstStyle/>
          <a:p>
            <a:pPr marL="0" indent="0" algn="l">
              <a:lnSpc>
                <a:spcPts val="1139"/>
              </a:lnSpc>
              <a:buNone/>
            </a:pPr>
            <a:r>
              <a:rPr lang="en-US" sz="800" b="1" dirty="0">
                <a:solidFill>
                  <a:srgbClr val="1B4965"/>
                </a:solidFill>
                <a:latin typeface="Carlito" pitchFamily="34" charset="0"/>
                <a:ea typeface="Carlito" pitchFamily="34" charset="-122"/>
                <a:cs typeface="Carlito" pitchFamily="34" charset="-120"/>
              </a:rPr>
              <a:t>بازتوانی</a:t>
            </a:r>
            <a:endParaRPr lang="en-US" sz="800" dirty="0"/>
          </a:p>
        </p:txBody>
      </p:sp>
      <p:sp>
        <p:nvSpPr>
          <p:cNvPr id="30" name="Text 28"/>
          <p:cNvSpPr/>
          <p:nvPr/>
        </p:nvSpPr>
        <p:spPr>
          <a:xfrm>
            <a:off x="6057900" y="4542532"/>
            <a:ext cx="128588" cy="128588"/>
          </a:xfrm>
          <a:prstGeom prst="rect">
            <a:avLst/>
          </a:prstGeom>
          <a:noFill/>
          <a:ln/>
        </p:spPr>
        <p:txBody>
          <a:bodyPr wrap="none" lIns="0" tIns="0" rIns="0" bIns="0" rtlCol="0" anchor="ctr"/>
          <a:lstStyle/>
          <a:p>
            <a:pPr marL="0" indent="0" algn="ctr">
              <a:buNone/>
            </a:pPr>
            <a:r>
              <a:rPr lang="en-US" sz="1266" dirty="0">
                <a:solidFill>
                  <a:srgbClr val="1B4965"/>
                </a:solidFill>
                <a:latin typeface="Segoe UI Symbol" pitchFamily="34" charset="0"/>
                <a:ea typeface="Segoe UI Symbol" pitchFamily="34" charset="-122"/>
                <a:cs typeface="Segoe UI Symbol" pitchFamily="34" charset="-120"/>
              </a:rPr>
              <a:t>＋</a:t>
            </a:r>
            <a:endParaRPr lang="en-US" sz="1266" dirty="0"/>
          </a:p>
        </p:txBody>
      </p:sp>
      <p:pic>
        <p:nvPicPr>
          <p:cNvPr id="31" name="Image 0" descr="/tmp/h2p-fit-1791663263694-ypdrkj.png"/>
          <p:cNvPicPr>
            <a:picLocks noChangeAspect="1"/>
          </p:cNvPicPr>
          <p:nvPr/>
        </p:nvPicPr>
        <p:blipFill>
          <a:blip r:embed="rId3"/>
          <a:stretch>
            <a:fillRect/>
          </a:stretch>
        </p:blipFill>
        <p:spPr>
          <a:xfrm>
            <a:off x="457200" y="1074353"/>
            <a:ext cx="3328988" cy="3669097"/>
          </a:xfrm>
          <a:prstGeom prst="rect">
            <a:avLst/>
          </a:prstGeom>
          <a:effectLst>
            <a:outerShdw blurRad="304800" dist="133350" dir="5400000" algn="bl" rotWithShape="0">
              <a:srgbClr val="0F2A3D">
                <a:alpha val="18000"/>
              </a:srgbClr>
            </a:outerShdw>
          </a:effectLst>
        </p:spPr>
      </p:pic>
      <p:sp>
        <p:nvSpPr>
          <p:cNvPr id="32" name="Text 29"/>
          <p:cNvSpPr/>
          <p:nvPr/>
        </p:nvSpPr>
        <p:spPr>
          <a:xfrm>
            <a:off x="2632159" y="4373461"/>
            <a:ext cx="1062588" cy="268491"/>
          </a:xfrm>
          <a:prstGeom prst="roundRect">
            <a:avLst>
              <a:gd name="adj" fmla="val 3544057"/>
            </a:avLst>
          </a:prstGeom>
          <a:solidFill>
            <a:srgbClr val="0F2A3D">
              <a:alpha val="88000"/>
            </a:srgbClr>
          </a:solidFill>
          <a:ln/>
        </p:spPr>
        <p:txBody>
          <a:bodyPr wrap="square" rtlCol="0" anchor="ctr"/>
          <a:lstStyle/>
          <a:p>
            <a:pPr marL="0" indent="0">
              <a:buNone/>
            </a:pPr>
            <a:endParaRPr lang="en-US" dirty="0"/>
          </a:p>
        </p:txBody>
      </p:sp>
      <p:sp>
        <p:nvSpPr>
          <p:cNvPr id="33" name="Text 30"/>
          <p:cNvSpPr/>
          <p:nvPr/>
        </p:nvSpPr>
        <p:spPr>
          <a:xfrm>
            <a:off x="2755032" y="4457700"/>
            <a:ext cx="673968" cy="128016"/>
          </a:xfrm>
          <a:prstGeom prst="rect">
            <a:avLst/>
          </a:prstGeom>
          <a:noFill/>
          <a:ln/>
        </p:spPr>
        <p:txBody>
          <a:bodyPr wrap="none" lIns="0" tIns="0" rIns="0" bIns="0" rtlCol="0" anchor="t"/>
          <a:lstStyle/>
          <a:p>
            <a:pPr marL="0" indent="0" algn="l">
              <a:lnSpc>
                <a:spcPts val="1013"/>
              </a:lnSpc>
              <a:buNone/>
            </a:pPr>
            <a:r>
              <a:rPr lang="en-US" sz="675" dirty="0">
                <a:solidFill>
                  <a:srgbClr val="FFFFFF"/>
                </a:solidFill>
                <a:latin typeface="Carlito" pitchFamily="34" charset="0"/>
                <a:ea typeface="Carlito" pitchFamily="34" charset="-122"/>
                <a:cs typeface="Carlito" pitchFamily="34" charset="-120"/>
              </a:rPr>
              <a:t>مداخله پرستاری</a:t>
            </a:r>
            <a:endParaRPr lang="en-US" sz="675" dirty="0"/>
          </a:p>
        </p:txBody>
      </p:sp>
      <p:sp>
        <p:nvSpPr>
          <p:cNvPr id="34" name="Text 31"/>
          <p:cNvSpPr/>
          <p:nvPr/>
        </p:nvSpPr>
        <p:spPr>
          <a:xfrm>
            <a:off x="3471863" y="4457700"/>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2907395" y="400050"/>
            <a:ext cx="5779405" cy="359978"/>
          </a:xfrm>
          <a:prstGeom prst="rect">
            <a:avLst/>
          </a:prstGeom>
          <a:noFill/>
          <a:ln/>
        </p:spPr>
        <p:txBody>
          <a:bodyPr wrap="squar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فرآیند آموزش به بیمار: مدل ۵ مرحله‌ای</a:t>
            </a:r>
            <a:endParaRPr lang="en-US" sz="2363" dirty="0"/>
          </a:p>
        </p:txBody>
      </p:sp>
      <p:sp>
        <p:nvSpPr>
          <p:cNvPr id="4" name="Text 2"/>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5" name="Text 3"/>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۱۸ / ۲۲</a:t>
            </a:r>
            <a:endParaRPr lang="en-US" sz="1013" dirty="0"/>
          </a:p>
        </p:txBody>
      </p:sp>
      <p:sp>
        <p:nvSpPr>
          <p:cNvPr id="6" name="Text 4"/>
          <p:cNvSpPr/>
          <p:nvPr/>
        </p:nvSpPr>
        <p:spPr>
          <a:xfrm>
            <a:off x="828675" y="1074353"/>
            <a:ext cx="7858125" cy="572153"/>
          </a:xfrm>
          <a:prstGeom prst="rect">
            <a:avLst/>
          </a:prstGeom>
          <a:noFill/>
          <a:ln/>
        </p:spPr>
        <p:txBody>
          <a:bodyPr wrap="square" lIns="128588" tIns="85725" rIns="128588" bIns="85725" rtlCol="0" anchor="t"/>
          <a:lstStyle/>
          <a:p>
            <a:pPr marL="0" indent="0" algn="l">
              <a:lnSpc>
                <a:spcPts val="1378"/>
              </a:lnSpc>
              <a:buNone/>
            </a:pPr>
            <a:r>
              <a:rPr lang="en-US" sz="800" dirty="0">
                <a:solidFill>
                  <a:srgbClr val="5A6B7B"/>
                </a:solidFill>
                <a:latin typeface="Carlito" pitchFamily="34" charset="0"/>
                <a:ea typeface="Carlito" pitchFamily="34" charset="-122"/>
                <a:cs typeface="Carlito" pitchFamily="34" charset="-120"/>
              </a:rPr>
              <a:t>آموزش به بیمار با بررسی نیاز بیمار و آمادگی وی آغاز شده، با طراحی فعالیت‌هایی که تغییر رفتاری و شناختی ایجاد می‌کنند ادامه می‌یابد و به ارزشیابی ختم می‌شود. این چرخه در صورت نیاز تکرار می‌شود.</a:t>
            </a:r>
            <a:endParaRPr lang="en-US" sz="800" dirty="0"/>
          </a:p>
        </p:txBody>
      </p:sp>
      <p:sp>
        <p:nvSpPr>
          <p:cNvPr id="7" name="Text 5"/>
          <p:cNvSpPr/>
          <p:nvPr/>
        </p:nvSpPr>
        <p:spPr>
          <a:xfrm>
            <a:off x="460772" y="1685144"/>
            <a:ext cx="7679531" cy="571612"/>
          </a:xfrm>
          <a:prstGeom prst="roundRect">
            <a:avLst>
              <a:gd name="adj" fmla="val 23329"/>
            </a:avLst>
          </a:prstGeom>
          <a:solidFill>
            <a:srgbClr val="FFFFFF"/>
          </a:solidFill>
          <a:ln w="7144">
            <a:solidFill>
              <a:srgbClr val="D8E3EC"/>
            </a:solidFill>
            <a:prstDash val="solid"/>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8" name="Text 6"/>
          <p:cNvSpPr/>
          <p:nvPr/>
        </p:nvSpPr>
        <p:spPr>
          <a:xfrm>
            <a:off x="7665244" y="1813731"/>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9" name="Text 7"/>
          <p:cNvSpPr/>
          <p:nvPr/>
        </p:nvSpPr>
        <p:spPr>
          <a:xfrm>
            <a:off x="7687747" y="1836234"/>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10" name="Text 8"/>
          <p:cNvSpPr/>
          <p:nvPr/>
        </p:nvSpPr>
        <p:spPr>
          <a:xfrm>
            <a:off x="5591882" y="1796765"/>
            <a:ext cx="464790" cy="160734"/>
          </a:xfrm>
          <a:prstGeom prst="roundRect">
            <a:avLst>
              <a:gd name="adj" fmla="val 5920014"/>
            </a:avLst>
          </a:prstGeom>
          <a:solidFill>
            <a:srgbClr val="D4F1ED"/>
          </a:solidFill>
          <a:ln/>
        </p:spPr>
        <p:txBody>
          <a:bodyPr wrap="square" rtlCol="0" anchor="ctr"/>
          <a:lstStyle/>
          <a:p>
            <a:pPr marL="0" indent="0">
              <a:buNone/>
            </a:pPr>
            <a:endParaRPr lang="en-US" dirty="0"/>
          </a:p>
        </p:txBody>
      </p:sp>
      <p:sp>
        <p:nvSpPr>
          <p:cNvPr id="11" name="Text 9"/>
          <p:cNvSpPr/>
          <p:nvPr/>
        </p:nvSpPr>
        <p:spPr>
          <a:xfrm>
            <a:off x="6128110" y="1810159"/>
            <a:ext cx="1778543" cy="138875"/>
          </a:xfrm>
          <a:prstGeom prst="rect">
            <a:avLst/>
          </a:prstGeom>
          <a:noFill/>
          <a:ln/>
        </p:spPr>
        <p:txBody>
          <a:bodyPr wrap="none" lIns="0" tIns="0" rIns="0" bIns="0" rtlCol="0" anchor="t"/>
          <a:lstStyle/>
          <a:p>
            <a:pPr marL="0" indent="0" algn="l">
              <a:lnSpc>
                <a:spcPts val="1392"/>
              </a:lnSpc>
              <a:buNone/>
            </a:pPr>
            <a:r>
              <a:rPr lang="en-US" sz="928" b="1" dirty="0">
                <a:solidFill>
                  <a:srgbClr val="1B4965"/>
                </a:solidFill>
                <a:latin typeface="Carlito" pitchFamily="34" charset="0"/>
                <a:ea typeface="Carlito" pitchFamily="34" charset="-122"/>
                <a:cs typeface="Carlito" pitchFamily="34" charset="-120"/>
              </a:rPr>
              <a:t>بررسی نیازهای یادگیری</a:t>
            </a:r>
            <a:endParaRPr lang="en-US" sz="928" dirty="0"/>
          </a:p>
        </p:txBody>
      </p:sp>
      <p:sp>
        <p:nvSpPr>
          <p:cNvPr id="12" name="Text 10"/>
          <p:cNvSpPr/>
          <p:nvPr/>
        </p:nvSpPr>
        <p:spPr>
          <a:xfrm>
            <a:off x="5573290" y="1787121"/>
            <a:ext cx="501973"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13" name="Text 11"/>
          <p:cNvSpPr/>
          <p:nvPr/>
        </p:nvSpPr>
        <p:spPr>
          <a:xfrm>
            <a:off x="5591882" y="1796765"/>
            <a:ext cx="464790"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اول</a:t>
            </a:r>
            <a:endParaRPr lang="en-US" sz="800" dirty="0"/>
          </a:p>
        </p:txBody>
      </p:sp>
      <p:sp>
        <p:nvSpPr>
          <p:cNvPr id="14" name="Text 12"/>
          <p:cNvSpPr/>
          <p:nvPr/>
        </p:nvSpPr>
        <p:spPr>
          <a:xfrm>
            <a:off x="621506" y="1994111"/>
            <a:ext cx="6929438" cy="159060"/>
          </a:xfrm>
          <a:prstGeom prst="rect">
            <a:avLst/>
          </a:prstGeom>
          <a:noFill/>
          <a:ln/>
        </p:spPr>
        <p:txBody>
          <a:bodyPr wrap="square" lIns="0" tIns="0" rIns="0" bIns="0" rtlCol="0" anchor="t"/>
          <a:lstStyle/>
          <a:p>
            <a:pPr marL="0" indent="0" algn="l">
              <a:lnSpc>
                <a:spcPts val="1253"/>
              </a:lnSpc>
              <a:buNone/>
            </a:pPr>
            <a:r>
              <a:rPr lang="en-US" sz="800" dirty="0">
                <a:solidFill>
                  <a:srgbClr val="5A6B7B"/>
                </a:solidFill>
                <a:latin typeface="Carlito" pitchFamily="34" charset="0"/>
                <a:ea typeface="Carlito" pitchFamily="34" charset="-122"/>
                <a:cs typeface="Carlito" pitchFamily="34" charset="-120"/>
              </a:rPr>
              <a:t>شناسایی شکاف بین دانش/مهارت فعلی و مورد نیاز. از طریق سؤال مستقیم، مشاهده رفتار بیمار و ارتباط در حین مداخله.</a:t>
            </a:r>
            <a:endParaRPr lang="en-US" sz="800" dirty="0"/>
          </a:p>
        </p:txBody>
      </p:sp>
      <p:sp>
        <p:nvSpPr>
          <p:cNvPr id="15" name="Text 13"/>
          <p:cNvSpPr/>
          <p:nvPr/>
        </p:nvSpPr>
        <p:spPr>
          <a:xfrm>
            <a:off x="460772" y="2335337"/>
            <a:ext cx="7679531" cy="571612"/>
          </a:xfrm>
          <a:prstGeom prst="roundRect">
            <a:avLst>
              <a:gd name="adj" fmla="val 23329"/>
            </a:avLst>
          </a:prstGeom>
          <a:solidFill>
            <a:srgbClr val="FFFFFF"/>
          </a:solidFill>
          <a:ln w="7144">
            <a:solidFill>
              <a:srgbClr val="D8E3EC"/>
            </a:solidFill>
            <a:prstDash val="solid"/>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16" name="Text 14"/>
          <p:cNvSpPr/>
          <p:nvPr/>
        </p:nvSpPr>
        <p:spPr>
          <a:xfrm>
            <a:off x="7665244" y="2463924"/>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17" name="Text 15"/>
          <p:cNvSpPr/>
          <p:nvPr/>
        </p:nvSpPr>
        <p:spPr>
          <a:xfrm>
            <a:off x="7687747" y="2486427"/>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18" name="Text 16"/>
          <p:cNvSpPr/>
          <p:nvPr/>
        </p:nvSpPr>
        <p:spPr>
          <a:xfrm>
            <a:off x="6124649" y="2446958"/>
            <a:ext cx="464790" cy="160734"/>
          </a:xfrm>
          <a:prstGeom prst="roundRect">
            <a:avLst>
              <a:gd name="adj" fmla="val 5920014"/>
            </a:avLst>
          </a:prstGeom>
          <a:solidFill>
            <a:srgbClr val="D4F1ED"/>
          </a:solidFill>
          <a:ln/>
        </p:spPr>
        <p:txBody>
          <a:bodyPr wrap="square" rtlCol="0" anchor="ctr"/>
          <a:lstStyle/>
          <a:p>
            <a:pPr marL="0" indent="0">
              <a:buNone/>
            </a:pPr>
            <a:endParaRPr lang="en-US" dirty="0"/>
          </a:p>
        </p:txBody>
      </p:sp>
      <p:sp>
        <p:nvSpPr>
          <p:cNvPr id="19" name="Text 17"/>
          <p:cNvSpPr/>
          <p:nvPr/>
        </p:nvSpPr>
        <p:spPr>
          <a:xfrm>
            <a:off x="6660877" y="2460352"/>
            <a:ext cx="1112583" cy="138875"/>
          </a:xfrm>
          <a:prstGeom prst="rect">
            <a:avLst/>
          </a:prstGeom>
          <a:noFill/>
          <a:ln/>
        </p:spPr>
        <p:txBody>
          <a:bodyPr wrap="none" lIns="0" tIns="0" rIns="0" bIns="0" rtlCol="0" anchor="t"/>
          <a:lstStyle/>
          <a:p>
            <a:pPr marL="0" indent="0" algn="l">
              <a:lnSpc>
                <a:spcPts val="1392"/>
              </a:lnSpc>
              <a:buNone/>
            </a:pPr>
            <a:r>
              <a:rPr lang="en-US" sz="928" b="1" dirty="0">
                <a:solidFill>
                  <a:srgbClr val="1B4965"/>
                </a:solidFill>
                <a:latin typeface="Carlito" pitchFamily="34" charset="0"/>
                <a:ea typeface="Carlito" pitchFamily="34" charset="-122"/>
                <a:cs typeface="Carlito" pitchFamily="34" charset="-120"/>
              </a:rPr>
              <a:t>بررسی انگیزشی</a:t>
            </a:r>
            <a:endParaRPr lang="en-US" sz="928" dirty="0"/>
          </a:p>
        </p:txBody>
      </p:sp>
      <p:sp>
        <p:nvSpPr>
          <p:cNvPr id="20" name="Text 18"/>
          <p:cNvSpPr/>
          <p:nvPr/>
        </p:nvSpPr>
        <p:spPr>
          <a:xfrm>
            <a:off x="6106058" y="2437314"/>
            <a:ext cx="501973"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21" name="Text 19"/>
          <p:cNvSpPr/>
          <p:nvPr/>
        </p:nvSpPr>
        <p:spPr>
          <a:xfrm>
            <a:off x="6124649" y="2446958"/>
            <a:ext cx="464790"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دوم</a:t>
            </a:r>
            <a:endParaRPr lang="en-US" sz="800" dirty="0"/>
          </a:p>
        </p:txBody>
      </p:sp>
      <p:sp>
        <p:nvSpPr>
          <p:cNvPr id="22" name="Text 20"/>
          <p:cNvSpPr/>
          <p:nvPr/>
        </p:nvSpPr>
        <p:spPr>
          <a:xfrm>
            <a:off x="621506" y="2644304"/>
            <a:ext cx="6929438" cy="159060"/>
          </a:xfrm>
          <a:prstGeom prst="rect">
            <a:avLst/>
          </a:prstGeom>
          <a:noFill/>
          <a:ln/>
        </p:spPr>
        <p:txBody>
          <a:bodyPr wrap="square" lIns="0" tIns="0" rIns="0" bIns="0" rtlCol="0" anchor="t"/>
          <a:lstStyle/>
          <a:p>
            <a:pPr marL="0" indent="0" algn="l">
              <a:lnSpc>
                <a:spcPts val="1253"/>
              </a:lnSpc>
              <a:buNone/>
            </a:pPr>
            <a:r>
              <a:rPr lang="en-US" sz="800" dirty="0">
                <a:solidFill>
                  <a:srgbClr val="5A6B7B"/>
                </a:solidFill>
                <a:latin typeface="Carlito" pitchFamily="34" charset="0"/>
                <a:ea typeface="Carlito" pitchFamily="34" charset="-122"/>
                <a:cs typeface="Carlito" pitchFamily="34" charset="-120"/>
              </a:rPr>
              <a:t>ارزیابی آمادگی روحی، عاطفی و جسمی بیمار. بدون انگیزه، آموزش موفق نخواهد بود.</a:t>
            </a:r>
            <a:endParaRPr lang="en-US" sz="800" dirty="0"/>
          </a:p>
        </p:txBody>
      </p:sp>
      <p:sp>
        <p:nvSpPr>
          <p:cNvPr id="23" name="Text 21"/>
          <p:cNvSpPr/>
          <p:nvPr/>
        </p:nvSpPr>
        <p:spPr>
          <a:xfrm>
            <a:off x="460772" y="2985529"/>
            <a:ext cx="7679531" cy="571612"/>
          </a:xfrm>
          <a:prstGeom prst="roundRect">
            <a:avLst>
              <a:gd name="adj" fmla="val 23329"/>
            </a:avLst>
          </a:prstGeom>
          <a:solidFill>
            <a:srgbClr val="FFFFFF"/>
          </a:solidFill>
          <a:ln w="7144">
            <a:solidFill>
              <a:srgbClr val="D8E3EC"/>
            </a:solidFill>
            <a:prstDash val="solid"/>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24" name="Text 22"/>
          <p:cNvSpPr/>
          <p:nvPr/>
        </p:nvSpPr>
        <p:spPr>
          <a:xfrm>
            <a:off x="7665244" y="3114117"/>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25" name="Text 23"/>
          <p:cNvSpPr/>
          <p:nvPr/>
        </p:nvSpPr>
        <p:spPr>
          <a:xfrm>
            <a:off x="7687747" y="3136620"/>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26" name="Text 24"/>
          <p:cNvSpPr/>
          <p:nvPr/>
        </p:nvSpPr>
        <p:spPr>
          <a:xfrm>
            <a:off x="5773378" y="3097150"/>
            <a:ext cx="464790" cy="160734"/>
          </a:xfrm>
          <a:prstGeom prst="roundRect">
            <a:avLst>
              <a:gd name="adj" fmla="val 5920014"/>
            </a:avLst>
          </a:prstGeom>
          <a:solidFill>
            <a:srgbClr val="D4F1ED"/>
          </a:solidFill>
          <a:ln/>
        </p:spPr>
        <p:txBody>
          <a:bodyPr wrap="square" rtlCol="0" anchor="ctr"/>
          <a:lstStyle/>
          <a:p>
            <a:pPr marL="0" indent="0">
              <a:buNone/>
            </a:pPr>
            <a:endParaRPr lang="en-US" dirty="0"/>
          </a:p>
        </p:txBody>
      </p:sp>
      <p:sp>
        <p:nvSpPr>
          <p:cNvPr id="27" name="Text 25"/>
          <p:cNvSpPr/>
          <p:nvPr/>
        </p:nvSpPr>
        <p:spPr>
          <a:xfrm>
            <a:off x="6309606" y="3110545"/>
            <a:ext cx="1551673" cy="138875"/>
          </a:xfrm>
          <a:prstGeom prst="rect">
            <a:avLst/>
          </a:prstGeom>
          <a:noFill/>
          <a:ln/>
        </p:spPr>
        <p:txBody>
          <a:bodyPr wrap="none" lIns="0" tIns="0" rIns="0" bIns="0" rtlCol="0" anchor="t"/>
          <a:lstStyle/>
          <a:p>
            <a:pPr marL="0" indent="0" algn="l">
              <a:lnSpc>
                <a:spcPts val="1392"/>
              </a:lnSpc>
              <a:buNone/>
            </a:pPr>
            <a:r>
              <a:rPr lang="en-US" sz="928" b="1" dirty="0">
                <a:solidFill>
                  <a:srgbClr val="1B4965"/>
                </a:solidFill>
                <a:latin typeface="Carlito" pitchFamily="34" charset="0"/>
                <a:ea typeface="Carlito" pitchFamily="34" charset="-122"/>
                <a:cs typeface="Carlito" pitchFamily="34" charset="-120"/>
              </a:rPr>
              <a:t>تدوین اهداف و تشخیص</a:t>
            </a:r>
            <a:endParaRPr lang="en-US" sz="928" dirty="0"/>
          </a:p>
        </p:txBody>
      </p:sp>
      <p:sp>
        <p:nvSpPr>
          <p:cNvPr id="28" name="Text 26"/>
          <p:cNvSpPr/>
          <p:nvPr/>
        </p:nvSpPr>
        <p:spPr>
          <a:xfrm>
            <a:off x="5754786" y="3087506"/>
            <a:ext cx="501973"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29" name="Text 27"/>
          <p:cNvSpPr/>
          <p:nvPr/>
        </p:nvSpPr>
        <p:spPr>
          <a:xfrm>
            <a:off x="5773378" y="3097150"/>
            <a:ext cx="464790"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سوم</a:t>
            </a:r>
            <a:endParaRPr lang="en-US" sz="800" dirty="0"/>
          </a:p>
        </p:txBody>
      </p:sp>
      <p:sp>
        <p:nvSpPr>
          <p:cNvPr id="30" name="Text 28"/>
          <p:cNvSpPr/>
          <p:nvPr/>
        </p:nvSpPr>
        <p:spPr>
          <a:xfrm>
            <a:off x="621506" y="3294497"/>
            <a:ext cx="6929438" cy="159060"/>
          </a:xfrm>
          <a:prstGeom prst="rect">
            <a:avLst/>
          </a:prstGeom>
          <a:noFill/>
          <a:ln/>
        </p:spPr>
        <p:txBody>
          <a:bodyPr wrap="square" lIns="0" tIns="0" rIns="0" bIns="0" rtlCol="0" anchor="t"/>
          <a:lstStyle/>
          <a:p>
            <a:pPr marL="0" indent="0" algn="l">
              <a:lnSpc>
                <a:spcPts val="1253"/>
              </a:lnSpc>
              <a:buNone/>
            </a:pPr>
            <a:r>
              <a:rPr lang="en-US" sz="800" dirty="0">
                <a:solidFill>
                  <a:srgbClr val="5A6B7B"/>
                </a:solidFill>
                <a:latin typeface="Carlito" pitchFamily="34" charset="0"/>
                <a:ea typeface="Carlito" pitchFamily="34" charset="-122"/>
                <a:cs typeface="Carlito" pitchFamily="34" charset="-120"/>
              </a:rPr>
              <a:t>بیان آنچه بیمار باید یاد بگیرد به صورت اهداف واقع‌بینانه و قابل دستیابی.</a:t>
            </a:r>
            <a:endParaRPr lang="en-US" sz="800" dirty="0"/>
          </a:p>
        </p:txBody>
      </p:sp>
      <p:sp>
        <p:nvSpPr>
          <p:cNvPr id="31" name="Text 29"/>
          <p:cNvSpPr/>
          <p:nvPr/>
        </p:nvSpPr>
        <p:spPr>
          <a:xfrm>
            <a:off x="460772" y="3635722"/>
            <a:ext cx="7679531" cy="571612"/>
          </a:xfrm>
          <a:prstGeom prst="roundRect">
            <a:avLst>
              <a:gd name="adj" fmla="val 23329"/>
            </a:avLst>
          </a:prstGeom>
          <a:solidFill>
            <a:srgbClr val="FFFFFF"/>
          </a:solidFill>
          <a:ln w="7144">
            <a:solidFill>
              <a:srgbClr val="D8E3EC"/>
            </a:solidFill>
            <a:prstDash val="solid"/>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32" name="Text 30"/>
          <p:cNvSpPr/>
          <p:nvPr/>
        </p:nvSpPr>
        <p:spPr>
          <a:xfrm>
            <a:off x="7665244" y="3764310"/>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33" name="Text 31"/>
          <p:cNvSpPr/>
          <p:nvPr/>
        </p:nvSpPr>
        <p:spPr>
          <a:xfrm>
            <a:off x="7687747" y="3786813"/>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34" name="Text 32"/>
          <p:cNvSpPr/>
          <p:nvPr/>
        </p:nvSpPr>
        <p:spPr>
          <a:xfrm>
            <a:off x="5771034" y="3747343"/>
            <a:ext cx="564803" cy="160734"/>
          </a:xfrm>
          <a:prstGeom prst="roundRect">
            <a:avLst>
              <a:gd name="adj" fmla="val 5920014"/>
            </a:avLst>
          </a:prstGeom>
          <a:solidFill>
            <a:srgbClr val="D4F1ED"/>
          </a:solidFill>
          <a:ln/>
        </p:spPr>
        <p:txBody>
          <a:bodyPr wrap="square" rtlCol="0" anchor="ctr"/>
          <a:lstStyle/>
          <a:p>
            <a:pPr marL="0" indent="0">
              <a:buNone/>
            </a:pPr>
            <a:endParaRPr lang="en-US" dirty="0"/>
          </a:p>
        </p:txBody>
      </p:sp>
      <p:sp>
        <p:nvSpPr>
          <p:cNvPr id="35" name="Text 33"/>
          <p:cNvSpPr/>
          <p:nvPr/>
        </p:nvSpPr>
        <p:spPr>
          <a:xfrm>
            <a:off x="6407274" y="3760738"/>
            <a:ext cx="1429587" cy="138875"/>
          </a:xfrm>
          <a:prstGeom prst="rect">
            <a:avLst/>
          </a:prstGeom>
          <a:noFill/>
          <a:ln/>
        </p:spPr>
        <p:txBody>
          <a:bodyPr wrap="none" lIns="0" tIns="0" rIns="0" bIns="0" rtlCol="0" anchor="t"/>
          <a:lstStyle/>
          <a:p>
            <a:pPr marL="0" indent="0" algn="l">
              <a:lnSpc>
                <a:spcPts val="1392"/>
              </a:lnSpc>
              <a:buNone/>
            </a:pPr>
            <a:r>
              <a:rPr lang="en-US" sz="928" b="1" dirty="0">
                <a:solidFill>
                  <a:srgbClr val="1B4965"/>
                </a:solidFill>
                <a:latin typeface="Carlito" pitchFamily="34" charset="0"/>
                <a:ea typeface="Carlito" pitchFamily="34" charset="-122"/>
                <a:cs typeface="Carlito" pitchFamily="34" charset="-120"/>
              </a:rPr>
              <a:t>روش تدریس-یادگیری</a:t>
            </a:r>
            <a:endParaRPr lang="en-US" sz="928" dirty="0"/>
          </a:p>
        </p:txBody>
      </p:sp>
      <p:sp>
        <p:nvSpPr>
          <p:cNvPr id="36" name="Text 34"/>
          <p:cNvSpPr/>
          <p:nvPr/>
        </p:nvSpPr>
        <p:spPr>
          <a:xfrm>
            <a:off x="5748442" y="3737699"/>
            <a:ext cx="609987"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37" name="Text 35"/>
          <p:cNvSpPr/>
          <p:nvPr/>
        </p:nvSpPr>
        <p:spPr>
          <a:xfrm>
            <a:off x="5771034" y="3747343"/>
            <a:ext cx="564803"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چهارم</a:t>
            </a:r>
            <a:endParaRPr lang="en-US" sz="800" dirty="0"/>
          </a:p>
        </p:txBody>
      </p:sp>
      <p:sp>
        <p:nvSpPr>
          <p:cNvPr id="38" name="Text 36"/>
          <p:cNvSpPr/>
          <p:nvPr/>
        </p:nvSpPr>
        <p:spPr>
          <a:xfrm>
            <a:off x="621506" y="3944689"/>
            <a:ext cx="6929438" cy="159060"/>
          </a:xfrm>
          <a:prstGeom prst="rect">
            <a:avLst/>
          </a:prstGeom>
          <a:noFill/>
          <a:ln/>
        </p:spPr>
        <p:txBody>
          <a:bodyPr wrap="square" lIns="0" tIns="0" rIns="0" bIns="0" rtlCol="0" anchor="t"/>
          <a:lstStyle/>
          <a:p>
            <a:pPr marL="0" indent="0" algn="l">
              <a:lnSpc>
                <a:spcPts val="1253"/>
              </a:lnSpc>
              <a:buNone/>
            </a:pPr>
            <a:r>
              <a:rPr lang="en-US" sz="800" dirty="0">
                <a:solidFill>
                  <a:srgbClr val="5A6B7B"/>
                </a:solidFill>
                <a:latin typeface="Carlito" pitchFamily="34" charset="0"/>
                <a:ea typeface="Carlito" pitchFamily="34" charset="-122"/>
                <a:cs typeface="Carlito" pitchFamily="34" charset="-120"/>
              </a:rPr>
              <a:t>انتخاب روش مناسب بر اساس حیطه یادگیری (شناختی، عاطفی، روانی-حرکتی).</a:t>
            </a:r>
            <a:endParaRPr lang="en-US" sz="800" dirty="0"/>
          </a:p>
        </p:txBody>
      </p:sp>
      <p:sp>
        <p:nvSpPr>
          <p:cNvPr id="39" name="Text 37"/>
          <p:cNvSpPr/>
          <p:nvPr/>
        </p:nvSpPr>
        <p:spPr>
          <a:xfrm>
            <a:off x="460772" y="4285915"/>
            <a:ext cx="7679531" cy="571612"/>
          </a:xfrm>
          <a:prstGeom prst="roundRect">
            <a:avLst>
              <a:gd name="adj" fmla="val 23329"/>
            </a:avLst>
          </a:prstGeom>
          <a:solidFill>
            <a:srgbClr val="FFFFFF"/>
          </a:solidFill>
          <a:ln w="7144">
            <a:solidFill>
              <a:srgbClr val="D8E3EC"/>
            </a:solidFill>
            <a:prstDash val="solid"/>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40" name="Text 38"/>
          <p:cNvSpPr/>
          <p:nvPr/>
        </p:nvSpPr>
        <p:spPr>
          <a:xfrm>
            <a:off x="7665244" y="4414503"/>
            <a:ext cx="314325" cy="314325"/>
          </a:xfrm>
          <a:prstGeom prst="roundRect">
            <a:avLst>
              <a:gd name="adj" fmla="val 36364"/>
            </a:avLst>
          </a:prstGeom>
          <a:solidFill>
            <a:srgbClr val="D4F1ED"/>
          </a:solidFill>
          <a:ln/>
        </p:spPr>
        <p:txBody>
          <a:bodyPr wrap="square" rtlCol="0" anchor="ctr"/>
          <a:lstStyle/>
          <a:p>
            <a:pPr marL="0" indent="0">
              <a:buNone/>
            </a:pPr>
            <a:endParaRPr lang="en-US" dirty="0"/>
          </a:p>
        </p:txBody>
      </p:sp>
      <p:sp>
        <p:nvSpPr>
          <p:cNvPr id="41" name="Text 39"/>
          <p:cNvSpPr/>
          <p:nvPr/>
        </p:nvSpPr>
        <p:spPr>
          <a:xfrm>
            <a:off x="7687747" y="4437005"/>
            <a:ext cx="269319" cy="269319"/>
          </a:xfrm>
          <a:prstGeom prst="rect">
            <a:avLst/>
          </a:prstGeom>
          <a:noFill/>
          <a:ln/>
        </p:spPr>
        <p:txBody>
          <a:bodyPr wrap="none" lIns="0" tIns="0" rIns="0" bIns="0" rtlCol="0" anchor="ctr"/>
          <a:lstStyle/>
          <a:p>
            <a:pPr marL="0" indent="0" algn="ctr">
              <a:buNone/>
            </a:pPr>
            <a:r>
              <a:rPr lang="en-US" sz="1828" dirty="0">
                <a:solidFill>
                  <a:srgbClr val="2A9D8F"/>
                </a:solidFill>
                <a:latin typeface="Segoe UI Symbol" pitchFamily="34" charset="0"/>
                <a:ea typeface="Segoe UI Symbol" pitchFamily="34" charset="-122"/>
                <a:cs typeface="Segoe UI Symbol" pitchFamily="34" charset="-120"/>
              </a:rPr>
              <a:t>✓</a:t>
            </a:r>
            <a:endParaRPr lang="en-US" sz="1828" dirty="0"/>
          </a:p>
        </p:txBody>
      </p:sp>
      <p:sp>
        <p:nvSpPr>
          <p:cNvPr id="42" name="Text 40"/>
          <p:cNvSpPr/>
          <p:nvPr/>
        </p:nvSpPr>
        <p:spPr>
          <a:xfrm>
            <a:off x="5684751" y="4397536"/>
            <a:ext cx="514796" cy="160734"/>
          </a:xfrm>
          <a:prstGeom prst="roundRect">
            <a:avLst>
              <a:gd name="adj" fmla="val 5920014"/>
            </a:avLst>
          </a:prstGeom>
          <a:solidFill>
            <a:srgbClr val="D4F1ED"/>
          </a:solidFill>
          <a:ln/>
        </p:spPr>
        <p:txBody>
          <a:bodyPr wrap="square" rtlCol="0" anchor="ctr"/>
          <a:lstStyle/>
          <a:p>
            <a:pPr marL="0" indent="0">
              <a:buNone/>
            </a:pPr>
            <a:endParaRPr lang="en-US" dirty="0"/>
          </a:p>
        </p:txBody>
      </p:sp>
      <p:sp>
        <p:nvSpPr>
          <p:cNvPr id="43" name="Text 41"/>
          <p:cNvSpPr/>
          <p:nvPr/>
        </p:nvSpPr>
        <p:spPr>
          <a:xfrm>
            <a:off x="6270985" y="4410931"/>
            <a:ext cx="1599949" cy="138875"/>
          </a:xfrm>
          <a:prstGeom prst="rect">
            <a:avLst/>
          </a:prstGeom>
          <a:noFill/>
          <a:ln/>
        </p:spPr>
        <p:txBody>
          <a:bodyPr wrap="none" lIns="0" tIns="0" rIns="0" bIns="0" rtlCol="0" anchor="t"/>
          <a:lstStyle/>
          <a:p>
            <a:pPr marL="0" indent="0" algn="l">
              <a:lnSpc>
                <a:spcPts val="1392"/>
              </a:lnSpc>
              <a:buNone/>
            </a:pPr>
            <a:r>
              <a:rPr lang="en-US" sz="928" b="1" dirty="0">
                <a:solidFill>
                  <a:srgbClr val="1B4965"/>
                </a:solidFill>
                <a:latin typeface="Carlito" pitchFamily="34" charset="0"/>
                <a:ea typeface="Carlito" pitchFamily="34" charset="-122"/>
                <a:cs typeface="Carlito" pitchFamily="34" charset="-120"/>
              </a:rPr>
              <a:t>ارزشیابی و بازطراحی</a:t>
            </a:r>
            <a:endParaRPr lang="en-US" sz="928" dirty="0"/>
          </a:p>
        </p:txBody>
      </p:sp>
      <p:sp>
        <p:nvSpPr>
          <p:cNvPr id="44" name="Text 42"/>
          <p:cNvSpPr/>
          <p:nvPr/>
        </p:nvSpPr>
        <p:spPr>
          <a:xfrm>
            <a:off x="5664159" y="4387892"/>
            <a:ext cx="555980"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45" name="Text 43"/>
          <p:cNvSpPr/>
          <p:nvPr/>
        </p:nvSpPr>
        <p:spPr>
          <a:xfrm>
            <a:off x="5684751" y="4397536"/>
            <a:ext cx="514796"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پنجم</a:t>
            </a:r>
            <a:endParaRPr lang="en-US" sz="800" dirty="0"/>
          </a:p>
        </p:txBody>
      </p:sp>
      <p:sp>
        <p:nvSpPr>
          <p:cNvPr id="46" name="Text 44"/>
          <p:cNvSpPr/>
          <p:nvPr/>
        </p:nvSpPr>
        <p:spPr>
          <a:xfrm>
            <a:off x="621506" y="4594882"/>
            <a:ext cx="6929438" cy="159060"/>
          </a:xfrm>
          <a:prstGeom prst="rect">
            <a:avLst/>
          </a:prstGeom>
          <a:noFill/>
          <a:ln/>
        </p:spPr>
        <p:txBody>
          <a:bodyPr wrap="square" lIns="0" tIns="0" rIns="0" bIns="0" rtlCol="0" anchor="t"/>
          <a:lstStyle/>
          <a:p>
            <a:pPr marL="0" indent="0" algn="l">
              <a:lnSpc>
                <a:spcPts val="1253"/>
              </a:lnSpc>
              <a:buNone/>
            </a:pPr>
            <a:r>
              <a:rPr lang="en-US" sz="800" dirty="0">
                <a:solidFill>
                  <a:srgbClr val="5A6B7B"/>
                </a:solidFill>
                <a:latin typeface="Carlito" pitchFamily="34" charset="0"/>
                <a:ea typeface="Carlito" pitchFamily="34" charset="-122"/>
                <a:cs typeface="Carlito" pitchFamily="34" charset="-120"/>
              </a:rPr>
              <a:t>تعیین وقوع تغییر رفتاری مورد نظر و در صورت لزوم، بازطراحی برنامه آموزشی.</a:t>
            </a:r>
            <a:endParaRPr lang="en-US" sz="800" dirty="0"/>
          </a:p>
        </p:txBody>
      </p:sp>
      <p:sp>
        <p:nvSpPr>
          <p:cNvPr id="47" name="Text 45"/>
          <p:cNvSpPr/>
          <p:nvPr/>
        </p:nvSpPr>
        <p:spPr>
          <a:xfrm>
            <a:off x="8286750" y="1799444"/>
            <a:ext cx="342900" cy="342900"/>
          </a:xfrm>
          <a:prstGeom prst="ellipse">
            <a:avLst/>
          </a:prstGeom>
          <a:solidFill>
            <a:srgbClr val="1B4965"/>
          </a:solidFill>
          <a:ln/>
          <a:effectLst>
            <a:outerShdw blurRad="101600" dist="50800" dir="16200000" algn="bl" rotWithShape="0">
              <a:srgbClr val="F4F8FB">
                <a:alpha val="50000"/>
              </a:srgbClr>
            </a:outerShdw>
          </a:effectLst>
        </p:spPr>
        <p:txBody>
          <a:bodyPr wrap="square" rtlCol="0" anchor="ctr"/>
          <a:lstStyle/>
          <a:p>
            <a:pPr marL="0" indent="0">
              <a:buNone/>
            </a:pPr>
            <a:endParaRPr lang="en-US" dirty="0"/>
          </a:p>
        </p:txBody>
      </p:sp>
      <p:sp>
        <p:nvSpPr>
          <p:cNvPr id="48" name="Text 46"/>
          <p:cNvSpPr/>
          <p:nvPr/>
        </p:nvSpPr>
        <p:spPr>
          <a:xfrm>
            <a:off x="8286750" y="1799444"/>
            <a:ext cx="371475" cy="342900"/>
          </a:xfrm>
          <a:prstGeom prst="rect">
            <a:avLst/>
          </a:prstGeom>
          <a:noFill/>
          <a:ln/>
        </p:spPr>
        <p:txBody>
          <a:bodyPr wrap="none" lIns="0" tIns="0" rIns="0" bIns="0" rtlCol="0" anchor="ctr"/>
          <a:lstStyle/>
          <a:p>
            <a:pPr marL="0" indent="0" algn="ctr">
              <a:lnSpc>
                <a:spcPts val="1603"/>
              </a:lnSpc>
              <a:buNone/>
            </a:pPr>
            <a:r>
              <a:rPr lang="en-US" sz="1069" b="1" dirty="0">
                <a:solidFill>
                  <a:srgbClr val="FFFFFF"/>
                </a:solidFill>
                <a:latin typeface="Carlito" pitchFamily="34" charset="0"/>
                <a:ea typeface="Carlito" pitchFamily="34" charset="-122"/>
                <a:cs typeface="Carlito" pitchFamily="34" charset="-120"/>
              </a:rPr>
              <a:t>۱</a:t>
            </a:r>
            <a:endParaRPr lang="en-US" sz="1069" dirty="0"/>
          </a:p>
        </p:txBody>
      </p:sp>
      <p:sp>
        <p:nvSpPr>
          <p:cNvPr id="49" name="Text 47"/>
          <p:cNvSpPr/>
          <p:nvPr/>
        </p:nvSpPr>
        <p:spPr>
          <a:xfrm>
            <a:off x="8286750" y="2449637"/>
            <a:ext cx="342900" cy="342900"/>
          </a:xfrm>
          <a:prstGeom prst="ellipse">
            <a:avLst/>
          </a:prstGeom>
          <a:solidFill>
            <a:srgbClr val="1B4965"/>
          </a:solidFill>
          <a:ln/>
          <a:effectLst>
            <a:outerShdw blurRad="101600" dist="50800" dir="16200000" algn="bl" rotWithShape="0">
              <a:srgbClr val="F4F8FB">
                <a:alpha val="50000"/>
              </a:srgbClr>
            </a:outerShdw>
          </a:effectLst>
        </p:spPr>
        <p:txBody>
          <a:bodyPr wrap="square" rtlCol="0" anchor="ctr"/>
          <a:lstStyle/>
          <a:p>
            <a:pPr marL="0" indent="0">
              <a:buNone/>
            </a:pPr>
            <a:endParaRPr lang="en-US" dirty="0"/>
          </a:p>
        </p:txBody>
      </p:sp>
      <p:sp>
        <p:nvSpPr>
          <p:cNvPr id="50" name="Text 48"/>
          <p:cNvSpPr/>
          <p:nvPr/>
        </p:nvSpPr>
        <p:spPr>
          <a:xfrm>
            <a:off x="8286750" y="2449637"/>
            <a:ext cx="371475" cy="342900"/>
          </a:xfrm>
          <a:prstGeom prst="rect">
            <a:avLst/>
          </a:prstGeom>
          <a:noFill/>
          <a:ln/>
        </p:spPr>
        <p:txBody>
          <a:bodyPr wrap="none" lIns="0" tIns="0" rIns="0" bIns="0" rtlCol="0" anchor="ctr"/>
          <a:lstStyle/>
          <a:p>
            <a:pPr marL="0" indent="0" algn="ctr">
              <a:lnSpc>
                <a:spcPts val="1603"/>
              </a:lnSpc>
              <a:buNone/>
            </a:pPr>
            <a:r>
              <a:rPr lang="en-US" sz="1069" b="1" dirty="0">
                <a:solidFill>
                  <a:srgbClr val="FFFFFF"/>
                </a:solidFill>
                <a:latin typeface="Carlito" pitchFamily="34" charset="0"/>
                <a:ea typeface="Carlito" pitchFamily="34" charset="-122"/>
                <a:cs typeface="Carlito" pitchFamily="34" charset="-120"/>
              </a:rPr>
              <a:t>۲</a:t>
            </a:r>
            <a:endParaRPr lang="en-US" sz="1069" dirty="0"/>
          </a:p>
        </p:txBody>
      </p:sp>
      <p:sp>
        <p:nvSpPr>
          <p:cNvPr id="51" name="Text 49"/>
          <p:cNvSpPr/>
          <p:nvPr/>
        </p:nvSpPr>
        <p:spPr>
          <a:xfrm>
            <a:off x="8286750" y="3099829"/>
            <a:ext cx="342900" cy="342900"/>
          </a:xfrm>
          <a:prstGeom prst="ellipse">
            <a:avLst/>
          </a:prstGeom>
          <a:solidFill>
            <a:srgbClr val="1B4965"/>
          </a:solidFill>
          <a:ln/>
          <a:effectLst>
            <a:outerShdw blurRad="101600" dist="50800" dir="16200000" algn="bl" rotWithShape="0">
              <a:srgbClr val="F4F8FB">
                <a:alpha val="50000"/>
              </a:srgbClr>
            </a:outerShdw>
          </a:effectLst>
        </p:spPr>
        <p:txBody>
          <a:bodyPr wrap="square" rtlCol="0" anchor="ctr"/>
          <a:lstStyle/>
          <a:p>
            <a:pPr marL="0" indent="0">
              <a:buNone/>
            </a:pPr>
            <a:endParaRPr lang="en-US" dirty="0"/>
          </a:p>
        </p:txBody>
      </p:sp>
      <p:sp>
        <p:nvSpPr>
          <p:cNvPr id="52" name="Text 50"/>
          <p:cNvSpPr/>
          <p:nvPr/>
        </p:nvSpPr>
        <p:spPr>
          <a:xfrm>
            <a:off x="8286750" y="3099829"/>
            <a:ext cx="371475" cy="342900"/>
          </a:xfrm>
          <a:prstGeom prst="rect">
            <a:avLst/>
          </a:prstGeom>
          <a:noFill/>
          <a:ln/>
        </p:spPr>
        <p:txBody>
          <a:bodyPr wrap="none" lIns="0" tIns="0" rIns="0" bIns="0" rtlCol="0" anchor="ctr"/>
          <a:lstStyle/>
          <a:p>
            <a:pPr marL="0" indent="0" algn="ctr">
              <a:lnSpc>
                <a:spcPts val="1603"/>
              </a:lnSpc>
              <a:buNone/>
            </a:pPr>
            <a:r>
              <a:rPr lang="en-US" sz="1069" b="1" dirty="0">
                <a:solidFill>
                  <a:srgbClr val="FFFFFF"/>
                </a:solidFill>
                <a:latin typeface="Carlito" pitchFamily="34" charset="0"/>
                <a:ea typeface="Carlito" pitchFamily="34" charset="-122"/>
                <a:cs typeface="Carlito" pitchFamily="34" charset="-120"/>
              </a:rPr>
              <a:t>۳</a:t>
            </a:r>
            <a:endParaRPr lang="en-US" sz="1069" dirty="0"/>
          </a:p>
        </p:txBody>
      </p:sp>
      <p:sp>
        <p:nvSpPr>
          <p:cNvPr id="53" name="Text 51"/>
          <p:cNvSpPr/>
          <p:nvPr/>
        </p:nvSpPr>
        <p:spPr>
          <a:xfrm>
            <a:off x="8286750" y="3750022"/>
            <a:ext cx="342900" cy="342900"/>
          </a:xfrm>
          <a:prstGeom prst="ellipse">
            <a:avLst/>
          </a:prstGeom>
          <a:solidFill>
            <a:srgbClr val="1B4965"/>
          </a:solidFill>
          <a:ln/>
          <a:effectLst>
            <a:outerShdw blurRad="101600" dist="50800" dir="16200000" algn="bl" rotWithShape="0">
              <a:srgbClr val="F4F8FB">
                <a:alpha val="50000"/>
              </a:srgbClr>
            </a:outerShdw>
          </a:effectLst>
        </p:spPr>
        <p:txBody>
          <a:bodyPr wrap="square" rtlCol="0" anchor="ctr"/>
          <a:lstStyle/>
          <a:p>
            <a:pPr marL="0" indent="0">
              <a:buNone/>
            </a:pPr>
            <a:endParaRPr lang="en-US" dirty="0"/>
          </a:p>
        </p:txBody>
      </p:sp>
      <p:sp>
        <p:nvSpPr>
          <p:cNvPr id="54" name="Text 52"/>
          <p:cNvSpPr/>
          <p:nvPr/>
        </p:nvSpPr>
        <p:spPr>
          <a:xfrm>
            <a:off x="8286750" y="3750022"/>
            <a:ext cx="371475" cy="342900"/>
          </a:xfrm>
          <a:prstGeom prst="rect">
            <a:avLst/>
          </a:prstGeom>
          <a:noFill/>
          <a:ln/>
        </p:spPr>
        <p:txBody>
          <a:bodyPr wrap="none" lIns="0" tIns="0" rIns="0" bIns="0" rtlCol="0" anchor="ctr"/>
          <a:lstStyle/>
          <a:p>
            <a:pPr marL="0" indent="0" algn="ctr">
              <a:lnSpc>
                <a:spcPts val="1603"/>
              </a:lnSpc>
              <a:buNone/>
            </a:pPr>
            <a:r>
              <a:rPr lang="en-US" sz="1069" b="1" dirty="0">
                <a:solidFill>
                  <a:srgbClr val="FFFFFF"/>
                </a:solidFill>
                <a:latin typeface="Carlito" pitchFamily="34" charset="0"/>
                <a:ea typeface="Carlito" pitchFamily="34" charset="-122"/>
                <a:cs typeface="Carlito" pitchFamily="34" charset="-120"/>
              </a:rPr>
              <a:t>۴</a:t>
            </a:r>
            <a:endParaRPr lang="en-US" sz="1069" dirty="0"/>
          </a:p>
        </p:txBody>
      </p:sp>
      <p:sp>
        <p:nvSpPr>
          <p:cNvPr id="55" name="Text 53"/>
          <p:cNvSpPr/>
          <p:nvPr/>
        </p:nvSpPr>
        <p:spPr>
          <a:xfrm>
            <a:off x="8286750" y="4400215"/>
            <a:ext cx="342900" cy="342900"/>
          </a:xfrm>
          <a:prstGeom prst="ellipse">
            <a:avLst/>
          </a:prstGeom>
          <a:solidFill>
            <a:srgbClr val="1B4965"/>
          </a:solidFill>
          <a:ln/>
          <a:effectLst>
            <a:outerShdw blurRad="101600" dist="50800" dir="16200000" algn="bl" rotWithShape="0">
              <a:srgbClr val="F4F8FB">
                <a:alpha val="50000"/>
              </a:srgbClr>
            </a:outerShdw>
          </a:effectLst>
        </p:spPr>
        <p:txBody>
          <a:bodyPr wrap="square" rtlCol="0" anchor="ctr"/>
          <a:lstStyle/>
          <a:p>
            <a:pPr marL="0" indent="0">
              <a:buNone/>
            </a:pPr>
            <a:endParaRPr lang="en-US" dirty="0"/>
          </a:p>
        </p:txBody>
      </p:sp>
      <p:sp>
        <p:nvSpPr>
          <p:cNvPr id="56" name="Text 54"/>
          <p:cNvSpPr/>
          <p:nvPr/>
        </p:nvSpPr>
        <p:spPr>
          <a:xfrm>
            <a:off x="8286750" y="4400215"/>
            <a:ext cx="371475" cy="342900"/>
          </a:xfrm>
          <a:prstGeom prst="rect">
            <a:avLst/>
          </a:prstGeom>
          <a:noFill/>
          <a:ln/>
        </p:spPr>
        <p:txBody>
          <a:bodyPr wrap="none" lIns="0" tIns="0" rIns="0" bIns="0" rtlCol="0" anchor="ctr"/>
          <a:lstStyle/>
          <a:p>
            <a:pPr marL="0" indent="0" algn="ctr">
              <a:lnSpc>
                <a:spcPts val="1603"/>
              </a:lnSpc>
              <a:buNone/>
            </a:pPr>
            <a:r>
              <a:rPr lang="en-US" sz="1069" b="1" dirty="0">
                <a:solidFill>
                  <a:srgbClr val="FFFFFF"/>
                </a:solidFill>
                <a:latin typeface="Carlito" pitchFamily="34" charset="0"/>
                <a:ea typeface="Carlito" pitchFamily="34" charset="-122"/>
                <a:cs typeface="Carlito" pitchFamily="34" charset="-120"/>
              </a:rPr>
              <a:t>۵</a:t>
            </a:r>
            <a:endParaRPr lang="en-US" sz="1069"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3695440" y="400050"/>
            <a:ext cx="4991360" cy="359978"/>
          </a:xfrm>
          <a:prstGeom prst="rect">
            <a:avLst/>
          </a:prstGeom>
          <a:noFill/>
          <a:ln/>
        </p:spPr>
        <p:txBody>
          <a:bodyPr wrap="squar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مراحل ۱ و ۲ — نیازسنجی و انگیزش</a:t>
            </a:r>
            <a:endParaRPr lang="en-US" sz="2363" dirty="0"/>
          </a:p>
        </p:txBody>
      </p:sp>
      <p:sp>
        <p:nvSpPr>
          <p:cNvPr id="4" name="Text 2"/>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5" name="Text 3"/>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۱۹ / ۲۲</a:t>
            </a:r>
            <a:endParaRPr lang="en-US" sz="1013" dirty="0"/>
          </a:p>
        </p:txBody>
      </p:sp>
      <p:sp>
        <p:nvSpPr>
          <p:cNvPr id="6" name="Text 4"/>
          <p:cNvSpPr/>
          <p:nvPr/>
        </p:nvSpPr>
        <p:spPr>
          <a:xfrm>
            <a:off x="4657725" y="1074353"/>
            <a:ext cx="4029075" cy="3669097"/>
          </a:xfrm>
          <a:prstGeom prst="roundRect">
            <a:avLst>
              <a:gd name="adj" fmla="val 4154"/>
            </a:avLst>
          </a:prstGeom>
          <a:solidFill>
            <a:srgbClr val="FFFFFF"/>
          </a:solidFill>
          <a:ln/>
          <a:effectLst>
            <a:outerShdw blurRad="114300" dist="28575" dir="5400000" algn="bl" rotWithShape="0">
              <a:srgbClr val="1B4965">
                <a:alpha val="6000"/>
              </a:srgbClr>
            </a:outerShdw>
          </a:effectLst>
        </p:spPr>
        <p:txBody>
          <a:bodyPr wrap="square" rtlCol="0" anchor="ctr"/>
          <a:lstStyle/>
          <a:p>
            <a:pPr marL="0" indent="0">
              <a:buNone/>
            </a:pPr>
            <a:endParaRPr lang="en-US" dirty="0"/>
          </a:p>
        </p:txBody>
      </p:sp>
      <p:sp>
        <p:nvSpPr>
          <p:cNvPr id="7" name="Shape 5"/>
          <p:cNvSpPr/>
          <p:nvPr/>
        </p:nvSpPr>
        <p:spPr>
          <a:xfrm>
            <a:off x="4657725" y="1088641"/>
            <a:ext cx="4029075" cy="0"/>
          </a:xfrm>
          <a:prstGeom prst="line">
            <a:avLst/>
          </a:prstGeom>
          <a:noFill/>
          <a:ln w="28575">
            <a:solidFill>
              <a:srgbClr val="1B4965"/>
            </a:solidFill>
            <a:prstDash val="solid"/>
          </a:ln>
        </p:spPr>
      </p:sp>
      <p:sp>
        <p:nvSpPr>
          <p:cNvPr id="8" name="Shape 6"/>
          <p:cNvSpPr/>
          <p:nvPr/>
        </p:nvSpPr>
        <p:spPr>
          <a:xfrm>
            <a:off x="8683228" y="1074353"/>
            <a:ext cx="0" cy="3669097"/>
          </a:xfrm>
          <a:prstGeom prst="line">
            <a:avLst/>
          </a:prstGeom>
          <a:noFill/>
          <a:ln w="7144">
            <a:solidFill>
              <a:srgbClr val="D8E3EC"/>
            </a:solidFill>
            <a:prstDash val="solid"/>
          </a:ln>
        </p:spPr>
      </p:sp>
      <p:sp>
        <p:nvSpPr>
          <p:cNvPr id="9" name="Shape 7"/>
          <p:cNvSpPr/>
          <p:nvPr/>
        </p:nvSpPr>
        <p:spPr>
          <a:xfrm>
            <a:off x="4657725" y="4739878"/>
            <a:ext cx="4029075" cy="0"/>
          </a:xfrm>
          <a:prstGeom prst="line">
            <a:avLst/>
          </a:prstGeom>
          <a:noFill/>
          <a:ln w="7144">
            <a:solidFill>
              <a:srgbClr val="D8E3EC"/>
            </a:solidFill>
            <a:prstDash val="solid"/>
          </a:ln>
        </p:spPr>
      </p:sp>
      <p:sp>
        <p:nvSpPr>
          <p:cNvPr id="10" name="Shape 8"/>
          <p:cNvSpPr/>
          <p:nvPr/>
        </p:nvSpPr>
        <p:spPr>
          <a:xfrm>
            <a:off x="4661297" y="1074353"/>
            <a:ext cx="0" cy="3669097"/>
          </a:xfrm>
          <a:prstGeom prst="line">
            <a:avLst/>
          </a:prstGeom>
          <a:noFill/>
          <a:ln w="7144">
            <a:solidFill>
              <a:srgbClr val="D8E3EC"/>
            </a:solidFill>
            <a:prstDash val="solid"/>
          </a:ln>
        </p:spPr>
      </p:sp>
      <p:sp>
        <p:nvSpPr>
          <p:cNvPr id="11" name="Shape 9"/>
          <p:cNvSpPr/>
          <p:nvPr/>
        </p:nvSpPr>
        <p:spPr>
          <a:xfrm>
            <a:off x="4850606" y="1649425"/>
            <a:ext cx="3643313" cy="0"/>
          </a:xfrm>
          <a:prstGeom prst="line">
            <a:avLst/>
          </a:prstGeom>
          <a:noFill/>
          <a:ln w="7144">
            <a:solidFill>
              <a:srgbClr val="D8E3EC"/>
            </a:solidFill>
            <a:prstDash val="solid"/>
          </a:ln>
        </p:spPr>
      </p:sp>
      <p:sp>
        <p:nvSpPr>
          <p:cNvPr id="12" name="Shape 10"/>
          <p:cNvSpPr/>
          <p:nvPr/>
        </p:nvSpPr>
        <p:spPr>
          <a:xfrm>
            <a:off x="8483203" y="4127302"/>
            <a:ext cx="0" cy="451842"/>
          </a:xfrm>
          <a:prstGeom prst="line">
            <a:avLst/>
          </a:prstGeom>
          <a:noFill/>
          <a:ln w="21431">
            <a:solidFill>
              <a:srgbClr val="E76F51"/>
            </a:solidFill>
            <a:prstDash val="solid"/>
          </a:ln>
        </p:spPr>
      </p:sp>
      <p:sp>
        <p:nvSpPr>
          <p:cNvPr id="13" name="Text 11"/>
          <p:cNvSpPr/>
          <p:nvPr/>
        </p:nvSpPr>
        <p:spPr>
          <a:xfrm>
            <a:off x="457200" y="1074353"/>
            <a:ext cx="4029075" cy="3669097"/>
          </a:xfrm>
          <a:prstGeom prst="roundRect">
            <a:avLst>
              <a:gd name="adj" fmla="val 4154"/>
            </a:avLst>
          </a:prstGeom>
          <a:solidFill>
            <a:srgbClr val="FFFFFF"/>
          </a:solidFill>
          <a:ln/>
          <a:effectLst>
            <a:outerShdw blurRad="114300" dist="28575" dir="5400000" algn="bl" rotWithShape="0">
              <a:srgbClr val="1B4965">
                <a:alpha val="6000"/>
              </a:srgbClr>
            </a:outerShdw>
          </a:effectLst>
        </p:spPr>
        <p:txBody>
          <a:bodyPr wrap="square" rtlCol="0" anchor="ctr"/>
          <a:lstStyle/>
          <a:p>
            <a:pPr marL="0" indent="0">
              <a:buNone/>
            </a:pPr>
            <a:endParaRPr lang="en-US" dirty="0"/>
          </a:p>
        </p:txBody>
      </p:sp>
      <p:sp>
        <p:nvSpPr>
          <p:cNvPr id="14" name="Shape 12"/>
          <p:cNvSpPr/>
          <p:nvPr/>
        </p:nvSpPr>
        <p:spPr>
          <a:xfrm>
            <a:off x="457200" y="1088641"/>
            <a:ext cx="4029075" cy="0"/>
          </a:xfrm>
          <a:prstGeom prst="line">
            <a:avLst/>
          </a:prstGeom>
          <a:noFill/>
          <a:ln w="28575">
            <a:solidFill>
              <a:srgbClr val="2A9D8F"/>
            </a:solidFill>
            <a:prstDash val="solid"/>
          </a:ln>
        </p:spPr>
      </p:sp>
      <p:sp>
        <p:nvSpPr>
          <p:cNvPr id="15" name="Shape 13"/>
          <p:cNvSpPr/>
          <p:nvPr/>
        </p:nvSpPr>
        <p:spPr>
          <a:xfrm>
            <a:off x="4482703" y="1074353"/>
            <a:ext cx="0" cy="3669097"/>
          </a:xfrm>
          <a:prstGeom prst="line">
            <a:avLst/>
          </a:prstGeom>
          <a:noFill/>
          <a:ln w="7144">
            <a:solidFill>
              <a:srgbClr val="D8E3EC"/>
            </a:solidFill>
            <a:prstDash val="solid"/>
          </a:ln>
        </p:spPr>
      </p:sp>
      <p:sp>
        <p:nvSpPr>
          <p:cNvPr id="16" name="Shape 14"/>
          <p:cNvSpPr/>
          <p:nvPr/>
        </p:nvSpPr>
        <p:spPr>
          <a:xfrm>
            <a:off x="457200" y="4739878"/>
            <a:ext cx="4029075" cy="0"/>
          </a:xfrm>
          <a:prstGeom prst="line">
            <a:avLst/>
          </a:prstGeom>
          <a:noFill/>
          <a:ln w="7144">
            <a:solidFill>
              <a:srgbClr val="D8E3EC"/>
            </a:solidFill>
            <a:prstDash val="solid"/>
          </a:ln>
        </p:spPr>
      </p:sp>
      <p:sp>
        <p:nvSpPr>
          <p:cNvPr id="17" name="Shape 15"/>
          <p:cNvSpPr/>
          <p:nvPr/>
        </p:nvSpPr>
        <p:spPr>
          <a:xfrm>
            <a:off x="460772" y="1074353"/>
            <a:ext cx="0" cy="3669097"/>
          </a:xfrm>
          <a:prstGeom prst="line">
            <a:avLst/>
          </a:prstGeom>
          <a:noFill/>
          <a:ln w="7144">
            <a:solidFill>
              <a:srgbClr val="D8E3EC"/>
            </a:solidFill>
            <a:prstDash val="solid"/>
          </a:ln>
        </p:spPr>
      </p:sp>
      <p:sp>
        <p:nvSpPr>
          <p:cNvPr id="18" name="Shape 16"/>
          <p:cNvSpPr/>
          <p:nvPr/>
        </p:nvSpPr>
        <p:spPr>
          <a:xfrm>
            <a:off x="650081" y="1649425"/>
            <a:ext cx="3643313" cy="0"/>
          </a:xfrm>
          <a:prstGeom prst="line">
            <a:avLst/>
          </a:prstGeom>
          <a:noFill/>
          <a:ln w="7144">
            <a:solidFill>
              <a:srgbClr val="D8E3EC"/>
            </a:solidFill>
            <a:prstDash val="solid"/>
          </a:ln>
        </p:spPr>
      </p:sp>
      <p:sp>
        <p:nvSpPr>
          <p:cNvPr id="19" name="Shape 17"/>
          <p:cNvSpPr/>
          <p:nvPr/>
        </p:nvSpPr>
        <p:spPr>
          <a:xfrm>
            <a:off x="4282678" y="4274641"/>
            <a:ext cx="0" cy="304502"/>
          </a:xfrm>
          <a:prstGeom prst="line">
            <a:avLst/>
          </a:prstGeom>
          <a:noFill/>
          <a:ln w="21431">
            <a:solidFill>
              <a:srgbClr val="2A9D8F"/>
            </a:solidFill>
            <a:prstDash val="solid"/>
          </a:ln>
        </p:spPr>
      </p:sp>
      <p:sp>
        <p:nvSpPr>
          <p:cNvPr id="20" name="Text 18"/>
          <p:cNvSpPr/>
          <p:nvPr/>
        </p:nvSpPr>
        <p:spPr>
          <a:xfrm>
            <a:off x="8193881" y="1260091"/>
            <a:ext cx="300038" cy="300038"/>
          </a:xfrm>
          <a:prstGeom prst="roundRect">
            <a:avLst>
              <a:gd name="adj" fmla="val 31746"/>
            </a:avLst>
          </a:prstGeom>
          <a:solidFill>
            <a:srgbClr val="1B4965"/>
          </a:solidFill>
          <a:ln/>
        </p:spPr>
        <p:txBody>
          <a:bodyPr wrap="square" rtlCol="0" anchor="ctr"/>
          <a:lstStyle/>
          <a:p>
            <a:pPr marL="0" indent="0">
              <a:buNone/>
            </a:pPr>
            <a:endParaRPr lang="en-US" dirty="0"/>
          </a:p>
        </p:txBody>
      </p:sp>
      <p:sp>
        <p:nvSpPr>
          <p:cNvPr id="21" name="Text 19"/>
          <p:cNvSpPr/>
          <p:nvPr/>
        </p:nvSpPr>
        <p:spPr>
          <a:xfrm>
            <a:off x="8193881" y="1260091"/>
            <a:ext cx="300038" cy="300038"/>
          </a:xfrm>
          <a:prstGeom prst="rect">
            <a:avLst/>
          </a:prstGeom>
          <a:noFill/>
          <a:ln/>
        </p:spPr>
        <p:txBody>
          <a:bodyPr wrap="none" lIns="0" tIns="0" rIns="0" bIns="0" rtlCol="0" anchor="ctr"/>
          <a:lstStyle/>
          <a:p>
            <a:pPr marL="0" indent="0" algn="ctr">
              <a:lnSpc>
                <a:spcPts val="1350"/>
              </a:lnSpc>
              <a:buNone/>
            </a:pPr>
            <a:r>
              <a:rPr lang="en-US" sz="900" b="1" dirty="0">
                <a:solidFill>
                  <a:srgbClr val="FFFFFF"/>
                </a:solidFill>
                <a:latin typeface="Carlito" pitchFamily="34" charset="0"/>
                <a:ea typeface="Carlito" pitchFamily="34" charset="-122"/>
                <a:cs typeface="Carlito" pitchFamily="34" charset="-120"/>
              </a:rPr>
              <a:t>۰۱</a:t>
            </a:r>
            <a:endParaRPr lang="en-US" sz="900" dirty="0"/>
          </a:p>
        </p:txBody>
      </p:sp>
      <p:sp>
        <p:nvSpPr>
          <p:cNvPr id="22" name="Text 20"/>
          <p:cNvSpPr/>
          <p:nvPr/>
        </p:nvSpPr>
        <p:spPr>
          <a:xfrm>
            <a:off x="5401121" y="1313669"/>
            <a:ext cx="3092797" cy="208312"/>
          </a:xfrm>
          <a:prstGeom prst="rect">
            <a:avLst/>
          </a:prstGeom>
          <a:noFill/>
          <a:ln/>
        </p:spPr>
        <p:txBody>
          <a:bodyPr wrap="none" lIns="0" tIns="0" rIns="0" bIns="0" rtlCol="0" anchor="t"/>
          <a:lstStyle/>
          <a:p>
            <a:pPr marL="0" indent="0" algn="l">
              <a:lnSpc>
                <a:spcPts val="1519"/>
              </a:lnSpc>
              <a:buNone/>
            </a:pPr>
            <a:r>
              <a:rPr lang="en-US" sz="1013" b="1" dirty="0">
                <a:solidFill>
                  <a:srgbClr val="1B4965"/>
                </a:solidFill>
                <a:latin typeface="Carlito" pitchFamily="34" charset="0"/>
                <a:ea typeface="Carlito" pitchFamily="34" charset="-122"/>
                <a:cs typeface="Carlito" pitchFamily="34" charset="-120"/>
              </a:rPr>
              <a:t>شناسایی نیازهای یادگیری</a:t>
            </a:r>
            <a:endParaRPr lang="en-US" sz="1013" dirty="0"/>
          </a:p>
        </p:txBody>
      </p:sp>
      <p:sp>
        <p:nvSpPr>
          <p:cNvPr id="23" name="Text 21"/>
          <p:cNvSpPr/>
          <p:nvPr/>
        </p:nvSpPr>
        <p:spPr>
          <a:xfrm>
            <a:off x="4850606" y="1320098"/>
            <a:ext cx="464790" cy="180023"/>
          </a:xfrm>
          <a:prstGeom prst="roundRect">
            <a:avLst>
              <a:gd name="adj" fmla="val 5285700"/>
            </a:avLst>
          </a:prstGeom>
          <a:solidFill>
            <a:srgbClr val="CDE7F0"/>
          </a:solidFill>
          <a:ln/>
        </p:spPr>
        <p:txBody>
          <a:bodyPr wrap="square" rtlCol="0" anchor="ctr"/>
          <a:lstStyle/>
          <a:p>
            <a:pPr marL="0" indent="0">
              <a:buNone/>
            </a:pPr>
            <a:endParaRPr lang="en-US" dirty="0"/>
          </a:p>
        </p:txBody>
      </p:sp>
      <p:sp>
        <p:nvSpPr>
          <p:cNvPr id="24" name="Text 22"/>
          <p:cNvSpPr/>
          <p:nvPr/>
        </p:nvSpPr>
        <p:spPr>
          <a:xfrm>
            <a:off x="4850606" y="1329742"/>
            <a:ext cx="464790" cy="160734"/>
          </a:xfrm>
          <a:prstGeom prst="rect">
            <a:avLst/>
          </a:prstGeom>
          <a:noFill/>
          <a:ln/>
        </p:spPr>
        <p:txBody>
          <a:bodyPr wrap="none" lIns="0" tIns="0" rIns="0" bIns="0" rtlCol="0" anchor="ctr"/>
          <a:lstStyle/>
          <a:p>
            <a:pPr marL="0" indent="0" algn="ctr">
              <a:lnSpc>
                <a:spcPts val="928"/>
              </a:lnSpc>
              <a:buNone/>
            </a:pPr>
            <a:r>
              <a:rPr lang="en-US" sz="800" b="1" dirty="0">
                <a:solidFill>
                  <a:srgbClr val="1B4965"/>
                </a:solidFill>
                <a:latin typeface="Carlito" pitchFamily="34" charset="0"/>
                <a:ea typeface="Carlito" pitchFamily="34" charset="-122"/>
                <a:cs typeface="Carlito" pitchFamily="34" charset="-120"/>
              </a:rPr>
              <a:t>گام اول</a:t>
            </a:r>
            <a:endParaRPr lang="en-US" sz="800" dirty="0"/>
          </a:p>
        </p:txBody>
      </p:sp>
      <p:sp>
        <p:nvSpPr>
          <p:cNvPr id="25" name="Text 23"/>
          <p:cNvSpPr/>
          <p:nvPr/>
        </p:nvSpPr>
        <p:spPr>
          <a:xfrm>
            <a:off x="4850606" y="1738722"/>
            <a:ext cx="3643313" cy="528888"/>
          </a:xfrm>
          <a:prstGeom prst="rect">
            <a:avLst/>
          </a:prstGeom>
          <a:noFill/>
          <a:ln/>
        </p:spPr>
        <p:txBody>
          <a:bodyPr wrap="square" lIns="100013" tIns="71438" rIns="100013" bIns="71438" rtlCol="0" anchor="t">
            <a:normAutofit/>
          </a:bodyPr>
          <a:lstStyle/>
          <a:p>
            <a:pPr marL="0" indent="0" algn="l">
              <a:lnSpc>
                <a:spcPts val="1291"/>
              </a:lnSpc>
              <a:buNone/>
            </a:pPr>
            <a:r>
              <a:rPr lang="en-US" sz="800" dirty="0">
                <a:solidFill>
                  <a:srgbClr val="5A6B7B"/>
                </a:solidFill>
                <a:latin typeface="Carlito" pitchFamily="34" charset="0"/>
                <a:ea typeface="Carlito" pitchFamily="34" charset="-122"/>
                <a:cs typeface="Carlito" pitchFamily="34" charset="-120"/>
              </a:rPr>
              <a:t>اولین و حیاتی‌ترین مرحله. نیاز واقعی بیمار ممکن است با نیاز درک‌شده متفاوت باشد.</a:t>
            </a:r>
            <a:endParaRPr lang="en-US" sz="800" dirty="0"/>
          </a:p>
        </p:txBody>
      </p:sp>
      <p:sp>
        <p:nvSpPr>
          <p:cNvPr id="26" name="Text 24"/>
          <p:cNvSpPr/>
          <p:nvPr/>
        </p:nvSpPr>
        <p:spPr>
          <a:xfrm>
            <a:off x="8308181" y="2323616"/>
            <a:ext cx="185738" cy="185738"/>
          </a:xfrm>
          <a:prstGeom prst="roundRect">
            <a:avLst>
              <a:gd name="adj" fmla="val 41026"/>
            </a:avLst>
          </a:prstGeom>
          <a:solidFill>
            <a:srgbClr val="1B4965"/>
          </a:solidFill>
          <a:ln/>
        </p:spPr>
        <p:txBody>
          <a:bodyPr wrap="square" rtlCol="0" anchor="ctr"/>
          <a:lstStyle/>
          <a:p>
            <a:pPr marL="0" indent="0">
              <a:buNone/>
            </a:pPr>
            <a:endParaRPr lang="en-US" dirty="0"/>
          </a:p>
        </p:txBody>
      </p:sp>
      <p:sp>
        <p:nvSpPr>
          <p:cNvPr id="27" name="Text 25"/>
          <p:cNvSpPr/>
          <p:nvPr/>
        </p:nvSpPr>
        <p:spPr>
          <a:xfrm>
            <a:off x="8318183" y="2333618"/>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28" name="Text 26"/>
          <p:cNvSpPr/>
          <p:nvPr/>
        </p:nvSpPr>
        <p:spPr>
          <a:xfrm>
            <a:off x="4850606" y="2323616"/>
            <a:ext cx="3643313"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سؤالات مستقیم</a:t>
            </a:r>
            <a:endParaRPr lang="en-US" sz="800" dirty="0"/>
          </a:p>
        </p:txBody>
      </p:sp>
      <p:sp>
        <p:nvSpPr>
          <p:cNvPr id="29" name="Text 27"/>
          <p:cNvSpPr/>
          <p:nvPr/>
        </p:nvSpPr>
        <p:spPr>
          <a:xfrm>
            <a:off x="4850606" y="2495066"/>
            <a:ext cx="3386138" cy="362102"/>
          </a:xfrm>
          <a:prstGeom prst="rect">
            <a:avLst/>
          </a:prstGeom>
          <a:noFill/>
          <a:ln/>
        </p:spPr>
        <p:txBody>
          <a:bodyPr wrap="square" lIns="0" tIns="0" rIns="0" bIns="0" rtlCol="0" anchor="t"/>
          <a:lstStyle/>
          <a:p>
            <a:pPr marL="0" indent="0" algn="l">
              <a:lnSpc>
                <a:spcPts val="1160"/>
              </a:lnSpc>
              <a:buNone/>
            </a:pPr>
            <a:r>
              <a:rPr lang="en-US" sz="800" b="1" dirty="0">
                <a:solidFill>
                  <a:srgbClr val="E76F51"/>
                </a:solidFill>
                <a:latin typeface="Carlito" pitchFamily="34" charset="0"/>
                <a:ea typeface="Carlito" pitchFamily="34" charset="-122"/>
                <a:cs typeface="Carlito" pitchFamily="34" charset="-120"/>
              </a:rPr>
              <a:t>مثال:</a:t>
            </a:r>
            <a:r>
              <a:rPr lang="en-US" sz="800" dirty="0">
                <a:solidFill>
                  <a:srgbClr val="5A6B7B"/>
                </a:solidFill>
                <a:latin typeface="Carlito" pitchFamily="34" charset="0"/>
                <a:ea typeface="Carlito" pitchFamily="34" charset="-122"/>
                <a:cs typeface="Carlito" pitchFamily="34" charset="-120"/>
              </a:rPr>
              <a:t> هنگام عکس‌برداری چه اتفاقی می‌افتد؟ چگونه کودک خود را شستشو می‌دهید؟</a:t>
            </a:r>
            <a:endParaRPr lang="en-US" sz="800" dirty="0"/>
          </a:p>
        </p:txBody>
      </p:sp>
      <p:sp>
        <p:nvSpPr>
          <p:cNvPr id="30" name="Text 28"/>
          <p:cNvSpPr/>
          <p:nvPr/>
        </p:nvSpPr>
        <p:spPr>
          <a:xfrm>
            <a:off x="8308181" y="2904046"/>
            <a:ext cx="185738" cy="185738"/>
          </a:xfrm>
          <a:prstGeom prst="roundRect">
            <a:avLst>
              <a:gd name="adj" fmla="val 41026"/>
            </a:avLst>
          </a:prstGeom>
          <a:solidFill>
            <a:srgbClr val="1B4965"/>
          </a:solidFill>
          <a:ln/>
        </p:spPr>
        <p:txBody>
          <a:bodyPr wrap="square" rtlCol="0" anchor="ctr"/>
          <a:lstStyle/>
          <a:p>
            <a:pPr marL="0" indent="0">
              <a:buNone/>
            </a:pPr>
            <a:endParaRPr lang="en-US" dirty="0"/>
          </a:p>
        </p:txBody>
      </p:sp>
      <p:sp>
        <p:nvSpPr>
          <p:cNvPr id="31" name="Text 29"/>
          <p:cNvSpPr/>
          <p:nvPr/>
        </p:nvSpPr>
        <p:spPr>
          <a:xfrm>
            <a:off x="8318183" y="2914047"/>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32" name="Text 30"/>
          <p:cNvSpPr/>
          <p:nvPr/>
        </p:nvSpPr>
        <p:spPr>
          <a:xfrm>
            <a:off x="4850606" y="2904046"/>
            <a:ext cx="3643313"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مشاهده مستقیم</a:t>
            </a:r>
            <a:endParaRPr lang="en-US" sz="800" dirty="0"/>
          </a:p>
        </p:txBody>
      </p:sp>
      <p:sp>
        <p:nvSpPr>
          <p:cNvPr id="33" name="Text 31"/>
          <p:cNvSpPr/>
          <p:nvPr/>
        </p:nvSpPr>
        <p:spPr>
          <a:xfrm>
            <a:off x="4850606" y="3075496"/>
            <a:ext cx="3386138" cy="362102"/>
          </a:xfrm>
          <a:prstGeom prst="rect">
            <a:avLst/>
          </a:prstGeom>
          <a:noFill/>
          <a:ln/>
        </p:spPr>
        <p:txBody>
          <a:bodyPr wrap="square" lIns="0" tIns="0" rIns="0" bIns="0" rtlCol="0" anchor="t"/>
          <a:lstStyle/>
          <a:p>
            <a:pPr marL="0" indent="0" algn="l">
              <a:lnSpc>
                <a:spcPts val="1160"/>
              </a:lnSpc>
              <a:buNone/>
            </a:pPr>
            <a:r>
              <a:rPr lang="en-US" sz="800" b="1" dirty="0">
                <a:solidFill>
                  <a:srgbClr val="E76F51"/>
                </a:solidFill>
                <a:latin typeface="Carlito" pitchFamily="34" charset="0"/>
                <a:ea typeface="Carlito" pitchFamily="34" charset="-122"/>
                <a:cs typeface="Carlito" pitchFamily="34" charset="-120"/>
              </a:rPr>
              <a:t>مثال:</a:t>
            </a:r>
            <a:r>
              <a:rPr lang="en-US" sz="800" dirty="0">
                <a:solidFill>
                  <a:srgbClr val="5A6B7B"/>
                </a:solidFill>
                <a:latin typeface="Carlito" pitchFamily="34" charset="0"/>
                <a:ea typeface="Carlito" pitchFamily="34" charset="-122"/>
                <a:cs typeface="Carlito" pitchFamily="34" charset="-120"/>
              </a:rPr>
              <a:t> مشاهده خشکی و ترک پوست پای بیمار دیابتی نشان‌دهنده نیاز به آموزش مراقبت از پا است.</a:t>
            </a:r>
            <a:endParaRPr lang="en-US" sz="800" dirty="0"/>
          </a:p>
        </p:txBody>
      </p:sp>
      <p:sp>
        <p:nvSpPr>
          <p:cNvPr id="34" name="Text 32"/>
          <p:cNvSpPr/>
          <p:nvPr/>
        </p:nvSpPr>
        <p:spPr>
          <a:xfrm>
            <a:off x="8308181" y="3484476"/>
            <a:ext cx="185738" cy="185738"/>
          </a:xfrm>
          <a:prstGeom prst="roundRect">
            <a:avLst>
              <a:gd name="adj" fmla="val 41026"/>
            </a:avLst>
          </a:prstGeom>
          <a:solidFill>
            <a:srgbClr val="1B4965"/>
          </a:solidFill>
          <a:ln/>
        </p:spPr>
        <p:txBody>
          <a:bodyPr wrap="square" rtlCol="0" anchor="ctr"/>
          <a:lstStyle/>
          <a:p>
            <a:pPr marL="0" indent="0">
              <a:buNone/>
            </a:pPr>
            <a:endParaRPr lang="en-US" dirty="0"/>
          </a:p>
        </p:txBody>
      </p:sp>
      <p:sp>
        <p:nvSpPr>
          <p:cNvPr id="35" name="Text 33"/>
          <p:cNvSpPr/>
          <p:nvPr/>
        </p:nvSpPr>
        <p:spPr>
          <a:xfrm>
            <a:off x="8318183" y="3494477"/>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36" name="Text 34"/>
          <p:cNvSpPr/>
          <p:nvPr/>
        </p:nvSpPr>
        <p:spPr>
          <a:xfrm>
            <a:off x="4850606" y="3484476"/>
            <a:ext cx="3555444"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در طی ارتباط / مداخله</a:t>
            </a:r>
            <a:endParaRPr lang="en-US" sz="800" dirty="0"/>
          </a:p>
        </p:txBody>
      </p:sp>
      <p:sp>
        <p:nvSpPr>
          <p:cNvPr id="37" name="Text 35"/>
          <p:cNvSpPr/>
          <p:nvPr/>
        </p:nvSpPr>
        <p:spPr>
          <a:xfrm>
            <a:off x="4850606" y="3655926"/>
            <a:ext cx="3386138" cy="362102"/>
          </a:xfrm>
          <a:prstGeom prst="rect">
            <a:avLst/>
          </a:prstGeom>
          <a:noFill/>
          <a:ln/>
        </p:spPr>
        <p:txBody>
          <a:bodyPr wrap="square" lIns="0" tIns="0" rIns="0" bIns="0" rtlCol="0" anchor="t"/>
          <a:lstStyle/>
          <a:p>
            <a:pPr marL="0" indent="0" algn="l">
              <a:lnSpc>
                <a:spcPts val="1160"/>
              </a:lnSpc>
              <a:buNone/>
            </a:pPr>
            <a:r>
              <a:rPr lang="en-US" sz="800" dirty="0">
                <a:solidFill>
                  <a:srgbClr val="5A6B7B"/>
                </a:solidFill>
                <a:latin typeface="Carlito" pitchFamily="34" charset="0"/>
                <a:ea typeface="Carlito" pitchFamily="34" charset="-122"/>
                <a:cs typeface="Carlito" pitchFamily="34" charset="-120"/>
              </a:rPr>
              <a:t>شناسایی نیاز در حین انجام کار پرستاری؛ مثل متوجه شدن عدم مهارت در استفاده از اسپایرومتر.</a:t>
            </a:r>
            <a:endParaRPr lang="en-US" sz="800" dirty="0"/>
          </a:p>
        </p:txBody>
      </p:sp>
      <p:sp>
        <p:nvSpPr>
          <p:cNvPr id="38" name="Text 36"/>
          <p:cNvSpPr/>
          <p:nvPr/>
        </p:nvSpPr>
        <p:spPr>
          <a:xfrm>
            <a:off x="4850606" y="4127302"/>
            <a:ext cx="3643313" cy="451842"/>
          </a:xfrm>
          <a:prstGeom prst="roundRect">
            <a:avLst>
              <a:gd name="adj" fmla="val 21080"/>
            </a:avLst>
          </a:prstGeom>
          <a:solidFill>
            <a:srgbClr val="FCE4DD"/>
          </a:solidFill>
          <a:ln/>
        </p:spPr>
        <p:txBody>
          <a:bodyPr wrap="square" rtlCol="0" anchor="ctr"/>
          <a:lstStyle/>
          <a:p>
            <a:pPr marL="0" indent="0">
              <a:buNone/>
            </a:pPr>
            <a:endParaRPr lang="en-US" dirty="0"/>
          </a:p>
        </p:txBody>
      </p:sp>
      <p:sp>
        <p:nvSpPr>
          <p:cNvPr id="39" name="Text 37"/>
          <p:cNvSpPr/>
          <p:nvPr/>
        </p:nvSpPr>
        <p:spPr>
          <a:xfrm>
            <a:off x="8243888" y="4213027"/>
            <a:ext cx="128588" cy="128588"/>
          </a:xfrm>
          <a:prstGeom prst="rect">
            <a:avLst/>
          </a:prstGeom>
          <a:noFill/>
          <a:ln/>
        </p:spPr>
        <p:txBody>
          <a:bodyPr wrap="none" lIns="0" tIns="0" rIns="0" bIns="0" rtlCol="0" anchor="ctr"/>
          <a:lstStyle/>
          <a:p>
            <a:pPr marL="0" indent="0" algn="ctr">
              <a:buNone/>
            </a:pPr>
            <a:r>
              <a:rPr lang="en-US" sz="1266" dirty="0">
                <a:solidFill>
                  <a:srgbClr val="E76F51"/>
                </a:solidFill>
                <a:latin typeface="Segoe UI Symbol" pitchFamily="34" charset="0"/>
                <a:ea typeface="Segoe UI Symbol" pitchFamily="34" charset="-122"/>
                <a:cs typeface="Segoe UI Symbol" pitchFamily="34" charset="-120"/>
              </a:rPr>
              <a:t>◆</a:t>
            </a:r>
            <a:endParaRPr lang="en-US" sz="1266" dirty="0"/>
          </a:p>
        </p:txBody>
      </p:sp>
      <p:sp>
        <p:nvSpPr>
          <p:cNvPr id="40" name="Text 38"/>
          <p:cNvSpPr/>
          <p:nvPr/>
        </p:nvSpPr>
        <p:spPr>
          <a:xfrm>
            <a:off x="4950619" y="4205883"/>
            <a:ext cx="3264694" cy="294680"/>
          </a:xfrm>
          <a:prstGeom prst="rect">
            <a:avLst/>
          </a:prstGeom>
          <a:noFill/>
          <a:ln/>
        </p:spPr>
        <p:txBody>
          <a:bodyPr wrap="square" lIns="0" tIns="0" rIns="0" bIns="0" rtlCol="0" anchor="t"/>
          <a:lstStyle/>
          <a:p>
            <a:pPr marL="0" indent="0" algn="l">
              <a:lnSpc>
                <a:spcPts val="1160"/>
              </a:lnSpc>
              <a:buNone/>
            </a:pPr>
            <a:r>
              <a:rPr lang="en-US" sz="800" dirty="0">
                <a:solidFill>
                  <a:srgbClr val="1A2733"/>
                </a:solidFill>
                <a:latin typeface="Carlito" pitchFamily="34" charset="0"/>
                <a:ea typeface="Carlito" pitchFamily="34" charset="-122"/>
                <a:cs typeface="Carlito" pitchFamily="34" charset="-120"/>
              </a:rPr>
              <a:t>ممکن است بیمار از نیاز خود آگاهی نداشته باشد — نقش پرستار بیدار کردن این آگاهی است.</a:t>
            </a:r>
            <a:endParaRPr lang="en-US" sz="800" dirty="0"/>
          </a:p>
        </p:txBody>
      </p:sp>
      <p:sp>
        <p:nvSpPr>
          <p:cNvPr id="41" name="Text 39"/>
          <p:cNvSpPr/>
          <p:nvPr/>
        </p:nvSpPr>
        <p:spPr>
          <a:xfrm>
            <a:off x="3993356" y="1260091"/>
            <a:ext cx="300038" cy="300038"/>
          </a:xfrm>
          <a:prstGeom prst="roundRect">
            <a:avLst>
              <a:gd name="adj" fmla="val 31746"/>
            </a:avLst>
          </a:prstGeom>
          <a:solidFill>
            <a:srgbClr val="2A9D8F"/>
          </a:solidFill>
          <a:ln/>
        </p:spPr>
        <p:txBody>
          <a:bodyPr wrap="square" rtlCol="0" anchor="ctr"/>
          <a:lstStyle/>
          <a:p>
            <a:pPr marL="0" indent="0">
              <a:buNone/>
            </a:pPr>
            <a:endParaRPr lang="en-US" dirty="0"/>
          </a:p>
        </p:txBody>
      </p:sp>
      <p:sp>
        <p:nvSpPr>
          <p:cNvPr id="42" name="Text 40"/>
          <p:cNvSpPr/>
          <p:nvPr/>
        </p:nvSpPr>
        <p:spPr>
          <a:xfrm>
            <a:off x="3993356" y="1260091"/>
            <a:ext cx="300038" cy="300038"/>
          </a:xfrm>
          <a:prstGeom prst="rect">
            <a:avLst/>
          </a:prstGeom>
          <a:noFill/>
          <a:ln/>
        </p:spPr>
        <p:txBody>
          <a:bodyPr wrap="none" lIns="0" tIns="0" rIns="0" bIns="0" rtlCol="0" anchor="ctr"/>
          <a:lstStyle/>
          <a:p>
            <a:pPr marL="0" indent="0" algn="ctr">
              <a:lnSpc>
                <a:spcPts val="1350"/>
              </a:lnSpc>
              <a:buNone/>
            </a:pPr>
            <a:r>
              <a:rPr lang="en-US" sz="900" b="1" dirty="0">
                <a:solidFill>
                  <a:srgbClr val="FFFFFF"/>
                </a:solidFill>
                <a:latin typeface="Carlito" pitchFamily="34" charset="0"/>
                <a:ea typeface="Carlito" pitchFamily="34" charset="-122"/>
                <a:cs typeface="Carlito" pitchFamily="34" charset="-120"/>
              </a:rPr>
              <a:t>۰۲</a:t>
            </a:r>
            <a:endParaRPr lang="en-US" sz="900" dirty="0"/>
          </a:p>
        </p:txBody>
      </p:sp>
      <p:sp>
        <p:nvSpPr>
          <p:cNvPr id="43" name="Text 41"/>
          <p:cNvSpPr/>
          <p:nvPr/>
        </p:nvSpPr>
        <p:spPr>
          <a:xfrm>
            <a:off x="1200596" y="1313669"/>
            <a:ext cx="3092797" cy="208312"/>
          </a:xfrm>
          <a:prstGeom prst="rect">
            <a:avLst/>
          </a:prstGeom>
          <a:noFill/>
          <a:ln/>
        </p:spPr>
        <p:txBody>
          <a:bodyPr wrap="none" lIns="0" tIns="0" rIns="0" bIns="0" rtlCol="0" anchor="t"/>
          <a:lstStyle/>
          <a:p>
            <a:pPr marL="0" indent="0" algn="l">
              <a:lnSpc>
                <a:spcPts val="1519"/>
              </a:lnSpc>
              <a:buNone/>
            </a:pPr>
            <a:r>
              <a:rPr lang="en-US" sz="1013" b="1" dirty="0">
                <a:solidFill>
                  <a:srgbClr val="2A9D8F"/>
                </a:solidFill>
                <a:latin typeface="Carlito" pitchFamily="34" charset="0"/>
                <a:ea typeface="Carlito" pitchFamily="34" charset="-122"/>
                <a:cs typeface="Carlito" pitchFamily="34" charset="-120"/>
              </a:rPr>
              <a:t>بررسی انگیزش</a:t>
            </a:r>
            <a:endParaRPr lang="en-US" sz="1013" dirty="0"/>
          </a:p>
        </p:txBody>
      </p:sp>
      <p:sp>
        <p:nvSpPr>
          <p:cNvPr id="44" name="Text 42"/>
          <p:cNvSpPr/>
          <p:nvPr/>
        </p:nvSpPr>
        <p:spPr>
          <a:xfrm>
            <a:off x="650081" y="1320098"/>
            <a:ext cx="464790"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45" name="Text 43"/>
          <p:cNvSpPr/>
          <p:nvPr/>
        </p:nvSpPr>
        <p:spPr>
          <a:xfrm>
            <a:off x="650081" y="1329742"/>
            <a:ext cx="464790"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گام دوم</a:t>
            </a:r>
            <a:endParaRPr lang="en-US" sz="800" dirty="0"/>
          </a:p>
        </p:txBody>
      </p:sp>
      <p:sp>
        <p:nvSpPr>
          <p:cNvPr id="46" name="Text 44"/>
          <p:cNvSpPr/>
          <p:nvPr/>
        </p:nvSpPr>
        <p:spPr>
          <a:xfrm>
            <a:off x="650081" y="1738722"/>
            <a:ext cx="3643313" cy="348996"/>
          </a:xfrm>
          <a:prstGeom prst="rect">
            <a:avLst/>
          </a:prstGeom>
          <a:noFill/>
          <a:ln/>
        </p:spPr>
        <p:txBody>
          <a:bodyPr wrap="square" lIns="100013" tIns="71438" rIns="100013" bIns="71438" rtlCol="0" anchor="t"/>
          <a:lstStyle/>
          <a:p>
            <a:pPr marL="0" indent="0" algn="l">
              <a:lnSpc>
                <a:spcPts val="1291"/>
              </a:lnSpc>
              <a:buNone/>
            </a:pPr>
            <a:r>
              <a:rPr lang="en-US" sz="800" dirty="0">
                <a:solidFill>
                  <a:srgbClr val="5A6B7B"/>
                </a:solidFill>
                <a:latin typeface="Carlito" pitchFamily="34" charset="0"/>
                <a:ea typeface="Carlito" pitchFamily="34" charset="-122"/>
                <a:cs typeface="Carlito" pitchFamily="34" charset="-120"/>
              </a:rPr>
              <a:t>بدون توجه به انگیزه و جلب علاقه یادگیرنده، آموزش موفق نخواهد بود.</a:t>
            </a:r>
            <a:endParaRPr lang="en-US" sz="800" dirty="0"/>
          </a:p>
        </p:txBody>
      </p:sp>
      <p:sp>
        <p:nvSpPr>
          <p:cNvPr id="47" name="Text 45"/>
          <p:cNvSpPr/>
          <p:nvPr/>
        </p:nvSpPr>
        <p:spPr>
          <a:xfrm>
            <a:off x="4107656" y="2159757"/>
            <a:ext cx="185738" cy="185738"/>
          </a:xfrm>
          <a:prstGeom prst="roundRect">
            <a:avLst>
              <a:gd name="adj" fmla="val 41026"/>
            </a:avLst>
          </a:prstGeom>
          <a:solidFill>
            <a:srgbClr val="2A9D8F"/>
          </a:solidFill>
          <a:ln/>
        </p:spPr>
        <p:txBody>
          <a:bodyPr wrap="square" rtlCol="0" anchor="ctr"/>
          <a:lstStyle/>
          <a:p>
            <a:pPr marL="0" indent="0">
              <a:buNone/>
            </a:pPr>
            <a:endParaRPr lang="en-US" dirty="0"/>
          </a:p>
        </p:txBody>
      </p:sp>
      <p:sp>
        <p:nvSpPr>
          <p:cNvPr id="48" name="Text 46"/>
          <p:cNvSpPr/>
          <p:nvPr/>
        </p:nvSpPr>
        <p:spPr>
          <a:xfrm>
            <a:off x="4117658" y="2169758"/>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49" name="Text 47"/>
          <p:cNvSpPr/>
          <p:nvPr/>
        </p:nvSpPr>
        <p:spPr>
          <a:xfrm>
            <a:off x="650081" y="2159757"/>
            <a:ext cx="3555444"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متقاعدسازی بیمار</a:t>
            </a:r>
            <a:endParaRPr lang="en-US" sz="800" dirty="0"/>
          </a:p>
        </p:txBody>
      </p:sp>
      <p:sp>
        <p:nvSpPr>
          <p:cNvPr id="50" name="Text 48"/>
          <p:cNvSpPr/>
          <p:nvPr/>
        </p:nvSpPr>
        <p:spPr>
          <a:xfrm>
            <a:off x="650081" y="2331207"/>
            <a:ext cx="3386138" cy="181051"/>
          </a:xfrm>
          <a:prstGeom prst="rect">
            <a:avLst/>
          </a:prstGeom>
          <a:noFill/>
          <a:ln/>
        </p:spPr>
        <p:txBody>
          <a:bodyPr wrap="square" lIns="0" tIns="0" rIns="0" bIns="0" rtlCol="0" anchor="t"/>
          <a:lstStyle/>
          <a:p>
            <a:pPr marL="0" indent="0" algn="l">
              <a:lnSpc>
                <a:spcPts val="1160"/>
              </a:lnSpc>
              <a:buNone/>
            </a:pPr>
            <a:r>
              <a:rPr lang="en-US" sz="800" dirty="0">
                <a:solidFill>
                  <a:srgbClr val="5A6B7B"/>
                </a:solidFill>
                <a:latin typeface="Carlito" pitchFamily="34" charset="0"/>
                <a:ea typeface="Carlito" pitchFamily="34" charset="-122"/>
                <a:cs typeface="Carlito" pitchFamily="34" charset="-120"/>
              </a:rPr>
              <a:t>مدرس باید جهت متقاعد کردن بیماران نیاز‌مند به یادگیری بکوشد.</a:t>
            </a:r>
            <a:endParaRPr lang="en-US" sz="800" dirty="0"/>
          </a:p>
        </p:txBody>
      </p:sp>
      <p:sp>
        <p:nvSpPr>
          <p:cNvPr id="51" name="Text 49"/>
          <p:cNvSpPr/>
          <p:nvPr/>
        </p:nvSpPr>
        <p:spPr>
          <a:xfrm>
            <a:off x="4107656" y="2592846"/>
            <a:ext cx="185738" cy="185738"/>
          </a:xfrm>
          <a:prstGeom prst="roundRect">
            <a:avLst>
              <a:gd name="adj" fmla="val 41026"/>
            </a:avLst>
          </a:prstGeom>
          <a:solidFill>
            <a:srgbClr val="2A9D8F"/>
          </a:solidFill>
          <a:ln/>
        </p:spPr>
        <p:txBody>
          <a:bodyPr wrap="square" rtlCol="0" anchor="ctr"/>
          <a:lstStyle/>
          <a:p>
            <a:pPr marL="0" indent="0">
              <a:buNone/>
            </a:pPr>
            <a:endParaRPr lang="en-US" dirty="0"/>
          </a:p>
        </p:txBody>
      </p:sp>
      <p:sp>
        <p:nvSpPr>
          <p:cNvPr id="52" name="Text 50"/>
          <p:cNvSpPr/>
          <p:nvPr/>
        </p:nvSpPr>
        <p:spPr>
          <a:xfrm>
            <a:off x="4117658" y="2602848"/>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53" name="Text 51"/>
          <p:cNvSpPr/>
          <p:nvPr/>
        </p:nvSpPr>
        <p:spPr>
          <a:xfrm>
            <a:off x="650081" y="2592846"/>
            <a:ext cx="3555444"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علل فقدان انگیزه</a:t>
            </a:r>
            <a:endParaRPr lang="en-US" sz="800" dirty="0"/>
          </a:p>
        </p:txBody>
      </p:sp>
      <p:sp>
        <p:nvSpPr>
          <p:cNvPr id="54" name="Text 52"/>
          <p:cNvSpPr/>
          <p:nvPr/>
        </p:nvSpPr>
        <p:spPr>
          <a:xfrm>
            <a:off x="650081" y="2764296"/>
            <a:ext cx="3386138" cy="362102"/>
          </a:xfrm>
          <a:prstGeom prst="rect">
            <a:avLst/>
          </a:prstGeom>
          <a:noFill/>
          <a:ln/>
        </p:spPr>
        <p:txBody>
          <a:bodyPr wrap="square" lIns="0" tIns="0" rIns="0" bIns="0" rtlCol="0" anchor="t"/>
          <a:lstStyle/>
          <a:p>
            <a:pPr marL="0" indent="0" algn="l">
              <a:lnSpc>
                <a:spcPts val="1160"/>
              </a:lnSpc>
              <a:buNone/>
            </a:pPr>
            <a:r>
              <a:rPr lang="en-US" sz="800" dirty="0">
                <a:solidFill>
                  <a:srgbClr val="5A6B7B"/>
                </a:solidFill>
                <a:latin typeface="Carlito" pitchFamily="34" charset="0"/>
                <a:ea typeface="Carlito" pitchFamily="34" charset="-122"/>
                <a:cs typeface="Carlito" pitchFamily="34" charset="-120"/>
              </a:rPr>
              <a:t>فقدان انگیزه می‌تواند ناشی از: اشکال در سازگاری با بیماری / اختلاف عقیده و سیستم ارزشی / تفاوت در درک مفاهیم سلامتی و بیماری.</a:t>
            </a:r>
            <a:endParaRPr lang="en-US" sz="800" dirty="0"/>
          </a:p>
        </p:txBody>
      </p:sp>
      <p:sp>
        <p:nvSpPr>
          <p:cNvPr id="55" name="Text 53"/>
          <p:cNvSpPr/>
          <p:nvPr/>
        </p:nvSpPr>
        <p:spPr>
          <a:xfrm>
            <a:off x="4107656" y="3173276"/>
            <a:ext cx="185738" cy="185738"/>
          </a:xfrm>
          <a:prstGeom prst="roundRect">
            <a:avLst>
              <a:gd name="adj" fmla="val 41026"/>
            </a:avLst>
          </a:prstGeom>
          <a:solidFill>
            <a:srgbClr val="2A9D8F"/>
          </a:solidFill>
          <a:ln/>
        </p:spPr>
        <p:txBody>
          <a:bodyPr wrap="square" rtlCol="0" anchor="ctr"/>
          <a:lstStyle/>
          <a:p>
            <a:pPr marL="0" indent="0">
              <a:buNone/>
            </a:pPr>
            <a:endParaRPr lang="en-US" dirty="0"/>
          </a:p>
        </p:txBody>
      </p:sp>
      <p:sp>
        <p:nvSpPr>
          <p:cNvPr id="56" name="Text 54"/>
          <p:cNvSpPr/>
          <p:nvPr/>
        </p:nvSpPr>
        <p:spPr>
          <a:xfrm>
            <a:off x="4117658" y="3183277"/>
            <a:ext cx="165735" cy="165735"/>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57" name="Text 55"/>
          <p:cNvSpPr/>
          <p:nvPr/>
        </p:nvSpPr>
        <p:spPr>
          <a:xfrm>
            <a:off x="650081" y="3173276"/>
            <a:ext cx="3555444" cy="144018"/>
          </a:xfrm>
          <a:prstGeom prst="rect">
            <a:avLst/>
          </a:prstGeom>
          <a:noFill/>
          <a:ln/>
        </p:spPr>
        <p:txBody>
          <a:bodyPr wrap="none" lIns="0" tIns="0" rIns="0" bIns="0" rtlCol="0" anchor="t">
            <a:normAutofit/>
          </a:bodyPr>
          <a:lstStyle/>
          <a:p>
            <a:pPr marL="0" indent="0" algn="l">
              <a:lnSpc>
                <a:spcPts val="1181"/>
              </a:lnSpc>
              <a:buNone/>
            </a:pPr>
            <a:r>
              <a:rPr lang="en-US" sz="800" b="1" dirty="0">
                <a:solidFill>
                  <a:srgbClr val="1A2733"/>
                </a:solidFill>
                <a:latin typeface="Carlito" pitchFamily="34" charset="0"/>
                <a:ea typeface="Carlito" pitchFamily="34" charset="-122"/>
                <a:cs typeface="Carlito" pitchFamily="34" charset="-120"/>
              </a:rPr>
              <a:t>پیش‌نیازهای آمادگی</a:t>
            </a:r>
            <a:endParaRPr lang="en-US" sz="800" dirty="0"/>
          </a:p>
        </p:txBody>
      </p:sp>
      <p:sp>
        <p:nvSpPr>
          <p:cNvPr id="58" name="Text 56"/>
          <p:cNvSpPr/>
          <p:nvPr/>
        </p:nvSpPr>
        <p:spPr>
          <a:xfrm>
            <a:off x="650081" y="3344726"/>
            <a:ext cx="3386138" cy="362102"/>
          </a:xfrm>
          <a:prstGeom prst="rect">
            <a:avLst/>
          </a:prstGeom>
          <a:noFill/>
          <a:ln/>
        </p:spPr>
        <p:txBody>
          <a:bodyPr wrap="square" lIns="0" tIns="0" rIns="0" bIns="0" rtlCol="0" anchor="t"/>
          <a:lstStyle/>
          <a:p>
            <a:pPr marL="0" indent="0" algn="l">
              <a:lnSpc>
                <a:spcPts val="1160"/>
              </a:lnSpc>
              <a:buNone/>
            </a:pPr>
            <a:r>
              <a:rPr lang="en-US" sz="800" dirty="0">
                <a:solidFill>
                  <a:srgbClr val="5A6B7B"/>
                </a:solidFill>
                <a:latin typeface="Carlito" pitchFamily="34" charset="0"/>
                <a:ea typeface="Carlito" pitchFamily="34" charset="-122"/>
                <a:cs typeface="Carlito" pitchFamily="34" charset="-120"/>
              </a:rPr>
              <a:t>آمادگی افراد به زمینه آموزش قبلی، توانایی ذهنی و نگرشی جهت قبول مسئولیت بستگی دارد.</a:t>
            </a:r>
            <a:endParaRPr lang="en-US" sz="800" dirty="0"/>
          </a:p>
        </p:txBody>
      </p:sp>
      <p:sp>
        <p:nvSpPr>
          <p:cNvPr id="59" name="Text 57"/>
          <p:cNvSpPr/>
          <p:nvPr/>
        </p:nvSpPr>
        <p:spPr>
          <a:xfrm>
            <a:off x="650081" y="4274641"/>
            <a:ext cx="3643313" cy="304502"/>
          </a:xfrm>
          <a:prstGeom prst="roundRect">
            <a:avLst>
              <a:gd name="adj" fmla="val 31281"/>
            </a:avLst>
          </a:prstGeom>
          <a:solidFill>
            <a:srgbClr val="D4F1ED"/>
          </a:solidFill>
          <a:ln/>
        </p:spPr>
        <p:txBody>
          <a:bodyPr wrap="square" rtlCol="0" anchor="ctr"/>
          <a:lstStyle/>
          <a:p>
            <a:pPr marL="0" indent="0">
              <a:buNone/>
            </a:pPr>
            <a:endParaRPr lang="en-US" dirty="0"/>
          </a:p>
        </p:txBody>
      </p:sp>
      <p:sp>
        <p:nvSpPr>
          <p:cNvPr id="60" name="Text 58"/>
          <p:cNvSpPr/>
          <p:nvPr/>
        </p:nvSpPr>
        <p:spPr>
          <a:xfrm>
            <a:off x="4043363" y="4360366"/>
            <a:ext cx="128588" cy="128588"/>
          </a:xfrm>
          <a:prstGeom prst="rect">
            <a:avLst/>
          </a:prstGeom>
          <a:noFill/>
          <a:ln/>
        </p:spPr>
        <p:txBody>
          <a:bodyPr wrap="none" lIns="0" tIns="0" rIns="0" bIns="0" rtlCol="0" anchor="ctr"/>
          <a:lstStyle/>
          <a:p>
            <a:pPr marL="0" indent="0" algn="ctr">
              <a:buNone/>
            </a:pPr>
            <a:r>
              <a:rPr lang="en-US" sz="1266" dirty="0">
                <a:solidFill>
                  <a:srgbClr val="2A9D8F"/>
                </a:solidFill>
                <a:latin typeface="Segoe UI Symbol" pitchFamily="34" charset="0"/>
                <a:ea typeface="Segoe UI Symbol" pitchFamily="34" charset="-122"/>
                <a:cs typeface="Segoe UI Symbol" pitchFamily="34" charset="-120"/>
              </a:rPr>
              <a:t>↻</a:t>
            </a:r>
            <a:endParaRPr lang="en-US" sz="1266" dirty="0"/>
          </a:p>
        </p:txBody>
      </p:sp>
      <p:sp>
        <p:nvSpPr>
          <p:cNvPr id="61" name="Text 59"/>
          <p:cNvSpPr/>
          <p:nvPr/>
        </p:nvSpPr>
        <p:spPr>
          <a:xfrm>
            <a:off x="1248482" y="4353223"/>
            <a:ext cx="2766306" cy="147340"/>
          </a:xfrm>
          <a:prstGeom prst="rect">
            <a:avLst/>
          </a:prstGeom>
          <a:noFill/>
          <a:ln/>
        </p:spPr>
        <p:txBody>
          <a:bodyPr wrap="square" lIns="0" tIns="0" rIns="0" bIns="0" rtlCol="0" anchor="t"/>
          <a:lstStyle/>
          <a:p>
            <a:pPr marL="0" indent="0" algn="l">
              <a:lnSpc>
                <a:spcPts val="1160"/>
              </a:lnSpc>
              <a:buNone/>
            </a:pPr>
            <a:r>
              <a:rPr lang="en-US" sz="800" dirty="0">
                <a:solidFill>
                  <a:srgbClr val="1A2733"/>
                </a:solidFill>
                <a:latin typeface="Carlito" pitchFamily="34" charset="0"/>
                <a:ea typeface="Carlito" pitchFamily="34" charset="-122"/>
                <a:cs typeface="Carlito" pitchFamily="34" charset="-120"/>
              </a:rPr>
              <a:t>انگیزش پویاست — باید در طول فرآیند آموزش بازسازی شود.</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2719090" y="400050"/>
            <a:ext cx="5967710" cy="359978"/>
          </a:xfrm>
          <a:prstGeom prst="rect">
            <a:avLst/>
          </a:prstGeom>
          <a:noFill/>
          <a:ln/>
        </p:spPr>
        <p:txBody>
          <a:bodyPr wrap="squar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مراحل ۳ و ۴ — اهداف و حیطه‌های یادگیری</a:t>
            </a:r>
            <a:endParaRPr lang="en-US" sz="2363" dirty="0"/>
          </a:p>
        </p:txBody>
      </p:sp>
      <p:sp>
        <p:nvSpPr>
          <p:cNvPr id="4" name="Text 2"/>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5" name="Text 3"/>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۲۰ / ۲۲</a:t>
            </a:r>
            <a:endParaRPr lang="en-US" sz="1013" dirty="0"/>
          </a:p>
        </p:txBody>
      </p:sp>
      <p:sp>
        <p:nvSpPr>
          <p:cNvPr id="6" name="Text 4"/>
          <p:cNvSpPr/>
          <p:nvPr/>
        </p:nvSpPr>
        <p:spPr>
          <a:xfrm>
            <a:off x="828675" y="1074353"/>
            <a:ext cx="7858125" cy="572153"/>
          </a:xfrm>
          <a:prstGeom prst="rect">
            <a:avLst/>
          </a:prstGeom>
          <a:noFill/>
          <a:ln/>
        </p:spPr>
        <p:txBody>
          <a:bodyPr wrap="square" lIns="128588" tIns="85725" rIns="128588" bIns="85725" rtlCol="0" anchor="t"/>
          <a:lstStyle/>
          <a:p>
            <a:pPr marL="0" indent="0" algn="l">
              <a:lnSpc>
                <a:spcPts val="1378"/>
              </a:lnSpc>
              <a:buNone/>
            </a:pPr>
            <a:r>
              <a:rPr lang="en-US" sz="800" dirty="0">
                <a:solidFill>
                  <a:srgbClr val="5A6B7B"/>
                </a:solidFill>
                <a:latin typeface="Carlito" pitchFamily="34" charset="0"/>
                <a:ea typeface="Carlito" pitchFamily="34" charset="-122"/>
                <a:cs typeface="Carlito" pitchFamily="34" charset="-120"/>
              </a:rPr>
              <a:t>اهداف یادگیری باید به صورت واقع‌بینانه و قابل دستیابی تدوین شوند و در سه حیطه شناختی، عاطفی و روانی-حرکتی طبقه‌بندی می‌شوند. مدرس در هر سه حیطه مطالب آموزشی را فراهم می‌کند.</a:t>
            </a:r>
            <a:endParaRPr lang="en-US" sz="800" dirty="0"/>
          </a:p>
        </p:txBody>
      </p:sp>
      <p:sp>
        <p:nvSpPr>
          <p:cNvPr id="7" name="Text 5"/>
          <p:cNvSpPr/>
          <p:nvPr/>
        </p:nvSpPr>
        <p:spPr>
          <a:xfrm>
            <a:off x="6038924" y="1710147"/>
            <a:ext cx="2647876" cy="2218916"/>
          </a:xfrm>
          <a:prstGeom prst="roundRect">
            <a:avLst>
              <a:gd name="adj" fmla="val 6868"/>
            </a:avLst>
          </a:prstGeom>
          <a:solidFill>
            <a:srgbClr val="FFFFFF"/>
          </a:solidFill>
          <a:ln/>
          <a:effectLst>
            <a:outerShdw blurRad="133350" dist="38100" dir="5400000" algn="bl" rotWithShape="0">
              <a:srgbClr val="0F2A3D">
                <a:alpha val="6000"/>
              </a:srgbClr>
            </a:outerShdw>
          </a:effectLst>
        </p:spPr>
        <p:txBody>
          <a:bodyPr wrap="square" rtlCol="0" anchor="ctr"/>
          <a:lstStyle/>
          <a:p>
            <a:pPr marL="0" indent="0">
              <a:buNone/>
            </a:pPr>
            <a:endParaRPr lang="en-US" dirty="0"/>
          </a:p>
        </p:txBody>
      </p:sp>
      <p:sp>
        <p:nvSpPr>
          <p:cNvPr id="8" name="Shape 6"/>
          <p:cNvSpPr/>
          <p:nvPr/>
        </p:nvSpPr>
        <p:spPr>
          <a:xfrm>
            <a:off x="6038924" y="1724434"/>
            <a:ext cx="2647876" cy="0"/>
          </a:xfrm>
          <a:prstGeom prst="line">
            <a:avLst/>
          </a:prstGeom>
          <a:noFill/>
          <a:ln w="28575">
            <a:solidFill>
              <a:srgbClr val="1B4965"/>
            </a:solidFill>
            <a:prstDash val="solid"/>
          </a:ln>
        </p:spPr>
      </p:sp>
      <p:sp>
        <p:nvSpPr>
          <p:cNvPr id="9" name="Shape 7"/>
          <p:cNvSpPr/>
          <p:nvPr/>
        </p:nvSpPr>
        <p:spPr>
          <a:xfrm>
            <a:off x="8683228" y="1710147"/>
            <a:ext cx="0" cy="2218916"/>
          </a:xfrm>
          <a:prstGeom prst="line">
            <a:avLst/>
          </a:prstGeom>
          <a:noFill/>
          <a:ln w="7144">
            <a:solidFill>
              <a:srgbClr val="D8E3EC"/>
            </a:solidFill>
            <a:prstDash val="solid"/>
          </a:ln>
        </p:spPr>
      </p:sp>
      <p:sp>
        <p:nvSpPr>
          <p:cNvPr id="10" name="Shape 8"/>
          <p:cNvSpPr/>
          <p:nvPr/>
        </p:nvSpPr>
        <p:spPr>
          <a:xfrm>
            <a:off x="6038924" y="3925491"/>
            <a:ext cx="2647876" cy="0"/>
          </a:xfrm>
          <a:prstGeom prst="line">
            <a:avLst/>
          </a:prstGeom>
          <a:noFill/>
          <a:ln w="7144">
            <a:solidFill>
              <a:srgbClr val="D8E3EC"/>
            </a:solidFill>
            <a:prstDash val="solid"/>
          </a:ln>
        </p:spPr>
      </p:sp>
      <p:sp>
        <p:nvSpPr>
          <p:cNvPr id="11" name="Shape 9"/>
          <p:cNvSpPr/>
          <p:nvPr/>
        </p:nvSpPr>
        <p:spPr>
          <a:xfrm>
            <a:off x="6042496" y="1710147"/>
            <a:ext cx="0" cy="2218916"/>
          </a:xfrm>
          <a:prstGeom prst="line">
            <a:avLst/>
          </a:prstGeom>
          <a:noFill/>
          <a:ln w="7144">
            <a:solidFill>
              <a:srgbClr val="D8E3EC"/>
            </a:solidFill>
            <a:prstDash val="solid"/>
          </a:ln>
        </p:spPr>
      </p:sp>
      <p:sp>
        <p:nvSpPr>
          <p:cNvPr id="12" name="Shape 10"/>
          <p:cNvSpPr/>
          <p:nvPr/>
        </p:nvSpPr>
        <p:spPr>
          <a:xfrm>
            <a:off x="8526066" y="3036987"/>
            <a:ext cx="0" cy="756345"/>
          </a:xfrm>
          <a:prstGeom prst="line">
            <a:avLst/>
          </a:prstGeom>
          <a:noFill/>
          <a:ln w="21431">
            <a:solidFill>
              <a:srgbClr val="1B4965"/>
            </a:solidFill>
            <a:prstDash val="solid"/>
          </a:ln>
        </p:spPr>
      </p:sp>
      <p:sp>
        <p:nvSpPr>
          <p:cNvPr id="13" name="Text 11"/>
          <p:cNvSpPr/>
          <p:nvPr/>
        </p:nvSpPr>
        <p:spPr>
          <a:xfrm>
            <a:off x="3248062" y="1710147"/>
            <a:ext cx="2647987" cy="2218916"/>
          </a:xfrm>
          <a:prstGeom prst="roundRect">
            <a:avLst>
              <a:gd name="adj" fmla="val 6868"/>
            </a:avLst>
          </a:prstGeom>
          <a:solidFill>
            <a:srgbClr val="FFFFFF"/>
          </a:solidFill>
          <a:ln/>
          <a:effectLst>
            <a:outerShdw blurRad="133350" dist="38100" dir="5400000" algn="bl" rotWithShape="0">
              <a:srgbClr val="0F2A3D">
                <a:alpha val="6000"/>
              </a:srgbClr>
            </a:outerShdw>
          </a:effectLst>
        </p:spPr>
        <p:txBody>
          <a:bodyPr wrap="square" rtlCol="0" anchor="ctr"/>
          <a:lstStyle/>
          <a:p>
            <a:pPr marL="0" indent="0">
              <a:buNone/>
            </a:pPr>
            <a:endParaRPr lang="en-US" dirty="0"/>
          </a:p>
        </p:txBody>
      </p:sp>
      <p:sp>
        <p:nvSpPr>
          <p:cNvPr id="14" name="Shape 12"/>
          <p:cNvSpPr/>
          <p:nvPr/>
        </p:nvSpPr>
        <p:spPr>
          <a:xfrm>
            <a:off x="3248062" y="1724434"/>
            <a:ext cx="2647987" cy="0"/>
          </a:xfrm>
          <a:prstGeom prst="line">
            <a:avLst/>
          </a:prstGeom>
          <a:noFill/>
          <a:ln w="28575">
            <a:solidFill>
              <a:srgbClr val="2A9D8F"/>
            </a:solidFill>
            <a:prstDash val="solid"/>
          </a:ln>
        </p:spPr>
      </p:sp>
      <p:sp>
        <p:nvSpPr>
          <p:cNvPr id="15" name="Shape 13"/>
          <p:cNvSpPr/>
          <p:nvPr/>
        </p:nvSpPr>
        <p:spPr>
          <a:xfrm>
            <a:off x="5892478" y="1710147"/>
            <a:ext cx="0" cy="2218916"/>
          </a:xfrm>
          <a:prstGeom prst="line">
            <a:avLst/>
          </a:prstGeom>
          <a:noFill/>
          <a:ln w="7144">
            <a:solidFill>
              <a:srgbClr val="D8E3EC"/>
            </a:solidFill>
            <a:prstDash val="solid"/>
          </a:ln>
        </p:spPr>
      </p:sp>
      <p:sp>
        <p:nvSpPr>
          <p:cNvPr id="16" name="Shape 14"/>
          <p:cNvSpPr/>
          <p:nvPr/>
        </p:nvSpPr>
        <p:spPr>
          <a:xfrm>
            <a:off x="3248062" y="3925491"/>
            <a:ext cx="2647987" cy="0"/>
          </a:xfrm>
          <a:prstGeom prst="line">
            <a:avLst/>
          </a:prstGeom>
          <a:noFill/>
          <a:ln w="7144">
            <a:solidFill>
              <a:srgbClr val="D8E3EC"/>
            </a:solidFill>
            <a:prstDash val="solid"/>
          </a:ln>
        </p:spPr>
      </p:sp>
      <p:sp>
        <p:nvSpPr>
          <p:cNvPr id="17" name="Shape 15"/>
          <p:cNvSpPr/>
          <p:nvPr/>
        </p:nvSpPr>
        <p:spPr>
          <a:xfrm>
            <a:off x="3251634" y="1710147"/>
            <a:ext cx="0" cy="2218916"/>
          </a:xfrm>
          <a:prstGeom prst="line">
            <a:avLst/>
          </a:prstGeom>
          <a:noFill/>
          <a:ln w="7144">
            <a:solidFill>
              <a:srgbClr val="D8E3EC"/>
            </a:solidFill>
            <a:prstDash val="solid"/>
          </a:ln>
        </p:spPr>
      </p:sp>
      <p:sp>
        <p:nvSpPr>
          <p:cNvPr id="18" name="Shape 16"/>
          <p:cNvSpPr/>
          <p:nvPr/>
        </p:nvSpPr>
        <p:spPr>
          <a:xfrm>
            <a:off x="5735315" y="3036987"/>
            <a:ext cx="0" cy="756345"/>
          </a:xfrm>
          <a:prstGeom prst="line">
            <a:avLst/>
          </a:prstGeom>
          <a:noFill/>
          <a:ln w="21431">
            <a:solidFill>
              <a:srgbClr val="2A9D8F"/>
            </a:solidFill>
            <a:prstDash val="solid"/>
          </a:ln>
        </p:spPr>
      </p:sp>
      <p:sp>
        <p:nvSpPr>
          <p:cNvPr id="19" name="Text 17"/>
          <p:cNvSpPr/>
          <p:nvPr/>
        </p:nvSpPr>
        <p:spPr>
          <a:xfrm>
            <a:off x="457312" y="1710147"/>
            <a:ext cx="2647876" cy="2218916"/>
          </a:xfrm>
          <a:prstGeom prst="roundRect">
            <a:avLst>
              <a:gd name="adj" fmla="val 6868"/>
            </a:avLst>
          </a:prstGeom>
          <a:solidFill>
            <a:srgbClr val="FFFFFF"/>
          </a:solidFill>
          <a:ln/>
          <a:effectLst>
            <a:outerShdw blurRad="133350" dist="38100" dir="5400000" algn="bl" rotWithShape="0">
              <a:srgbClr val="0F2A3D">
                <a:alpha val="6000"/>
              </a:srgbClr>
            </a:outerShdw>
          </a:effectLst>
        </p:spPr>
        <p:txBody>
          <a:bodyPr wrap="square" rtlCol="0" anchor="ctr"/>
          <a:lstStyle/>
          <a:p>
            <a:pPr marL="0" indent="0">
              <a:buNone/>
            </a:pPr>
            <a:endParaRPr lang="en-US" dirty="0"/>
          </a:p>
        </p:txBody>
      </p:sp>
      <p:sp>
        <p:nvSpPr>
          <p:cNvPr id="20" name="Shape 18"/>
          <p:cNvSpPr/>
          <p:nvPr/>
        </p:nvSpPr>
        <p:spPr>
          <a:xfrm>
            <a:off x="457312" y="1724434"/>
            <a:ext cx="2647876" cy="0"/>
          </a:xfrm>
          <a:prstGeom prst="line">
            <a:avLst/>
          </a:prstGeom>
          <a:noFill/>
          <a:ln w="28575">
            <a:solidFill>
              <a:srgbClr val="E76F51"/>
            </a:solidFill>
            <a:prstDash val="solid"/>
          </a:ln>
        </p:spPr>
      </p:sp>
      <p:sp>
        <p:nvSpPr>
          <p:cNvPr id="21" name="Shape 19"/>
          <p:cNvSpPr/>
          <p:nvPr/>
        </p:nvSpPr>
        <p:spPr>
          <a:xfrm>
            <a:off x="3101615" y="1710147"/>
            <a:ext cx="0" cy="2218916"/>
          </a:xfrm>
          <a:prstGeom prst="line">
            <a:avLst/>
          </a:prstGeom>
          <a:noFill/>
          <a:ln w="7144">
            <a:solidFill>
              <a:srgbClr val="D8E3EC"/>
            </a:solidFill>
            <a:prstDash val="solid"/>
          </a:ln>
        </p:spPr>
      </p:sp>
      <p:sp>
        <p:nvSpPr>
          <p:cNvPr id="22" name="Shape 20"/>
          <p:cNvSpPr/>
          <p:nvPr/>
        </p:nvSpPr>
        <p:spPr>
          <a:xfrm>
            <a:off x="457312" y="3925491"/>
            <a:ext cx="2647876" cy="0"/>
          </a:xfrm>
          <a:prstGeom prst="line">
            <a:avLst/>
          </a:prstGeom>
          <a:noFill/>
          <a:ln w="7144">
            <a:solidFill>
              <a:srgbClr val="D8E3EC"/>
            </a:solidFill>
            <a:prstDash val="solid"/>
          </a:ln>
        </p:spPr>
      </p:sp>
      <p:sp>
        <p:nvSpPr>
          <p:cNvPr id="23" name="Shape 21"/>
          <p:cNvSpPr/>
          <p:nvPr/>
        </p:nvSpPr>
        <p:spPr>
          <a:xfrm>
            <a:off x="460883" y="1710147"/>
            <a:ext cx="0" cy="2218916"/>
          </a:xfrm>
          <a:prstGeom prst="line">
            <a:avLst/>
          </a:prstGeom>
          <a:noFill/>
          <a:ln w="7144">
            <a:solidFill>
              <a:srgbClr val="D8E3EC"/>
            </a:solidFill>
            <a:prstDash val="solid"/>
          </a:ln>
        </p:spPr>
      </p:sp>
      <p:sp>
        <p:nvSpPr>
          <p:cNvPr id="24" name="Shape 22"/>
          <p:cNvSpPr/>
          <p:nvPr/>
        </p:nvSpPr>
        <p:spPr>
          <a:xfrm>
            <a:off x="2944453" y="3036987"/>
            <a:ext cx="0" cy="756345"/>
          </a:xfrm>
          <a:prstGeom prst="line">
            <a:avLst/>
          </a:prstGeom>
          <a:noFill/>
          <a:ln w="21431">
            <a:solidFill>
              <a:srgbClr val="E76F51"/>
            </a:solidFill>
            <a:prstDash val="solid"/>
          </a:ln>
        </p:spPr>
      </p:sp>
      <p:pic>
        <p:nvPicPr>
          <p:cNvPr id="25" name="Image 0" descr="preencoded.png"/>
          <p:cNvPicPr>
            <a:picLocks noChangeAspect="1"/>
          </p:cNvPicPr>
          <p:nvPr/>
        </p:nvPicPr>
        <p:blipFill>
          <a:blip r:embed="rId3"/>
          <a:stretch>
            <a:fillRect/>
          </a:stretch>
        </p:blipFill>
        <p:spPr>
          <a:xfrm>
            <a:off x="457200" y="4043363"/>
            <a:ext cx="8229600" cy="700088"/>
          </a:xfrm>
          <a:prstGeom prst="rect">
            <a:avLst/>
          </a:prstGeom>
        </p:spPr>
      </p:pic>
      <p:sp>
        <p:nvSpPr>
          <p:cNvPr id="26" name="Text 23"/>
          <p:cNvSpPr/>
          <p:nvPr/>
        </p:nvSpPr>
        <p:spPr>
          <a:xfrm>
            <a:off x="7682657" y="4332684"/>
            <a:ext cx="875556" cy="125403"/>
          </a:xfrm>
          <a:prstGeom prst="rect">
            <a:avLst/>
          </a:prstGeom>
          <a:noFill/>
          <a:ln/>
        </p:spPr>
        <p:txBody>
          <a:bodyPr wrap="none" lIns="0" tIns="0" rIns="0" bIns="0" rtlCol="0" anchor="t"/>
          <a:lstStyle/>
          <a:p>
            <a:pPr marL="0" indent="0" algn="l">
              <a:lnSpc>
                <a:spcPts val="1181"/>
              </a:lnSpc>
              <a:buNone/>
            </a:pPr>
            <a:r>
              <a:rPr lang="en-US" sz="800" b="1" dirty="0">
                <a:solidFill>
                  <a:srgbClr val="FFFFFF"/>
                </a:solidFill>
                <a:latin typeface="Carlito" pitchFamily="34" charset="0"/>
                <a:ea typeface="Carlito" pitchFamily="34" charset="-122"/>
                <a:cs typeface="Carlito" pitchFamily="34" charset="-120"/>
              </a:rPr>
              <a:t>روش‌های تدریس:</a:t>
            </a:r>
            <a:endParaRPr lang="en-US" sz="800" dirty="0"/>
          </a:p>
        </p:txBody>
      </p:sp>
      <p:sp>
        <p:nvSpPr>
          <p:cNvPr id="27" name="Text 24"/>
          <p:cNvSpPr/>
          <p:nvPr/>
        </p:nvSpPr>
        <p:spPr>
          <a:xfrm>
            <a:off x="8415338" y="4321969"/>
            <a:ext cx="142875" cy="142875"/>
          </a:xfrm>
          <a:prstGeom prst="rect">
            <a:avLst/>
          </a:prstGeom>
          <a:noFill/>
          <a:ln/>
        </p:spPr>
        <p:txBody>
          <a:bodyPr wrap="none" lIns="0" tIns="0" rIns="0" bIns="0" rtlCol="0" anchor="ctr"/>
          <a:lstStyle/>
          <a:p>
            <a:pPr marL="0" indent="0" algn="ctr">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28" name="Text 25"/>
          <p:cNvSpPr/>
          <p:nvPr/>
        </p:nvSpPr>
        <p:spPr>
          <a:xfrm>
            <a:off x="5252554" y="4139803"/>
            <a:ext cx="2326518" cy="221456"/>
          </a:xfrm>
          <a:prstGeom prst="roundRect">
            <a:avLst>
              <a:gd name="adj" fmla="val 4296779"/>
            </a:avLst>
          </a:prstGeom>
          <a:solidFill>
            <a:srgbClr val="FFFFFF">
              <a:alpha val="14000"/>
            </a:srgbClr>
          </a:solidFill>
          <a:ln w="7144">
            <a:solidFill>
              <a:srgbClr val="FFFFFF"/>
            </a:solidFill>
            <a:prstDash val="solid"/>
          </a:ln>
        </p:spPr>
        <p:txBody>
          <a:bodyPr wrap="square" rtlCol="0" anchor="ctr"/>
          <a:lstStyle/>
          <a:p>
            <a:pPr marL="0" indent="0">
              <a:buNone/>
            </a:pPr>
            <a:endParaRPr lang="en-US" dirty="0"/>
          </a:p>
        </p:txBody>
      </p:sp>
      <p:sp>
        <p:nvSpPr>
          <p:cNvPr id="29" name="Text 26"/>
          <p:cNvSpPr/>
          <p:nvPr/>
        </p:nvSpPr>
        <p:spPr>
          <a:xfrm>
            <a:off x="5341851" y="4200525"/>
            <a:ext cx="2240793" cy="128016"/>
          </a:xfrm>
          <a:prstGeom prst="rect">
            <a:avLst/>
          </a:prstGeom>
          <a:noFill/>
          <a:ln/>
        </p:spPr>
        <p:txBody>
          <a:bodyPr wrap="none" lIns="85725" tIns="42863" rIns="85725" bIns="42863" rtlCol="0" anchor="t"/>
          <a:lstStyle/>
          <a:p>
            <a:pPr marL="0" indent="0" algn="l">
              <a:lnSpc>
                <a:spcPts val="1013"/>
              </a:lnSpc>
              <a:buNone/>
            </a:pPr>
            <a:r>
              <a:rPr lang="en-US" sz="800" dirty="0">
                <a:solidFill>
                  <a:srgbClr val="FFFFFF"/>
                </a:solidFill>
                <a:latin typeface="Carlito" pitchFamily="34" charset="0"/>
                <a:ea typeface="Carlito" pitchFamily="34" charset="-122"/>
                <a:cs typeface="Carlito" pitchFamily="34" charset="-120"/>
              </a:rPr>
              <a:t>رسانه‌های نوشتاری و سمعی-بصری (بروشور، ویدیو)</a:t>
            </a:r>
            <a:endParaRPr lang="en-US" sz="800" dirty="0"/>
          </a:p>
        </p:txBody>
      </p:sp>
      <p:sp>
        <p:nvSpPr>
          <p:cNvPr id="30" name="Text 27"/>
          <p:cNvSpPr/>
          <p:nvPr/>
        </p:nvSpPr>
        <p:spPr>
          <a:xfrm>
            <a:off x="7389763" y="420052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31" name="Text 28"/>
          <p:cNvSpPr/>
          <p:nvPr/>
        </p:nvSpPr>
        <p:spPr>
          <a:xfrm>
            <a:off x="3614291" y="4139803"/>
            <a:ext cx="1573969" cy="221456"/>
          </a:xfrm>
          <a:prstGeom prst="roundRect">
            <a:avLst>
              <a:gd name="adj" fmla="val 4296779"/>
            </a:avLst>
          </a:prstGeom>
          <a:solidFill>
            <a:srgbClr val="FFFFFF">
              <a:alpha val="14000"/>
            </a:srgbClr>
          </a:solidFill>
          <a:ln w="7144">
            <a:solidFill>
              <a:srgbClr val="FFFFFF"/>
            </a:solidFill>
            <a:prstDash val="solid"/>
          </a:ln>
        </p:spPr>
        <p:txBody>
          <a:bodyPr wrap="square" rtlCol="0" anchor="ctr"/>
          <a:lstStyle/>
          <a:p>
            <a:pPr marL="0" indent="0">
              <a:buNone/>
            </a:pPr>
            <a:endParaRPr lang="en-US" dirty="0"/>
          </a:p>
        </p:txBody>
      </p:sp>
      <p:sp>
        <p:nvSpPr>
          <p:cNvPr id="32" name="Text 29"/>
          <p:cNvSpPr/>
          <p:nvPr/>
        </p:nvSpPr>
        <p:spPr>
          <a:xfrm>
            <a:off x="3703588" y="4200525"/>
            <a:ext cx="1516819" cy="128016"/>
          </a:xfrm>
          <a:prstGeom prst="rect">
            <a:avLst/>
          </a:prstGeom>
          <a:noFill/>
          <a:ln/>
        </p:spPr>
        <p:txBody>
          <a:bodyPr wrap="none" lIns="85725" tIns="42863" rIns="85725" bIns="42863" rtlCol="0" anchor="t"/>
          <a:lstStyle/>
          <a:p>
            <a:pPr marL="0" indent="0" algn="l">
              <a:lnSpc>
                <a:spcPts val="1013"/>
              </a:lnSpc>
              <a:buNone/>
            </a:pPr>
            <a:r>
              <a:rPr lang="en-US" sz="800" dirty="0">
                <a:solidFill>
                  <a:srgbClr val="FFFFFF"/>
                </a:solidFill>
                <a:latin typeface="Carlito" pitchFamily="34" charset="0"/>
                <a:ea typeface="Carlito" pitchFamily="34" charset="-122"/>
                <a:cs typeface="Carlito" pitchFamily="34" charset="-120"/>
              </a:rPr>
              <a:t>سخنرانی و بحث (توضیح تعاملی)</a:t>
            </a:r>
            <a:endParaRPr lang="en-US" sz="800" dirty="0"/>
          </a:p>
        </p:txBody>
      </p:sp>
      <p:sp>
        <p:nvSpPr>
          <p:cNvPr id="33" name="Text 30"/>
          <p:cNvSpPr/>
          <p:nvPr/>
        </p:nvSpPr>
        <p:spPr>
          <a:xfrm>
            <a:off x="4998951" y="420052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34" name="Text 31"/>
          <p:cNvSpPr/>
          <p:nvPr/>
        </p:nvSpPr>
        <p:spPr>
          <a:xfrm>
            <a:off x="1680567" y="4139803"/>
            <a:ext cx="1869430" cy="221456"/>
          </a:xfrm>
          <a:prstGeom prst="roundRect">
            <a:avLst>
              <a:gd name="adj" fmla="val 4296779"/>
            </a:avLst>
          </a:prstGeom>
          <a:solidFill>
            <a:srgbClr val="FFFFFF">
              <a:alpha val="14000"/>
            </a:srgbClr>
          </a:solidFill>
          <a:ln w="7144">
            <a:solidFill>
              <a:srgbClr val="FFFFFF"/>
            </a:solidFill>
            <a:prstDash val="solid"/>
          </a:ln>
        </p:spPr>
        <p:txBody>
          <a:bodyPr wrap="square" rtlCol="0" anchor="ctr"/>
          <a:lstStyle/>
          <a:p>
            <a:pPr marL="0" indent="0">
              <a:buNone/>
            </a:pPr>
            <a:endParaRPr lang="en-US" dirty="0"/>
          </a:p>
        </p:txBody>
      </p:sp>
      <p:sp>
        <p:nvSpPr>
          <p:cNvPr id="35" name="Text 32"/>
          <p:cNvSpPr/>
          <p:nvPr/>
        </p:nvSpPr>
        <p:spPr>
          <a:xfrm>
            <a:off x="1769864" y="4200525"/>
            <a:ext cx="1812280" cy="128016"/>
          </a:xfrm>
          <a:prstGeom prst="rect">
            <a:avLst/>
          </a:prstGeom>
          <a:noFill/>
          <a:ln/>
        </p:spPr>
        <p:txBody>
          <a:bodyPr wrap="none" lIns="85725" tIns="42863" rIns="85725" bIns="42863" rtlCol="0" anchor="t"/>
          <a:lstStyle/>
          <a:p>
            <a:pPr marL="0" indent="0" algn="l">
              <a:lnSpc>
                <a:spcPts val="1013"/>
              </a:lnSpc>
              <a:buNone/>
            </a:pPr>
            <a:r>
              <a:rPr lang="en-US" sz="675" dirty="0">
                <a:solidFill>
                  <a:srgbClr val="FFFFFF"/>
                </a:solidFill>
                <a:latin typeface="Carlito" pitchFamily="34" charset="0"/>
                <a:ea typeface="Carlito" pitchFamily="34" charset="-122"/>
                <a:cs typeface="Carlito" pitchFamily="34" charset="-120"/>
              </a:rPr>
              <a:t>نمایش روش انجام کار (demonstration)</a:t>
            </a:r>
            <a:endParaRPr lang="en-US" sz="675" dirty="0"/>
          </a:p>
        </p:txBody>
      </p:sp>
      <p:sp>
        <p:nvSpPr>
          <p:cNvPr id="36" name="Text 33"/>
          <p:cNvSpPr/>
          <p:nvPr/>
        </p:nvSpPr>
        <p:spPr>
          <a:xfrm>
            <a:off x="3360688" y="420052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37" name="Text 34"/>
          <p:cNvSpPr/>
          <p:nvPr/>
        </p:nvSpPr>
        <p:spPr>
          <a:xfrm>
            <a:off x="5381141" y="4425553"/>
            <a:ext cx="2197931" cy="221456"/>
          </a:xfrm>
          <a:prstGeom prst="roundRect">
            <a:avLst>
              <a:gd name="adj" fmla="val 4296779"/>
            </a:avLst>
          </a:prstGeom>
          <a:solidFill>
            <a:srgbClr val="FFFFFF">
              <a:alpha val="14000"/>
            </a:srgbClr>
          </a:solidFill>
          <a:ln w="7144">
            <a:solidFill>
              <a:srgbClr val="FFFFFF"/>
            </a:solidFill>
            <a:prstDash val="solid"/>
          </a:ln>
        </p:spPr>
        <p:txBody>
          <a:bodyPr wrap="square" rtlCol="0" anchor="ctr"/>
          <a:lstStyle/>
          <a:p>
            <a:pPr marL="0" indent="0">
              <a:buNone/>
            </a:pPr>
            <a:endParaRPr lang="en-US" dirty="0"/>
          </a:p>
        </p:txBody>
      </p:sp>
      <p:sp>
        <p:nvSpPr>
          <p:cNvPr id="38" name="Text 35"/>
          <p:cNvSpPr/>
          <p:nvPr/>
        </p:nvSpPr>
        <p:spPr>
          <a:xfrm>
            <a:off x="5470438" y="4486275"/>
            <a:ext cx="2112206" cy="128016"/>
          </a:xfrm>
          <a:prstGeom prst="rect">
            <a:avLst/>
          </a:prstGeom>
          <a:noFill/>
          <a:ln/>
        </p:spPr>
        <p:txBody>
          <a:bodyPr wrap="none" lIns="85725" tIns="42863" rIns="85725" bIns="42863" rtlCol="0" anchor="t"/>
          <a:lstStyle/>
          <a:p>
            <a:pPr marL="0" indent="0" algn="l">
              <a:lnSpc>
                <a:spcPts val="1013"/>
              </a:lnSpc>
              <a:buNone/>
            </a:pPr>
            <a:r>
              <a:rPr lang="en-US" sz="800" dirty="0">
                <a:solidFill>
                  <a:srgbClr val="FFFFFF"/>
                </a:solidFill>
                <a:latin typeface="Carlito" pitchFamily="34" charset="0"/>
                <a:ea typeface="Carlito" pitchFamily="34" charset="-122"/>
                <a:cs typeface="Carlito" pitchFamily="34" charset="-120"/>
              </a:rPr>
              <a:t>گروه‌های یادگیری (گروه دیابتی، گروه سرطان)</a:t>
            </a:r>
            <a:endParaRPr lang="en-US" sz="800" dirty="0"/>
          </a:p>
        </p:txBody>
      </p:sp>
      <p:sp>
        <p:nvSpPr>
          <p:cNvPr id="39" name="Text 36"/>
          <p:cNvSpPr/>
          <p:nvPr/>
        </p:nvSpPr>
        <p:spPr>
          <a:xfrm>
            <a:off x="7389763" y="448627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40" name="Text 37"/>
          <p:cNvSpPr/>
          <p:nvPr/>
        </p:nvSpPr>
        <p:spPr>
          <a:xfrm>
            <a:off x="8193881" y="1867309"/>
            <a:ext cx="342900" cy="342900"/>
          </a:xfrm>
          <a:prstGeom prst="roundRect">
            <a:avLst>
              <a:gd name="adj" fmla="val 33333"/>
            </a:avLst>
          </a:prstGeom>
          <a:solidFill>
            <a:srgbClr val="CDE7F0"/>
          </a:solidFill>
          <a:ln/>
        </p:spPr>
        <p:txBody>
          <a:bodyPr wrap="square" rtlCol="0" anchor="ctr"/>
          <a:lstStyle/>
          <a:p>
            <a:pPr marL="0" indent="0">
              <a:buNone/>
            </a:pPr>
            <a:endParaRPr lang="en-US" dirty="0"/>
          </a:p>
        </p:txBody>
      </p:sp>
      <p:sp>
        <p:nvSpPr>
          <p:cNvPr id="41" name="Text 38"/>
          <p:cNvSpPr/>
          <p:nvPr/>
        </p:nvSpPr>
        <p:spPr>
          <a:xfrm>
            <a:off x="8220313" y="1893741"/>
            <a:ext cx="290036" cy="290036"/>
          </a:xfrm>
          <a:prstGeom prst="rect">
            <a:avLst/>
          </a:prstGeom>
          <a:noFill/>
          <a:ln/>
        </p:spPr>
        <p:txBody>
          <a:bodyPr wrap="none" lIns="0" tIns="0" rIns="0" bIns="0" rtlCol="0" anchor="ctr"/>
          <a:lstStyle/>
          <a:p>
            <a:pPr marL="0" indent="0" algn="ctr">
              <a:buNone/>
            </a:pPr>
            <a:r>
              <a:rPr lang="en-US" sz="1969" dirty="0">
                <a:solidFill>
                  <a:srgbClr val="1B4965"/>
                </a:solidFill>
                <a:latin typeface="Segoe UI Symbol" pitchFamily="34" charset="0"/>
                <a:ea typeface="Segoe UI Symbol" pitchFamily="34" charset="-122"/>
                <a:cs typeface="Segoe UI Symbol" pitchFamily="34" charset="-120"/>
              </a:rPr>
              <a:t>◆</a:t>
            </a:r>
            <a:endParaRPr lang="en-US" sz="1969" dirty="0"/>
          </a:p>
        </p:txBody>
      </p:sp>
      <p:sp>
        <p:nvSpPr>
          <p:cNvPr id="42" name="Text 39"/>
          <p:cNvSpPr/>
          <p:nvPr/>
        </p:nvSpPr>
        <p:spPr>
          <a:xfrm>
            <a:off x="7788585" y="2303078"/>
            <a:ext cx="748196" cy="146590"/>
          </a:xfrm>
          <a:prstGeom prst="rect">
            <a:avLst/>
          </a:prstGeom>
          <a:noFill/>
          <a:ln/>
        </p:spPr>
        <p:txBody>
          <a:bodyPr wrap="none" lIns="0" tIns="0" rIns="0" bIns="0" rtlCol="0" anchor="t"/>
          <a:lstStyle/>
          <a:p>
            <a:pPr marL="0" indent="0" algn="l">
              <a:lnSpc>
                <a:spcPts val="1434"/>
              </a:lnSpc>
              <a:buNone/>
            </a:pPr>
            <a:r>
              <a:rPr lang="en-US" sz="956" b="1" dirty="0">
                <a:solidFill>
                  <a:srgbClr val="1B4965"/>
                </a:solidFill>
                <a:latin typeface="Carlito" pitchFamily="34" charset="0"/>
                <a:ea typeface="Carlito" pitchFamily="34" charset="-122"/>
                <a:cs typeface="Carlito" pitchFamily="34" charset="-120"/>
              </a:rPr>
              <a:t>حیطه شناختی</a:t>
            </a:r>
            <a:endParaRPr lang="en-US" sz="956" dirty="0"/>
          </a:p>
        </p:txBody>
      </p:sp>
      <p:sp>
        <p:nvSpPr>
          <p:cNvPr id="43" name="Text 40"/>
          <p:cNvSpPr/>
          <p:nvPr/>
        </p:nvSpPr>
        <p:spPr>
          <a:xfrm>
            <a:off x="7373355" y="2324509"/>
            <a:ext cx="1163427" cy="164592"/>
          </a:xfrm>
          <a:prstGeom prst="rect">
            <a:avLst/>
          </a:prstGeom>
          <a:noFill/>
          <a:ln/>
        </p:spPr>
        <p:txBody>
          <a:bodyPr wrap="none" lIns="0" tIns="0" rIns="0" bIns="0" rtlCol="0" anchor="t"/>
          <a:lstStyle/>
          <a:p>
            <a:pPr marL="0" indent="0" algn="l">
              <a:lnSpc>
                <a:spcPts val="928"/>
              </a:lnSpc>
              <a:buNone/>
            </a:pPr>
            <a:r>
              <a:rPr lang="en-US" sz="800" dirty="0">
                <a:solidFill>
                  <a:srgbClr val="1B4965">
                    <a:alpha val="55000"/>
                  </a:srgbClr>
                </a:solidFill>
                <a:latin typeface="Carlito" pitchFamily="34" charset="0"/>
                <a:ea typeface="Carlito" pitchFamily="34" charset="-122"/>
                <a:cs typeface="Carlito" pitchFamily="34" charset="-120"/>
              </a:rPr>
              <a:t>Cognitive</a:t>
            </a:r>
            <a:endParaRPr lang="en-US" sz="800" dirty="0"/>
          </a:p>
        </p:txBody>
      </p:sp>
      <p:sp>
        <p:nvSpPr>
          <p:cNvPr id="44" name="Text 41"/>
          <p:cNvSpPr/>
          <p:nvPr/>
        </p:nvSpPr>
        <p:spPr>
          <a:xfrm>
            <a:off x="6188943" y="2535250"/>
            <a:ext cx="2457566" cy="186436"/>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درک ذهنی بیمار از بیماری و درمان خود.</a:t>
            </a:r>
            <a:endParaRPr lang="en-US" sz="800" dirty="0"/>
          </a:p>
        </p:txBody>
      </p:sp>
      <p:sp>
        <p:nvSpPr>
          <p:cNvPr id="45" name="Text 42"/>
          <p:cNvSpPr/>
          <p:nvPr/>
        </p:nvSpPr>
        <p:spPr>
          <a:xfrm>
            <a:off x="6188943" y="3036987"/>
            <a:ext cx="2347838" cy="756345"/>
          </a:xfrm>
          <a:prstGeom prst="roundRect">
            <a:avLst>
              <a:gd name="adj" fmla="val 12593"/>
            </a:avLst>
          </a:prstGeom>
          <a:solidFill>
            <a:srgbClr val="F4F8FB"/>
          </a:solidFill>
          <a:ln/>
        </p:spPr>
        <p:txBody>
          <a:bodyPr wrap="square" rtlCol="0" anchor="ctr"/>
          <a:lstStyle/>
          <a:p>
            <a:pPr marL="0" indent="0">
              <a:buNone/>
            </a:pPr>
            <a:endParaRPr lang="en-US" dirty="0"/>
          </a:p>
        </p:txBody>
      </p:sp>
      <p:sp>
        <p:nvSpPr>
          <p:cNvPr id="46" name="Text 43"/>
          <p:cNvSpPr/>
          <p:nvPr/>
        </p:nvSpPr>
        <p:spPr>
          <a:xfrm>
            <a:off x="7826057" y="3136999"/>
            <a:ext cx="608625" cy="101156"/>
          </a:xfrm>
          <a:prstGeom prst="rect">
            <a:avLst/>
          </a:prstGeom>
          <a:noFill/>
          <a:ln/>
        </p:spPr>
        <p:txBody>
          <a:bodyPr wrap="none" lIns="0" tIns="0" rIns="0" bIns="0" rtlCol="0" anchor="t">
            <a:normAutofit/>
          </a:bodyPr>
          <a:lstStyle/>
          <a:p>
            <a:pPr marL="0" indent="0" algn="l">
              <a:lnSpc>
                <a:spcPts val="844"/>
              </a:lnSpc>
              <a:buNone/>
            </a:pPr>
            <a:r>
              <a:rPr lang="en-US" sz="800" b="1" kern="0" spc="84" dirty="0">
                <a:solidFill>
                  <a:srgbClr val="1B4965"/>
                </a:solidFill>
                <a:latin typeface="Carlito" pitchFamily="34" charset="0"/>
                <a:ea typeface="Carlito" pitchFamily="34" charset="-122"/>
                <a:cs typeface="Carlito" pitchFamily="34" charset="-120"/>
              </a:rPr>
              <a:t>مثال بالینی</a:t>
            </a:r>
            <a:endParaRPr lang="en-US" sz="800" dirty="0"/>
          </a:p>
        </p:txBody>
      </p:sp>
      <p:sp>
        <p:nvSpPr>
          <p:cNvPr id="47" name="Text 44"/>
          <p:cNvSpPr/>
          <p:nvPr/>
        </p:nvSpPr>
        <p:spPr>
          <a:xfrm>
            <a:off x="8322469" y="3129855"/>
            <a:ext cx="92869" cy="92869"/>
          </a:xfrm>
          <a:prstGeom prst="rect">
            <a:avLst/>
          </a:prstGeom>
          <a:noFill/>
          <a:ln/>
        </p:spPr>
        <p:txBody>
          <a:bodyPr wrap="none" lIns="0" tIns="0" rIns="0" bIns="0" rtlCol="0" anchor="ctr"/>
          <a:lstStyle/>
          <a:p>
            <a:pPr marL="0" indent="0" algn="ctr">
              <a:buNone/>
            </a:pPr>
            <a:r>
              <a:rPr lang="en-US" sz="914" dirty="0">
                <a:solidFill>
                  <a:srgbClr val="1B4965"/>
                </a:solidFill>
                <a:latin typeface="Segoe UI Symbol" pitchFamily="34" charset="0"/>
                <a:ea typeface="Segoe UI Symbol" pitchFamily="34" charset="-122"/>
                <a:cs typeface="Segoe UI Symbol" pitchFamily="34" charset="-120"/>
              </a:rPr>
              <a:t>⚑</a:t>
            </a:r>
            <a:endParaRPr lang="en-US" sz="914" dirty="0"/>
          </a:p>
        </p:txBody>
      </p:sp>
      <p:sp>
        <p:nvSpPr>
          <p:cNvPr id="48" name="Text 45"/>
          <p:cNvSpPr/>
          <p:nvPr/>
        </p:nvSpPr>
        <p:spPr>
          <a:xfrm>
            <a:off x="6288956" y="3265587"/>
            <a:ext cx="2126382" cy="442020"/>
          </a:xfrm>
          <a:prstGeom prst="rect">
            <a:avLst/>
          </a:prstGeom>
          <a:noFill/>
          <a:ln/>
        </p:spPr>
        <p:txBody>
          <a:bodyPr wrap="square" lIns="0" tIns="0" rIns="0" bIns="0" rtlCol="0" anchor="t"/>
          <a:lstStyle/>
          <a:p>
            <a:pPr marL="0" indent="0" algn="l">
              <a:lnSpc>
                <a:spcPts val="1160"/>
              </a:lnSpc>
              <a:buNone/>
            </a:pPr>
            <a:r>
              <a:rPr lang="en-US" sz="800" dirty="0">
                <a:solidFill>
                  <a:srgbClr val="1A2733"/>
                </a:solidFill>
                <a:latin typeface="Carlito" pitchFamily="34" charset="0"/>
                <a:ea typeface="Carlito" pitchFamily="34" charset="-122"/>
                <a:cs typeface="Carlito" pitchFamily="34" charset="-120"/>
              </a:rPr>
              <a:t>چگونگی تأثیر دیابت بر بدن — بیمار مکانیسم افزایش قند خون و اثر آن بر اعصاب، کلیه و چشم را توضیح می‌دهد.</a:t>
            </a:r>
            <a:endParaRPr lang="en-US" sz="800" dirty="0"/>
          </a:p>
        </p:txBody>
      </p:sp>
      <p:sp>
        <p:nvSpPr>
          <p:cNvPr id="49" name="Text 46"/>
          <p:cNvSpPr/>
          <p:nvPr/>
        </p:nvSpPr>
        <p:spPr>
          <a:xfrm>
            <a:off x="5403131" y="1867309"/>
            <a:ext cx="342900" cy="342900"/>
          </a:xfrm>
          <a:prstGeom prst="roundRect">
            <a:avLst>
              <a:gd name="adj" fmla="val 33333"/>
            </a:avLst>
          </a:prstGeom>
          <a:solidFill>
            <a:srgbClr val="D4F1ED"/>
          </a:solidFill>
          <a:ln/>
        </p:spPr>
        <p:txBody>
          <a:bodyPr wrap="square" rtlCol="0" anchor="ctr"/>
          <a:lstStyle/>
          <a:p>
            <a:pPr marL="0" indent="0">
              <a:buNone/>
            </a:pPr>
            <a:endParaRPr lang="en-US" dirty="0"/>
          </a:p>
        </p:txBody>
      </p:sp>
      <p:sp>
        <p:nvSpPr>
          <p:cNvPr id="50" name="Text 47"/>
          <p:cNvSpPr/>
          <p:nvPr/>
        </p:nvSpPr>
        <p:spPr>
          <a:xfrm>
            <a:off x="5429563" y="1893741"/>
            <a:ext cx="290036" cy="290036"/>
          </a:xfrm>
          <a:prstGeom prst="rect">
            <a:avLst/>
          </a:prstGeom>
          <a:noFill/>
          <a:ln/>
        </p:spPr>
        <p:txBody>
          <a:bodyPr wrap="none" lIns="0" tIns="0" rIns="0" bIns="0" rtlCol="0" anchor="ctr"/>
          <a:lstStyle/>
          <a:p>
            <a:pPr marL="0" indent="0" algn="ctr">
              <a:buNone/>
            </a:pPr>
            <a:r>
              <a:rPr lang="en-US" sz="1969" dirty="0">
                <a:solidFill>
                  <a:srgbClr val="2A9D8F"/>
                </a:solidFill>
                <a:latin typeface="Segoe UI Symbol" pitchFamily="34" charset="0"/>
                <a:ea typeface="Segoe UI Symbol" pitchFamily="34" charset="-122"/>
                <a:cs typeface="Segoe UI Symbol" pitchFamily="34" charset="-120"/>
              </a:rPr>
              <a:t>♥</a:t>
            </a:r>
            <a:endParaRPr lang="en-US" sz="1969" dirty="0"/>
          </a:p>
        </p:txBody>
      </p:sp>
      <p:sp>
        <p:nvSpPr>
          <p:cNvPr id="51" name="Text 48"/>
          <p:cNvSpPr/>
          <p:nvPr/>
        </p:nvSpPr>
        <p:spPr>
          <a:xfrm>
            <a:off x="5069272" y="2303078"/>
            <a:ext cx="676759" cy="146590"/>
          </a:xfrm>
          <a:prstGeom prst="rect">
            <a:avLst/>
          </a:prstGeom>
          <a:noFill/>
          <a:ln/>
        </p:spPr>
        <p:txBody>
          <a:bodyPr wrap="none" lIns="0" tIns="0" rIns="0" bIns="0" rtlCol="0" anchor="t"/>
          <a:lstStyle/>
          <a:p>
            <a:pPr marL="0" indent="0" algn="l">
              <a:lnSpc>
                <a:spcPts val="1434"/>
              </a:lnSpc>
              <a:buNone/>
            </a:pPr>
            <a:r>
              <a:rPr lang="en-US" sz="956" b="1" dirty="0">
                <a:solidFill>
                  <a:srgbClr val="2A9D8F"/>
                </a:solidFill>
                <a:latin typeface="Carlito" pitchFamily="34" charset="0"/>
                <a:ea typeface="Carlito" pitchFamily="34" charset="-122"/>
                <a:cs typeface="Carlito" pitchFamily="34" charset="-120"/>
              </a:rPr>
              <a:t>حیطه عاطفی</a:t>
            </a:r>
            <a:endParaRPr lang="en-US" sz="956" dirty="0"/>
          </a:p>
        </p:txBody>
      </p:sp>
      <p:sp>
        <p:nvSpPr>
          <p:cNvPr id="52" name="Text 49"/>
          <p:cNvSpPr/>
          <p:nvPr/>
        </p:nvSpPr>
        <p:spPr>
          <a:xfrm>
            <a:off x="4680161" y="2324509"/>
            <a:ext cx="1065870" cy="164592"/>
          </a:xfrm>
          <a:prstGeom prst="rect">
            <a:avLst/>
          </a:prstGeom>
          <a:noFill/>
          <a:ln/>
        </p:spPr>
        <p:txBody>
          <a:bodyPr wrap="none" lIns="0" tIns="0" rIns="0" bIns="0" rtlCol="0" anchor="t"/>
          <a:lstStyle/>
          <a:p>
            <a:pPr marL="0" indent="0" algn="l">
              <a:lnSpc>
                <a:spcPts val="928"/>
              </a:lnSpc>
              <a:buNone/>
            </a:pPr>
            <a:r>
              <a:rPr lang="en-US" sz="800" dirty="0">
                <a:solidFill>
                  <a:srgbClr val="2A9D8F">
                    <a:alpha val="55000"/>
                  </a:srgbClr>
                </a:solidFill>
                <a:latin typeface="Carlito" pitchFamily="34" charset="0"/>
                <a:ea typeface="Carlito" pitchFamily="34" charset="-122"/>
                <a:cs typeface="Carlito" pitchFamily="34" charset="-120"/>
              </a:rPr>
              <a:t>Affective</a:t>
            </a:r>
            <a:endParaRPr lang="en-US" sz="800" dirty="0"/>
          </a:p>
        </p:txBody>
      </p:sp>
      <p:sp>
        <p:nvSpPr>
          <p:cNvPr id="53" name="Text 50"/>
          <p:cNvSpPr/>
          <p:nvPr/>
        </p:nvSpPr>
        <p:spPr>
          <a:xfrm>
            <a:off x="3398081" y="2535250"/>
            <a:ext cx="2457678" cy="186436"/>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نگرش و پذیرش بیماری توسط بیمار.</a:t>
            </a:r>
            <a:endParaRPr lang="en-US" sz="800" dirty="0"/>
          </a:p>
        </p:txBody>
      </p:sp>
      <p:sp>
        <p:nvSpPr>
          <p:cNvPr id="54" name="Text 51"/>
          <p:cNvSpPr/>
          <p:nvPr/>
        </p:nvSpPr>
        <p:spPr>
          <a:xfrm>
            <a:off x="3398081" y="3036987"/>
            <a:ext cx="2347950" cy="756345"/>
          </a:xfrm>
          <a:prstGeom prst="roundRect">
            <a:avLst>
              <a:gd name="adj" fmla="val 12593"/>
            </a:avLst>
          </a:prstGeom>
          <a:solidFill>
            <a:srgbClr val="F4F8FB"/>
          </a:solidFill>
          <a:ln/>
        </p:spPr>
        <p:txBody>
          <a:bodyPr wrap="square" rtlCol="0" anchor="ctr"/>
          <a:lstStyle/>
          <a:p>
            <a:pPr marL="0" indent="0">
              <a:buNone/>
            </a:pPr>
            <a:endParaRPr lang="en-US" dirty="0"/>
          </a:p>
        </p:txBody>
      </p:sp>
      <p:sp>
        <p:nvSpPr>
          <p:cNvPr id="55" name="Text 52"/>
          <p:cNvSpPr/>
          <p:nvPr/>
        </p:nvSpPr>
        <p:spPr>
          <a:xfrm>
            <a:off x="5035306" y="3136999"/>
            <a:ext cx="608625" cy="101156"/>
          </a:xfrm>
          <a:prstGeom prst="rect">
            <a:avLst/>
          </a:prstGeom>
          <a:noFill/>
          <a:ln/>
        </p:spPr>
        <p:txBody>
          <a:bodyPr wrap="none" lIns="0" tIns="0" rIns="0" bIns="0" rtlCol="0" anchor="t">
            <a:normAutofit/>
          </a:bodyPr>
          <a:lstStyle/>
          <a:p>
            <a:pPr marL="0" indent="0" algn="l">
              <a:lnSpc>
                <a:spcPts val="844"/>
              </a:lnSpc>
              <a:buNone/>
            </a:pPr>
            <a:r>
              <a:rPr lang="en-US" sz="800" b="1" kern="0" spc="84" dirty="0">
                <a:solidFill>
                  <a:srgbClr val="2A9D8F"/>
                </a:solidFill>
                <a:latin typeface="Carlito" pitchFamily="34" charset="0"/>
                <a:ea typeface="Carlito" pitchFamily="34" charset="-122"/>
                <a:cs typeface="Carlito" pitchFamily="34" charset="-120"/>
              </a:rPr>
              <a:t>مثال بالینی</a:t>
            </a:r>
            <a:endParaRPr lang="en-US" sz="800" dirty="0"/>
          </a:p>
        </p:txBody>
      </p:sp>
      <p:sp>
        <p:nvSpPr>
          <p:cNvPr id="56" name="Text 53"/>
          <p:cNvSpPr/>
          <p:nvPr/>
        </p:nvSpPr>
        <p:spPr>
          <a:xfrm>
            <a:off x="5531718" y="3129855"/>
            <a:ext cx="92869" cy="92869"/>
          </a:xfrm>
          <a:prstGeom prst="rect">
            <a:avLst/>
          </a:prstGeom>
          <a:noFill/>
          <a:ln/>
        </p:spPr>
        <p:txBody>
          <a:bodyPr wrap="none" lIns="0" tIns="0" rIns="0" bIns="0" rtlCol="0" anchor="ctr"/>
          <a:lstStyle/>
          <a:p>
            <a:pPr marL="0" indent="0" algn="ctr">
              <a:buNone/>
            </a:pPr>
            <a:r>
              <a:rPr lang="en-US" sz="914" dirty="0">
                <a:solidFill>
                  <a:srgbClr val="2A9D8F"/>
                </a:solidFill>
                <a:latin typeface="Segoe UI Symbol" pitchFamily="34" charset="0"/>
                <a:ea typeface="Segoe UI Symbol" pitchFamily="34" charset="-122"/>
                <a:cs typeface="Segoe UI Symbol" pitchFamily="34" charset="-120"/>
              </a:rPr>
              <a:t>⚑</a:t>
            </a:r>
            <a:endParaRPr lang="en-US" sz="914" dirty="0"/>
          </a:p>
        </p:txBody>
      </p:sp>
      <p:sp>
        <p:nvSpPr>
          <p:cNvPr id="57" name="Text 54"/>
          <p:cNvSpPr/>
          <p:nvPr/>
        </p:nvSpPr>
        <p:spPr>
          <a:xfrm>
            <a:off x="3498093" y="3265587"/>
            <a:ext cx="2126493" cy="442020"/>
          </a:xfrm>
          <a:prstGeom prst="rect">
            <a:avLst/>
          </a:prstGeom>
          <a:noFill/>
          <a:ln/>
        </p:spPr>
        <p:txBody>
          <a:bodyPr wrap="square" lIns="0" tIns="0" rIns="0" bIns="0" rtlCol="0" anchor="t"/>
          <a:lstStyle/>
          <a:p>
            <a:pPr marL="0" indent="0" algn="l">
              <a:lnSpc>
                <a:spcPts val="1160"/>
              </a:lnSpc>
              <a:buNone/>
            </a:pPr>
            <a:r>
              <a:rPr lang="en-US" sz="800" dirty="0">
                <a:solidFill>
                  <a:srgbClr val="1A2733"/>
                </a:solidFill>
                <a:latin typeface="Carlito" pitchFamily="34" charset="0"/>
                <a:ea typeface="Carlito" pitchFamily="34" charset="-122"/>
                <a:cs typeface="Carlito" pitchFamily="34" charset="-120"/>
              </a:rPr>
              <a:t>قبول بیماری و مسئولیت‌پذیری جهت مراقبت از خود — بیمار اهمیت پایش روزانه قند خون را می‌پذیرد و به آن عمل می‌کند.</a:t>
            </a:r>
            <a:endParaRPr lang="en-US" sz="800" dirty="0"/>
          </a:p>
        </p:txBody>
      </p:sp>
      <p:sp>
        <p:nvSpPr>
          <p:cNvPr id="58" name="Text 55"/>
          <p:cNvSpPr/>
          <p:nvPr/>
        </p:nvSpPr>
        <p:spPr>
          <a:xfrm>
            <a:off x="2612268" y="1867309"/>
            <a:ext cx="342900" cy="342900"/>
          </a:xfrm>
          <a:prstGeom prst="roundRect">
            <a:avLst>
              <a:gd name="adj" fmla="val 33333"/>
            </a:avLst>
          </a:prstGeom>
          <a:solidFill>
            <a:srgbClr val="FCE4DD"/>
          </a:solidFill>
          <a:ln/>
        </p:spPr>
        <p:txBody>
          <a:bodyPr wrap="square" rtlCol="0" anchor="ctr"/>
          <a:lstStyle/>
          <a:p>
            <a:pPr marL="0" indent="0">
              <a:buNone/>
            </a:pPr>
            <a:endParaRPr lang="en-US" dirty="0"/>
          </a:p>
        </p:txBody>
      </p:sp>
      <p:sp>
        <p:nvSpPr>
          <p:cNvPr id="59" name="Text 56"/>
          <p:cNvSpPr/>
          <p:nvPr/>
        </p:nvSpPr>
        <p:spPr>
          <a:xfrm>
            <a:off x="2638700" y="1893741"/>
            <a:ext cx="290036" cy="290036"/>
          </a:xfrm>
          <a:prstGeom prst="rect">
            <a:avLst/>
          </a:prstGeom>
          <a:noFill/>
          <a:ln/>
        </p:spPr>
        <p:txBody>
          <a:bodyPr wrap="none" lIns="0" tIns="0" rIns="0" bIns="0" rtlCol="0" anchor="ctr"/>
          <a:lstStyle/>
          <a:p>
            <a:pPr marL="0" indent="0" algn="ctr">
              <a:buNone/>
            </a:pPr>
            <a:r>
              <a:rPr lang="en-US" sz="1969" dirty="0">
                <a:solidFill>
                  <a:srgbClr val="E76F51"/>
                </a:solidFill>
                <a:latin typeface="Segoe UI Symbol" pitchFamily="34" charset="0"/>
                <a:ea typeface="Segoe UI Symbol" pitchFamily="34" charset="-122"/>
                <a:cs typeface="Segoe UI Symbol" pitchFamily="34" charset="-120"/>
              </a:rPr>
              <a:t>⚒</a:t>
            </a:r>
            <a:endParaRPr lang="en-US" sz="1969" dirty="0"/>
          </a:p>
        </p:txBody>
      </p:sp>
      <p:sp>
        <p:nvSpPr>
          <p:cNvPr id="60" name="Text 57"/>
          <p:cNvSpPr/>
          <p:nvPr/>
        </p:nvSpPr>
        <p:spPr>
          <a:xfrm>
            <a:off x="1880815" y="2303078"/>
            <a:ext cx="1074353" cy="146590"/>
          </a:xfrm>
          <a:prstGeom prst="rect">
            <a:avLst/>
          </a:prstGeom>
          <a:noFill/>
          <a:ln/>
        </p:spPr>
        <p:txBody>
          <a:bodyPr wrap="none" lIns="0" tIns="0" rIns="0" bIns="0" rtlCol="0" anchor="t"/>
          <a:lstStyle/>
          <a:p>
            <a:pPr marL="0" indent="0" algn="l">
              <a:lnSpc>
                <a:spcPts val="1434"/>
              </a:lnSpc>
              <a:buNone/>
            </a:pPr>
            <a:r>
              <a:rPr lang="en-US" sz="956" b="1" dirty="0">
                <a:solidFill>
                  <a:srgbClr val="E76F51"/>
                </a:solidFill>
                <a:latin typeface="Carlito" pitchFamily="34" charset="0"/>
                <a:ea typeface="Carlito" pitchFamily="34" charset="-122"/>
                <a:cs typeface="Carlito" pitchFamily="34" charset="-120"/>
              </a:rPr>
              <a:t>حیطه روانی-حرکتی</a:t>
            </a:r>
            <a:endParaRPr lang="en-US" sz="956" dirty="0"/>
          </a:p>
        </p:txBody>
      </p:sp>
      <p:sp>
        <p:nvSpPr>
          <p:cNvPr id="61" name="Text 58"/>
          <p:cNvSpPr/>
          <p:nvPr/>
        </p:nvSpPr>
        <p:spPr>
          <a:xfrm>
            <a:off x="1321482" y="2324509"/>
            <a:ext cx="1633686" cy="164592"/>
          </a:xfrm>
          <a:prstGeom prst="rect">
            <a:avLst/>
          </a:prstGeom>
          <a:noFill/>
          <a:ln/>
        </p:spPr>
        <p:txBody>
          <a:bodyPr wrap="none" lIns="0" tIns="0" rIns="0" bIns="0" rtlCol="0" anchor="t"/>
          <a:lstStyle/>
          <a:p>
            <a:pPr marL="0" indent="0" algn="l">
              <a:lnSpc>
                <a:spcPts val="928"/>
              </a:lnSpc>
              <a:buNone/>
            </a:pPr>
            <a:r>
              <a:rPr lang="en-US" sz="800" dirty="0">
                <a:solidFill>
                  <a:srgbClr val="E76F51">
                    <a:alpha val="55000"/>
                  </a:srgbClr>
                </a:solidFill>
                <a:latin typeface="Carlito" pitchFamily="34" charset="0"/>
                <a:ea typeface="Carlito" pitchFamily="34" charset="-122"/>
                <a:cs typeface="Carlito" pitchFamily="34" charset="-120"/>
              </a:rPr>
              <a:t>Psychomotor</a:t>
            </a:r>
            <a:endParaRPr lang="en-US" sz="800" dirty="0"/>
          </a:p>
        </p:txBody>
      </p:sp>
      <p:sp>
        <p:nvSpPr>
          <p:cNvPr id="62" name="Text 59"/>
          <p:cNvSpPr/>
          <p:nvPr/>
        </p:nvSpPr>
        <p:spPr>
          <a:xfrm>
            <a:off x="607330" y="2535250"/>
            <a:ext cx="2457566" cy="186436"/>
          </a:xfrm>
          <a:prstGeom prst="rect">
            <a:avLst/>
          </a:prstGeom>
          <a:noFill/>
          <a:ln/>
        </p:spPr>
        <p:txBody>
          <a:bodyPr wrap="square" lIns="0" tIns="0" rIns="0" bIns="0" rtlCol="0" anchor="t"/>
          <a:lstStyle/>
          <a:p>
            <a:pPr marL="0" indent="0" algn="l">
              <a:lnSpc>
                <a:spcPts val="1291"/>
              </a:lnSpc>
              <a:buNone/>
            </a:pPr>
            <a:r>
              <a:rPr lang="en-US" sz="800" dirty="0">
                <a:solidFill>
                  <a:srgbClr val="1A2733"/>
                </a:solidFill>
                <a:latin typeface="Carlito" pitchFamily="34" charset="0"/>
                <a:ea typeface="Carlito" pitchFamily="34" charset="-122"/>
                <a:cs typeface="Carlito" pitchFamily="34" charset="-120"/>
              </a:rPr>
              <a:t>مهارت‌های عملی و حرکتی بیمار.</a:t>
            </a:r>
            <a:endParaRPr lang="en-US" sz="800" dirty="0"/>
          </a:p>
        </p:txBody>
      </p:sp>
      <p:sp>
        <p:nvSpPr>
          <p:cNvPr id="63" name="Text 60"/>
          <p:cNvSpPr/>
          <p:nvPr/>
        </p:nvSpPr>
        <p:spPr>
          <a:xfrm>
            <a:off x="607330" y="3036987"/>
            <a:ext cx="2347838" cy="756345"/>
          </a:xfrm>
          <a:prstGeom prst="roundRect">
            <a:avLst>
              <a:gd name="adj" fmla="val 12593"/>
            </a:avLst>
          </a:prstGeom>
          <a:solidFill>
            <a:srgbClr val="F4F8FB"/>
          </a:solidFill>
          <a:ln/>
        </p:spPr>
        <p:txBody>
          <a:bodyPr wrap="square" rtlCol="0" anchor="ctr"/>
          <a:lstStyle/>
          <a:p>
            <a:pPr marL="0" indent="0">
              <a:buNone/>
            </a:pPr>
            <a:endParaRPr lang="en-US" dirty="0"/>
          </a:p>
        </p:txBody>
      </p:sp>
      <p:sp>
        <p:nvSpPr>
          <p:cNvPr id="64" name="Text 61"/>
          <p:cNvSpPr/>
          <p:nvPr/>
        </p:nvSpPr>
        <p:spPr>
          <a:xfrm>
            <a:off x="2244444" y="3136999"/>
            <a:ext cx="608625" cy="101156"/>
          </a:xfrm>
          <a:prstGeom prst="rect">
            <a:avLst/>
          </a:prstGeom>
          <a:noFill/>
          <a:ln/>
        </p:spPr>
        <p:txBody>
          <a:bodyPr wrap="none" lIns="0" tIns="0" rIns="0" bIns="0" rtlCol="0" anchor="t">
            <a:normAutofit/>
          </a:bodyPr>
          <a:lstStyle/>
          <a:p>
            <a:pPr marL="0" indent="0" algn="l">
              <a:lnSpc>
                <a:spcPts val="844"/>
              </a:lnSpc>
              <a:buNone/>
            </a:pPr>
            <a:r>
              <a:rPr lang="en-US" sz="800" b="1" kern="0" spc="84" dirty="0">
                <a:solidFill>
                  <a:srgbClr val="E76F51"/>
                </a:solidFill>
                <a:latin typeface="Carlito" pitchFamily="34" charset="0"/>
                <a:ea typeface="Carlito" pitchFamily="34" charset="-122"/>
                <a:cs typeface="Carlito" pitchFamily="34" charset="-120"/>
              </a:rPr>
              <a:t>مثال بالینی</a:t>
            </a:r>
            <a:endParaRPr lang="en-US" sz="800" dirty="0"/>
          </a:p>
        </p:txBody>
      </p:sp>
      <p:sp>
        <p:nvSpPr>
          <p:cNvPr id="65" name="Text 62"/>
          <p:cNvSpPr/>
          <p:nvPr/>
        </p:nvSpPr>
        <p:spPr>
          <a:xfrm>
            <a:off x="2740856" y="3129855"/>
            <a:ext cx="92869" cy="92869"/>
          </a:xfrm>
          <a:prstGeom prst="rect">
            <a:avLst/>
          </a:prstGeom>
          <a:noFill/>
          <a:ln/>
        </p:spPr>
        <p:txBody>
          <a:bodyPr wrap="none" lIns="0" tIns="0" rIns="0" bIns="0" rtlCol="0" anchor="ctr"/>
          <a:lstStyle/>
          <a:p>
            <a:pPr marL="0" indent="0" algn="ctr">
              <a:buNone/>
            </a:pPr>
            <a:r>
              <a:rPr lang="en-US" sz="914" dirty="0">
                <a:solidFill>
                  <a:srgbClr val="E76F51"/>
                </a:solidFill>
                <a:latin typeface="Segoe UI Symbol" pitchFamily="34" charset="0"/>
                <a:ea typeface="Segoe UI Symbol" pitchFamily="34" charset="-122"/>
                <a:cs typeface="Segoe UI Symbol" pitchFamily="34" charset="-120"/>
              </a:rPr>
              <a:t>⚑</a:t>
            </a:r>
            <a:endParaRPr lang="en-US" sz="914" dirty="0"/>
          </a:p>
        </p:txBody>
      </p:sp>
      <p:sp>
        <p:nvSpPr>
          <p:cNvPr id="66" name="Text 63"/>
          <p:cNvSpPr/>
          <p:nvPr/>
        </p:nvSpPr>
        <p:spPr>
          <a:xfrm>
            <a:off x="707343" y="3265587"/>
            <a:ext cx="2126382" cy="442020"/>
          </a:xfrm>
          <a:prstGeom prst="rect">
            <a:avLst/>
          </a:prstGeom>
          <a:noFill/>
          <a:ln/>
        </p:spPr>
        <p:txBody>
          <a:bodyPr wrap="square" lIns="0" tIns="0" rIns="0" bIns="0" rtlCol="0" anchor="t"/>
          <a:lstStyle/>
          <a:p>
            <a:pPr marL="0" indent="0" algn="l">
              <a:lnSpc>
                <a:spcPts val="1160"/>
              </a:lnSpc>
              <a:buNone/>
            </a:pPr>
            <a:r>
              <a:rPr lang="en-US" sz="800" dirty="0">
                <a:solidFill>
                  <a:srgbClr val="1A2733"/>
                </a:solidFill>
                <a:latin typeface="Carlito" pitchFamily="34" charset="0"/>
                <a:ea typeface="Carlito" pitchFamily="34" charset="-122"/>
                <a:cs typeface="Carlito" pitchFamily="34" charset="-120"/>
              </a:rPr>
              <a:t>مهارت‌های عملی چون تزریق انسولین، استفاده از گلوکومتر، یا تغیییر پانسمان — بیمار با تکنیک استریل تزریق را انجام می‌دهد.</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4">
            <a:alphaModFix amt="50000"/>
          </a:blip>
          <a:stretch>
            <a:fillRect/>
          </a:stretch>
        </p:blipFill>
        <p:spPr>
          <a:xfrm>
            <a:off x="0" y="0"/>
            <a:ext cx="9144000" cy="5143500"/>
          </a:xfrm>
          <a:prstGeom prst="rect">
            <a:avLst/>
          </a:prstGeom>
        </p:spPr>
      </p:pic>
      <p:sp>
        <p:nvSpPr>
          <p:cNvPr id="5" name="Text 0"/>
          <p:cNvSpPr/>
          <p:nvPr/>
        </p:nvSpPr>
        <p:spPr>
          <a:xfrm>
            <a:off x="-1285875" y="-1714500"/>
            <a:ext cx="3714750" cy="3714750"/>
          </a:xfrm>
          <a:prstGeom prst="ellipse">
            <a:avLst/>
          </a:prstGeom>
          <a:solidFill>
            <a:srgbClr val="FFFFFF">
              <a:alpha val="8000"/>
            </a:srgbClr>
          </a:solidFill>
          <a:ln/>
        </p:spPr>
        <p:txBody>
          <a:bodyPr wrap="square" rtlCol="0" anchor="ctr"/>
          <a:lstStyle/>
          <a:p>
            <a:pPr marL="0" indent="0">
              <a:buNone/>
            </a:pPr>
            <a:endParaRPr lang="en-US" dirty="0"/>
          </a:p>
        </p:txBody>
      </p:sp>
      <p:sp>
        <p:nvSpPr>
          <p:cNvPr id="6" name="Text 1"/>
          <p:cNvSpPr/>
          <p:nvPr/>
        </p:nvSpPr>
        <p:spPr>
          <a:xfrm>
            <a:off x="7143750" y="3286125"/>
            <a:ext cx="3286125" cy="3286125"/>
          </a:xfrm>
          <a:prstGeom prst="ellipse">
            <a:avLst/>
          </a:prstGeom>
          <a:solidFill>
            <a:srgbClr val="FFFFFF">
              <a:alpha val="6000"/>
            </a:srgbClr>
          </a:solidFill>
          <a:ln/>
        </p:spPr>
        <p:txBody>
          <a:bodyPr wrap="square" rtlCol="0" anchor="ctr"/>
          <a:lstStyle/>
          <a:p>
            <a:pPr marL="0" indent="0">
              <a:buNone/>
            </a:pPr>
            <a:endParaRPr lang="en-US" dirty="0"/>
          </a:p>
        </p:txBody>
      </p:sp>
      <p:sp>
        <p:nvSpPr>
          <p:cNvPr id="7" name="Text 2"/>
          <p:cNvSpPr/>
          <p:nvPr/>
        </p:nvSpPr>
        <p:spPr>
          <a:xfrm>
            <a:off x="7769609" y="1800225"/>
            <a:ext cx="642938" cy="642938"/>
          </a:xfrm>
          <a:prstGeom prst="ellipse">
            <a:avLst/>
          </a:prstGeom>
          <a:solidFill>
            <a:srgbClr val="FFFFFF">
              <a:alpha val="12000"/>
            </a:srgbClr>
          </a:solidFill>
          <a:ln/>
        </p:spPr>
        <p:txBody>
          <a:bodyPr wrap="square" rtlCol="0" anchor="ctr"/>
          <a:lstStyle/>
          <a:p>
            <a:pPr marL="0" indent="0">
              <a:buNone/>
            </a:pPr>
            <a:endParaRPr lang="en-US" dirty="0"/>
          </a:p>
        </p:txBody>
      </p:sp>
      <p:sp>
        <p:nvSpPr>
          <p:cNvPr id="8" name="Text 3"/>
          <p:cNvSpPr/>
          <p:nvPr/>
        </p:nvSpPr>
        <p:spPr>
          <a:xfrm>
            <a:off x="1280071" y="3286125"/>
            <a:ext cx="314325" cy="314325"/>
          </a:xfrm>
          <a:prstGeom prst="ellipse">
            <a:avLst/>
          </a:prstGeom>
          <a:solidFill>
            <a:srgbClr val="FFFFFF">
              <a:alpha val="20000"/>
            </a:srgbClr>
          </a:solidFill>
          <a:ln/>
        </p:spPr>
        <p:txBody>
          <a:bodyPr wrap="square" rtlCol="0" anchor="ctr"/>
          <a:lstStyle/>
          <a:p>
            <a:pPr marL="0" indent="0">
              <a:buNone/>
            </a:pPr>
            <a:endParaRPr lang="en-US" dirty="0"/>
          </a:p>
        </p:txBody>
      </p:sp>
      <p:sp>
        <p:nvSpPr>
          <p:cNvPr id="9" name="Text 4"/>
          <p:cNvSpPr/>
          <p:nvPr/>
        </p:nvSpPr>
        <p:spPr>
          <a:xfrm>
            <a:off x="1291347" y="1335881"/>
            <a:ext cx="6561306" cy="185166"/>
          </a:xfrm>
          <a:prstGeom prst="rect">
            <a:avLst/>
          </a:prstGeom>
          <a:noFill/>
          <a:ln/>
        </p:spPr>
        <p:txBody>
          <a:bodyPr wrap="none" lIns="0" tIns="0" rIns="0" bIns="0" rtlCol="0" anchor="t"/>
          <a:lstStyle/>
          <a:p>
            <a:pPr marL="0" indent="0" algn="ctr">
              <a:lnSpc>
                <a:spcPts val="1350"/>
              </a:lnSpc>
              <a:buNone/>
            </a:pPr>
            <a:r>
              <a:rPr lang="en-US" sz="900" kern="0" spc="56" dirty="0">
                <a:solidFill>
                  <a:srgbClr val="FFFFFF">
                    <a:alpha val="78000"/>
                  </a:srgbClr>
                </a:solidFill>
                <a:latin typeface="Carlito" pitchFamily="34" charset="0"/>
                <a:ea typeface="Carlito" pitchFamily="34" charset="-122"/>
                <a:cs typeface="Carlito" pitchFamily="34" charset="-120"/>
              </a:rPr>
              <a:t>— بخش چهارم —</a:t>
            </a:r>
            <a:endParaRPr lang="en-US" sz="900" dirty="0"/>
          </a:p>
        </p:txBody>
      </p:sp>
      <p:sp>
        <p:nvSpPr>
          <p:cNvPr id="10" name="Text 5"/>
          <p:cNvSpPr/>
          <p:nvPr/>
        </p:nvSpPr>
        <p:spPr>
          <a:xfrm>
            <a:off x="4372622" y="1707356"/>
            <a:ext cx="1211580" cy="678942"/>
          </a:xfrm>
          <a:prstGeom prst="rect">
            <a:avLst/>
          </a:prstGeom>
          <a:noFill/>
          <a:ln/>
        </p:spPr>
        <p:txBody>
          <a:bodyPr wrap="none" lIns="0" tIns="0" rIns="0" bIns="0" rtlCol="0" anchor="t"/>
          <a:lstStyle/>
          <a:p>
            <a:pPr marL="0" indent="0" algn="ctr">
              <a:lnSpc>
                <a:spcPts val="4950"/>
              </a:lnSpc>
              <a:buNone/>
            </a:pPr>
            <a:r>
              <a:rPr lang="en-US" sz="4950" b="1" dirty="0">
                <a:solidFill>
                  <a:srgbClr val="FFFFFF">
                    <a:alpha val="95000"/>
                  </a:srgbClr>
                </a:solidFill>
                <a:latin typeface="Carlito" pitchFamily="34" charset="0"/>
                <a:ea typeface="Carlito" pitchFamily="34" charset="-122"/>
                <a:cs typeface="Carlito" pitchFamily="34" charset="-120"/>
              </a:rPr>
              <a:t>۰۴</a:t>
            </a:r>
            <a:endParaRPr lang="en-US" sz="4950" dirty="0"/>
          </a:p>
        </p:txBody>
      </p:sp>
      <p:sp>
        <p:nvSpPr>
          <p:cNvPr id="11" name="Text 6"/>
          <p:cNvSpPr/>
          <p:nvPr/>
        </p:nvSpPr>
        <p:spPr>
          <a:xfrm>
            <a:off x="4234872" y="1793081"/>
            <a:ext cx="402793" cy="493776"/>
          </a:xfrm>
          <a:prstGeom prst="rect">
            <a:avLst/>
          </a:prstGeom>
          <a:noFill/>
          <a:ln/>
        </p:spPr>
        <p:txBody>
          <a:bodyPr wrap="none" lIns="0" tIns="0" rIns="0" bIns="0" rtlCol="0" anchor="t"/>
          <a:lstStyle/>
          <a:p>
            <a:pPr marL="0" indent="0" algn="ctr">
              <a:lnSpc>
                <a:spcPts val="3600"/>
              </a:lnSpc>
              <a:buNone/>
            </a:pPr>
            <a:r>
              <a:rPr lang="en-US" sz="3600" dirty="0">
                <a:solidFill>
                  <a:srgbClr val="FFFFFF">
                    <a:alpha val="40000"/>
                  </a:srgbClr>
                </a:solidFill>
                <a:latin typeface="Carlito" pitchFamily="34" charset="0"/>
                <a:ea typeface="Carlito" pitchFamily="34" charset="-122"/>
                <a:cs typeface="Carlito" pitchFamily="34" charset="-120"/>
              </a:rPr>
              <a:t>/</a:t>
            </a:r>
            <a:endParaRPr lang="en-US" sz="3600" dirty="0"/>
          </a:p>
        </p:txBody>
      </p:sp>
      <p:sp>
        <p:nvSpPr>
          <p:cNvPr id="12" name="Text 7"/>
          <p:cNvSpPr/>
          <p:nvPr/>
        </p:nvSpPr>
        <p:spPr>
          <a:xfrm>
            <a:off x="3641236" y="1821656"/>
            <a:ext cx="777240" cy="432054"/>
          </a:xfrm>
          <a:prstGeom prst="rect">
            <a:avLst/>
          </a:prstGeom>
          <a:noFill/>
          <a:ln/>
        </p:spPr>
        <p:txBody>
          <a:bodyPr wrap="none" lIns="0" tIns="0" rIns="0" bIns="0" rtlCol="0" anchor="t"/>
          <a:lstStyle/>
          <a:p>
            <a:pPr marL="0" indent="0" algn="ctr">
              <a:lnSpc>
                <a:spcPts val="3150"/>
              </a:lnSpc>
              <a:buNone/>
            </a:pPr>
            <a:r>
              <a:rPr lang="en-US" sz="3150" b="1" dirty="0">
                <a:solidFill>
                  <a:srgbClr val="FFFFFF">
                    <a:alpha val="55000"/>
                  </a:srgbClr>
                </a:solidFill>
                <a:latin typeface="Carlito" pitchFamily="34" charset="0"/>
                <a:ea typeface="Carlito" pitchFamily="34" charset="-122"/>
                <a:cs typeface="Carlito" pitchFamily="34" charset="-120"/>
              </a:rPr>
              <a:t>۰۴</a:t>
            </a:r>
            <a:endParaRPr lang="en-US" sz="3150" dirty="0"/>
          </a:p>
        </p:txBody>
      </p:sp>
      <p:sp>
        <p:nvSpPr>
          <p:cNvPr id="13" name="Text 8"/>
          <p:cNvSpPr/>
          <p:nvPr/>
        </p:nvSpPr>
        <p:spPr>
          <a:xfrm>
            <a:off x="274320" y="2493169"/>
            <a:ext cx="8595360" cy="691961"/>
          </a:xfrm>
          <a:prstGeom prst="rect">
            <a:avLst/>
          </a:prstGeom>
          <a:noFill/>
          <a:ln/>
        </p:spPr>
        <p:txBody>
          <a:bodyPr wrap="none" lIns="0" tIns="0" rIns="0" bIns="0" rtlCol="0" anchor="t"/>
          <a:lstStyle/>
          <a:p>
            <a:pPr marL="0" indent="0" algn="ctr">
              <a:lnSpc>
                <a:spcPts val="5046"/>
              </a:lnSpc>
              <a:buNone/>
            </a:pPr>
            <a:r>
              <a:rPr lang="en-US" sz="4388" b="1" dirty="0">
                <a:solidFill>
                  <a:srgbClr val="FFFFFF"/>
                </a:solidFill>
                <a:latin typeface="Carlito" pitchFamily="34" charset="0"/>
                <a:ea typeface="Carlito" pitchFamily="34" charset="-122"/>
                <a:cs typeface="Carlito" pitchFamily="34" charset="-120"/>
              </a:rPr>
              <a:t>ارزشیابی و چالش‌ها</a:t>
            </a:r>
            <a:endParaRPr lang="en-US" sz="4388" dirty="0"/>
          </a:p>
        </p:txBody>
      </p:sp>
      <p:sp>
        <p:nvSpPr>
          <p:cNvPr id="14" name="Text 9"/>
          <p:cNvSpPr/>
          <p:nvPr/>
        </p:nvSpPr>
        <p:spPr>
          <a:xfrm>
            <a:off x="4271963" y="3319611"/>
            <a:ext cx="600075" cy="42863"/>
          </a:xfrm>
          <a:prstGeom prst="roundRect">
            <a:avLst>
              <a:gd name="adj" fmla="val 88888"/>
            </a:avLst>
          </a:prstGeom>
          <a:solidFill>
            <a:srgbClr val="FFFFFF"/>
          </a:solidFill>
          <a:ln/>
        </p:spPr>
        <p:txBody>
          <a:bodyPr wrap="square" rtlCol="0" anchor="ctr"/>
          <a:lstStyle/>
          <a:p>
            <a:pPr marL="0" indent="0">
              <a:buNone/>
            </a:pPr>
            <a:endParaRPr lang="en-US" dirty="0"/>
          </a:p>
        </p:txBody>
      </p:sp>
      <p:sp>
        <p:nvSpPr>
          <p:cNvPr id="15" name="Text 10"/>
          <p:cNvSpPr/>
          <p:nvPr/>
        </p:nvSpPr>
        <p:spPr>
          <a:xfrm>
            <a:off x="1914525" y="3548211"/>
            <a:ext cx="5314950" cy="280039"/>
          </a:xfrm>
          <a:prstGeom prst="rect">
            <a:avLst/>
          </a:prstGeom>
          <a:noFill/>
          <a:ln/>
        </p:spPr>
        <p:txBody>
          <a:bodyPr wrap="square" lIns="0" tIns="0" rIns="0" bIns="0" rtlCol="0" anchor="t"/>
          <a:lstStyle/>
          <a:p>
            <a:pPr marL="0" indent="0" algn="ctr">
              <a:lnSpc>
                <a:spcPts val="2042"/>
              </a:lnSpc>
              <a:buNone/>
            </a:pPr>
            <a:r>
              <a:rPr lang="en-US" sz="1238" dirty="0">
                <a:solidFill>
                  <a:srgbClr val="FFFFFF">
                    <a:alpha val="88000"/>
                  </a:srgbClr>
                </a:solidFill>
                <a:latin typeface="Carlito" pitchFamily="34" charset="0"/>
                <a:ea typeface="Carlito" pitchFamily="34" charset="-122"/>
                <a:cs typeface="Carlito" pitchFamily="34" charset="-120"/>
              </a:rPr>
              <a:t>ارزشیابی بالینی یادگیری، چک‌لیست کاربردی و جمع‌بندی</a:t>
            </a:r>
            <a:endParaRPr lang="en-US" sz="1238" dirty="0"/>
          </a:p>
        </p:txBody>
      </p:sp>
      <p:sp>
        <p:nvSpPr>
          <p:cNvPr id="16" name="Text 11"/>
          <p:cNvSpPr/>
          <p:nvPr/>
        </p:nvSpPr>
        <p:spPr>
          <a:xfrm>
            <a:off x="6969063" y="257175"/>
            <a:ext cx="1774887" cy="253603"/>
          </a:xfrm>
          <a:prstGeom prst="roundRect">
            <a:avLst>
              <a:gd name="adj" fmla="val 3752115"/>
            </a:avLst>
          </a:prstGeom>
          <a:solidFill>
            <a:srgbClr val="FFFFFF">
              <a:alpha val="12000"/>
            </a:srgbClr>
          </a:solidFill>
          <a:ln/>
        </p:spPr>
        <p:txBody>
          <a:bodyPr wrap="square" rtlCol="0" anchor="ctr"/>
          <a:lstStyle/>
          <a:p>
            <a:pPr marL="0" indent="0">
              <a:buNone/>
            </a:pPr>
            <a:endParaRPr lang="en-US" dirty="0"/>
          </a:p>
        </p:txBody>
      </p:sp>
      <p:sp>
        <p:nvSpPr>
          <p:cNvPr id="17" name="Text 12"/>
          <p:cNvSpPr/>
          <p:nvPr/>
        </p:nvSpPr>
        <p:spPr>
          <a:xfrm>
            <a:off x="8515350" y="326827"/>
            <a:ext cx="114300" cy="114300"/>
          </a:xfrm>
          <a:prstGeom prst="rect">
            <a:avLst/>
          </a:prstGeom>
          <a:noFill/>
          <a:ln/>
        </p:spPr>
        <p:txBody>
          <a:bodyPr wrap="none" lIns="0" tIns="0" rIns="0" bIns="0" rtlCol="0" anchor="ctr"/>
          <a:lstStyle/>
          <a:p>
            <a:pPr marL="0" indent="0" algn="ctr">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18" name="Text 13"/>
          <p:cNvSpPr/>
          <p:nvPr/>
        </p:nvSpPr>
        <p:spPr>
          <a:xfrm>
            <a:off x="7083363" y="314325"/>
            <a:ext cx="1530618" cy="139303"/>
          </a:xfrm>
          <a:prstGeom prst="rect">
            <a:avLst/>
          </a:prstGeom>
          <a:noFill/>
          <a:ln/>
        </p:spPr>
        <p:txBody>
          <a:bodyPr wrap="none" lIns="0" tIns="0" rIns="0" bIns="0" rtlCol="0" anchor="t"/>
          <a:lstStyle/>
          <a:p>
            <a:pPr marL="0" indent="0" algn="ctr">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آموزش و یادگیری در پرستاری</a:t>
            </a:r>
            <a:endParaRPr lang="en-US" sz="800" dirty="0"/>
          </a:p>
        </p:txBody>
      </p:sp>
      <p:sp>
        <p:nvSpPr>
          <p:cNvPr id="19" name="Text 14"/>
          <p:cNvSpPr/>
          <p:nvPr/>
        </p:nvSpPr>
        <p:spPr>
          <a:xfrm>
            <a:off x="1007221" y="4747022"/>
            <a:ext cx="1035047" cy="164592"/>
          </a:xfrm>
          <a:prstGeom prst="rect">
            <a:avLst/>
          </a:prstGeom>
          <a:noFill/>
          <a:ln/>
        </p:spPr>
        <p:txBody>
          <a:bodyPr wrap="none" lIns="0" tIns="0" rIns="0" bIns="0" rtlCol="0" anchor="t"/>
          <a:lstStyle/>
          <a:p>
            <a:pPr marL="0" indent="0" algn="ctr">
              <a:lnSpc>
                <a:spcPts val="1097"/>
              </a:lnSpc>
              <a:buNone/>
            </a:pPr>
            <a:r>
              <a:rPr lang="en-US" sz="800" dirty="0">
                <a:solidFill>
                  <a:srgbClr val="FFFFFF">
                    <a:alpha val="65000"/>
                  </a:srgbClr>
                </a:solidFill>
                <a:latin typeface="Carlito" pitchFamily="34" charset="0"/>
                <a:ea typeface="Carlito" pitchFamily="34" charset="-122"/>
                <a:cs typeface="Carlito" pitchFamily="34" charset="-120"/>
              </a:rPr>
              <a:t>کارشناسی پرستاری</a:t>
            </a:r>
            <a:endParaRPr lang="en-US" sz="800" dirty="0"/>
          </a:p>
        </p:txBody>
      </p:sp>
      <p:sp>
        <p:nvSpPr>
          <p:cNvPr id="20" name="Text 15"/>
          <p:cNvSpPr/>
          <p:nvPr/>
        </p:nvSpPr>
        <p:spPr>
          <a:xfrm>
            <a:off x="940296" y="4802386"/>
            <a:ext cx="28575" cy="28575"/>
          </a:xfrm>
          <a:prstGeom prst="ellipse">
            <a:avLst/>
          </a:prstGeom>
          <a:solidFill>
            <a:srgbClr val="FFFFFF">
              <a:alpha val="50000"/>
            </a:srgbClr>
          </a:solidFill>
          <a:ln/>
        </p:spPr>
        <p:txBody>
          <a:bodyPr wrap="square" rtlCol="0" anchor="ctr"/>
          <a:lstStyle/>
          <a:p>
            <a:pPr marL="0" indent="0">
              <a:buNone/>
            </a:pPr>
            <a:endParaRPr lang="en-US" dirty="0"/>
          </a:p>
        </p:txBody>
      </p:sp>
      <p:sp>
        <p:nvSpPr>
          <p:cNvPr id="21" name="Text 16"/>
          <p:cNvSpPr/>
          <p:nvPr/>
        </p:nvSpPr>
        <p:spPr>
          <a:xfrm>
            <a:off x="340418" y="4747022"/>
            <a:ext cx="545211" cy="164592"/>
          </a:xfrm>
          <a:prstGeom prst="rect">
            <a:avLst/>
          </a:prstGeom>
          <a:noFill/>
          <a:ln/>
        </p:spPr>
        <p:txBody>
          <a:bodyPr wrap="none" lIns="0" tIns="0" rIns="0" bIns="0" rtlCol="0" anchor="t"/>
          <a:lstStyle/>
          <a:p>
            <a:pPr marL="0" indent="0" algn="ctr">
              <a:lnSpc>
                <a:spcPts val="1097"/>
              </a:lnSpc>
              <a:buNone/>
            </a:pPr>
            <a:r>
              <a:rPr lang="en-US" sz="800" dirty="0">
                <a:solidFill>
                  <a:srgbClr val="FFFFFF">
                    <a:alpha val="65000"/>
                  </a:srgbClr>
                </a:solidFill>
                <a:latin typeface="Carlito" pitchFamily="34" charset="0"/>
                <a:ea typeface="Carlito" pitchFamily="34" charset="-122"/>
                <a:cs typeface="Carlito" pitchFamily="34" charset="-120"/>
              </a:rPr>
              <a:t>جلسه اول</a:t>
            </a:r>
            <a:endParaRPr lang="en-US" sz="800" dirty="0"/>
          </a:p>
        </p:txBody>
      </p:sp>
      <p:sp>
        <p:nvSpPr>
          <p:cNvPr id="22" name="Text 17"/>
          <p:cNvSpPr/>
          <p:nvPr/>
        </p:nvSpPr>
        <p:spPr>
          <a:xfrm>
            <a:off x="8643938" y="4772025"/>
            <a:ext cx="100013" cy="100013"/>
          </a:xfrm>
          <a:prstGeom prst="rect">
            <a:avLst/>
          </a:prstGeom>
          <a:noFill/>
          <a:ln/>
        </p:spPr>
        <p:txBody>
          <a:bodyPr wrap="none" lIns="0" tIns="0" rIns="0" bIns="0" rtlCol="0" anchor="ctr"/>
          <a:lstStyle/>
          <a:p>
            <a:pPr marL="0" indent="0" algn="ctr">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23" name="Text 18"/>
          <p:cNvSpPr/>
          <p:nvPr/>
        </p:nvSpPr>
        <p:spPr>
          <a:xfrm>
            <a:off x="7409023" y="4757738"/>
            <a:ext cx="1233848" cy="164592"/>
          </a:xfrm>
          <a:prstGeom prst="rect">
            <a:avLst/>
          </a:prstGeom>
          <a:noFill/>
          <a:ln/>
        </p:spPr>
        <p:txBody>
          <a:bodyPr wrap="none" lIns="0" tIns="0" rIns="0" bIns="0" rtlCol="0" anchor="t"/>
          <a:lstStyle/>
          <a:p>
            <a:pPr marL="0" indent="0" algn="ctr">
              <a:lnSpc>
                <a:spcPts val="1013"/>
              </a:lnSpc>
              <a:buNone/>
            </a:pPr>
            <a:r>
              <a:rPr lang="en-US" sz="800" dirty="0">
                <a:solidFill>
                  <a:srgbClr val="FFFFFF">
                    <a:alpha val="60000"/>
                  </a:srgbClr>
                </a:solidFill>
                <a:latin typeface="Carlito" pitchFamily="34" charset="0"/>
                <a:ea typeface="Carlito" pitchFamily="34" charset="-122"/>
                <a:cs typeface="Carlito" pitchFamily="34" charset="-120"/>
              </a:rPr>
              <a:t>تضمین کیفیت آموزش بالینی</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457200" y="867184"/>
            <a:ext cx="8229600" cy="0"/>
          </a:xfrm>
          <a:prstGeom prst="line">
            <a:avLst/>
          </a:prstGeom>
          <a:noFill/>
          <a:ln w="14288">
            <a:solidFill>
              <a:srgbClr val="CDE7F0"/>
            </a:solidFill>
            <a:prstDash val="solid"/>
          </a:ln>
        </p:spPr>
      </p:sp>
      <p:sp>
        <p:nvSpPr>
          <p:cNvPr id="3" name="Text 1"/>
          <p:cNvSpPr/>
          <p:nvPr/>
        </p:nvSpPr>
        <p:spPr>
          <a:xfrm>
            <a:off x="3352651" y="400050"/>
            <a:ext cx="5334149" cy="359978"/>
          </a:xfrm>
          <a:prstGeom prst="rect">
            <a:avLst/>
          </a:prstGeom>
          <a:noFill/>
          <a:ln/>
        </p:spPr>
        <p:txBody>
          <a:bodyPr wrap="square" lIns="0" tIns="0" rIns="0" bIns="0" rtlCol="0" anchor="t"/>
          <a:lstStyle/>
          <a:p>
            <a:pPr marL="0" indent="0" algn="l">
              <a:lnSpc>
                <a:spcPts val="2835"/>
              </a:lnSpc>
              <a:buNone/>
            </a:pPr>
            <a:r>
              <a:rPr lang="en-US" sz="2363" b="1" dirty="0">
                <a:solidFill>
                  <a:srgbClr val="1B4965"/>
                </a:solidFill>
                <a:latin typeface="Carlito" pitchFamily="34" charset="0"/>
                <a:ea typeface="Carlito" pitchFamily="34" charset="-122"/>
                <a:cs typeface="Carlito" pitchFamily="34" charset="-120"/>
              </a:rPr>
              <a:t>ارزشیابی یادگیری و چک‌لیست بالینی</a:t>
            </a:r>
            <a:endParaRPr lang="en-US" sz="2363" dirty="0"/>
          </a:p>
        </p:txBody>
      </p:sp>
      <p:sp>
        <p:nvSpPr>
          <p:cNvPr id="4" name="Text 2"/>
          <p:cNvSpPr/>
          <p:nvPr/>
        </p:nvSpPr>
        <p:spPr>
          <a:xfrm>
            <a:off x="434340" y="427878"/>
            <a:ext cx="667338" cy="304209"/>
          </a:xfrm>
          <a:prstGeom prst="roundRect">
            <a:avLst>
              <a:gd name="adj" fmla="val 37573"/>
            </a:avLst>
          </a:prstGeom>
          <a:solidFill>
            <a:srgbClr val="CDE7F0"/>
          </a:solidFill>
          <a:ln/>
        </p:spPr>
        <p:txBody>
          <a:bodyPr wrap="square" rtlCol="0" anchor="ctr"/>
          <a:lstStyle/>
          <a:p>
            <a:pPr marL="0" indent="0">
              <a:buNone/>
            </a:pPr>
            <a:endParaRPr lang="en-US" dirty="0"/>
          </a:p>
        </p:txBody>
      </p:sp>
      <p:sp>
        <p:nvSpPr>
          <p:cNvPr id="5" name="Text 3"/>
          <p:cNvSpPr/>
          <p:nvPr/>
        </p:nvSpPr>
        <p:spPr>
          <a:xfrm>
            <a:off x="457200" y="440680"/>
            <a:ext cx="621618" cy="278606"/>
          </a:xfrm>
          <a:prstGeom prst="rect">
            <a:avLst/>
          </a:prstGeom>
          <a:noFill/>
          <a:ln/>
        </p:spPr>
        <p:txBody>
          <a:bodyPr wrap="none" lIns="0" tIns="0" rIns="0" bIns="0" rtlCol="0" anchor="ctr"/>
          <a:lstStyle/>
          <a:p>
            <a:pPr marL="0" indent="0" algn="ctr">
              <a:lnSpc>
                <a:spcPts val="1519"/>
              </a:lnSpc>
              <a:buNone/>
            </a:pPr>
            <a:r>
              <a:rPr lang="en-US" sz="1013" b="1" dirty="0">
                <a:solidFill>
                  <a:srgbClr val="5FA8D3"/>
                </a:solidFill>
                <a:latin typeface="Carlito" pitchFamily="34" charset="0"/>
                <a:ea typeface="Carlito" pitchFamily="34" charset="-122"/>
                <a:cs typeface="Carlito" pitchFamily="34" charset="-120"/>
              </a:rPr>
              <a:t>۲۲ / ۲۲</a:t>
            </a:r>
            <a:endParaRPr lang="en-US" sz="1013" dirty="0"/>
          </a:p>
        </p:txBody>
      </p:sp>
      <p:sp>
        <p:nvSpPr>
          <p:cNvPr id="6" name="Text 4"/>
          <p:cNvSpPr/>
          <p:nvPr/>
        </p:nvSpPr>
        <p:spPr>
          <a:xfrm>
            <a:off x="3933862" y="1074353"/>
            <a:ext cx="4752938" cy="1535348"/>
          </a:xfrm>
          <a:prstGeom prst="roundRect">
            <a:avLst>
              <a:gd name="adj" fmla="val 8685"/>
            </a:avLst>
          </a:prstGeom>
          <a:solidFill>
            <a:srgbClr val="FFFFFF"/>
          </a:solidFill>
          <a:ln/>
          <a:effectLst>
            <a:outerShdw blurRad="95250" dist="28575" dir="5400000" algn="bl" rotWithShape="0">
              <a:srgbClr val="1B4965">
                <a:alpha val="5000"/>
              </a:srgbClr>
            </a:outerShdw>
          </a:effectLst>
        </p:spPr>
        <p:txBody>
          <a:bodyPr wrap="square" rtlCol="0" anchor="ctr"/>
          <a:lstStyle/>
          <a:p>
            <a:pPr marL="0" indent="0">
              <a:buNone/>
            </a:pPr>
            <a:endParaRPr lang="en-US" dirty="0"/>
          </a:p>
        </p:txBody>
      </p:sp>
      <p:sp>
        <p:nvSpPr>
          <p:cNvPr id="7" name="Shape 5"/>
          <p:cNvSpPr/>
          <p:nvPr/>
        </p:nvSpPr>
        <p:spPr>
          <a:xfrm>
            <a:off x="3933862" y="1077925"/>
            <a:ext cx="4752938" cy="0"/>
          </a:xfrm>
          <a:prstGeom prst="line">
            <a:avLst/>
          </a:prstGeom>
          <a:noFill/>
          <a:ln w="7144">
            <a:solidFill>
              <a:srgbClr val="D8E3EC"/>
            </a:solidFill>
            <a:prstDash val="solid"/>
          </a:ln>
        </p:spPr>
      </p:sp>
      <p:sp>
        <p:nvSpPr>
          <p:cNvPr id="8" name="Shape 6"/>
          <p:cNvSpPr/>
          <p:nvPr/>
        </p:nvSpPr>
        <p:spPr>
          <a:xfrm>
            <a:off x="8672513" y="1074353"/>
            <a:ext cx="0" cy="1535348"/>
          </a:xfrm>
          <a:prstGeom prst="line">
            <a:avLst/>
          </a:prstGeom>
          <a:noFill/>
          <a:ln w="28575">
            <a:solidFill>
              <a:srgbClr val="1B4965"/>
            </a:solidFill>
            <a:prstDash val="solid"/>
          </a:ln>
        </p:spPr>
      </p:sp>
      <p:sp>
        <p:nvSpPr>
          <p:cNvPr id="9" name="Shape 7"/>
          <p:cNvSpPr/>
          <p:nvPr/>
        </p:nvSpPr>
        <p:spPr>
          <a:xfrm>
            <a:off x="3933862" y="2606129"/>
            <a:ext cx="4752938" cy="0"/>
          </a:xfrm>
          <a:prstGeom prst="line">
            <a:avLst/>
          </a:prstGeom>
          <a:noFill/>
          <a:ln w="7144">
            <a:solidFill>
              <a:srgbClr val="D8E3EC"/>
            </a:solidFill>
            <a:prstDash val="solid"/>
          </a:ln>
        </p:spPr>
      </p:sp>
      <p:sp>
        <p:nvSpPr>
          <p:cNvPr id="10" name="Shape 8"/>
          <p:cNvSpPr/>
          <p:nvPr/>
        </p:nvSpPr>
        <p:spPr>
          <a:xfrm>
            <a:off x="3937434" y="1074353"/>
            <a:ext cx="0" cy="1535348"/>
          </a:xfrm>
          <a:prstGeom prst="line">
            <a:avLst/>
          </a:prstGeom>
          <a:noFill/>
          <a:ln w="7144">
            <a:solidFill>
              <a:srgbClr val="D8E3EC"/>
            </a:solidFill>
            <a:prstDash val="solid"/>
          </a:ln>
        </p:spPr>
      </p:sp>
      <p:sp>
        <p:nvSpPr>
          <p:cNvPr id="11" name="Text 9"/>
          <p:cNvSpPr/>
          <p:nvPr/>
        </p:nvSpPr>
        <p:spPr>
          <a:xfrm>
            <a:off x="8372475" y="1201155"/>
            <a:ext cx="128588" cy="128588"/>
          </a:xfrm>
          <a:prstGeom prst="rect">
            <a:avLst/>
          </a:prstGeom>
          <a:noFill/>
          <a:ln/>
        </p:spPr>
        <p:txBody>
          <a:bodyPr wrap="none" lIns="0" tIns="0" rIns="0" bIns="0" rtlCol="0" anchor="ctr"/>
          <a:lstStyle/>
          <a:p>
            <a:pPr marL="0" indent="0" algn="ctr">
              <a:buNone/>
            </a:pPr>
            <a:r>
              <a:rPr lang="en-US" sz="1266" dirty="0">
                <a:solidFill>
                  <a:srgbClr val="1B4965"/>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7858125" y="1195797"/>
            <a:ext cx="642938" cy="164592"/>
          </a:xfrm>
          <a:prstGeom prst="rect">
            <a:avLst/>
          </a:prstGeom>
          <a:noFill/>
          <a:ln/>
        </p:spPr>
        <p:txBody>
          <a:bodyPr wrap="none" lIns="0" tIns="0" rIns="0" bIns="0" rtlCol="0" anchor="t"/>
          <a:lstStyle/>
          <a:p>
            <a:pPr marL="0" indent="0" algn="l">
              <a:lnSpc>
                <a:spcPts val="1097"/>
              </a:lnSpc>
              <a:buNone/>
            </a:pPr>
            <a:r>
              <a:rPr lang="en-US" sz="800" b="1" dirty="0">
                <a:solidFill>
                  <a:srgbClr val="1B4965"/>
                </a:solidFill>
                <a:latin typeface="Carlito" pitchFamily="34" charset="0"/>
                <a:ea typeface="Carlito" pitchFamily="34" charset="-122"/>
                <a:cs typeface="Carlito" pitchFamily="34" charset="-120"/>
              </a:rPr>
              <a:t>ارزشیابی</a:t>
            </a:r>
            <a:endParaRPr lang="en-US" sz="800" dirty="0"/>
          </a:p>
        </p:txBody>
      </p:sp>
      <p:sp>
        <p:nvSpPr>
          <p:cNvPr id="13" name="Text 11"/>
          <p:cNvSpPr/>
          <p:nvPr/>
        </p:nvSpPr>
        <p:spPr>
          <a:xfrm>
            <a:off x="4098168" y="1392250"/>
            <a:ext cx="4402894" cy="608838"/>
          </a:xfrm>
          <a:prstGeom prst="rect">
            <a:avLst/>
          </a:prstGeom>
          <a:noFill/>
          <a:ln/>
        </p:spPr>
        <p:txBody>
          <a:bodyPr wrap="square" lIns="0" tIns="0" rIns="0" bIns="0" rtlCol="0" anchor="t"/>
          <a:lstStyle/>
          <a:p>
            <a:pPr marL="0" indent="0" algn="l">
              <a:lnSpc>
                <a:spcPts val="1405"/>
              </a:lnSpc>
              <a:buNone/>
            </a:pPr>
            <a:r>
              <a:rPr lang="en-US" sz="800" dirty="0">
                <a:solidFill>
                  <a:srgbClr val="1A2733"/>
                </a:solidFill>
                <a:latin typeface="Carlito" pitchFamily="34" charset="0"/>
                <a:ea typeface="Carlito" pitchFamily="34" charset="-122"/>
                <a:cs typeface="Carlito" pitchFamily="34" charset="-120"/>
              </a:rPr>
              <a:t>ارزشیابی تعیین می‌کند که آیا تغییر رفتاری مورد نظر ایجاد شده یا خیر. این مرحله توسط مشاهده رفتار بیمار و یا سؤالات شفاهی و کتبی صورت می‌گیرد. ارزشیابی هم فرآیند و هم محصول را شامل می‌شود.</a:t>
            </a:r>
            <a:endParaRPr lang="en-US" sz="800" dirty="0"/>
          </a:p>
        </p:txBody>
      </p:sp>
      <p:sp>
        <p:nvSpPr>
          <p:cNvPr id="14" name="Text 12"/>
          <p:cNvSpPr/>
          <p:nvPr/>
        </p:nvSpPr>
        <p:spPr>
          <a:xfrm>
            <a:off x="457200" y="1074353"/>
            <a:ext cx="3362362" cy="1535348"/>
          </a:xfrm>
          <a:prstGeom prst="roundRect">
            <a:avLst>
              <a:gd name="adj" fmla="val 8685"/>
            </a:avLst>
          </a:prstGeom>
          <a:solidFill>
            <a:srgbClr val="CDE7F0"/>
          </a:solidFill>
          <a:ln/>
        </p:spPr>
        <p:txBody>
          <a:bodyPr wrap="square" rtlCol="0" anchor="ctr"/>
          <a:lstStyle/>
          <a:p>
            <a:pPr marL="0" indent="0">
              <a:buNone/>
            </a:pPr>
            <a:endParaRPr lang="en-US" dirty="0"/>
          </a:p>
        </p:txBody>
      </p:sp>
      <p:sp>
        <p:nvSpPr>
          <p:cNvPr id="15" name="Text 13"/>
          <p:cNvSpPr/>
          <p:nvPr/>
        </p:nvSpPr>
        <p:spPr>
          <a:xfrm>
            <a:off x="2886075" y="1188653"/>
            <a:ext cx="804900" cy="128016"/>
          </a:xfrm>
          <a:prstGeom prst="rect">
            <a:avLst/>
          </a:prstGeom>
          <a:noFill/>
          <a:ln/>
        </p:spPr>
        <p:txBody>
          <a:bodyPr wrap="none" lIns="0" tIns="0" rIns="0" bIns="0" rtlCol="0" anchor="t"/>
          <a:lstStyle/>
          <a:p>
            <a:pPr marL="0" indent="0" algn="l">
              <a:lnSpc>
                <a:spcPts val="1013"/>
              </a:lnSpc>
              <a:buNone/>
            </a:pPr>
            <a:r>
              <a:rPr lang="en-US" sz="800" b="1" dirty="0">
                <a:solidFill>
                  <a:srgbClr val="1B4965"/>
                </a:solidFill>
                <a:latin typeface="Carlito" pitchFamily="34" charset="0"/>
                <a:ea typeface="Carlito" pitchFamily="34" charset="-122"/>
                <a:cs typeface="Carlito" pitchFamily="34" charset="-120"/>
              </a:rPr>
              <a:t>۳ روش ارزشیابی</a:t>
            </a:r>
            <a:endParaRPr lang="en-US" sz="800" dirty="0"/>
          </a:p>
        </p:txBody>
      </p:sp>
      <p:sp>
        <p:nvSpPr>
          <p:cNvPr id="16" name="Text 14"/>
          <p:cNvSpPr/>
          <p:nvPr/>
        </p:nvSpPr>
        <p:spPr>
          <a:xfrm>
            <a:off x="3576675" y="1181509"/>
            <a:ext cx="114300" cy="114300"/>
          </a:xfrm>
          <a:prstGeom prst="rect">
            <a:avLst/>
          </a:prstGeom>
          <a:noFill/>
          <a:ln/>
        </p:spPr>
        <p:txBody>
          <a:bodyPr wrap="none" lIns="0" tIns="0" rIns="0" bIns="0" rtlCol="0" anchor="ctr"/>
          <a:lstStyle/>
          <a:p>
            <a:pPr marL="0" indent="0" algn="ctr">
              <a:buNone/>
            </a:pPr>
            <a:r>
              <a:rPr lang="en-US" sz="1125" dirty="0">
                <a:solidFill>
                  <a:srgbClr val="1B4965"/>
                </a:solidFill>
                <a:latin typeface="Segoe UI Symbol" pitchFamily="34" charset="0"/>
                <a:ea typeface="Segoe UI Symbol" pitchFamily="34" charset="-122"/>
                <a:cs typeface="Segoe UI Symbol" pitchFamily="34" charset="-120"/>
              </a:rPr>
              <a:t>✓</a:t>
            </a:r>
            <a:endParaRPr lang="en-US" sz="1125" dirty="0"/>
          </a:p>
        </p:txBody>
      </p:sp>
      <p:sp>
        <p:nvSpPr>
          <p:cNvPr id="17" name="Text 15"/>
          <p:cNvSpPr/>
          <p:nvPr/>
        </p:nvSpPr>
        <p:spPr>
          <a:xfrm>
            <a:off x="589359" y="1363675"/>
            <a:ext cx="3098043" cy="347476"/>
          </a:xfrm>
          <a:prstGeom prst="roundRect">
            <a:avLst>
              <a:gd name="adj" fmla="val 27412"/>
            </a:avLst>
          </a:prstGeom>
          <a:solidFill>
            <a:srgbClr val="FFFFFF"/>
          </a:solidFill>
          <a:ln w="7144">
            <a:solidFill>
              <a:srgbClr val="1B4965"/>
            </a:solidFill>
            <a:prstDash val="solid"/>
          </a:ln>
        </p:spPr>
        <p:txBody>
          <a:bodyPr wrap="square" rtlCol="0" anchor="ctr"/>
          <a:lstStyle/>
          <a:p>
            <a:pPr marL="0" indent="0">
              <a:buNone/>
            </a:pPr>
            <a:endParaRPr lang="en-US" dirty="0"/>
          </a:p>
        </p:txBody>
      </p:sp>
      <p:sp>
        <p:nvSpPr>
          <p:cNvPr id="18" name="Text 16"/>
          <p:cNvSpPr/>
          <p:nvPr/>
        </p:nvSpPr>
        <p:spPr>
          <a:xfrm>
            <a:off x="3455231" y="1458776"/>
            <a:ext cx="157163" cy="157163"/>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64369" y="1417253"/>
            <a:ext cx="2936979" cy="102941"/>
          </a:xfrm>
          <a:prstGeom prst="rect">
            <a:avLst/>
          </a:prstGeom>
          <a:noFill/>
          <a:ln/>
        </p:spPr>
        <p:txBody>
          <a:bodyPr wrap="square" lIns="0" tIns="0" rIns="0" bIns="0" rtlCol="0" anchor="t">
            <a:normAutofit/>
          </a:bodyPr>
          <a:lstStyle/>
          <a:p>
            <a:pPr marL="0" indent="0" algn="l">
              <a:lnSpc>
                <a:spcPts val="914"/>
              </a:lnSpc>
              <a:buNone/>
            </a:pPr>
            <a:r>
              <a:rPr lang="en-US" sz="800" b="1" dirty="0">
                <a:solidFill>
                  <a:srgbClr val="1B4965"/>
                </a:solidFill>
                <a:latin typeface="Carlito" pitchFamily="34" charset="0"/>
                <a:ea typeface="Carlito" pitchFamily="34" charset="-122"/>
                <a:cs typeface="Carlito" pitchFamily="34" charset="-120"/>
              </a:rPr>
              <a:t>مشاهده رفتار (return demonstration)</a:t>
            </a:r>
            <a:endParaRPr lang="en-US" sz="800" dirty="0"/>
          </a:p>
        </p:txBody>
      </p:sp>
      <p:sp>
        <p:nvSpPr>
          <p:cNvPr id="20" name="Text 18"/>
          <p:cNvSpPr/>
          <p:nvPr/>
        </p:nvSpPr>
        <p:spPr>
          <a:xfrm>
            <a:off x="664369" y="1547626"/>
            <a:ext cx="2855396" cy="109947"/>
          </a:xfrm>
          <a:prstGeom prst="rect">
            <a:avLst/>
          </a:prstGeom>
          <a:noFill/>
          <a:ln/>
        </p:spPr>
        <p:txBody>
          <a:bodyPr wrap="none" lIns="0" tIns="0" rIns="0" bIns="0" rtlCol="0" anchor="t"/>
          <a:lstStyle/>
          <a:p>
            <a:pPr marL="0" indent="0" algn="l">
              <a:lnSpc>
                <a:spcPts val="866"/>
              </a:lnSpc>
              <a:buNone/>
            </a:pPr>
            <a:r>
              <a:rPr lang="en-US" sz="800" dirty="0">
                <a:solidFill>
                  <a:srgbClr val="5A6B7B"/>
                </a:solidFill>
                <a:latin typeface="Carlito" pitchFamily="34" charset="0"/>
                <a:ea typeface="Carlito" pitchFamily="34" charset="-122"/>
                <a:cs typeface="Carlito" pitchFamily="34" charset="-120"/>
              </a:rPr>
              <a:t>مثل تزریق توسط بیمار</a:t>
            </a:r>
            <a:endParaRPr lang="en-US" sz="800" dirty="0"/>
          </a:p>
        </p:txBody>
      </p:sp>
      <p:sp>
        <p:nvSpPr>
          <p:cNvPr id="21" name="Text 19"/>
          <p:cNvSpPr/>
          <p:nvPr/>
        </p:nvSpPr>
        <p:spPr>
          <a:xfrm>
            <a:off x="589359" y="1761158"/>
            <a:ext cx="3098043" cy="347476"/>
          </a:xfrm>
          <a:prstGeom prst="roundRect">
            <a:avLst>
              <a:gd name="adj" fmla="val 27412"/>
            </a:avLst>
          </a:prstGeom>
          <a:solidFill>
            <a:srgbClr val="FFFFFF"/>
          </a:solidFill>
          <a:ln w="7144">
            <a:solidFill>
              <a:srgbClr val="1B4965"/>
            </a:solidFill>
            <a:prstDash val="solid"/>
          </a:ln>
        </p:spPr>
        <p:txBody>
          <a:bodyPr wrap="square" rtlCol="0" anchor="ctr"/>
          <a:lstStyle/>
          <a:p>
            <a:pPr marL="0" indent="0">
              <a:buNone/>
            </a:pPr>
            <a:endParaRPr lang="en-US" dirty="0"/>
          </a:p>
        </p:txBody>
      </p:sp>
      <p:sp>
        <p:nvSpPr>
          <p:cNvPr id="22" name="Text 20"/>
          <p:cNvSpPr/>
          <p:nvPr/>
        </p:nvSpPr>
        <p:spPr>
          <a:xfrm>
            <a:off x="3455231" y="1856259"/>
            <a:ext cx="157163" cy="157163"/>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664369" y="1814736"/>
            <a:ext cx="2948025" cy="102941"/>
          </a:xfrm>
          <a:prstGeom prst="rect">
            <a:avLst/>
          </a:prstGeom>
          <a:noFill/>
          <a:ln/>
        </p:spPr>
        <p:txBody>
          <a:bodyPr wrap="none" lIns="0" tIns="0" rIns="0" bIns="0" rtlCol="0" anchor="t">
            <a:normAutofit/>
          </a:bodyPr>
          <a:lstStyle/>
          <a:p>
            <a:pPr marL="0" indent="0" algn="l">
              <a:lnSpc>
                <a:spcPts val="914"/>
              </a:lnSpc>
              <a:buNone/>
            </a:pPr>
            <a:r>
              <a:rPr lang="en-US" sz="800" b="1" dirty="0">
                <a:solidFill>
                  <a:srgbClr val="1B4965"/>
                </a:solidFill>
                <a:latin typeface="Carlito" pitchFamily="34" charset="0"/>
                <a:ea typeface="Carlito" pitchFamily="34" charset="-122"/>
                <a:cs typeface="Carlito" pitchFamily="34" charset="-120"/>
              </a:rPr>
              <a:t>سؤالات شفاهی</a:t>
            </a:r>
            <a:endParaRPr lang="en-US" sz="800" dirty="0"/>
          </a:p>
        </p:txBody>
      </p:sp>
      <p:sp>
        <p:nvSpPr>
          <p:cNvPr id="24" name="Text 22"/>
          <p:cNvSpPr/>
          <p:nvPr/>
        </p:nvSpPr>
        <p:spPr>
          <a:xfrm>
            <a:off x="664369" y="1945109"/>
            <a:ext cx="2936979" cy="109947"/>
          </a:xfrm>
          <a:prstGeom prst="rect">
            <a:avLst/>
          </a:prstGeom>
          <a:noFill/>
          <a:ln/>
        </p:spPr>
        <p:txBody>
          <a:bodyPr wrap="square" lIns="0" tIns="0" rIns="0" bIns="0" rtlCol="0" anchor="t"/>
          <a:lstStyle/>
          <a:p>
            <a:pPr marL="0" indent="0" algn="l">
              <a:lnSpc>
                <a:spcPts val="866"/>
              </a:lnSpc>
              <a:buNone/>
            </a:pPr>
            <a:r>
              <a:rPr lang="en-US" sz="800" dirty="0">
                <a:solidFill>
                  <a:srgbClr val="5A6B7B"/>
                </a:solidFill>
                <a:latin typeface="Carlito" pitchFamily="34" charset="0"/>
                <a:ea typeface="Carlito" pitchFamily="34" charset="-122"/>
                <a:cs typeface="Carlito" pitchFamily="34" charset="-120"/>
              </a:rPr>
              <a:t>پرسش از بیمار درباره داروها</a:t>
            </a:r>
            <a:endParaRPr lang="en-US" sz="800" dirty="0"/>
          </a:p>
        </p:txBody>
      </p:sp>
      <p:sp>
        <p:nvSpPr>
          <p:cNvPr id="25" name="Text 23"/>
          <p:cNvSpPr/>
          <p:nvPr/>
        </p:nvSpPr>
        <p:spPr>
          <a:xfrm>
            <a:off x="589359" y="2158640"/>
            <a:ext cx="3098043" cy="347476"/>
          </a:xfrm>
          <a:prstGeom prst="roundRect">
            <a:avLst>
              <a:gd name="adj" fmla="val 27412"/>
            </a:avLst>
          </a:prstGeom>
          <a:solidFill>
            <a:srgbClr val="FFFFFF"/>
          </a:solidFill>
          <a:ln w="7144">
            <a:solidFill>
              <a:srgbClr val="1B4965"/>
            </a:solidFill>
            <a:prstDash val="solid"/>
          </a:ln>
        </p:spPr>
        <p:txBody>
          <a:bodyPr wrap="square" rtlCol="0" anchor="ctr"/>
          <a:lstStyle/>
          <a:p>
            <a:pPr marL="0" indent="0">
              <a:buNone/>
            </a:pPr>
            <a:endParaRPr lang="en-US" dirty="0"/>
          </a:p>
        </p:txBody>
      </p:sp>
      <p:sp>
        <p:nvSpPr>
          <p:cNvPr id="26" name="Text 24"/>
          <p:cNvSpPr/>
          <p:nvPr/>
        </p:nvSpPr>
        <p:spPr>
          <a:xfrm>
            <a:off x="3455231" y="2253742"/>
            <a:ext cx="157163" cy="157163"/>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664369" y="2212218"/>
            <a:ext cx="2855396" cy="102941"/>
          </a:xfrm>
          <a:prstGeom prst="rect">
            <a:avLst/>
          </a:prstGeom>
          <a:noFill/>
          <a:ln/>
        </p:spPr>
        <p:txBody>
          <a:bodyPr wrap="none" lIns="0" tIns="0" rIns="0" bIns="0" rtlCol="0" anchor="t">
            <a:normAutofit/>
          </a:bodyPr>
          <a:lstStyle/>
          <a:p>
            <a:pPr marL="0" indent="0" algn="l">
              <a:lnSpc>
                <a:spcPts val="914"/>
              </a:lnSpc>
              <a:buNone/>
            </a:pPr>
            <a:r>
              <a:rPr lang="en-US" sz="800" b="1" dirty="0">
                <a:solidFill>
                  <a:srgbClr val="1B4965"/>
                </a:solidFill>
                <a:latin typeface="Carlito" pitchFamily="34" charset="0"/>
                <a:ea typeface="Carlito" pitchFamily="34" charset="-122"/>
                <a:cs typeface="Carlito" pitchFamily="34" charset="-120"/>
              </a:rPr>
              <a:t>پرسشنامه / کتبی</a:t>
            </a:r>
            <a:endParaRPr lang="en-US" sz="800" dirty="0"/>
          </a:p>
        </p:txBody>
      </p:sp>
      <p:sp>
        <p:nvSpPr>
          <p:cNvPr id="28" name="Text 26"/>
          <p:cNvSpPr/>
          <p:nvPr/>
        </p:nvSpPr>
        <p:spPr>
          <a:xfrm>
            <a:off x="664369" y="2342592"/>
            <a:ext cx="2855396" cy="109947"/>
          </a:xfrm>
          <a:prstGeom prst="rect">
            <a:avLst/>
          </a:prstGeom>
          <a:noFill/>
          <a:ln/>
        </p:spPr>
        <p:txBody>
          <a:bodyPr wrap="none" lIns="0" tIns="0" rIns="0" bIns="0" rtlCol="0" anchor="t"/>
          <a:lstStyle/>
          <a:p>
            <a:pPr marL="0" indent="0" algn="l">
              <a:lnSpc>
                <a:spcPts val="866"/>
              </a:lnSpc>
              <a:buNone/>
            </a:pPr>
            <a:r>
              <a:rPr lang="en-US" sz="800" dirty="0">
                <a:solidFill>
                  <a:srgbClr val="5A6B7B"/>
                </a:solidFill>
                <a:latin typeface="Carlito" pitchFamily="34" charset="0"/>
                <a:ea typeface="Carlito" pitchFamily="34" charset="-122"/>
                <a:cs typeface="Carlito" pitchFamily="34" charset="-120"/>
              </a:rPr>
              <a:t>برای آموزش‌های پیچیده‌تر</a:t>
            </a:r>
            <a:endParaRPr lang="en-US" sz="800" dirty="0"/>
          </a:p>
        </p:txBody>
      </p:sp>
      <p:sp>
        <p:nvSpPr>
          <p:cNvPr id="29" name="Text 27"/>
          <p:cNvSpPr/>
          <p:nvPr/>
        </p:nvSpPr>
        <p:spPr>
          <a:xfrm>
            <a:off x="457200" y="2695426"/>
            <a:ext cx="8229600" cy="1678781"/>
          </a:xfrm>
          <a:prstGeom prst="roundRect">
            <a:avLst>
              <a:gd name="adj" fmla="val 7943"/>
            </a:avLst>
          </a:prstGeom>
          <a:solidFill>
            <a:srgbClr val="FFFFFF"/>
          </a:solidFill>
          <a:ln/>
          <a:effectLst>
            <a:outerShdw blurRad="133350" dist="38100" dir="5400000" algn="bl" rotWithShape="0">
              <a:srgbClr val="0F2A3D">
                <a:alpha val="6000"/>
              </a:srgbClr>
            </a:outerShdw>
          </a:effectLst>
        </p:spPr>
        <p:txBody>
          <a:bodyPr wrap="square" rtlCol="0" anchor="ctr"/>
          <a:lstStyle/>
          <a:p>
            <a:pPr marL="0" indent="0">
              <a:buNone/>
            </a:pPr>
            <a:endParaRPr lang="en-US" dirty="0"/>
          </a:p>
        </p:txBody>
      </p:sp>
      <p:sp>
        <p:nvSpPr>
          <p:cNvPr id="30" name="Shape 28"/>
          <p:cNvSpPr/>
          <p:nvPr/>
        </p:nvSpPr>
        <p:spPr>
          <a:xfrm>
            <a:off x="457200" y="2698998"/>
            <a:ext cx="8229600" cy="0"/>
          </a:xfrm>
          <a:prstGeom prst="line">
            <a:avLst/>
          </a:prstGeom>
          <a:noFill/>
          <a:ln w="7144">
            <a:solidFill>
              <a:srgbClr val="D8E3EC"/>
            </a:solidFill>
            <a:prstDash val="solid"/>
          </a:ln>
        </p:spPr>
      </p:sp>
      <p:sp>
        <p:nvSpPr>
          <p:cNvPr id="31" name="Shape 29"/>
          <p:cNvSpPr/>
          <p:nvPr/>
        </p:nvSpPr>
        <p:spPr>
          <a:xfrm>
            <a:off x="8672513" y="2695426"/>
            <a:ext cx="0" cy="1678781"/>
          </a:xfrm>
          <a:prstGeom prst="line">
            <a:avLst/>
          </a:prstGeom>
          <a:noFill/>
          <a:ln w="28575">
            <a:solidFill>
              <a:srgbClr val="2A9D8F"/>
            </a:solidFill>
            <a:prstDash val="solid"/>
          </a:ln>
        </p:spPr>
      </p:sp>
      <p:sp>
        <p:nvSpPr>
          <p:cNvPr id="32" name="Shape 30"/>
          <p:cNvSpPr/>
          <p:nvPr/>
        </p:nvSpPr>
        <p:spPr>
          <a:xfrm>
            <a:off x="457200" y="4370636"/>
            <a:ext cx="8229600" cy="0"/>
          </a:xfrm>
          <a:prstGeom prst="line">
            <a:avLst/>
          </a:prstGeom>
          <a:noFill/>
          <a:ln w="7144">
            <a:solidFill>
              <a:srgbClr val="D8E3EC"/>
            </a:solidFill>
            <a:prstDash val="solid"/>
          </a:ln>
        </p:spPr>
      </p:sp>
      <p:sp>
        <p:nvSpPr>
          <p:cNvPr id="33" name="Shape 31"/>
          <p:cNvSpPr/>
          <p:nvPr/>
        </p:nvSpPr>
        <p:spPr>
          <a:xfrm>
            <a:off x="460772" y="2695426"/>
            <a:ext cx="0" cy="1678781"/>
          </a:xfrm>
          <a:prstGeom prst="line">
            <a:avLst/>
          </a:prstGeom>
          <a:noFill/>
          <a:ln w="7144">
            <a:solidFill>
              <a:srgbClr val="D8E3EC"/>
            </a:solidFill>
            <a:prstDash val="solid"/>
          </a:ln>
        </p:spPr>
      </p:sp>
      <p:sp>
        <p:nvSpPr>
          <p:cNvPr id="34" name="Shape 32"/>
          <p:cNvSpPr/>
          <p:nvPr/>
        </p:nvSpPr>
        <p:spPr>
          <a:xfrm>
            <a:off x="621506" y="3034754"/>
            <a:ext cx="7879556" cy="0"/>
          </a:xfrm>
          <a:prstGeom prst="line">
            <a:avLst/>
          </a:prstGeom>
          <a:noFill/>
          <a:ln w="7144">
            <a:solidFill>
              <a:srgbClr val="D8E3EC"/>
            </a:solidFill>
            <a:prstDash val="dash"/>
          </a:ln>
        </p:spPr>
      </p:sp>
      <p:sp>
        <p:nvSpPr>
          <p:cNvPr id="35" name="Text 33"/>
          <p:cNvSpPr/>
          <p:nvPr/>
        </p:nvSpPr>
        <p:spPr>
          <a:xfrm>
            <a:off x="8343900" y="2809726"/>
            <a:ext cx="157163" cy="157163"/>
          </a:xfrm>
          <a:prstGeom prst="rect">
            <a:avLst/>
          </a:prstGeom>
          <a:noFill/>
          <a:ln/>
        </p:spPr>
        <p:txBody>
          <a:bodyPr wrap="none" lIns="0" tIns="0" rIns="0" bIns="0" rtlCol="0" anchor="ctr"/>
          <a:lstStyle/>
          <a:p>
            <a:pPr marL="0" indent="0" algn="ctr">
              <a:buNone/>
            </a:pPr>
            <a:r>
              <a:rPr lang="en-US" sz="1547" dirty="0">
                <a:solidFill>
                  <a:srgbClr val="2A9D8F"/>
                </a:solidFill>
                <a:latin typeface="Segoe UI Symbol" pitchFamily="34" charset="0"/>
                <a:ea typeface="Segoe UI Symbol" pitchFamily="34" charset="-122"/>
                <a:cs typeface="Segoe UI Symbol" pitchFamily="34" charset="-120"/>
              </a:rPr>
              <a:t>✓</a:t>
            </a:r>
            <a:endParaRPr lang="en-US" sz="1547" dirty="0"/>
          </a:p>
        </p:txBody>
      </p:sp>
      <p:sp>
        <p:nvSpPr>
          <p:cNvPr id="36" name="Text 34"/>
          <p:cNvSpPr/>
          <p:nvPr/>
        </p:nvSpPr>
        <p:spPr>
          <a:xfrm>
            <a:off x="1407765" y="2802582"/>
            <a:ext cx="7203025" cy="171450"/>
          </a:xfrm>
          <a:prstGeom prst="rect">
            <a:avLst/>
          </a:prstGeom>
          <a:noFill/>
          <a:ln/>
        </p:spPr>
        <p:txBody>
          <a:bodyPr wrap="none" lIns="0" tIns="0" rIns="0" bIns="0" rtlCol="0" anchor="t"/>
          <a:lstStyle/>
          <a:p>
            <a:pPr marL="0" indent="0" algn="l">
              <a:lnSpc>
                <a:spcPts val="1350"/>
              </a:lnSpc>
              <a:buNone/>
            </a:pPr>
            <a:r>
              <a:rPr lang="en-US" sz="900" b="1" dirty="0">
                <a:solidFill>
                  <a:srgbClr val="2A9D8F"/>
                </a:solidFill>
                <a:latin typeface="Carlito" pitchFamily="34" charset="0"/>
                <a:ea typeface="Carlito" pitchFamily="34" charset="-122"/>
                <a:cs typeface="Carlito" pitchFamily="34" charset="-120"/>
              </a:rPr>
              <a:t>چک‌لیست ۷ گام آموزش مؤثر به بیمار</a:t>
            </a:r>
            <a:endParaRPr lang="en-US" sz="900" dirty="0"/>
          </a:p>
        </p:txBody>
      </p:sp>
      <p:sp>
        <p:nvSpPr>
          <p:cNvPr id="37" name="Text 35"/>
          <p:cNvSpPr/>
          <p:nvPr/>
        </p:nvSpPr>
        <p:spPr>
          <a:xfrm>
            <a:off x="621506" y="2798296"/>
            <a:ext cx="714821" cy="180023"/>
          </a:xfrm>
          <a:prstGeom prst="roundRect">
            <a:avLst>
              <a:gd name="adj" fmla="val 5285700"/>
            </a:avLst>
          </a:prstGeom>
          <a:solidFill>
            <a:srgbClr val="D4F1ED"/>
          </a:solidFill>
          <a:ln/>
        </p:spPr>
        <p:txBody>
          <a:bodyPr wrap="square" rtlCol="0" anchor="ctr"/>
          <a:lstStyle/>
          <a:p>
            <a:pPr marL="0" indent="0">
              <a:buNone/>
            </a:pPr>
            <a:endParaRPr lang="en-US" dirty="0"/>
          </a:p>
        </p:txBody>
      </p:sp>
      <p:sp>
        <p:nvSpPr>
          <p:cNvPr id="38" name="Text 36"/>
          <p:cNvSpPr/>
          <p:nvPr/>
        </p:nvSpPr>
        <p:spPr>
          <a:xfrm>
            <a:off x="621506" y="2807940"/>
            <a:ext cx="714821" cy="160734"/>
          </a:xfrm>
          <a:prstGeom prst="rect">
            <a:avLst/>
          </a:prstGeom>
          <a:noFill/>
          <a:ln/>
        </p:spPr>
        <p:txBody>
          <a:bodyPr wrap="none" lIns="0" tIns="0" rIns="0" bIns="0" rtlCol="0" anchor="ctr"/>
          <a:lstStyle/>
          <a:p>
            <a:pPr marL="0" indent="0" algn="ctr">
              <a:lnSpc>
                <a:spcPts val="928"/>
              </a:lnSpc>
              <a:buNone/>
            </a:pPr>
            <a:r>
              <a:rPr lang="en-US" sz="800" b="1" dirty="0">
                <a:solidFill>
                  <a:srgbClr val="2A9D8F"/>
                </a:solidFill>
                <a:latin typeface="Carlito" pitchFamily="34" charset="0"/>
                <a:ea typeface="Carlito" pitchFamily="34" charset="-122"/>
                <a:cs typeface="Carlito" pitchFamily="34" charset="-120"/>
              </a:rPr>
              <a:t>ابزار بالینی</a:t>
            </a:r>
            <a:endParaRPr lang="en-US" sz="800" dirty="0"/>
          </a:p>
        </p:txBody>
      </p:sp>
      <p:sp>
        <p:nvSpPr>
          <p:cNvPr id="39" name="Text 37"/>
          <p:cNvSpPr/>
          <p:nvPr/>
        </p:nvSpPr>
        <p:spPr>
          <a:xfrm>
            <a:off x="621506" y="3109764"/>
            <a:ext cx="7879556" cy="1226725"/>
          </a:xfrm>
          <a:prstGeom prst="rect">
            <a:avLst/>
          </a:prstGeom>
          <a:noFill/>
          <a:ln/>
        </p:spPr>
        <p:txBody>
          <a:bodyPr wrap="square" lIns="0" tIns="0" rIns="0" bIns="0" rtlCol="0" anchor="t"/>
          <a:lstStyle/>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۱نیاز یادگیری را از ۳ مسیر شناسایی کن (سؤال، مشاهده، ارتباط)</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۲آمادگی جسمی، روحی و عاطفی بیمار را ارزیابی کن</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۳اهداف را به زبان ساده و قابل اندازه‌گیری تنظیم کن</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۴محیط آموزش را از سروصدا و عوامل حواس‌پرتی پاک کن</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۵روش تدریس را با حیطه یادگیری منطبق کن</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۶مشارکت فعال بیمار را ترغیب کن</a:t>
            </a:r>
            <a:endParaRPr lang="en-US" sz="800" dirty="0"/>
          </a:p>
          <a:p>
            <a:pPr marL="342900" indent="-342900" algn="l">
              <a:lnSpc>
                <a:spcPts val="1090"/>
              </a:lnSpc>
              <a:buSzPct val="100000"/>
              <a:buFont typeface="+mj-lt"/>
              <a:buAutoNum type="arabicPeriod"/>
            </a:pPr>
            <a:r>
              <a:rPr lang="en-US" sz="800" dirty="0">
                <a:solidFill>
                  <a:srgbClr val="1A2733"/>
                </a:solidFill>
                <a:latin typeface="Carlito" pitchFamily="34" charset="0"/>
                <a:ea typeface="Carlito" pitchFamily="34" charset="-122"/>
                <a:cs typeface="Carlito" pitchFamily="34" charset="-120"/>
              </a:rPr>
              <a:t>۷بازخورد فوری بده و در پایان ارزشیابی کن</a:t>
            </a:r>
            <a:endParaRPr lang="en-US" sz="800" dirty="0"/>
          </a:p>
        </p:txBody>
      </p:sp>
      <p:pic>
        <p:nvPicPr>
          <p:cNvPr id="40" name="Image 0" descr="preencoded.png"/>
          <p:cNvPicPr>
            <a:picLocks noChangeAspect="1"/>
          </p:cNvPicPr>
          <p:nvPr/>
        </p:nvPicPr>
        <p:blipFill>
          <a:blip r:embed="rId3"/>
          <a:stretch>
            <a:fillRect/>
          </a:stretch>
        </p:blipFill>
        <p:spPr>
          <a:xfrm>
            <a:off x="457200" y="4459932"/>
            <a:ext cx="8229600" cy="468585"/>
          </a:xfrm>
          <a:prstGeom prst="rect">
            <a:avLst/>
          </a:prstGeom>
        </p:spPr>
      </p:pic>
      <p:sp>
        <p:nvSpPr>
          <p:cNvPr id="41" name="Text 38"/>
          <p:cNvSpPr/>
          <p:nvPr/>
        </p:nvSpPr>
        <p:spPr>
          <a:xfrm>
            <a:off x="8386763" y="4608500"/>
            <a:ext cx="171450" cy="171450"/>
          </a:xfrm>
          <a:prstGeom prst="rect">
            <a:avLst/>
          </a:prstGeom>
          <a:noFill/>
          <a:ln/>
        </p:spPr>
        <p:txBody>
          <a:bodyPr wrap="none" lIns="0" tIns="0" rIns="0" bIns="0" rtlCol="0" anchor="ctr"/>
          <a:lstStyle/>
          <a:p>
            <a:pPr marL="0" indent="0" algn="ctr">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42" name="Text 39"/>
          <p:cNvSpPr/>
          <p:nvPr/>
        </p:nvSpPr>
        <p:spPr>
          <a:xfrm>
            <a:off x="585788" y="4545657"/>
            <a:ext cx="7758113" cy="297135"/>
          </a:xfrm>
          <a:prstGeom prst="rect">
            <a:avLst/>
          </a:prstGeom>
          <a:noFill/>
          <a:ln/>
        </p:spPr>
        <p:txBody>
          <a:bodyPr wrap="square" lIns="0" tIns="0" rIns="0" bIns="0" rtlCol="0" anchor="t"/>
          <a:lstStyle/>
          <a:p>
            <a:pPr marL="0" indent="0" algn="l">
              <a:lnSpc>
                <a:spcPts val="1170"/>
              </a:lnSpc>
              <a:buNone/>
            </a:pPr>
            <a:r>
              <a:rPr lang="en-US" sz="800" dirty="0">
                <a:solidFill>
                  <a:srgbClr val="FFFFFF"/>
                </a:solidFill>
                <a:latin typeface="Carlito" pitchFamily="34" charset="0"/>
                <a:ea typeface="Carlito" pitchFamily="34" charset="-122"/>
                <a:cs typeface="Carlito" pitchFamily="34" charset="-120"/>
              </a:rPr>
              <a:t>آموزش مؤثر به بیمار، مداخله‌ای است که با نیازسنجی آغاز، با ارزشیابی پایان می‌یابد و با تکرار، به تغییر رفتار پایدار منجر می‌شود. نقش پرستار، تسهیل‌گر این تغییر است.</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5925</Words>
  <Application>Microsoft Office PowerPoint</Application>
  <PresentationFormat>On-screen Show (16:9)</PresentationFormat>
  <Paragraphs>619</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Carlito</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mehdiamanikaghalagh@gmail.com</cp:lastModifiedBy>
  <cp:revision>2</cp:revision>
  <dcterms:created xsi:type="dcterms:W3CDTF">2026-10-10T20:14:29Z</dcterms:created>
  <dcterms:modified xsi:type="dcterms:W3CDTF">2026-10-13T19:34:45Z</dcterms:modified>
</cp:coreProperties>
</file>