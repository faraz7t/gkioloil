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300" r:id="rId3"/>
    <p:sldId id="301" r:id="rId4"/>
    <p:sldId id="265" r:id="rId5"/>
    <p:sldId id="259" r:id="rId6"/>
    <p:sldId id="302" r:id="rId7"/>
    <p:sldId id="303" r:id="rId8"/>
    <p:sldId id="304" r:id="rId9"/>
    <p:sldId id="334" r:id="rId10"/>
    <p:sldId id="305" r:id="rId11"/>
    <p:sldId id="306" r:id="rId12"/>
    <p:sldId id="307" r:id="rId13"/>
    <p:sldId id="310" r:id="rId14"/>
    <p:sldId id="313" r:id="rId15"/>
    <p:sldId id="314" r:id="rId16"/>
    <p:sldId id="315" r:id="rId17"/>
    <p:sldId id="316" r:id="rId18"/>
    <p:sldId id="318" r:id="rId19"/>
    <p:sldId id="317" r:id="rId20"/>
    <p:sldId id="321" r:id="rId21"/>
    <p:sldId id="322" r:id="rId22"/>
    <p:sldId id="323" r:id="rId23"/>
    <p:sldId id="324" r:id="rId24"/>
    <p:sldId id="325" r:id="rId25"/>
    <p:sldId id="326" r:id="rId26"/>
    <p:sldId id="327" r:id="rId27"/>
    <p:sldId id="328" r:id="rId28"/>
    <p:sldId id="329" r:id="rId29"/>
    <p:sldId id="330" r:id="rId30"/>
    <p:sldId id="331" r:id="rId31"/>
    <p:sldId id="332" r:id="rId32"/>
    <p:sldId id="333" r:id="rId33"/>
    <p:sldId id="299" r:id="rId34"/>
  </p:sldIdLst>
  <p:sldSz cx="12192000" cy="6858000"/>
  <p:notesSz cx="6858000" cy="9144000"/>
  <p:custDataLst>
    <p:tags r:id="rId35"/>
  </p:custDataLst>
  <p:defaultTextStyle>
    <a:defPPr>
      <a:defRPr lang="fa-IR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1887"/>
    <a:srgbClr val="FF0066"/>
    <a:srgbClr val="CC9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221" autoAdjust="0"/>
    <p:restoredTop sz="94660"/>
  </p:normalViewPr>
  <p:slideViewPr>
    <p:cSldViewPr snapToGrid="0">
      <p:cViewPr varScale="1">
        <p:scale>
          <a:sx n="84" d="100"/>
          <a:sy n="84" d="100"/>
        </p:scale>
        <p:origin x="6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E8288-0A5A-411F-B58B-BF06AB871DBC}" type="datetimeFigureOut">
              <a:rPr lang="fa-IR" smtClean="0"/>
              <a:t>11/05/1448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DEA9-7745-4FA4-AEE3-CDE9EE18A1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173788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E8288-0A5A-411F-B58B-BF06AB871DBC}" type="datetimeFigureOut">
              <a:rPr lang="fa-IR" smtClean="0"/>
              <a:t>11/05/1448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DEA9-7745-4FA4-AEE3-CDE9EE18A1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57966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E8288-0A5A-411F-B58B-BF06AB871DBC}" type="datetimeFigureOut">
              <a:rPr lang="fa-IR" smtClean="0"/>
              <a:t>11/05/1448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DEA9-7745-4FA4-AEE3-CDE9EE18A1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613064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E8288-0A5A-411F-B58B-BF06AB871DBC}" type="datetimeFigureOut">
              <a:rPr lang="fa-IR" smtClean="0"/>
              <a:t>11/05/1448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DEA9-7745-4FA4-AEE3-CDE9EE18A1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632324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E8288-0A5A-411F-B58B-BF06AB871DBC}" type="datetimeFigureOut">
              <a:rPr lang="fa-IR" smtClean="0"/>
              <a:t>11/05/1448</a:t>
            </a:fld>
            <a:endParaRPr lang="fa-I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DEA9-7745-4FA4-AEE3-CDE9EE18A1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750703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E8288-0A5A-411F-B58B-BF06AB871DBC}" type="datetimeFigureOut">
              <a:rPr lang="fa-IR" smtClean="0"/>
              <a:t>11/05/1448</a:t>
            </a:fld>
            <a:endParaRPr lang="fa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DEA9-7745-4FA4-AEE3-CDE9EE18A1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493251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E8288-0A5A-411F-B58B-BF06AB871DBC}" type="datetimeFigureOut">
              <a:rPr lang="fa-IR" smtClean="0"/>
              <a:t>11/05/1448</a:t>
            </a:fld>
            <a:endParaRPr lang="fa-I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DEA9-7745-4FA4-AEE3-CDE9EE18A1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597998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E8288-0A5A-411F-B58B-BF06AB871DBC}" type="datetimeFigureOut">
              <a:rPr lang="fa-IR" smtClean="0"/>
              <a:t>11/05/1448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DEA9-7745-4FA4-AEE3-CDE9EE18A1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017602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a-I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E8288-0A5A-411F-B58B-BF06AB871DBC}" type="datetimeFigureOut">
              <a:rPr lang="fa-IR" smtClean="0"/>
              <a:t>11/05/1448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DEA9-7745-4FA4-AEE3-CDE9EE18A1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535491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E8288-0A5A-411F-B58B-BF06AB871DBC}" type="datetimeFigureOut">
              <a:rPr lang="fa-IR" smtClean="0"/>
              <a:t>11/05/1448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DEA9-7745-4FA4-AEE3-CDE9EE18A1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176982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E8288-0A5A-411F-B58B-BF06AB871DBC}" type="datetimeFigureOut">
              <a:rPr lang="fa-IR" smtClean="0"/>
              <a:t>11/05/1448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DEA9-7745-4FA4-AEE3-CDE9EE18A1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549874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5E8288-0A5A-411F-B58B-BF06AB871DBC}" type="datetimeFigureOut">
              <a:rPr lang="fa-IR" smtClean="0"/>
              <a:t>11/05/1448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9DEA9-7745-4FA4-AEE3-CDE9EE18A1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800228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a-IR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81450"/>
            <a:ext cx="9144000" cy="2387600"/>
          </a:xfrm>
        </p:spPr>
        <p:txBody>
          <a:bodyPr/>
          <a:lstStyle/>
          <a:p>
            <a:r>
              <a:rPr lang="fa-IR" dirty="0">
                <a:cs typeface="B Titr" panose="00000700000000000000" pitchFamily="2" charset="-78"/>
              </a:rPr>
              <a:t>کربوهیدرات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360880"/>
          </a:xfrm>
        </p:spPr>
        <p:txBody>
          <a:bodyPr>
            <a:normAutofit/>
          </a:bodyPr>
          <a:lstStyle/>
          <a:p>
            <a:r>
              <a:rPr lang="fa-IR" dirty="0">
                <a:solidFill>
                  <a:srgbClr val="000000"/>
                </a:solidFill>
                <a:cs typeface="B Nazanin" pitchFamily="2" charset="-78"/>
              </a:rPr>
              <a:t>دکتر بهارک آقاپور</a:t>
            </a:r>
          </a:p>
          <a:p>
            <a:r>
              <a:rPr lang="fa-IR" dirty="0">
                <a:solidFill>
                  <a:srgbClr val="000000"/>
                </a:solidFill>
                <a:cs typeface="B Nazanin" pitchFamily="2" charset="-78"/>
              </a:rPr>
              <a:t>متخصص تغذیه و رژیم درمانی </a:t>
            </a:r>
          </a:p>
          <a:p>
            <a:r>
              <a:rPr lang="fa-IR" dirty="0">
                <a:solidFill>
                  <a:srgbClr val="000000"/>
                </a:solidFill>
                <a:cs typeface="B Nazanin" pitchFamily="2" charset="-78"/>
              </a:rPr>
              <a:t>استادیار دانشکده علوم پزشکی سراب</a:t>
            </a:r>
            <a:endParaRPr lang="en-US" dirty="0">
              <a:solidFill>
                <a:srgbClr val="000000"/>
              </a:solidFill>
              <a:cs typeface="B Nazanin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19370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a-IR" sz="6000" dirty="0">
                <a:cs typeface="B Titr" panose="00000700000000000000" pitchFamily="2" charset="-78"/>
              </a:rPr>
              <a:t>کربوهیدراتها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26867"/>
          </a:xfrm>
        </p:spPr>
        <p:txBody>
          <a:bodyPr>
            <a:normAutofit lnSpcReduction="10000"/>
          </a:bodyPr>
          <a:lstStyle/>
          <a:p>
            <a:endParaRPr lang="fa-IR" sz="3200" dirty="0">
              <a:cs typeface="+mj-cs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در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غلات</a:t>
            </a:r>
            <a:r>
              <a:rPr lang="fa-IR" sz="3200" b="1" dirty="0">
                <a:cs typeface="B Nazanin" panose="00000400000000000000" pitchFamily="2" charset="-78"/>
              </a:rPr>
              <a:t>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میوه</a:t>
            </a:r>
            <a:r>
              <a:rPr lang="fa-IR" sz="3200" b="1" dirty="0">
                <a:cs typeface="B Nazanin" panose="00000400000000000000" pitchFamily="2" charset="-78"/>
              </a:rPr>
              <a:t>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سبزی</a:t>
            </a:r>
            <a:r>
              <a:rPr lang="fa-IR" sz="3200" b="1" dirty="0">
                <a:cs typeface="B Nazanin" panose="00000400000000000000" pitchFamily="2" charset="-78"/>
              </a:rPr>
              <a:t>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لبنیات</a:t>
            </a:r>
            <a:r>
              <a:rPr lang="fa-IR" sz="3200" b="1" dirty="0">
                <a:cs typeface="B Nazanin" panose="00000400000000000000" pitchFamily="2" charset="-78"/>
              </a:rPr>
              <a:t> وجود دارد.</a:t>
            </a: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تامین کننده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60-50 درصد </a:t>
            </a:r>
            <a:r>
              <a:rPr lang="fa-IR" sz="3200" b="1" dirty="0">
                <a:cs typeface="B Nazanin" panose="00000400000000000000" pitchFamily="2" charset="-78"/>
              </a:rPr>
              <a:t>از انرژی بدن</a:t>
            </a: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بصورت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مونو</a:t>
            </a:r>
            <a:r>
              <a:rPr lang="fa-IR" sz="3200" b="1" dirty="0">
                <a:cs typeface="B Nazanin" panose="00000400000000000000" pitchFamily="2" charset="-78"/>
              </a:rPr>
              <a:t>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دی</a:t>
            </a:r>
            <a:r>
              <a:rPr lang="fa-IR" sz="3200" b="1" dirty="0">
                <a:cs typeface="B Nazanin" panose="00000400000000000000" pitchFamily="2" charset="-78"/>
              </a:rPr>
              <a:t> (2 قند)،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الیگو</a:t>
            </a:r>
            <a:r>
              <a:rPr lang="fa-IR" sz="3200" b="1" dirty="0">
                <a:cs typeface="B Nazanin" panose="00000400000000000000" pitchFamily="2" charset="-78"/>
              </a:rPr>
              <a:t> (10-3 قند) و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پلی ساکارید </a:t>
            </a:r>
            <a:r>
              <a:rPr lang="fa-IR" sz="3200" b="1" dirty="0">
                <a:cs typeface="B Nazanin" panose="00000400000000000000" pitchFamily="2" charset="-78"/>
              </a:rPr>
              <a:t>(بیشتر از 10 قند)</a:t>
            </a: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مهم ترین: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گلوکز</a:t>
            </a:r>
          </a:p>
          <a:p>
            <a:pPr marL="0" indent="0">
              <a:buNone/>
            </a:pPr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3200" b="1" dirty="0">
              <a:cs typeface="+mj-cs"/>
            </a:endParaRPr>
          </a:p>
          <a:p>
            <a:pPr marL="0" indent="0">
              <a:buNone/>
            </a:pPr>
            <a:endParaRPr lang="fa-IR" b="1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01773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a-IR" sz="6000" dirty="0">
                <a:cs typeface="B Titr" panose="00000700000000000000" pitchFamily="2" charset="-78"/>
              </a:rPr>
              <a:t>کربوهیدراتها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26867"/>
          </a:xfrm>
        </p:spPr>
        <p:txBody>
          <a:bodyPr>
            <a:normAutofit/>
          </a:bodyPr>
          <a:lstStyle/>
          <a:p>
            <a:r>
              <a:rPr lang="fa-IR" sz="3200" b="1" dirty="0">
                <a:cs typeface="B Nazanin" panose="00000400000000000000" pitchFamily="2" charset="-78"/>
              </a:rPr>
              <a:t> ذخیره کربوهیدرات در بدن انسان: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گلیکوژن </a:t>
            </a:r>
            <a:r>
              <a:rPr lang="fa-IR" sz="3200" b="1" dirty="0">
                <a:cs typeface="B Nazanin" panose="00000400000000000000" pitchFamily="2" charset="-78"/>
              </a:rPr>
              <a:t>در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 </a:t>
            </a:r>
            <a:r>
              <a:rPr lang="fa-IR" sz="3200" b="1" dirty="0">
                <a:solidFill>
                  <a:srgbClr val="FFC000"/>
                </a:solidFill>
                <a:cs typeface="B Nazanin" panose="00000400000000000000" pitchFamily="2" charset="-78"/>
              </a:rPr>
              <a:t>کبد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 </a:t>
            </a:r>
            <a:r>
              <a:rPr lang="fa-IR" sz="3200" b="1" dirty="0">
                <a:cs typeface="B Nazanin" panose="00000400000000000000" pitchFamily="2" charset="-78"/>
              </a:rPr>
              <a:t>و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 </a:t>
            </a:r>
            <a:r>
              <a:rPr lang="fa-IR" sz="3200" b="1" dirty="0">
                <a:solidFill>
                  <a:srgbClr val="FFC000"/>
                </a:solidFill>
                <a:cs typeface="B Nazanin" panose="00000400000000000000" pitchFamily="2" charset="-78"/>
              </a:rPr>
              <a:t>عضلات</a:t>
            </a: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ذخیره کربوهیدرات در گیاهان: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نشاسته</a:t>
            </a: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سنتز کربوهیدرات در گیاهان توسط: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فتوسنتز</a:t>
            </a:r>
          </a:p>
          <a:p>
            <a:pPr marL="0" indent="0">
              <a:buNone/>
            </a:pPr>
            <a:endParaRPr lang="fa-IR" sz="3200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3200" b="1" dirty="0">
              <a:cs typeface="+mj-cs"/>
            </a:endParaRPr>
          </a:p>
          <a:p>
            <a:pPr marL="0" indent="0">
              <a:buNone/>
            </a:pPr>
            <a:endParaRPr lang="fa-IR" b="1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33350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a-IR" sz="6000" dirty="0">
                <a:cs typeface="B Titr" panose="00000700000000000000" pitchFamily="2" charset="-78"/>
              </a:rPr>
              <a:t>طبقه بندی کربوهیدراتها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061" y="1825625"/>
            <a:ext cx="1178416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                           </a:t>
            </a:r>
            <a:r>
              <a:rPr lang="fa-IR" b="1" dirty="0">
                <a:solidFill>
                  <a:srgbClr val="FF0000"/>
                </a:solidFill>
                <a:cs typeface="B Nazanin" panose="00000400000000000000" pitchFamily="2" charset="-78"/>
              </a:rPr>
              <a:t>1. ساده         </a:t>
            </a:r>
            <a:r>
              <a:rPr lang="fa-IR" b="1" dirty="0">
                <a:solidFill>
                  <a:schemeClr val="accent5">
                    <a:lumMod val="75000"/>
                  </a:schemeClr>
                </a:solidFill>
                <a:cs typeface="B Nazanin" panose="00000400000000000000" pitchFamily="2" charset="-78"/>
              </a:rPr>
              <a:t>مونوساکارید ها </a:t>
            </a:r>
            <a:r>
              <a:rPr lang="fa-IR" b="1" dirty="0">
                <a:cs typeface="B Nazanin" panose="00000400000000000000" pitchFamily="2" charset="-78"/>
              </a:rPr>
              <a:t>شامل: 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cs typeface="B Nazanin" panose="00000400000000000000" pitchFamily="2" charset="-78"/>
              </a:rPr>
              <a:t>گلوکز</a:t>
            </a:r>
            <a:r>
              <a:rPr lang="fa-IR" b="1" dirty="0">
                <a:cs typeface="B Nazanin" panose="00000400000000000000" pitchFamily="2" charset="-78"/>
              </a:rPr>
              <a:t>، 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cs typeface="B Nazanin" panose="00000400000000000000" pitchFamily="2" charset="-78"/>
              </a:rPr>
              <a:t>فروکتوز</a:t>
            </a:r>
            <a:r>
              <a:rPr lang="fa-IR" b="1" dirty="0">
                <a:cs typeface="B Nazanin" panose="00000400000000000000" pitchFamily="2" charset="-78"/>
              </a:rPr>
              <a:t>، 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cs typeface="B Nazanin" panose="00000400000000000000" pitchFamily="2" charset="-78"/>
              </a:rPr>
              <a:t>گالاکتوز</a:t>
            </a:r>
          </a:p>
          <a:p>
            <a:pPr marL="0" indent="0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                                              </a:t>
            </a:r>
            <a:r>
              <a:rPr lang="fa-IR" b="1" dirty="0">
                <a:solidFill>
                  <a:schemeClr val="accent5">
                    <a:lumMod val="75000"/>
                  </a:schemeClr>
                </a:solidFill>
                <a:cs typeface="B Nazanin" panose="00000400000000000000" pitchFamily="2" charset="-78"/>
              </a:rPr>
              <a:t>دی ساکارید ها </a:t>
            </a:r>
            <a:r>
              <a:rPr lang="fa-IR" b="1" dirty="0">
                <a:cs typeface="B Nazanin" panose="00000400000000000000" pitchFamily="2" charset="-78"/>
              </a:rPr>
              <a:t>شامل: 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cs typeface="B Nazanin" panose="00000400000000000000" pitchFamily="2" charset="-78"/>
              </a:rPr>
              <a:t>سوکروز</a:t>
            </a:r>
            <a:r>
              <a:rPr lang="fa-IR" b="1" dirty="0">
                <a:cs typeface="B Nazanin" panose="00000400000000000000" pitchFamily="2" charset="-78"/>
              </a:rPr>
              <a:t>، 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cs typeface="B Nazanin" panose="00000400000000000000" pitchFamily="2" charset="-78"/>
              </a:rPr>
              <a:t>مالتوز</a:t>
            </a:r>
            <a:r>
              <a:rPr lang="fa-IR" b="1" dirty="0">
                <a:cs typeface="B Nazanin" panose="00000400000000000000" pitchFamily="2" charset="-78"/>
              </a:rPr>
              <a:t>، 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cs typeface="B Nazanin" panose="00000400000000000000" pitchFamily="2" charset="-78"/>
              </a:rPr>
              <a:t>لاکتوز</a:t>
            </a: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کربوهیدرات ها</a:t>
            </a:r>
          </a:p>
          <a:p>
            <a:pPr marL="0" indent="0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                           </a:t>
            </a:r>
            <a:r>
              <a:rPr lang="fa-IR" b="1" dirty="0">
                <a:solidFill>
                  <a:srgbClr val="FF0000"/>
                </a:solidFill>
                <a:cs typeface="B Nazanin" panose="00000400000000000000" pitchFamily="2" charset="-78"/>
              </a:rPr>
              <a:t>2. پیچیده</a:t>
            </a:r>
            <a:r>
              <a:rPr lang="fa-IR" b="1" dirty="0">
                <a:solidFill>
                  <a:srgbClr val="BE1887"/>
                </a:solidFill>
                <a:cs typeface="B Nazanin" panose="00000400000000000000" pitchFamily="2" charset="-78"/>
              </a:rPr>
              <a:t>      الیگوساکارید ها </a:t>
            </a:r>
            <a:r>
              <a:rPr lang="fa-IR" b="1" dirty="0">
                <a:cs typeface="B Nazanin" panose="00000400000000000000" pitchFamily="2" charset="-78"/>
              </a:rPr>
              <a:t>شامل:</a:t>
            </a:r>
            <a:r>
              <a:rPr lang="fa-IR" b="1" dirty="0">
                <a:solidFill>
                  <a:srgbClr val="BE1887"/>
                </a:solidFill>
                <a:cs typeface="B Nazanin" panose="00000400000000000000" pitchFamily="2" charset="-78"/>
              </a:rPr>
              <a:t> 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cs typeface="B Nazanin" panose="00000400000000000000" pitchFamily="2" charset="-78"/>
              </a:rPr>
              <a:t>رافینوز </a:t>
            </a:r>
            <a:r>
              <a:rPr lang="fa-IR" b="1" dirty="0">
                <a:cs typeface="B Nazanin" panose="00000400000000000000" pitchFamily="2" charset="-78"/>
              </a:rPr>
              <a:t>و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cs typeface="B Nazanin" panose="00000400000000000000" pitchFamily="2" charset="-78"/>
              </a:rPr>
              <a:t> استاکیوز</a:t>
            </a:r>
          </a:p>
          <a:p>
            <a:pPr marL="0" indent="0">
              <a:buNone/>
            </a:pPr>
            <a:r>
              <a:rPr lang="fa-IR" b="1" dirty="0">
                <a:solidFill>
                  <a:srgbClr val="BE1887"/>
                </a:solidFill>
                <a:cs typeface="B Nazanin" panose="00000400000000000000" pitchFamily="2" charset="-78"/>
              </a:rPr>
              <a:t>                                             پلی ساکارید ها </a:t>
            </a:r>
            <a:r>
              <a:rPr lang="fa-IR" b="1" dirty="0">
                <a:cs typeface="B Nazanin" panose="00000400000000000000" pitchFamily="2" charset="-78"/>
              </a:rPr>
              <a:t>شامل: 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cs typeface="B Nazanin" panose="00000400000000000000" pitchFamily="2" charset="-78"/>
              </a:rPr>
              <a:t>نشاسته</a:t>
            </a:r>
            <a:r>
              <a:rPr lang="fa-IR" b="1" dirty="0">
                <a:cs typeface="B Nazanin" panose="00000400000000000000" pitchFamily="2" charset="-78"/>
              </a:rPr>
              <a:t>، 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cs typeface="B Nazanin" panose="00000400000000000000" pitchFamily="2" charset="-78"/>
              </a:rPr>
              <a:t>گلیکوژن</a:t>
            </a:r>
            <a:r>
              <a:rPr lang="fa-IR" b="1" dirty="0">
                <a:cs typeface="B Nazanin" panose="00000400000000000000" pitchFamily="2" charset="-78"/>
              </a:rPr>
              <a:t>، 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cs typeface="B Nazanin" panose="00000400000000000000" pitchFamily="2" charset="-78"/>
              </a:rPr>
              <a:t>فیبر</a:t>
            </a:r>
          </a:p>
          <a:p>
            <a:pPr marL="0" indent="0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b="1" dirty="0">
              <a:cs typeface="B Nazanin" panose="00000400000000000000" pitchFamily="2" charset="-78"/>
            </a:endParaRPr>
          </a:p>
        </p:txBody>
      </p:sp>
      <p:sp>
        <p:nvSpPr>
          <p:cNvPr id="4" name="Right Brace 3"/>
          <p:cNvSpPr/>
          <p:nvPr/>
        </p:nvSpPr>
        <p:spPr>
          <a:xfrm>
            <a:off x="9646277" y="1690688"/>
            <a:ext cx="412123" cy="3847227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847792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471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a-IR" sz="6000" dirty="0">
                <a:cs typeface="B Titr" panose="00000700000000000000" pitchFamily="2" charset="-78"/>
              </a:rPr>
              <a:t>گلوکز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285" y="1520275"/>
            <a:ext cx="11746523" cy="4964931"/>
          </a:xfrm>
        </p:spPr>
        <p:txBody>
          <a:bodyPr>
            <a:normAutofit fontScale="92500" lnSpcReduction="20000"/>
          </a:bodyPr>
          <a:lstStyle/>
          <a:p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گلوکز </a:t>
            </a:r>
            <a:r>
              <a:rPr lang="fa-IR" sz="3200" b="1" dirty="0">
                <a:cs typeface="B Nazanin" panose="00000400000000000000" pitchFamily="2" charset="-78"/>
              </a:rPr>
              <a:t>یا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 قند خون </a:t>
            </a:r>
            <a:r>
              <a:rPr lang="fa-IR" sz="3200" b="1" dirty="0">
                <a:cs typeface="B Nazanin" panose="00000400000000000000" pitchFamily="2" charset="-78"/>
              </a:rPr>
              <a:t>همان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 دکستروز </a:t>
            </a:r>
            <a:r>
              <a:rPr lang="fa-IR" sz="3200" b="1" dirty="0">
                <a:cs typeface="B Nazanin" panose="00000400000000000000" pitchFamily="2" charset="-78"/>
              </a:rPr>
              <a:t>است که بصورت فراوان در طبیعت وجود دارد.</a:t>
            </a: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گلوکز جز ترکیب ثابت همه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دی ساکارید ها </a:t>
            </a:r>
            <a:r>
              <a:rPr lang="fa-IR" sz="3200" b="1" dirty="0">
                <a:cs typeface="B Nazanin" panose="00000400000000000000" pitchFamily="2" charset="-78"/>
              </a:rPr>
              <a:t>و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پلی</a:t>
            </a:r>
            <a:r>
              <a:rPr lang="fa-IR" sz="3200" b="1" dirty="0">
                <a:cs typeface="B Nazanin" panose="00000400000000000000" pitchFamily="2" charset="-78"/>
              </a:rPr>
              <a:t>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ساکاریدها</a:t>
            </a:r>
            <a:r>
              <a:rPr lang="fa-IR" sz="3200" b="1" dirty="0">
                <a:cs typeface="B Nazanin" panose="00000400000000000000" pitchFamily="2" charset="-78"/>
              </a:rPr>
              <a:t>ست.</a:t>
            </a: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گلوکز: </a:t>
            </a:r>
            <a:r>
              <a:rPr lang="fa-IR" sz="3200" b="1" dirty="0">
                <a:cs typeface="B Nazanin" panose="00000400000000000000" pitchFamily="2" charset="-78"/>
              </a:rPr>
              <a:t>بصورت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پلیمر</a:t>
            </a:r>
            <a:r>
              <a:rPr lang="fa-IR" sz="3200" b="1" dirty="0">
                <a:cs typeface="B Nazanin" panose="00000400000000000000" pitchFamily="2" charset="-78"/>
              </a:rPr>
              <a:t> در </a:t>
            </a:r>
            <a:r>
              <a:rPr lang="fa-IR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گلیکوژن</a:t>
            </a:r>
            <a:r>
              <a:rPr lang="fa-IR" sz="3200" b="1" dirty="0">
                <a:cs typeface="B Nazanin" panose="00000400000000000000" pitchFamily="2" charset="-78"/>
              </a:rPr>
              <a:t>، </a:t>
            </a:r>
            <a:r>
              <a:rPr lang="fa-IR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نشاسته</a:t>
            </a:r>
            <a:r>
              <a:rPr lang="fa-IR" sz="3200" b="1" dirty="0">
                <a:cs typeface="B Nazanin" panose="00000400000000000000" pitchFamily="2" charset="-78"/>
              </a:rPr>
              <a:t> و </a:t>
            </a:r>
            <a:r>
              <a:rPr lang="fa-IR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سلولز</a:t>
            </a:r>
          </a:p>
          <a:p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گلوکز</a:t>
            </a:r>
            <a:r>
              <a:rPr lang="fa-IR" sz="3200" b="1" dirty="0">
                <a:cs typeface="B Nazanin" panose="00000400000000000000" pitchFamily="2" charset="-78"/>
              </a:rPr>
              <a:t> بصورت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آزاد</a:t>
            </a:r>
            <a:r>
              <a:rPr lang="fa-IR" sz="3200" b="1" dirty="0">
                <a:cs typeface="B Nazanin" panose="00000400000000000000" pitchFamily="2" charset="-78"/>
              </a:rPr>
              <a:t> به مقدار اندک در میوه و سبزی وجود دارد.</a:t>
            </a:r>
          </a:p>
          <a:p>
            <a:pPr marL="0" indent="0">
              <a:buNone/>
            </a:pPr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گلوکز </a:t>
            </a:r>
            <a:r>
              <a:rPr lang="fa-IR" sz="3200" b="1" dirty="0">
                <a:cs typeface="B Nazanin" panose="00000400000000000000" pitchFamily="2" charset="-78"/>
              </a:rPr>
              <a:t>منبع انرژی بدن بخصوص مغز است.</a:t>
            </a: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اپی نفرین</a:t>
            </a:r>
            <a:r>
              <a:rPr lang="fa-IR" sz="3200" b="1" dirty="0">
                <a:cs typeface="B Nazanin" panose="00000400000000000000" pitchFamily="2" charset="-78"/>
              </a:rPr>
              <a:t>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انسولین</a:t>
            </a:r>
            <a:r>
              <a:rPr lang="fa-IR" sz="3200" b="1" dirty="0">
                <a:cs typeface="B Nazanin" panose="00000400000000000000" pitchFamily="2" charset="-78"/>
              </a:rPr>
              <a:t>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گلوکاگون</a:t>
            </a:r>
            <a:r>
              <a:rPr lang="fa-IR" sz="3200" b="1" dirty="0">
                <a:cs typeface="B Nazanin" panose="00000400000000000000" pitchFamily="2" charset="-78"/>
              </a:rPr>
              <a:t>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هورمون رشد </a:t>
            </a:r>
            <a:r>
              <a:rPr lang="fa-IR" sz="3200" b="1" dirty="0">
                <a:cs typeface="B Nazanin" panose="00000400000000000000" pitchFamily="2" charset="-78"/>
              </a:rPr>
              <a:t>و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گلوکوکورتیکوئیدها</a:t>
            </a:r>
            <a:r>
              <a:rPr lang="fa-IR" sz="3200" b="1" dirty="0">
                <a:cs typeface="B Nazanin" panose="00000400000000000000" pitchFamily="2" charset="-78"/>
              </a:rPr>
              <a:t> بر تنظیم سطح خونی گلوکز موثر هستند.</a:t>
            </a:r>
          </a:p>
        </p:txBody>
      </p:sp>
    </p:spTree>
    <p:extLst>
      <p:ext uri="{BB962C8B-B14F-4D97-AF65-F5344CB8AC3E}">
        <p14:creationId xmlns:p14="http://schemas.microsoft.com/office/powerpoint/2010/main" val="2325941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a-IR" sz="6000" dirty="0">
                <a:cs typeface="B Titr" panose="00000700000000000000" pitchFamily="2" charset="-78"/>
              </a:rPr>
              <a:t>فروکتوز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8771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فروکتوز(قند میوه) </a:t>
            </a:r>
            <a:r>
              <a:rPr lang="fa-IR" sz="3200" b="1" dirty="0">
                <a:cs typeface="B Nazanin" panose="00000400000000000000" pitchFamily="2" charset="-78"/>
              </a:rPr>
              <a:t>که نام دیگر آن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لولوز </a:t>
            </a:r>
            <a:r>
              <a:rPr lang="fa-IR" sz="3200" b="1" dirty="0">
                <a:cs typeface="B Nazanin" panose="00000400000000000000" pitchFamily="2" charset="-78"/>
              </a:rPr>
              <a:t>است.</a:t>
            </a: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فروکتوز در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میوه ها </a:t>
            </a:r>
            <a:r>
              <a:rPr lang="fa-IR" sz="3200" b="1" dirty="0">
                <a:cs typeface="B Nazanin" panose="00000400000000000000" pitchFamily="2" charset="-78"/>
              </a:rPr>
              <a:t>و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 </a:t>
            </a:r>
            <a:r>
              <a:rPr lang="fa-IR" sz="3200" b="1" dirty="0">
                <a:cs typeface="B Nazanin" panose="00000400000000000000" pitchFamily="2" charset="-78"/>
              </a:rPr>
              <a:t>در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عسل</a:t>
            </a:r>
            <a:r>
              <a:rPr lang="fa-IR" sz="3200" b="1" dirty="0">
                <a:cs typeface="B Nazanin" panose="00000400000000000000" pitchFamily="2" charset="-78"/>
              </a:rPr>
              <a:t> وجود دارد.</a:t>
            </a: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فروکتوز: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شیرین ترین </a:t>
            </a:r>
            <a:r>
              <a:rPr lang="fa-IR" sz="3200" b="1" dirty="0">
                <a:cs typeface="B Nazanin" panose="00000400000000000000" pitchFamily="2" charset="-78"/>
              </a:rPr>
              <a:t>قند طبیعی</a:t>
            </a:r>
          </a:p>
          <a:p>
            <a:pPr marL="0" indent="0">
              <a:buNone/>
            </a:pPr>
            <a:endParaRPr lang="fa-IR" sz="3200" b="1" dirty="0"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دریافت بالای فروکتوز: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دیابت نوع 2</a:t>
            </a:r>
            <a:r>
              <a:rPr lang="fa-IR" sz="3200" b="1" dirty="0">
                <a:cs typeface="B Nazanin" panose="00000400000000000000" pitchFamily="2" charset="-78"/>
              </a:rPr>
              <a:t> و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سندرم متابولیک</a:t>
            </a:r>
          </a:p>
        </p:txBody>
      </p:sp>
    </p:spTree>
    <p:extLst>
      <p:ext uri="{BB962C8B-B14F-4D97-AF65-F5344CB8AC3E}">
        <p14:creationId xmlns:p14="http://schemas.microsoft.com/office/powerpoint/2010/main" val="4269272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a-IR" sz="6000" dirty="0">
                <a:cs typeface="B Titr" panose="00000700000000000000" pitchFamily="2" charset="-78"/>
              </a:rPr>
              <a:t>گالاکتوز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8771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گالاکتوز </a:t>
            </a:r>
            <a:r>
              <a:rPr lang="fa-IR" sz="3200" b="1" dirty="0">
                <a:cs typeface="B Nazanin" panose="00000400000000000000" pitchFamily="2" charset="-78"/>
              </a:rPr>
              <a:t>در ساختمان دی ساکارید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لاکتوز </a:t>
            </a:r>
            <a:r>
              <a:rPr lang="fa-IR" sz="3200" b="1" dirty="0">
                <a:cs typeface="B Nazanin" panose="00000400000000000000" pitchFamily="2" charset="-78"/>
              </a:rPr>
              <a:t>با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 گلوکز </a:t>
            </a:r>
            <a:r>
              <a:rPr lang="fa-IR" sz="3200" b="1" dirty="0">
                <a:cs typeface="B Nazanin" panose="00000400000000000000" pitchFamily="2" charset="-78"/>
              </a:rPr>
              <a:t>ترکیب شده است.</a:t>
            </a:r>
          </a:p>
          <a:p>
            <a:pPr marL="0" indent="0">
              <a:buNone/>
            </a:pPr>
            <a:endParaRPr lang="fa-IR" sz="3200" b="1" dirty="0">
              <a:cs typeface="B Nazanin" panose="00000400000000000000" pitchFamily="2" charset="-78"/>
            </a:endParaRP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بیماری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گالاکتوزومی</a:t>
            </a:r>
            <a:r>
              <a:rPr lang="fa-IR" sz="3200" b="1" dirty="0">
                <a:cs typeface="B Nazanin" panose="00000400000000000000" pitchFamily="2" charset="-78"/>
              </a:rPr>
              <a:t>: نقص در متابولیزه کردن گالاکتوز که باعث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کاتاراکت</a:t>
            </a:r>
            <a:r>
              <a:rPr lang="fa-IR" sz="3200" b="1" dirty="0">
                <a:cs typeface="B Nazanin" panose="00000400000000000000" pitchFamily="2" charset="-78"/>
              </a:rPr>
              <a:t> می شود.</a:t>
            </a:r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97419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a-IR" sz="6000" dirty="0">
                <a:cs typeface="B Titr" panose="00000700000000000000" pitchFamily="2" charset="-78"/>
              </a:rPr>
              <a:t>دی ساکاریدها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922391" cy="468771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دی ساکاریدها از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دو مونوساکارید </a:t>
            </a:r>
            <a:r>
              <a:rPr lang="fa-IR" sz="3200" b="1" dirty="0">
                <a:cs typeface="B Nazanin" panose="00000400000000000000" pitchFamily="2" charset="-78"/>
              </a:rPr>
              <a:t>تشکیل شده است که یکی از آنها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گلوکز</a:t>
            </a:r>
            <a:r>
              <a:rPr lang="fa-IR" sz="3200" b="1" dirty="0">
                <a:cs typeface="B Nazanin" panose="00000400000000000000" pitchFamily="2" charset="-78"/>
              </a:rPr>
              <a:t> می باشد.</a:t>
            </a: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مهمترین دی ساکاریدها: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سوکروز</a:t>
            </a:r>
            <a:r>
              <a:rPr lang="fa-IR" sz="3200" b="1" dirty="0">
                <a:cs typeface="B Nazanin" panose="00000400000000000000" pitchFamily="2" charset="-78"/>
              </a:rPr>
              <a:t>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مالتوز</a:t>
            </a:r>
            <a:r>
              <a:rPr lang="fa-IR" sz="3200" b="1" dirty="0">
                <a:cs typeface="B Nazanin" panose="00000400000000000000" pitchFamily="2" charset="-78"/>
              </a:rPr>
              <a:t>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لاکتوز</a:t>
            </a: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دی ساکاریدها </a:t>
            </a:r>
            <a:r>
              <a:rPr lang="fa-IR" sz="3200" b="1" dirty="0">
                <a:cs typeface="B Nazanin" panose="00000400000000000000" pitchFamily="2" charset="-78"/>
              </a:rPr>
              <a:t>پس از هیدرولیز و عمل هضم به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واحدهای سازنده </a:t>
            </a:r>
            <a:r>
              <a:rPr lang="fa-IR" sz="3200" b="1" dirty="0">
                <a:cs typeface="B Nazanin" panose="00000400000000000000" pitchFamily="2" charset="-78"/>
              </a:rPr>
              <a:t>خود تبدیل می شود.</a:t>
            </a:r>
          </a:p>
        </p:txBody>
      </p:sp>
    </p:spTree>
    <p:extLst>
      <p:ext uri="{BB962C8B-B14F-4D97-AF65-F5344CB8AC3E}">
        <p14:creationId xmlns:p14="http://schemas.microsoft.com/office/powerpoint/2010/main" val="1852401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97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a-IR" sz="6000" dirty="0">
                <a:cs typeface="B Titr" panose="00000700000000000000" pitchFamily="2" charset="-78"/>
              </a:rPr>
              <a:t>سوکروز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922391" cy="468771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سوکروز :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قند سفره</a:t>
            </a:r>
            <a:r>
              <a:rPr lang="fa-IR" sz="3200" b="1" dirty="0">
                <a:cs typeface="B Nazanin" panose="00000400000000000000" pitchFamily="2" charset="-78"/>
              </a:rPr>
              <a:t>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قند انگور </a:t>
            </a:r>
            <a:r>
              <a:rPr lang="fa-IR" sz="3200" b="1" dirty="0">
                <a:cs typeface="B Nazanin" panose="00000400000000000000" pitchFamily="2" charset="-78"/>
              </a:rPr>
              <a:t>و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قند چغندر</a:t>
            </a: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سوکروز</a:t>
            </a:r>
            <a:r>
              <a:rPr lang="fa-IR" sz="3200" b="1">
                <a:cs typeface="B Nazanin" panose="00000400000000000000" pitchFamily="2" charset="-78"/>
              </a:rPr>
              <a:t>= </a:t>
            </a:r>
            <a:r>
              <a:rPr lang="fa-IR" sz="3200" b="1">
                <a:solidFill>
                  <a:srgbClr val="FF0000"/>
                </a:solidFill>
                <a:cs typeface="B Nazanin" panose="00000400000000000000" pitchFamily="2" charset="-78"/>
              </a:rPr>
              <a:t>گلوکز + فروکتوز</a:t>
            </a:r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پرمصرف ترین </a:t>
            </a:r>
            <a:r>
              <a:rPr lang="fa-IR" sz="3200" b="1" dirty="0">
                <a:cs typeface="B Nazanin" panose="00000400000000000000" pitchFamily="2" charset="-78"/>
              </a:rPr>
              <a:t>قند در اکثر کشورهای جهان</a:t>
            </a: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در برخی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میوه ها </a:t>
            </a:r>
            <a:r>
              <a:rPr lang="fa-IR" sz="3200" b="1" dirty="0">
                <a:cs typeface="B Nazanin" panose="00000400000000000000" pitchFamily="2" charset="-78"/>
              </a:rPr>
              <a:t>و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سبزی ها </a:t>
            </a:r>
            <a:r>
              <a:rPr lang="fa-IR" sz="3200" b="1" dirty="0">
                <a:cs typeface="B Nazanin" panose="00000400000000000000" pitchFamily="2" charset="-78"/>
              </a:rPr>
              <a:t>بخصوص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چغندرقند</a:t>
            </a:r>
            <a:r>
              <a:rPr lang="fa-IR" sz="3200" b="1" dirty="0">
                <a:cs typeface="B Nazanin" panose="00000400000000000000" pitchFamily="2" charset="-78"/>
              </a:rPr>
              <a:t> یافت می شود.</a:t>
            </a:r>
          </a:p>
        </p:txBody>
      </p:sp>
    </p:spTree>
    <p:extLst>
      <p:ext uri="{BB962C8B-B14F-4D97-AF65-F5344CB8AC3E}">
        <p14:creationId xmlns:p14="http://schemas.microsoft.com/office/powerpoint/2010/main" val="1797831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a-IR" sz="6000" dirty="0">
                <a:cs typeface="B Titr" panose="00000700000000000000" pitchFamily="2" charset="-78"/>
              </a:rPr>
              <a:t>مالتوز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922391" cy="468771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مالتوز: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قند جو</a:t>
            </a: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مالتوز=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گلوکز + گلوکز</a:t>
            </a: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در اثر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هضم نشاسته </a:t>
            </a:r>
            <a:r>
              <a:rPr lang="fa-IR" sz="3200" b="1" dirty="0">
                <a:cs typeface="B Nazanin" panose="00000400000000000000" pitchFamily="2" charset="-78"/>
              </a:rPr>
              <a:t>بعنوان واسطه ای آزاد شده و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مالت</a:t>
            </a:r>
            <a:r>
              <a:rPr lang="fa-IR" sz="3200" b="1" dirty="0">
                <a:cs typeface="B Nazanin" panose="00000400000000000000" pitchFamily="2" charset="-78"/>
              </a:rPr>
              <a:t> نامیده می شود.</a:t>
            </a: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منبع مهم: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جوانه گندم </a:t>
            </a:r>
            <a:r>
              <a:rPr lang="fa-IR" sz="3200" b="1" dirty="0">
                <a:cs typeface="B Nazanin" panose="00000400000000000000" pitchFamily="2" charset="-78"/>
              </a:rPr>
              <a:t>و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سمنو</a:t>
            </a:r>
          </a:p>
        </p:txBody>
      </p:sp>
    </p:spTree>
    <p:extLst>
      <p:ext uri="{BB962C8B-B14F-4D97-AF65-F5344CB8AC3E}">
        <p14:creationId xmlns:p14="http://schemas.microsoft.com/office/powerpoint/2010/main" val="155921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a-IR" sz="6000" dirty="0">
                <a:cs typeface="B Titr" panose="00000700000000000000" pitchFamily="2" charset="-78"/>
              </a:rPr>
              <a:t>لاکتوز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922391" cy="468771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لاکتوز: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قند شیر </a:t>
            </a:r>
            <a:r>
              <a:rPr lang="fa-IR" sz="3200" b="1" dirty="0">
                <a:cs typeface="B Nazanin" panose="00000400000000000000" pitchFamily="2" charset="-78"/>
              </a:rPr>
              <a:t>و بطور طبیعی در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غدد پستانی </a:t>
            </a:r>
            <a:r>
              <a:rPr lang="fa-IR" sz="3200" b="1" dirty="0">
                <a:cs typeface="B Nazanin" panose="00000400000000000000" pitchFamily="2" charset="-78"/>
              </a:rPr>
              <a:t>ساخته می شود.</a:t>
            </a: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لاکتوز=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گلوکز + گالاکتوز</a:t>
            </a: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تجزیه لاکتوز: توسط آنزیم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لاکتاز</a:t>
            </a: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75258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a-IR" sz="6000" dirty="0">
                <a:cs typeface="B Titr" panose="00000700000000000000" pitchFamily="2" charset="-78"/>
              </a:rPr>
              <a:t>پلی ساکاریدها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922391" cy="468771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کربوهیدرات های پیچیده شامل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 بیش از10</a:t>
            </a:r>
            <a:r>
              <a:rPr lang="fa-IR" sz="3200" b="1" dirty="0">
                <a:cs typeface="B Nazanin" panose="00000400000000000000" pitchFamily="2" charset="-78"/>
              </a:rPr>
              <a:t> مونوساکارید هستند.</a:t>
            </a: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شامل: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نشاسته</a:t>
            </a:r>
            <a:r>
              <a:rPr lang="fa-IR" sz="3200" b="1" dirty="0">
                <a:cs typeface="B Nazanin" panose="00000400000000000000" pitchFamily="2" charset="-78"/>
              </a:rPr>
              <a:t>،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 گلیکوژن </a:t>
            </a:r>
            <a:r>
              <a:rPr lang="fa-IR" sz="3200" b="1" dirty="0">
                <a:cs typeface="B Nazanin" panose="00000400000000000000" pitchFamily="2" charset="-78"/>
              </a:rPr>
              <a:t>و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 فیبر</a:t>
            </a:r>
            <a:endParaRPr lang="fa-IR" sz="3200" b="1" dirty="0">
              <a:cs typeface="B Nazanin" panose="00000400000000000000" pitchFamily="2" charset="-78"/>
            </a:endParaRP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از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 گلوکز </a:t>
            </a:r>
            <a:r>
              <a:rPr lang="fa-IR" sz="3200" b="1" dirty="0">
                <a:cs typeface="B Nazanin" panose="00000400000000000000" pitchFamily="2" charset="-78"/>
              </a:rPr>
              <a:t>تشکیل شده اند ولی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مزه شیرین </a:t>
            </a:r>
            <a:r>
              <a:rPr lang="fa-IR" sz="3200" b="1" dirty="0">
                <a:cs typeface="B Nazanin" panose="00000400000000000000" pitchFamily="2" charset="-78"/>
              </a:rPr>
              <a:t>ندارند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 </a:t>
            </a:r>
            <a:r>
              <a:rPr lang="fa-IR" sz="3200" b="1" dirty="0">
                <a:cs typeface="B Nazanin" panose="00000400000000000000" pitchFamily="2" charset="-78"/>
              </a:rPr>
              <a:t>زیرا مولکول های آنها نسبت به گیرنده های چشایی بزرگ تر بوده و طعم شیرینشان احساس نمی شود.</a:t>
            </a:r>
          </a:p>
        </p:txBody>
      </p:sp>
    </p:spTree>
    <p:extLst>
      <p:ext uri="{BB962C8B-B14F-4D97-AF65-F5344CB8AC3E}">
        <p14:creationId xmlns:p14="http://schemas.microsoft.com/office/powerpoint/2010/main" val="3397962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a-IR" sz="6000" dirty="0">
                <a:cs typeface="B Titr" panose="00000700000000000000" pitchFamily="2" charset="-78"/>
              </a:rPr>
              <a:t>فیبر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098" y="1389526"/>
            <a:ext cx="11113477" cy="468771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فیبر جز پلی ساکاریدهای غیرقابل هضم می باشد.</a:t>
            </a:r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شامل: سلولز، پکتین، صمغ ها، همی سلولز ها، بتا گلوکان، اینولین، اولیگوساکاریدها، فروکتان، لیگنین و برخی نشاسته های مقاوم یا غیر قابل هضم</a:t>
            </a: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32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18603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a-IR" sz="6000" dirty="0">
                <a:cs typeface="B Titr" panose="00000700000000000000" pitchFamily="2" charset="-78"/>
              </a:rPr>
              <a:t>فیبر غیر محلول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098" y="1389526"/>
            <a:ext cx="11465170" cy="468771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شامل: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سلولز</a:t>
            </a:r>
            <a:r>
              <a:rPr lang="fa-IR" sz="3200" b="1" dirty="0">
                <a:cs typeface="B Nazanin" panose="00000400000000000000" pitchFamily="2" charset="-78"/>
              </a:rPr>
              <a:t>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تعدادی از همی سلولز ها </a:t>
            </a:r>
            <a:r>
              <a:rPr lang="fa-IR" sz="3200" b="1" dirty="0">
                <a:cs typeface="B Nazanin" panose="00000400000000000000" pitchFamily="2" charset="-78"/>
              </a:rPr>
              <a:t>و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لیگنین</a:t>
            </a: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در روده هضم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نمی شوند</a:t>
            </a:r>
            <a:r>
              <a:rPr lang="fa-IR" sz="3200" b="1" dirty="0">
                <a:cs typeface="B Nazanin" panose="00000400000000000000" pitchFamily="2" charset="-78"/>
              </a:rPr>
              <a:t>. </a:t>
            </a: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به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 افزایش </a:t>
            </a:r>
            <a:r>
              <a:rPr lang="fa-IR" sz="3200" b="1" dirty="0">
                <a:cs typeface="B Nazanin" panose="00000400000000000000" pitchFamily="2" charset="-78"/>
              </a:rPr>
              <a:t>حجم مدفوع کمک می کنند بنابراین می توان از آنها بعنوان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مسهل </a:t>
            </a:r>
            <a:r>
              <a:rPr lang="fa-IR" sz="3200" b="1" dirty="0">
                <a:cs typeface="B Nazanin" panose="00000400000000000000" pitchFamily="2" charset="-78"/>
              </a:rPr>
              <a:t>استفاده کرد.</a:t>
            </a: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منابع سلولز: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سبوس غلات </a:t>
            </a:r>
            <a:r>
              <a:rPr lang="fa-IR" sz="3200" b="1" dirty="0">
                <a:cs typeface="B Nazanin" panose="00000400000000000000" pitchFamily="2" charset="-78"/>
              </a:rPr>
              <a:t>و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 سبزی ها</a:t>
            </a: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32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41147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a-IR" sz="6000" dirty="0">
                <a:cs typeface="B Titr" panose="00000700000000000000" pitchFamily="2" charset="-78"/>
              </a:rPr>
              <a:t>فیبر محلول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354" y="1389526"/>
            <a:ext cx="11619914" cy="468771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شامل: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پکتین</a:t>
            </a:r>
            <a:r>
              <a:rPr lang="fa-IR" sz="3200" b="1" dirty="0">
                <a:cs typeface="B Nazanin" panose="00000400000000000000" pitchFamily="2" charset="-78"/>
              </a:rPr>
              <a:t>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صمغ</a:t>
            </a:r>
            <a:r>
              <a:rPr lang="fa-IR" sz="3200" b="1" dirty="0">
                <a:cs typeface="B Nazanin" panose="00000400000000000000" pitchFamily="2" charset="-78"/>
              </a:rPr>
              <a:t>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تعدادی از همی سلولز ها </a:t>
            </a:r>
            <a:r>
              <a:rPr lang="fa-IR" sz="3200" b="1" dirty="0">
                <a:cs typeface="B Nazanin" panose="00000400000000000000" pitchFamily="2" charset="-78"/>
              </a:rPr>
              <a:t>و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موسیلاژها</a:t>
            </a: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تخلیه معده را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کند</a:t>
            </a:r>
            <a:r>
              <a:rPr lang="fa-IR" sz="3200" b="1" dirty="0">
                <a:cs typeface="B Nazanin" panose="00000400000000000000" pitchFamily="2" charset="-78"/>
              </a:rPr>
              <a:t> می کند. </a:t>
            </a: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در کولون توسط باکتری های روده تخمیر شده و تولید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دی اکسید کربن</a:t>
            </a:r>
            <a:r>
              <a:rPr lang="fa-IR" sz="3200" b="1" dirty="0">
                <a:cs typeface="B Nazanin" panose="00000400000000000000" pitchFamily="2" charset="-78"/>
              </a:rPr>
              <a:t>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متان</a:t>
            </a:r>
            <a:r>
              <a:rPr lang="fa-IR" sz="3200" b="1" dirty="0">
                <a:cs typeface="B Nazanin" panose="00000400000000000000" pitchFamily="2" charset="-78"/>
              </a:rPr>
              <a:t>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هیدروژن</a:t>
            </a:r>
            <a:r>
              <a:rPr lang="fa-IR" sz="3200" b="1" dirty="0">
                <a:cs typeface="B Nazanin" panose="00000400000000000000" pitchFamily="2" charset="-78"/>
              </a:rPr>
              <a:t> و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اسیدهای چرب</a:t>
            </a: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32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2489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a-IR" sz="6000" dirty="0">
                <a:cs typeface="B Titr" panose="00000700000000000000" pitchFamily="2" charset="-78"/>
              </a:rPr>
              <a:t>فیبر محلول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354" y="1389526"/>
            <a:ext cx="11619914" cy="510974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اسیدهای چرب کوتاه زنجیر: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3200" b="1" dirty="0">
                <a:solidFill>
                  <a:srgbClr val="00B050"/>
                </a:solidFill>
                <a:cs typeface="B Nazanin" panose="00000400000000000000" pitchFamily="2" charset="-78"/>
              </a:rPr>
              <a:t>منبع انرژی برای لایه های مخاطی کولون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3200" b="1" dirty="0">
                <a:solidFill>
                  <a:srgbClr val="00B050"/>
                </a:solidFill>
                <a:cs typeface="B Nazanin" panose="00000400000000000000" pitchFamily="2" charset="-78"/>
              </a:rPr>
              <a:t>کاهش کلسترول سرم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3200" b="1" dirty="0">
                <a:solidFill>
                  <a:srgbClr val="00B050"/>
                </a:solidFill>
                <a:cs typeface="B Nazanin" panose="00000400000000000000" pitchFamily="2" charset="-78"/>
              </a:rPr>
              <a:t>تنظیم گلوکز خون در افراد دیابتی</a:t>
            </a: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منابع: سیب، جو، نخود، لوبیا و سایر سبزی ها و میوه ها</a:t>
            </a:r>
          </a:p>
          <a:p>
            <a:r>
              <a:rPr lang="fa-IR" sz="3200" b="1" dirty="0">
                <a:cs typeface="B Nazanin" panose="00000400000000000000" pitchFamily="2" charset="-78"/>
              </a:rPr>
              <a:t>مقدار توصیه شده برای دریافت فیبر: </a:t>
            </a:r>
            <a:r>
              <a:rPr lang="fa-IR" sz="3200" b="1" dirty="0">
                <a:solidFill>
                  <a:srgbClr val="00B0F0"/>
                </a:solidFill>
                <a:cs typeface="B Nazanin" panose="00000400000000000000" pitchFamily="2" charset="-78"/>
              </a:rPr>
              <a:t>14 گرم به ازای 1000 کیلوکالری </a:t>
            </a:r>
            <a:r>
              <a:rPr lang="fa-IR" sz="3200" b="1" dirty="0">
                <a:cs typeface="B Nazanin" panose="00000400000000000000" pitchFamily="2" charset="-78"/>
              </a:rPr>
              <a:t>یا </a:t>
            </a:r>
            <a:r>
              <a:rPr lang="fa-IR" sz="3200" b="1" dirty="0">
                <a:solidFill>
                  <a:srgbClr val="00B0F0"/>
                </a:solidFill>
                <a:cs typeface="B Nazanin" panose="00000400000000000000" pitchFamily="2" charset="-78"/>
              </a:rPr>
              <a:t>38-25 گرم در روز</a:t>
            </a: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32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22876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a-IR" sz="6000" dirty="0">
                <a:cs typeface="B Titr" panose="00000700000000000000" pitchFamily="2" charset="-78"/>
              </a:rPr>
              <a:t>فیبر رژیمی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354" y="1389526"/>
            <a:ext cx="11619914" cy="510974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فیبر طبیعی و دست نخورده که در گیاهان پیدا می شود.</a:t>
            </a:r>
            <a:endParaRPr lang="fa-IR" sz="3200" b="1" dirty="0">
              <a:solidFill>
                <a:srgbClr val="00B0F0"/>
              </a:solidFill>
              <a:cs typeface="B Nazanin" panose="00000400000000000000" pitchFamily="2" charset="-78"/>
            </a:endParaRP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32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21599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a-IR" sz="6000" dirty="0">
                <a:cs typeface="B Titr" panose="00000700000000000000" pitchFamily="2" charset="-78"/>
              </a:rPr>
              <a:t>فیبر عملکردی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354" y="1389526"/>
            <a:ext cx="11619914" cy="510974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فیبر استخراج شده یا خالص شده از گیاهان که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اثرات فیزیولوژیکی </a:t>
            </a:r>
            <a:r>
              <a:rPr lang="fa-IR" sz="3200" b="1" dirty="0">
                <a:cs typeface="B Nazanin" panose="00000400000000000000" pitchFamily="2" charset="-78"/>
              </a:rPr>
              <a:t>مفیدی برای بدن دارد.</a:t>
            </a:r>
            <a:endParaRPr lang="fa-IR" sz="3200" b="1" dirty="0">
              <a:solidFill>
                <a:srgbClr val="00B050"/>
              </a:solidFill>
              <a:cs typeface="B Nazanin" panose="00000400000000000000" pitchFamily="2" charset="-78"/>
            </a:endParaRP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فیبر عملکردی مانند: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اینولین</a:t>
            </a:r>
            <a:r>
              <a:rPr lang="fa-IR" sz="3200" b="1" dirty="0">
                <a:cs typeface="B Nazanin" panose="00000400000000000000" pitchFamily="2" charset="-78"/>
              </a:rPr>
              <a:t> که به ماست افزوده می شود.</a:t>
            </a:r>
            <a:endParaRPr lang="fa-IR" sz="3200" b="1" dirty="0">
              <a:solidFill>
                <a:srgbClr val="00B0F0"/>
              </a:solidFill>
              <a:cs typeface="B Nazanin" panose="00000400000000000000" pitchFamily="2" charset="-78"/>
            </a:endParaRP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فیبر کل= </a:t>
            </a:r>
            <a:r>
              <a:rPr lang="fa-IR" sz="3200" b="1" dirty="0">
                <a:solidFill>
                  <a:srgbClr val="7030A0"/>
                </a:solidFill>
                <a:cs typeface="B Nazanin" panose="00000400000000000000" pitchFamily="2" charset="-78"/>
              </a:rPr>
              <a:t>فیبر رژیمی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+ </a:t>
            </a:r>
            <a:r>
              <a:rPr lang="fa-IR" sz="3200" b="1" dirty="0">
                <a:solidFill>
                  <a:srgbClr val="7030A0"/>
                </a:solidFill>
                <a:cs typeface="B Nazanin" panose="00000400000000000000" pitchFamily="2" charset="-78"/>
              </a:rPr>
              <a:t>فیبر عملکردی</a:t>
            </a: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32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1116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a-IR" sz="6000" dirty="0">
                <a:cs typeface="B Titr" panose="00000700000000000000" pitchFamily="2" charset="-78"/>
              </a:rPr>
              <a:t>جذب کربوهیدرات ها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354" y="1389525"/>
            <a:ext cx="11619914" cy="532036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مونو ساکارید ها </a:t>
            </a:r>
            <a:r>
              <a:rPr lang="fa-IR" sz="3200" b="1" dirty="0">
                <a:cs typeface="B Nazanin" panose="00000400000000000000" pitchFamily="2" charset="-78"/>
              </a:rPr>
              <a:t>(گلوکز، گالاکتوز و فروکتوز) محصولات نهایی هضم هستند.</a:t>
            </a: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مونوساکارید ها از طریق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سلول های مخاطی روده </a:t>
            </a:r>
            <a:r>
              <a:rPr lang="fa-IR" sz="3200" b="1" dirty="0">
                <a:cs typeface="B Nazanin" panose="00000400000000000000" pitchFamily="2" charset="-78"/>
              </a:rPr>
              <a:t>جذب می شوند و از طریق </a:t>
            </a:r>
            <a:r>
              <a:rPr lang="fa-IR" sz="3600" b="1" dirty="0">
                <a:solidFill>
                  <a:srgbClr val="FF0000"/>
                </a:solidFill>
                <a:cs typeface="B Nazanin" panose="00000400000000000000" pitchFamily="2" charset="-78"/>
              </a:rPr>
              <a:t>ورید باب </a:t>
            </a:r>
            <a:r>
              <a:rPr lang="fa-IR" sz="3200" b="1" dirty="0">
                <a:cs typeface="B Nazanin" panose="00000400000000000000" pitchFamily="2" charset="-78"/>
              </a:rPr>
              <a:t>وارد کبد می شوند.</a:t>
            </a: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نشاسته هضم نشده </a:t>
            </a:r>
            <a:r>
              <a:rPr lang="fa-IR" sz="3200" b="1" dirty="0">
                <a:cs typeface="B Nazanin" panose="00000400000000000000" pitchFamily="2" charset="-78"/>
              </a:rPr>
              <a:t>همراه با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فیبرها</a:t>
            </a:r>
            <a:r>
              <a:rPr lang="fa-IR" sz="3200" b="1" dirty="0">
                <a:cs typeface="B Nazanin" panose="00000400000000000000" pitchFamily="2" charset="-78"/>
              </a:rPr>
              <a:t> از بدن دفع می شوند.</a:t>
            </a: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فیبرها با اتصال به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آهن</a:t>
            </a:r>
            <a:r>
              <a:rPr lang="fa-IR" sz="3200" b="1" dirty="0">
                <a:cs typeface="B Nazanin" panose="00000400000000000000" pitchFamily="2" charset="-78"/>
              </a:rPr>
              <a:t>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روی</a:t>
            </a:r>
            <a:r>
              <a:rPr lang="fa-IR" sz="3200" b="1" dirty="0">
                <a:cs typeface="B Nazanin" panose="00000400000000000000" pitchFamily="2" charset="-78"/>
              </a:rPr>
              <a:t> و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کلسیم</a:t>
            </a:r>
            <a:r>
              <a:rPr lang="fa-IR" sz="3200" b="1" dirty="0">
                <a:cs typeface="B Nazanin" panose="00000400000000000000" pitchFamily="2" charset="-78"/>
              </a:rPr>
              <a:t> فرآیند جذب آنها را با مشکل رو به رو می سازند.</a:t>
            </a:r>
          </a:p>
          <a:p>
            <a:pPr marL="0" indent="0">
              <a:buNone/>
            </a:pPr>
            <a:endParaRPr lang="fa-IR" sz="3200" b="1" dirty="0">
              <a:solidFill>
                <a:srgbClr val="0070C0"/>
              </a:solidFill>
              <a:cs typeface="B Nazanin" panose="00000400000000000000" pitchFamily="2" charset="-78"/>
            </a:endParaRPr>
          </a:p>
          <a:p>
            <a:endParaRPr lang="fa-IR" sz="3200" b="1" dirty="0">
              <a:solidFill>
                <a:srgbClr val="00B0F0"/>
              </a:solidFill>
              <a:cs typeface="B Nazanin" panose="00000400000000000000" pitchFamily="2" charset="-78"/>
            </a:endParaRPr>
          </a:p>
          <a:p>
            <a:endParaRPr lang="fa-IR" sz="3200" b="1" dirty="0">
              <a:solidFill>
                <a:srgbClr val="0070C0"/>
              </a:solidFill>
              <a:cs typeface="B Nazanin" panose="00000400000000000000" pitchFamily="2" charset="-78"/>
            </a:endParaRP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32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08798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a-IR" sz="6000" dirty="0">
                <a:cs typeface="B Titr" panose="00000700000000000000" pitchFamily="2" charset="-78"/>
              </a:rPr>
              <a:t>متابولیسم کربوهیدرات ها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354" y="1389525"/>
            <a:ext cx="11619914" cy="532036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فروکتوز</a:t>
            </a:r>
            <a:r>
              <a:rPr lang="fa-IR" sz="3200" b="1" dirty="0">
                <a:cs typeface="B Nazanin" panose="00000400000000000000" pitchFamily="2" charset="-78"/>
              </a:rPr>
              <a:t> و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گالاکتوز</a:t>
            </a:r>
            <a:r>
              <a:rPr lang="fa-IR" sz="3200" b="1" dirty="0">
                <a:cs typeface="B Nazanin" panose="00000400000000000000" pitchFamily="2" charset="-78"/>
              </a:rPr>
              <a:t> پس از ورود به کبد از طریق ورید باب به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گلوکز</a:t>
            </a:r>
            <a:r>
              <a:rPr lang="fa-IR" sz="3200" b="1" dirty="0">
                <a:cs typeface="B Nazanin" panose="00000400000000000000" pitchFamily="2" charset="-78"/>
              </a:rPr>
              <a:t> تبدیل می شوند.</a:t>
            </a: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کبد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گلوکز</a:t>
            </a:r>
            <a:r>
              <a:rPr lang="fa-IR" sz="3200" b="1" dirty="0">
                <a:cs typeface="B Nazanin" panose="00000400000000000000" pitchFamily="2" charset="-78"/>
              </a:rPr>
              <a:t> را وارد جریان خون می کند.</a:t>
            </a: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پس از افزایش گلوکز خون،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انسولین</a:t>
            </a:r>
            <a:r>
              <a:rPr lang="fa-IR" sz="3200" b="1" dirty="0">
                <a:cs typeface="B Nazanin" panose="00000400000000000000" pitchFamily="2" charset="-78"/>
              </a:rPr>
              <a:t> از پانکراس ترشح می شود و سلول ها از آن بعنوان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منبع انرژی </a:t>
            </a:r>
            <a:r>
              <a:rPr lang="fa-IR" sz="3200" b="1" dirty="0">
                <a:cs typeface="B Nazanin" panose="00000400000000000000" pitchFamily="2" charset="-78"/>
              </a:rPr>
              <a:t>استفاده می کنند.</a:t>
            </a: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گلوکز اضافی در سلول های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ماهیچه ای </a:t>
            </a:r>
            <a:r>
              <a:rPr lang="fa-IR" sz="3200" b="1" dirty="0">
                <a:cs typeface="B Nazanin" panose="00000400000000000000" pitchFamily="2" charset="-78"/>
              </a:rPr>
              <a:t>و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 کبد </a:t>
            </a:r>
            <a:r>
              <a:rPr lang="fa-IR" sz="3200" b="1" dirty="0">
                <a:cs typeface="B Nazanin" panose="00000400000000000000" pitchFamily="2" charset="-78"/>
              </a:rPr>
              <a:t>به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 گلیکوژن </a:t>
            </a:r>
            <a:r>
              <a:rPr lang="fa-IR" sz="3200" b="1" dirty="0">
                <a:cs typeface="B Nazanin" panose="00000400000000000000" pitchFamily="2" charset="-78"/>
              </a:rPr>
              <a:t>تبدیل می شود.</a:t>
            </a: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در مواقع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گرسنگی </a:t>
            </a:r>
            <a:r>
              <a:rPr lang="fa-IR" sz="3200" b="1" dirty="0">
                <a:cs typeface="B Nazanin" panose="00000400000000000000" pitchFamily="2" charset="-78"/>
              </a:rPr>
              <a:t>یا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 فعالیت ورزشی </a:t>
            </a:r>
            <a:r>
              <a:rPr lang="fa-IR" sz="3200" b="1" dirty="0">
                <a:cs typeface="B Nazanin" panose="00000400000000000000" pitchFamily="2" charset="-78"/>
              </a:rPr>
              <a:t>هورمونهای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 گلوکاگون </a:t>
            </a:r>
            <a:r>
              <a:rPr lang="fa-IR" sz="3200" b="1" dirty="0">
                <a:cs typeface="B Nazanin" panose="00000400000000000000" pitchFamily="2" charset="-78"/>
              </a:rPr>
              <a:t>و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 آدرنالین </a:t>
            </a:r>
            <a:r>
              <a:rPr lang="fa-IR" sz="3200" b="1" dirty="0">
                <a:cs typeface="B Nazanin" panose="00000400000000000000" pitchFamily="2" charset="-78"/>
              </a:rPr>
              <a:t>سبب آزاد شدن گلوکز از ذخایر می شوند.</a:t>
            </a:r>
          </a:p>
          <a:p>
            <a:pPr marL="0" indent="0">
              <a:buNone/>
            </a:pPr>
            <a:endParaRPr lang="fa-IR" sz="3200" b="1" dirty="0">
              <a:solidFill>
                <a:srgbClr val="0070C0"/>
              </a:solidFill>
              <a:cs typeface="B Nazanin" panose="00000400000000000000" pitchFamily="2" charset="-78"/>
            </a:endParaRPr>
          </a:p>
          <a:p>
            <a:endParaRPr lang="fa-IR" sz="3200" b="1" dirty="0">
              <a:solidFill>
                <a:srgbClr val="00B0F0"/>
              </a:solidFill>
              <a:cs typeface="B Nazanin" panose="00000400000000000000" pitchFamily="2" charset="-78"/>
            </a:endParaRPr>
          </a:p>
          <a:p>
            <a:endParaRPr lang="fa-IR" sz="3200" b="1" dirty="0">
              <a:solidFill>
                <a:srgbClr val="0070C0"/>
              </a:solidFill>
              <a:cs typeface="B Nazanin" panose="00000400000000000000" pitchFamily="2" charset="-78"/>
            </a:endParaRP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32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417792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Titr" panose="00000700000000000000" pitchFamily="2" charset="-78"/>
              </a:rPr>
              <a:t>نقش کربوهیدرات در بدن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a-IR" sz="3000" b="1" dirty="0">
                <a:solidFill>
                  <a:srgbClr val="0070C0"/>
                </a:solidFill>
                <a:cs typeface="B Nazanin" panose="00000400000000000000" pitchFamily="2" charset="-78"/>
              </a:rPr>
              <a:t>1. تولید انرژی</a:t>
            </a:r>
          </a:p>
          <a:p>
            <a:r>
              <a:rPr lang="fa-IR" sz="3000" b="1" dirty="0">
                <a:cs typeface="B Nazanin" panose="00000400000000000000" pitchFamily="2" charset="-78"/>
              </a:rPr>
              <a:t>نقش اصلی کربوهیدرات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تامین انرژی سلول </a:t>
            </a:r>
            <a:r>
              <a:rPr lang="fa-IR" sz="3000" b="1" dirty="0">
                <a:cs typeface="B Nazanin" panose="00000400000000000000" pitchFamily="2" charset="-78"/>
              </a:rPr>
              <a:t>است.</a:t>
            </a:r>
          </a:p>
          <a:p>
            <a:endParaRPr lang="fa-IR" sz="3000" b="1" dirty="0">
              <a:cs typeface="B Nazanin" panose="00000400000000000000" pitchFamily="2" charset="-78"/>
            </a:endParaRPr>
          </a:p>
          <a:p>
            <a:r>
              <a:rPr lang="fa-IR" sz="3000" b="1" dirty="0">
                <a:cs typeface="B Nazanin" panose="00000400000000000000" pitchFamily="2" charset="-78"/>
              </a:rPr>
              <a:t>هر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یک گرم </a:t>
            </a:r>
            <a:r>
              <a:rPr lang="fa-IR" sz="3000" b="1" dirty="0">
                <a:cs typeface="B Nazanin" panose="00000400000000000000" pitchFamily="2" charset="-78"/>
              </a:rPr>
              <a:t>کربوهیدراتی که می سوزد انرژی معادل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4 کیلو کالری </a:t>
            </a:r>
            <a:r>
              <a:rPr lang="fa-IR" sz="3000" b="1" dirty="0">
                <a:cs typeface="B Nazanin" panose="00000400000000000000" pitchFamily="2" charset="-78"/>
              </a:rPr>
              <a:t>تولید می کند.</a:t>
            </a:r>
          </a:p>
          <a:p>
            <a:endParaRPr lang="fa-IR" sz="3000" b="1" dirty="0">
              <a:cs typeface="B Nazanin" panose="00000400000000000000" pitchFamily="2" charset="-78"/>
            </a:endParaRPr>
          </a:p>
          <a:p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مغز</a:t>
            </a:r>
            <a:r>
              <a:rPr lang="fa-IR" sz="3000" b="1" dirty="0">
                <a:cs typeface="B Nazanin" panose="00000400000000000000" pitchFamily="2" charset="-78"/>
              </a:rPr>
              <a:t> در حالت طبیعی برای تامین انرژی به طور کامل وابسته به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گلوکز</a:t>
            </a:r>
            <a:r>
              <a:rPr lang="fa-IR" sz="3000" b="1" dirty="0">
                <a:cs typeface="B Nazanin" panose="00000400000000000000" pitchFamily="2" charset="-78"/>
              </a:rPr>
              <a:t> است.</a:t>
            </a:r>
          </a:p>
          <a:p>
            <a:endParaRPr lang="fa-IR" sz="3000" b="1" dirty="0">
              <a:cs typeface="B Nazanin" panose="00000400000000000000" pitchFamily="2" charset="-78"/>
            </a:endParaRPr>
          </a:p>
          <a:p>
            <a:r>
              <a:rPr lang="fa-IR" sz="3000" b="1" dirty="0">
                <a:cs typeface="B Nazanin" panose="00000400000000000000" pitchFamily="2" charset="-78"/>
              </a:rPr>
              <a:t>فیبر ها در روده بزرگ تخمیر می شوند و تولید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اسیدهای چرب کوتاه زنجیر </a:t>
            </a:r>
            <a:r>
              <a:rPr lang="fa-IR" sz="3000" b="1" dirty="0">
                <a:cs typeface="B Nazanin" panose="00000400000000000000" pitchFamily="2" charset="-78"/>
              </a:rPr>
              <a:t>می کنند که انرژی معادل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2/5-1/5 کیلوکالری در هر گرم </a:t>
            </a:r>
            <a:r>
              <a:rPr lang="fa-IR" sz="3000" b="1" dirty="0">
                <a:cs typeface="B Nazanin" panose="00000400000000000000" pitchFamily="2" charset="-78"/>
              </a:rPr>
              <a:t>را دارا می باشند.</a:t>
            </a:r>
          </a:p>
        </p:txBody>
      </p:sp>
    </p:spTree>
    <p:extLst>
      <p:ext uri="{BB962C8B-B14F-4D97-AF65-F5344CB8AC3E}">
        <p14:creationId xmlns:p14="http://schemas.microsoft.com/office/powerpoint/2010/main" val="27311000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Titr" panose="00000700000000000000" pitchFamily="2" charset="-78"/>
              </a:rPr>
              <a:t>نقش کربوهیدرات در بدن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8352" y="1465017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a-IR" sz="3000" b="1" dirty="0">
                <a:solidFill>
                  <a:srgbClr val="0070C0"/>
                </a:solidFill>
                <a:cs typeface="B Nazanin" panose="00000400000000000000" pitchFamily="2" charset="-78"/>
              </a:rPr>
              <a:t>2. پیشگیری از کتوزیس</a:t>
            </a:r>
          </a:p>
          <a:p>
            <a:r>
              <a:rPr lang="fa-IR" sz="3000" b="1" dirty="0">
                <a:cs typeface="B Nazanin" panose="00000400000000000000" pitchFamily="2" charset="-78"/>
              </a:rPr>
              <a:t>در نبود گلوکز از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چربی</a:t>
            </a:r>
            <a:r>
              <a:rPr lang="fa-IR" sz="3000" b="1" dirty="0">
                <a:cs typeface="B Nazanin" panose="00000400000000000000" pitchFamily="2" charset="-78"/>
              </a:rPr>
              <a:t> بعنوان منبع انرژی استفاده می شود.</a:t>
            </a:r>
          </a:p>
          <a:p>
            <a:endParaRPr lang="fa-IR" sz="3000" b="1" dirty="0">
              <a:cs typeface="B Nazanin" panose="00000400000000000000" pitchFamily="2" charset="-78"/>
            </a:endParaRPr>
          </a:p>
          <a:p>
            <a:r>
              <a:rPr lang="fa-IR" sz="3000" b="1" dirty="0">
                <a:cs typeface="B Nazanin" panose="00000400000000000000" pitchFamily="2" charset="-78"/>
              </a:rPr>
              <a:t>از سوخت چربی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اجسام ستونی </a:t>
            </a:r>
            <a:r>
              <a:rPr lang="fa-IR" sz="3000" b="1" dirty="0">
                <a:cs typeface="B Nazanin" panose="00000400000000000000" pitchFamily="2" charset="-78"/>
              </a:rPr>
              <a:t>آزاد می شود که ماهیچه و دیگر بافت ها می توانند از آن بعنوان منبع انرژی استفاده کنند.</a:t>
            </a:r>
          </a:p>
          <a:p>
            <a:endParaRPr lang="fa-IR" sz="3000" b="1" dirty="0">
              <a:cs typeface="B Nazanin" panose="00000400000000000000" pitchFamily="2" charset="-78"/>
            </a:endParaRPr>
          </a:p>
          <a:p>
            <a:r>
              <a:rPr lang="fa-IR" sz="3000" b="1" dirty="0">
                <a:cs typeface="B Nazanin" panose="00000400000000000000" pitchFamily="2" charset="-78"/>
              </a:rPr>
              <a:t>افزایش تولید کتون و تجمع آن در خون باعث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تهوع</a:t>
            </a:r>
            <a:r>
              <a:rPr lang="fa-IR" sz="3000" b="1" dirty="0">
                <a:cs typeface="B Nazanin" panose="00000400000000000000" pitchFamily="2" charset="-78"/>
              </a:rPr>
              <a:t>،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استفراغ</a:t>
            </a:r>
            <a:r>
              <a:rPr lang="fa-IR" sz="3000" b="1" dirty="0">
                <a:cs typeface="B Nazanin" panose="00000400000000000000" pitchFamily="2" charset="-78"/>
              </a:rPr>
              <a:t> و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کاهش اشتها </a:t>
            </a:r>
            <a:r>
              <a:rPr lang="fa-IR" sz="3000" b="1" dirty="0">
                <a:cs typeface="B Nazanin" panose="00000400000000000000" pitchFamily="2" charset="-78"/>
              </a:rPr>
              <a:t>و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کتواسیدوزیس</a:t>
            </a:r>
            <a:r>
              <a:rPr lang="fa-IR" sz="3000" b="1" dirty="0">
                <a:cs typeface="B Nazanin" panose="00000400000000000000" pitchFamily="2" charset="-78"/>
              </a:rPr>
              <a:t> می شود.</a:t>
            </a:r>
          </a:p>
          <a:p>
            <a:endParaRPr lang="fa-IR" sz="3000" b="1" dirty="0">
              <a:cs typeface="B Nazanin" panose="00000400000000000000" pitchFamily="2" charset="-78"/>
            </a:endParaRPr>
          </a:p>
          <a:p>
            <a:r>
              <a:rPr lang="fa-IR" sz="3000" b="1" dirty="0">
                <a:cs typeface="B Nazanin" panose="00000400000000000000" pitchFamily="2" charset="-78"/>
              </a:rPr>
              <a:t>وقتی بدن سعی در دفع ستون دارد،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دهیدراتاسیون</a:t>
            </a:r>
            <a:r>
              <a:rPr lang="fa-IR" sz="3000" b="1" dirty="0">
                <a:cs typeface="B Nazanin" panose="00000400000000000000" pitchFamily="2" charset="-78"/>
              </a:rPr>
              <a:t> و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تخلیه سدیم </a:t>
            </a:r>
            <a:r>
              <a:rPr lang="fa-IR" sz="3000" b="1" dirty="0">
                <a:cs typeface="B Nazanin" panose="00000400000000000000" pitchFamily="2" charset="-78"/>
              </a:rPr>
              <a:t>نیز بروز می کند.</a:t>
            </a:r>
          </a:p>
        </p:txBody>
      </p:sp>
    </p:spTree>
    <p:extLst>
      <p:ext uri="{BB962C8B-B14F-4D97-AF65-F5344CB8AC3E}">
        <p14:creationId xmlns:p14="http://schemas.microsoft.com/office/powerpoint/2010/main" val="20619226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Titr" panose="00000700000000000000" pitchFamily="2" charset="-78"/>
              </a:rPr>
              <a:t>ساخت ترکیبات دیگر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8352" y="1465017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a-IR" sz="3000" b="1" dirty="0">
                <a:solidFill>
                  <a:srgbClr val="0070C0"/>
                </a:solidFill>
                <a:cs typeface="B Nazanin" panose="00000400000000000000" pitchFamily="2" charset="-78"/>
              </a:rPr>
              <a:t>3. ساخت ترکیبات دیگر</a:t>
            </a:r>
          </a:p>
          <a:p>
            <a:r>
              <a:rPr lang="fa-IR" sz="3000" b="1" dirty="0">
                <a:cs typeface="B Nazanin" panose="00000400000000000000" pitchFamily="2" charset="-78"/>
              </a:rPr>
              <a:t>گلیکوژن: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1/3 کبد  </a:t>
            </a:r>
            <a:r>
              <a:rPr lang="fa-IR" sz="3000" b="1" dirty="0">
                <a:cs typeface="B Nazanin" panose="00000400000000000000" pitchFamily="2" charset="-78"/>
              </a:rPr>
              <a:t>و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2/3 ماهیچه</a:t>
            </a:r>
          </a:p>
          <a:p>
            <a:endParaRPr lang="fa-IR" sz="3000" b="1" dirty="0">
              <a:cs typeface="B Nazanin" panose="00000400000000000000" pitchFamily="2" charset="-78"/>
            </a:endParaRPr>
          </a:p>
          <a:p>
            <a:r>
              <a:rPr lang="fa-IR" sz="3000" b="1" dirty="0">
                <a:cs typeface="B Nazanin" panose="00000400000000000000" pitchFamily="2" charset="-78"/>
              </a:rPr>
              <a:t>اسیدآمینه های غیر ضروری: اگر میزان کافی از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اسیدآمینه های ضروری </a:t>
            </a:r>
            <a:r>
              <a:rPr lang="fa-IR" sz="3000" b="1" dirty="0">
                <a:cs typeface="B Nazanin" panose="00000400000000000000" pitchFamily="2" charset="-78"/>
              </a:rPr>
              <a:t>در دسترس باشد، بدن می تواند با استفاده از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آن ها </a:t>
            </a:r>
            <a:r>
              <a:rPr lang="fa-IR" sz="3000" b="1" dirty="0">
                <a:cs typeface="B Nazanin" panose="00000400000000000000" pitchFamily="2" charset="-78"/>
              </a:rPr>
              <a:t>و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گلوکز</a:t>
            </a:r>
            <a:r>
              <a:rPr lang="fa-IR" sz="3000" b="1" dirty="0">
                <a:cs typeface="B Nazanin" panose="00000400000000000000" pitchFamily="2" charset="-78"/>
              </a:rPr>
              <a:t> اسیدآمینه های غیر ضروری را بسازد.</a:t>
            </a:r>
          </a:p>
          <a:p>
            <a:endParaRPr lang="fa-IR" sz="3000" b="1" dirty="0">
              <a:cs typeface="B Nazanin" panose="00000400000000000000" pitchFamily="2" charset="-78"/>
            </a:endParaRPr>
          </a:p>
          <a:p>
            <a:r>
              <a:rPr lang="fa-IR" sz="3000" b="1" dirty="0">
                <a:cs typeface="B Nazanin" panose="00000400000000000000" pitchFamily="2" charset="-78"/>
              </a:rPr>
              <a:t>چربی: باقیمانده گلوکز در سلول های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کبدی</a:t>
            </a:r>
            <a:r>
              <a:rPr lang="fa-IR" sz="3000" b="1" dirty="0">
                <a:cs typeface="B Nazanin" panose="00000400000000000000" pitchFamily="2" charset="-78"/>
              </a:rPr>
              <a:t> به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تری گلیسرید </a:t>
            </a:r>
            <a:r>
              <a:rPr lang="fa-IR" sz="3000" b="1" dirty="0">
                <a:cs typeface="B Nazanin" panose="00000400000000000000" pitchFamily="2" charset="-78"/>
              </a:rPr>
              <a:t>تبدیل و در سلول های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چربی</a:t>
            </a:r>
            <a:r>
              <a:rPr lang="fa-IR" sz="3000" b="1" dirty="0">
                <a:cs typeface="B Nazanin" panose="00000400000000000000" pitchFamily="2" charset="-78"/>
              </a:rPr>
              <a:t> ذخیره می شود.</a:t>
            </a:r>
          </a:p>
          <a:p>
            <a:endParaRPr lang="fa-IR" sz="30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89910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Titr" panose="00000700000000000000" pitchFamily="2" charset="-78"/>
              </a:rPr>
              <a:t>ساخت ترکیبات دیگر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8352" y="1465017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a-IR" sz="3000" b="1" dirty="0">
                <a:solidFill>
                  <a:srgbClr val="0070C0"/>
                </a:solidFill>
                <a:cs typeface="B Nazanin" panose="00000400000000000000" pitchFamily="2" charset="-78"/>
              </a:rPr>
              <a:t>4. ترکیبات حاوی کربوهیدرات</a:t>
            </a:r>
          </a:p>
          <a:p>
            <a:r>
              <a:rPr lang="fa-IR" sz="3000" b="1" dirty="0">
                <a:cs typeface="B Nazanin" panose="00000400000000000000" pitchFamily="2" charset="-78"/>
              </a:rPr>
              <a:t>بدن کربوهیدرات را به ترکیبات دیگر مثل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ریبوز (</a:t>
            </a:r>
            <a:r>
              <a:rPr lang="en-GB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DNA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 و </a:t>
            </a:r>
            <a:r>
              <a:rPr lang="en-GB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RNA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)</a:t>
            </a:r>
            <a:r>
              <a:rPr lang="fa-IR" sz="3000" b="1" dirty="0">
                <a:cs typeface="B Nazanin" panose="00000400000000000000" pitchFamily="2" charset="-78"/>
              </a:rPr>
              <a:t>،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سولفات کراتین (ناخن انگشتان) </a:t>
            </a:r>
            <a:r>
              <a:rPr lang="fa-IR" sz="3000" b="1" dirty="0">
                <a:cs typeface="B Nazanin" panose="00000400000000000000" pitchFamily="2" charset="-78"/>
              </a:rPr>
              <a:t>و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اسید هیالورونیک (مایع لغزنده کننده اطراف مفاصل) </a:t>
            </a:r>
            <a:r>
              <a:rPr lang="fa-IR" sz="3000" b="1" dirty="0">
                <a:cs typeface="B Nazanin" panose="00000400000000000000" pitchFamily="2" charset="-78"/>
              </a:rPr>
              <a:t>تبدیل می کند.</a:t>
            </a:r>
            <a:endParaRPr lang="fa-IR" sz="30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endParaRPr lang="fa-IR" sz="3000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sz="3000" b="1" dirty="0">
                <a:solidFill>
                  <a:srgbClr val="0070C0"/>
                </a:solidFill>
                <a:cs typeface="B Nazanin" panose="00000400000000000000" pitchFamily="2" charset="-78"/>
              </a:rPr>
              <a:t>5. صرفه جویی در مصرف پروتئین</a:t>
            </a:r>
          </a:p>
          <a:p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دریافت کافی کربوهیدرات </a:t>
            </a:r>
            <a:r>
              <a:rPr lang="fa-IR" sz="3000" b="1" dirty="0">
                <a:cs typeface="B Nazanin" panose="00000400000000000000" pitchFamily="2" charset="-78"/>
              </a:rPr>
              <a:t>باعث صرفه جویی در مصرف پروتئین می شود.</a:t>
            </a:r>
          </a:p>
          <a:p>
            <a:r>
              <a:rPr lang="fa-IR" sz="3000" b="1" dirty="0">
                <a:cs typeface="B Nazanin" panose="00000400000000000000" pitchFamily="2" charset="-78"/>
              </a:rPr>
              <a:t>دریافت کافی کربوهیدرات در زمانیکه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نیاز به پروتئین افزایش </a:t>
            </a:r>
            <a:r>
              <a:rPr lang="fa-IR" sz="3000" b="1" dirty="0">
                <a:cs typeface="B Nazanin" panose="00000400000000000000" pitchFamily="2" charset="-78"/>
              </a:rPr>
              <a:t>یافته است مثل: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بهبود زخم</a:t>
            </a:r>
            <a:r>
              <a:rPr lang="fa-IR" sz="3000" b="1" dirty="0">
                <a:cs typeface="B Nazanin" panose="00000400000000000000" pitchFamily="2" charset="-78"/>
              </a:rPr>
              <a:t>،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حاملگی</a:t>
            </a:r>
            <a:r>
              <a:rPr lang="fa-IR" sz="3000" b="1" dirty="0">
                <a:cs typeface="B Nazanin" panose="00000400000000000000" pitchFamily="2" charset="-78"/>
              </a:rPr>
              <a:t> و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شیردهی</a:t>
            </a:r>
            <a:r>
              <a:rPr lang="fa-IR" sz="3000" b="1" dirty="0">
                <a:cs typeface="B Nazanin" panose="00000400000000000000" pitchFamily="2" charset="-78"/>
              </a:rPr>
              <a:t> از اهمیت بالایی برخوردار است.</a:t>
            </a:r>
          </a:p>
        </p:txBody>
      </p:sp>
    </p:spTree>
    <p:extLst>
      <p:ext uri="{BB962C8B-B14F-4D97-AF65-F5344CB8AC3E}">
        <p14:creationId xmlns:p14="http://schemas.microsoft.com/office/powerpoint/2010/main" val="615300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Titr" panose="00000700000000000000" pitchFamily="2" charset="-78"/>
              </a:rPr>
              <a:t>منابع و مقادیر توصیه شده کربوهیدرات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8352" y="1465017"/>
            <a:ext cx="10515600" cy="4351338"/>
          </a:xfrm>
        </p:spPr>
        <p:txBody>
          <a:bodyPr>
            <a:noAutofit/>
          </a:bodyPr>
          <a:lstStyle/>
          <a:p>
            <a:r>
              <a:rPr lang="fa-IR" sz="3000" b="1" dirty="0">
                <a:cs typeface="B Nazanin" panose="00000400000000000000" pitchFamily="2" charset="-78"/>
              </a:rPr>
              <a:t>کربوهیدرات ها در غذا به شکل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قند طبیعی</a:t>
            </a:r>
            <a:r>
              <a:rPr lang="fa-IR" sz="3000" b="1" dirty="0">
                <a:cs typeface="B Nazanin" panose="00000400000000000000" pitchFamily="2" charset="-78"/>
              </a:rPr>
              <a:t>،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نشاسته</a:t>
            </a:r>
            <a:r>
              <a:rPr lang="fa-IR" sz="3000" b="1" dirty="0">
                <a:cs typeface="B Nazanin" panose="00000400000000000000" pitchFamily="2" charset="-78"/>
              </a:rPr>
              <a:t> و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فیبر</a:t>
            </a:r>
            <a:r>
              <a:rPr lang="fa-IR" sz="3000" b="1" dirty="0">
                <a:cs typeface="B Nazanin" panose="00000400000000000000" pitchFamily="2" charset="-78"/>
              </a:rPr>
              <a:t> وجود دارند.</a:t>
            </a:r>
          </a:p>
          <a:p>
            <a:endParaRPr lang="fa-IR" sz="30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000" b="1" dirty="0">
                <a:cs typeface="B Nazanin" panose="00000400000000000000" pitchFamily="2" charset="-78"/>
              </a:rPr>
              <a:t>توصیه </a:t>
            </a:r>
            <a:r>
              <a:rPr lang="en-GB" sz="3000" b="1" dirty="0">
                <a:cs typeface="B Nazanin" panose="00000400000000000000" pitchFamily="2" charset="-78"/>
              </a:rPr>
              <a:t>RDA</a:t>
            </a:r>
            <a:r>
              <a:rPr lang="fa-IR" sz="3000" b="1" dirty="0">
                <a:cs typeface="B Nazanin" panose="00000400000000000000" pitchFamily="2" charset="-78"/>
              </a:rPr>
              <a:t> : حداقل </a:t>
            </a:r>
            <a:r>
              <a:rPr lang="en-GB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gr/d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 130 </a:t>
            </a:r>
            <a:r>
              <a:rPr lang="fa-IR" sz="3000" b="1" dirty="0">
                <a:cs typeface="B Nazanin" panose="00000400000000000000" pitchFamily="2" charset="-78"/>
              </a:rPr>
              <a:t>برای تمام افراد بزرگسال و کودکان</a:t>
            </a:r>
          </a:p>
          <a:p>
            <a:endParaRPr lang="fa-IR" sz="3000" b="1" dirty="0">
              <a:cs typeface="B Nazanin" panose="00000400000000000000" pitchFamily="2" charset="-78"/>
            </a:endParaRPr>
          </a:p>
          <a:p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65-45 در صد </a:t>
            </a:r>
            <a:r>
              <a:rPr lang="fa-IR" sz="3000" b="1" dirty="0">
                <a:cs typeface="B Nazanin" panose="00000400000000000000" pitchFamily="2" charset="-78"/>
              </a:rPr>
              <a:t>از کل کالری دریافتی از کربوهیدرات تامین شود.</a:t>
            </a:r>
          </a:p>
          <a:p>
            <a:endParaRPr lang="fa-IR" sz="3000" b="1" dirty="0">
              <a:cs typeface="B Nazanin" panose="00000400000000000000" pitchFamily="2" charset="-78"/>
            </a:endParaRPr>
          </a:p>
          <a:p>
            <a:r>
              <a:rPr lang="fa-IR" sz="3000" b="1" dirty="0">
                <a:cs typeface="B Nazanin" panose="00000400000000000000" pitchFamily="2" charset="-78"/>
              </a:rPr>
              <a:t>مقادیر دریافتی فیبر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14 گرم به ازای 1000 کیلو کالری دریافتی </a:t>
            </a:r>
            <a:r>
              <a:rPr lang="fa-IR" sz="3000" b="1" dirty="0">
                <a:cs typeface="B Nazanin" panose="00000400000000000000" pitchFamily="2" charset="-78"/>
              </a:rPr>
              <a:t>یا برای زنان: </a:t>
            </a:r>
            <a:r>
              <a:rPr lang="en-GB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gr/d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 25</a:t>
            </a:r>
            <a:r>
              <a:rPr lang="fa-IR" sz="3000" b="1" dirty="0">
                <a:cs typeface="B Nazanin" panose="00000400000000000000" pitchFamily="2" charset="-78"/>
              </a:rPr>
              <a:t> و برای مردان: </a:t>
            </a:r>
            <a:r>
              <a:rPr lang="en-GB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gr/d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 38</a:t>
            </a:r>
          </a:p>
          <a:p>
            <a:endParaRPr lang="fa-IR" sz="3000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30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494127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Titr" panose="00000700000000000000" pitchFamily="2" charset="-78"/>
              </a:rPr>
              <a:t>ساخت ترکیبات دیگر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8352" y="1465017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a-IR" sz="3000" b="1" dirty="0">
                <a:cs typeface="B Nazanin" panose="00000400000000000000" pitchFamily="2" charset="-78"/>
              </a:rPr>
              <a:t>افزایش دریافت غلات کامل باعث کاهش خطر: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3000" b="1" dirty="0">
                <a:solidFill>
                  <a:srgbClr val="00B050"/>
                </a:solidFill>
                <a:cs typeface="B Nazanin" panose="00000400000000000000" pitchFamily="2" charset="-78"/>
              </a:rPr>
              <a:t> بیماری های قلبی-عروقی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3000" b="1" dirty="0">
                <a:solidFill>
                  <a:srgbClr val="00B050"/>
                </a:solidFill>
                <a:cs typeface="B Nazanin" panose="00000400000000000000" pitchFamily="2" charset="-78"/>
              </a:rPr>
              <a:t>سرطان دستگاه گوارش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3000" b="1" dirty="0">
                <a:solidFill>
                  <a:srgbClr val="00B050"/>
                </a:solidFill>
                <a:cs typeface="B Nazanin" panose="00000400000000000000" pitchFamily="2" charset="-78"/>
              </a:rPr>
              <a:t>دیابت نوع 2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3000" b="1" dirty="0">
                <a:solidFill>
                  <a:srgbClr val="00B050"/>
                </a:solidFill>
                <a:cs typeface="B Nazanin" panose="00000400000000000000" pitchFamily="2" charset="-78"/>
              </a:rPr>
              <a:t>چاقی و افزایش وزن</a:t>
            </a:r>
          </a:p>
          <a:p>
            <a:pPr>
              <a:buFont typeface="Wingdings" panose="05000000000000000000" pitchFamily="2" charset="2"/>
              <a:buChar char="ü"/>
            </a:pPr>
            <a:endParaRPr lang="fa-IR" sz="3000" b="1" dirty="0">
              <a:solidFill>
                <a:srgbClr val="00B050"/>
              </a:solidFill>
              <a:cs typeface="B Nazanin" panose="00000400000000000000" pitchFamily="2" charset="-78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fa-IR" sz="3000" b="1" dirty="0">
                <a:cs typeface="B Nazanin" panose="00000400000000000000" pitchFamily="2" charset="-78"/>
              </a:rPr>
              <a:t>غلات کامل منبع خوبی از </a:t>
            </a:r>
            <a:r>
              <a:rPr lang="fa-IR" sz="3000" b="1" dirty="0">
                <a:solidFill>
                  <a:srgbClr val="0070C0"/>
                </a:solidFill>
                <a:cs typeface="B Nazanin" panose="00000400000000000000" pitchFamily="2" charset="-78"/>
              </a:rPr>
              <a:t>فیبر</a:t>
            </a:r>
            <a:r>
              <a:rPr lang="fa-IR" sz="3000" b="1" dirty="0">
                <a:cs typeface="B Nazanin" panose="00000400000000000000" pitchFamily="2" charset="-78"/>
              </a:rPr>
              <a:t>، </a:t>
            </a:r>
            <a:r>
              <a:rPr lang="fa-IR" sz="3000" b="1" dirty="0">
                <a:solidFill>
                  <a:srgbClr val="0070C0"/>
                </a:solidFill>
                <a:cs typeface="B Nazanin" panose="00000400000000000000" pitchFamily="2" charset="-78"/>
              </a:rPr>
              <a:t>آنتی اکسیدان ها</a:t>
            </a:r>
            <a:r>
              <a:rPr lang="fa-IR" sz="3000" b="1" dirty="0">
                <a:cs typeface="B Nazanin" panose="00000400000000000000" pitchFamily="2" charset="-78"/>
              </a:rPr>
              <a:t>، </a:t>
            </a:r>
            <a:r>
              <a:rPr lang="fa-IR" sz="3000" b="1" dirty="0">
                <a:solidFill>
                  <a:srgbClr val="0070C0"/>
                </a:solidFill>
                <a:cs typeface="B Nazanin" panose="00000400000000000000" pitchFamily="2" charset="-78"/>
              </a:rPr>
              <a:t>ویتامین ها</a:t>
            </a:r>
            <a:r>
              <a:rPr lang="fa-IR" sz="3000" b="1" dirty="0">
                <a:cs typeface="B Nazanin" panose="00000400000000000000" pitchFamily="2" charset="-78"/>
              </a:rPr>
              <a:t>، </a:t>
            </a:r>
            <a:r>
              <a:rPr lang="fa-IR" sz="3000" b="1" dirty="0">
                <a:solidFill>
                  <a:srgbClr val="0070C0"/>
                </a:solidFill>
                <a:cs typeface="B Nazanin" panose="00000400000000000000" pitchFamily="2" charset="-78"/>
              </a:rPr>
              <a:t>فیتوکمیکال ها</a:t>
            </a:r>
            <a:r>
              <a:rPr lang="fa-IR" sz="3000" b="1" dirty="0">
                <a:cs typeface="B Nazanin" panose="00000400000000000000" pitchFamily="2" charset="-78"/>
              </a:rPr>
              <a:t>، </a:t>
            </a:r>
            <a:r>
              <a:rPr lang="fa-IR" sz="3000" b="1" dirty="0">
                <a:solidFill>
                  <a:srgbClr val="0070C0"/>
                </a:solidFill>
                <a:cs typeface="B Nazanin" panose="00000400000000000000" pitchFamily="2" charset="-78"/>
              </a:rPr>
              <a:t>مواد</a:t>
            </a:r>
            <a:r>
              <a:rPr lang="fa-IR" sz="3000" b="1" dirty="0">
                <a:cs typeface="B Nazanin" panose="00000400000000000000" pitchFamily="2" charset="-78"/>
              </a:rPr>
              <a:t> </a:t>
            </a:r>
            <a:r>
              <a:rPr lang="fa-IR" sz="3000" b="1" dirty="0">
                <a:solidFill>
                  <a:srgbClr val="0070C0"/>
                </a:solidFill>
                <a:cs typeface="B Nazanin" panose="00000400000000000000" pitchFamily="2" charset="-78"/>
              </a:rPr>
              <a:t>معدنی</a:t>
            </a:r>
            <a:r>
              <a:rPr lang="fa-IR" sz="3000" b="1" dirty="0">
                <a:cs typeface="B Nazanin" panose="00000400000000000000" pitchFamily="2" charset="-78"/>
              </a:rPr>
              <a:t> و </a:t>
            </a:r>
            <a:r>
              <a:rPr lang="fa-IR" sz="3000" b="1" dirty="0">
                <a:solidFill>
                  <a:srgbClr val="0070C0"/>
                </a:solidFill>
                <a:cs typeface="B Nazanin" panose="00000400000000000000" pitchFamily="2" charset="-78"/>
              </a:rPr>
              <a:t>پره بیوتیک ها </a:t>
            </a:r>
            <a:r>
              <a:rPr lang="fa-IR" sz="3000" b="1" dirty="0">
                <a:cs typeface="B Nazanin" panose="00000400000000000000" pitchFamily="2" charset="-78"/>
              </a:rPr>
              <a:t>هستند.</a:t>
            </a:r>
          </a:p>
        </p:txBody>
      </p:sp>
    </p:spTree>
    <p:extLst>
      <p:ext uri="{BB962C8B-B14F-4D97-AF65-F5344CB8AC3E}">
        <p14:creationId xmlns:p14="http://schemas.microsoft.com/office/powerpoint/2010/main" val="34882539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Titr" panose="00000700000000000000" pitchFamily="2" charset="-78"/>
              </a:rPr>
              <a:t>قندهای جایگزین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8352" y="1465017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a-IR" sz="3000" b="1" dirty="0">
                <a:cs typeface="B Nazanin" panose="00000400000000000000" pitchFamily="2" charset="-78"/>
              </a:rPr>
              <a:t>قندهای جایگزین شامل: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a-IR" sz="3000" b="1" dirty="0">
                <a:solidFill>
                  <a:srgbClr val="7030A0"/>
                </a:solidFill>
                <a:cs typeface="B Nazanin" panose="00000400000000000000" pitchFamily="2" charset="-78"/>
              </a:rPr>
              <a:t>قندهای الکلی</a:t>
            </a:r>
          </a:p>
          <a:p>
            <a:pPr>
              <a:buFont typeface="Wingdings" panose="05000000000000000000" pitchFamily="2" charset="2"/>
              <a:buChar char="q"/>
            </a:pPr>
            <a:endParaRPr lang="fa-IR" sz="3000" b="1" dirty="0">
              <a:solidFill>
                <a:srgbClr val="7030A0"/>
              </a:solidFill>
              <a:cs typeface="B Nazanin" panose="00000400000000000000" pitchFamily="2" charset="-78"/>
            </a:endParaRPr>
          </a:p>
          <a:p>
            <a:pPr>
              <a:buFont typeface="Wingdings" panose="05000000000000000000" pitchFamily="2" charset="2"/>
              <a:buChar char="q"/>
            </a:pPr>
            <a:endParaRPr lang="fa-IR" sz="3000" b="1" dirty="0">
              <a:solidFill>
                <a:srgbClr val="7030A0"/>
              </a:solidFill>
              <a:cs typeface="B Nazanin" panose="00000400000000000000" pitchFamily="2" charset="-78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a-IR" sz="3000" b="1" dirty="0">
                <a:solidFill>
                  <a:srgbClr val="7030A0"/>
                </a:solidFill>
                <a:cs typeface="B Nazanin" panose="00000400000000000000" pitchFamily="2" charset="-78"/>
              </a:rPr>
              <a:t>شیرین کننده های مصنوعی</a:t>
            </a:r>
          </a:p>
        </p:txBody>
      </p:sp>
    </p:spTree>
    <p:extLst>
      <p:ext uri="{BB962C8B-B14F-4D97-AF65-F5344CB8AC3E}">
        <p14:creationId xmlns:p14="http://schemas.microsoft.com/office/powerpoint/2010/main" val="3186980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Titr" panose="00000700000000000000" pitchFamily="2" charset="-78"/>
              </a:rPr>
              <a:t>قندهای الکلی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8352" y="1465017"/>
            <a:ext cx="10515600" cy="4351338"/>
          </a:xfrm>
        </p:spPr>
        <p:txBody>
          <a:bodyPr>
            <a:noAutofit/>
          </a:bodyPr>
          <a:lstStyle/>
          <a:p>
            <a:r>
              <a:rPr lang="fa-IR" sz="3000" b="1" dirty="0">
                <a:cs typeface="B Nazanin" panose="00000400000000000000" pitchFamily="2" charset="-78"/>
              </a:rPr>
              <a:t>قندهای الکلی شامل: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سوربیتول</a:t>
            </a:r>
            <a:r>
              <a:rPr lang="fa-IR" sz="3000" b="1" dirty="0">
                <a:solidFill>
                  <a:srgbClr val="7030A0"/>
                </a:solidFill>
                <a:cs typeface="B Nazanin" panose="00000400000000000000" pitchFamily="2" charset="-78"/>
              </a:rPr>
              <a:t>،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مانیتول</a:t>
            </a:r>
            <a:r>
              <a:rPr lang="fa-IR" sz="3000" b="1" dirty="0">
                <a:solidFill>
                  <a:srgbClr val="7030A0"/>
                </a:solidFill>
                <a:cs typeface="B Nazanin" panose="00000400000000000000" pitchFamily="2" charset="-78"/>
              </a:rPr>
              <a:t> و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گزیلیتول</a:t>
            </a:r>
          </a:p>
          <a:p>
            <a:pPr>
              <a:buFont typeface="Wingdings" panose="05000000000000000000" pitchFamily="2" charset="2"/>
              <a:buChar char="q"/>
            </a:pPr>
            <a:endParaRPr lang="fa-IR" sz="3000" b="1" dirty="0">
              <a:solidFill>
                <a:srgbClr val="7030A0"/>
              </a:solidFill>
              <a:cs typeface="B Nazanin" panose="00000400000000000000" pitchFamily="2" charset="-78"/>
            </a:endParaRPr>
          </a:p>
          <a:p>
            <a:r>
              <a:rPr lang="fa-IR" sz="3000" b="1" dirty="0">
                <a:cs typeface="B Nazanin" panose="00000400000000000000" pitchFamily="2" charset="-78"/>
              </a:rPr>
              <a:t>سوربیتول و مانیتول :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70-50 درصد </a:t>
            </a:r>
            <a:r>
              <a:rPr lang="fa-IR" sz="3000" b="1" dirty="0">
                <a:cs typeface="B Nazanin" panose="00000400000000000000" pitchFamily="2" charset="-78"/>
              </a:rPr>
              <a:t>شیرینی سوکروز را دارند.</a:t>
            </a:r>
          </a:p>
          <a:p>
            <a:endParaRPr lang="fa-IR" sz="3000" b="1" dirty="0">
              <a:solidFill>
                <a:srgbClr val="7030A0"/>
              </a:solidFill>
              <a:cs typeface="B Nazanin" panose="00000400000000000000" pitchFamily="2" charset="-78"/>
            </a:endParaRPr>
          </a:p>
          <a:p>
            <a:r>
              <a:rPr lang="fa-IR" sz="3000" b="1" dirty="0">
                <a:cs typeface="B Nazanin" panose="00000400000000000000" pitchFamily="2" charset="-78"/>
              </a:rPr>
              <a:t>گزیلیتول: شیرینی آن مشابه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سوکروز</a:t>
            </a:r>
            <a:r>
              <a:rPr lang="fa-IR" sz="3000" b="1" dirty="0">
                <a:solidFill>
                  <a:srgbClr val="7030A0"/>
                </a:solidFill>
                <a:cs typeface="B Nazanin" panose="00000400000000000000" pitchFamily="2" charset="-78"/>
              </a:rPr>
              <a:t> </a:t>
            </a:r>
            <a:r>
              <a:rPr lang="fa-IR" sz="3000" b="1" dirty="0">
                <a:cs typeface="B Nazanin" panose="00000400000000000000" pitchFamily="2" charset="-78"/>
              </a:rPr>
              <a:t>است.</a:t>
            </a:r>
          </a:p>
          <a:p>
            <a:endParaRPr lang="fa-IR" sz="3000" b="1" dirty="0">
              <a:solidFill>
                <a:srgbClr val="7030A0"/>
              </a:solidFill>
              <a:cs typeface="B Nazanin" panose="00000400000000000000" pitchFamily="2" charset="-78"/>
            </a:endParaRPr>
          </a:p>
          <a:p>
            <a:r>
              <a:rPr lang="fa-IR" sz="3000" b="1" dirty="0">
                <a:cs typeface="B Nazanin" panose="00000400000000000000" pitchFamily="2" charset="-78"/>
              </a:rPr>
              <a:t>این قندها بطور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ناکامل</a:t>
            </a:r>
            <a:r>
              <a:rPr lang="fa-IR" sz="3000" b="1" dirty="0">
                <a:solidFill>
                  <a:srgbClr val="7030A0"/>
                </a:solidFill>
                <a:cs typeface="B Nazanin" panose="00000400000000000000" pitchFamily="2" charset="-78"/>
              </a:rPr>
              <a:t> </a:t>
            </a:r>
            <a:r>
              <a:rPr lang="fa-IR" sz="3000" b="1" dirty="0">
                <a:cs typeface="B Nazanin" panose="00000400000000000000" pitchFamily="2" charset="-78"/>
              </a:rPr>
              <a:t>و</a:t>
            </a:r>
            <a:r>
              <a:rPr lang="fa-IR" sz="3000" b="1" dirty="0">
                <a:solidFill>
                  <a:srgbClr val="7030A0"/>
                </a:solidFill>
                <a:cs typeface="B Nazanin" panose="00000400000000000000" pitchFamily="2" charset="-78"/>
              </a:rPr>
              <a:t>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آهسته</a:t>
            </a:r>
            <a:r>
              <a:rPr lang="fa-IR" sz="3000" b="1" dirty="0">
                <a:solidFill>
                  <a:srgbClr val="7030A0"/>
                </a:solidFill>
                <a:cs typeface="B Nazanin" panose="00000400000000000000" pitchFamily="2" charset="-78"/>
              </a:rPr>
              <a:t> </a:t>
            </a:r>
            <a:r>
              <a:rPr lang="fa-IR" sz="3000" b="1" dirty="0">
                <a:cs typeface="B Nazanin" panose="00000400000000000000" pitchFamily="2" charset="-78"/>
              </a:rPr>
              <a:t>جذب می شوند.</a:t>
            </a:r>
          </a:p>
          <a:p>
            <a:endParaRPr lang="fa-IR" sz="3000" b="1" dirty="0">
              <a:solidFill>
                <a:srgbClr val="7030A0"/>
              </a:solidFill>
              <a:cs typeface="B Nazanin" panose="00000400000000000000" pitchFamily="2" charset="-78"/>
            </a:endParaRPr>
          </a:p>
          <a:p>
            <a:r>
              <a:rPr lang="fa-IR" sz="3000" b="1" dirty="0">
                <a:cs typeface="B Nazanin" panose="00000400000000000000" pitchFamily="2" charset="-78"/>
              </a:rPr>
              <a:t>انرژی</a:t>
            </a:r>
            <a:r>
              <a:rPr lang="fa-IR" sz="3000" b="1">
                <a:cs typeface="B Nazanin" panose="00000400000000000000" pitchFamily="2" charset="-78"/>
              </a:rPr>
              <a:t>: </a:t>
            </a:r>
            <a:r>
              <a:rPr lang="fa-IR" sz="3000" b="1">
                <a:solidFill>
                  <a:srgbClr val="FF0000"/>
                </a:solidFill>
                <a:cs typeface="B Nazanin" panose="00000400000000000000" pitchFamily="2" charset="-78"/>
              </a:rPr>
              <a:t>6-1/6</a:t>
            </a:r>
            <a:r>
              <a:rPr lang="fa-IR" sz="3000" b="1">
                <a:solidFill>
                  <a:srgbClr val="7030A0"/>
                </a:solidFill>
                <a:cs typeface="B Nazanin" panose="00000400000000000000" pitchFamily="2" charset="-78"/>
              </a:rPr>
              <a:t> </a:t>
            </a:r>
            <a:r>
              <a:rPr lang="fa-IR" sz="3000" b="1" dirty="0">
                <a:cs typeface="B Nazanin" panose="00000400000000000000" pitchFamily="2" charset="-78"/>
              </a:rPr>
              <a:t>کیلوکالری به ازای هر گرم انرژی دارند.</a:t>
            </a:r>
          </a:p>
        </p:txBody>
      </p:sp>
    </p:spTree>
    <p:extLst>
      <p:ext uri="{BB962C8B-B14F-4D97-AF65-F5344CB8AC3E}">
        <p14:creationId xmlns:p14="http://schemas.microsoft.com/office/powerpoint/2010/main" val="16723699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Titr" panose="00000700000000000000" pitchFamily="2" charset="-78"/>
              </a:rPr>
              <a:t>شیرین کننده های مصنوعی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8352" y="1465017"/>
            <a:ext cx="10515600" cy="4351338"/>
          </a:xfrm>
        </p:spPr>
        <p:txBody>
          <a:bodyPr>
            <a:noAutofit/>
          </a:bodyPr>
          <a:lstStyle/>
          <a:p>
            <a:r>
              <a:rPr lang="fa-IR" sz="3000" b="1" dirty="0">
                <a:cs typeface="B Nazanin" panose="00000400000000000000" pitchFamily="2" charset="-78"/>
              </a:rPr>
              <a:t> شیرین کننده های مصنوعی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صدها تا هزاران بار </a:t>
            </a:r>
            <a:r>
              <a:rPr lang="fa-IR" sz="3000" b="1" dirty="0">
                <a:cs typeface="B Nazanin" panose="00000400000000000000" pitchFamily="2" charset="-78"/>
              </a:rPr>
              <a:t>از قند شیرین ترند.</a:t>
            </a:r>
          </a:p>
          <a:p>
            <a:endParaRPr lang="fa-IR" sz="3000" b="1" dirty="0">
              <a:cs typeface="B Nazanin" panose="00000400000000000000" pitchFamily="2" charset="-78"/>
            </a:endParaRPr>
          </a:p>
          <a:p>
            <a:r>
              <a:rPr lang="fa-IR" sz="3000" b="1" dirty="0">
                <a:cs typeface="B Nazanin" panose="00000400000000000000" pitchFamily="2" charset="-78"/>
              </a:rPr>
              <a:t>همه شیرین کننده های مصنوعی بجز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آسپارتام</a:t>
            </a:r>
            <a:r>
              <a:rPr lang="fa-IR" sz="3000" b="1" dirty="0">
                <a:cs typeface="B Nazanin" panose="00000400000000000000" pitchFamily="2" charset="-78"/>
              </a:rPr>
              <a:t> فاقد کالری هستند.</a:t>
            </a:r>
          </a:p>
          <a:p>
            <a:endParaRPr lang="fa-IR" sz="3000" b="1" dirty="0">
              <a:cs typeface="B Nazanin" panose="00000400000000000000" pitchFamily="2" charset="-78"/>
            </a:endParaRPr>
          </a:p>
          <a:p>
            <a:r>
              <a:rPr lang="fa-IR" sz="3000" b="1" dirty="0">
                <a:cs typeface="B Nazanin" panose="00000400000000000000" pitchFamily="2" charset="-78"/>
              </a:rPr>
              <a:t>برای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کاهش نیاز به شیرینی در وعده های غذایی </a:t>
            </a:r>
            <a:r>
              <a:rPr lang="fa-IR" sz="3000" b="1" dirty="0">
                <a:cs typeface="B Nazanin" panose="00000400000000000000" pitchFamily="2" charset="-78"/>
              </a:rPr>
              <a:t>و به منظور اینکه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سطح گلوکز خون را افزایش نمی دهند</a:t>
            </a:r>
            <a:r>
              <a:rPr lang="fa-IR" sz="3000" b="1" dirty="0">
                <a:cs typeface="B Nazanin" panose="00000400000000000000" pitchFamily="2" charset="-78"/>
              </a:rPr>
              <a:t>، در افراد دیابتی مورد استفاده قرار می گیرد.</a:t>
            </a:r>
          </a:p>
          <a:p>
            <a:endParaRPr lang="fa-IR" sz="3000" b="1" dirty="0">
              <a:cs typeface="B Nazanin" panose="00000400000000000000" pitchFamily="2" charset="-78"/>
            </a:endParaRPr>
          </a:p>
          <a:p>
            <a:r>
              <a:rPr lang="fa-IR" sz="3000" b="1" dirty="0">
                <a:cs typeface="B Nazanin" panose="00000400000000000000" pitchFamily="2" charset="-78"/>
              </a:rPr>
              <a:t>انواع: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ساخارین</a:t>
            </a:r>
            <a:r>
              <a:rPr lang="fa-IR" sz="3000" b="1" dirty="0">
                <a:cs typeface="B Nazanin" panose="00000400000000000000" pitchFamily="2" charset="-78"/>
              </a:rPr>
              <a:t>،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آسپارتام</a:t>
            </a:r>
            <a:r>
              <a:rPr lang="fa-IR" sz="3000" b="1" dirty="0">
                <a:cs typeface="B Nazanin" panose="00000400000000000000" pitchFamily="2" charset="-78"/>
              </a:rPr>
              <a:t>،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آسه سولفام </a:t>
            </a:r>
            <a:r>
              <a:rPr lang="en-GB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k</a:t>
            </a:r>
            <a:r>
              <a:rPr lang="fa-IR" sz="3000" b="1" dirty="0">
                <a:cs typeface="B Nazanin" panose="00000400000000000000" pitchFamily="2" charset="-78"/>
              </a:rPr>
              <a:t> ،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سوکرالوز</a:t>
            </a:r>
            <a:r>
              <a:rPr lang="fa-IR" sz="3000" b="1" dirty="0">
                <a:cs typeface="B Nazanin" panose="00000400000000000000" pitchFamily="2" charset="-78"/>
              </a:rPr>
              <a:t>،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نئوتام</a:t>
            </a:r>
            <a:r>
              <a:rPr lang="fa-IR" sz="3000" b="1" dirty="0">
                <a:cs typeface="B Nazanin" panose="00000400000000000000" pitchFamily="2" charset="-78"/>
              </a:rPr>
              <a:t>،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استویا</a:t>
            </a:r>
            <a:r>
              <a:rPr lang="fa-IR" sz="3000" b="1" dirty="0">
                <a:cs typeface="B Nazanin" panose="00000400000000000000" pitchFamily="2" charset="-78"/>
              </a:rPr>
              <a:t>،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آدوانتام</a:t>
            </a:r>
          </a:p>
        </p:txBody>
      </p:sp>
    </p:spTree>
    <p:extLst>
      <p:ext uri="{BB962C8B-B14F-4D97-AF65-F5344CB8AC3E}">
        <p14:creationId xmlns:p14="http://schemas.microsoft.com/office/powerpoint/2010/main" val="24159584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a-IR" dirty="0">
                <a:cs typeface="B Titr" panose="00000700000000000000" pitchFamily="2" charset="-78"/>
              </a:rPr>
              <a:t>شاخص گلیسمی و بار گلیسمی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fa-IR" sz="3000" b="1" dirty="0">
                <a:cs typeface="B Nazanin" panose="00000400000000000000" pitchFamily="2" charset="-78"/>
              </a:rPr>
              <a:t>شاخص گلیسمی: از طریق اندازه گیری نسبی ناحیه زیر منحنی گلوکز پس از مصرف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50</a:t>
            </a:r>
            <a:r>
              <a:rPr lang="fa-IR" sz="3000" b="1" dirty="0">
                <a:cs typeface="B Nazanin" panose="00000400000000000000" pitchFamily="2" charset="-78"/>
              </a:rPr>
              <a:t>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گرم کربوهیدرات  قابل هضم </a:t>
            </a:r>
            <a:r>
              <a:rPr lang="fa-IR" sz="3000" b="1" dirty="0">
                <a:cs typeface="B Nazanin" panose="00000400000000000000" pitchFamily="2" charset="-78"/>
              </a:rPr>
              <a:t>در مقایسه با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50 گرم ماده غذایی استاندارد (گلوکز یا نان سفید) </a:t>
            </a:r>
            <a:r>
              <a:rPr lang="fa-IR" sz="3000" b="1" dirty="0">
                <a:cs typeface="B Nazanin" panose="00000400000000000000" pitchFamily="2" charset="-78"/>
              </a:rPr>
              <a:t>محاسبه می شود.</a:t>
            </a:r>
          </a:p>
          <a:p>
            <a:pPr algn="just"/>
            <a:endParaRPr lang="fa-IR" sz="3000" b="1" dirty="0">
              <a:cs typeface="B Nazanin" panose="00000400000000000000" pitchFamily="2" charset="-78"/>
            </a:endParaRPr>
          </a:p>
          <a:p>
            <a:pPr algn="just"/>
            <a:r>
              <a:rPr lang="fa-IR" sz="3000" b="1" dirty="0">
                <a:cs typeface="B Nazanin" panose="00000400000000000000" pitchFamily="2" charset="-78"/>
              </a:rPr>
              <a:t>بار گلیسمی: بار گلیسمی ترکیبی از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نمایه گلیسمی </a:t>
            </a:r>
            <a:r>
              <a:rPr lang="fa-IR" sz="3000" b="1" dirty="0">
                <a:cs typeface="B Nazanin" panose="00000400000000000000" pitchFamily="2" charset="-78"/>
              </a:rPr>
              <a:t>و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مقدار کربوهیدرات </a:t>
            </a:r>
            <a:r>
              <a:rPr lang="fa-IR" sz="3000" b="1" dirty="0">
                <a:cs typeface="B Nazanin" panose="00000400000000000000" pitchFamily="2" charset="-78"/>
              </a:rPr>
              <a:t>برای بیان پتانسیل گلیسمی یک وعده غذایی مخلوط است.</a:t>
            </a:r>
          </a:p>
        </p:txBody>
      </p:sp>
    </p:spTree>
    <p:extLst>
      <p:ext uri="{BB962C8B-B14F-4D97-AF65-F5344CB8AC3E}">
        <p14:creationId xmlns:p14="http://schemas.microsoft.com/office/powerpoint/2010/main" val="25378146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Titr" panose="00000700000000000000" pitchFamily="2" charset="-78"/>
              </a:rPr>
              <a:t>شاخص گلیسمی و بار گلیسمی برخی از غذاها</a:t>
            </a:r>
            <a:endParaRPr lang="fa-IR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0187091"/>
              </p:ext>
            </p:extLst>
          </p:nvPr>
        </p:nvGraphicFramePr>
        <p:xfrm>
          <a:off x="734096" y="1426380"/>
          <a:ext cx="10619704" cy="5151120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530985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0985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2000" kern="1200" dirty="0">
                          <a:cs typeface="B Nazanin" panose="00000400000000000000" pitchFamily="2" charset="-78"/>
                        </a:rPr>
                        <a:t>ماده غذایی</a:t>
                      </a:r>
                      <a:endParaRPr lang="fa-IR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2000" kern="1200" dirty="0">
                          <a:cs typeface="B Nazanin" panose="00000400000000000000" pitchFamily="2" charset="-78"/>
                        </a:rPr>
                        <a:t>شاخص گلیسمی (گلوکز=100)</a:t>
                      </a:r>
                      <a:endParaRPr lang="fa-IR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سیب زمینی پخته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برنج سفید بلند دانه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ماکارونی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عسل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سیب زمینی شیرین (آبپز)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کوکا-کولا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موز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نان سفید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لوبیا چشم بلبلی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ماست کم چرب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هندوانه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fa-IR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پرتقال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fa-IR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88698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A2475-2463-400B-9118-00CBCEA11836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Picture 2" descr="C:\Users\AREYANA\Desktop\4496702536025145705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1" y="0"/>
            <a:ext cx="12078929" cy="70939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810000" y="4441833"/>
            <a:ext cx="7543800" cy="209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</a:pPr>
            <a:endParaRPr lang="en-US" altLang="en-US" sz="4000" b="1" dirty="0">
              <a:solidFill>
                <a:srgbClr val="FFFF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  <a:p>
            <a:pPr algn="ctr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</a:pPr>
            <a:r>
              <a:rPr lang="fa-IR" altLang="en-US" sz="5400" b="1" dirty="0">
                <a:solidFill>
                  <a:srgbClr val="FFFF00"/>
                </a:solidFill>
                <a:latin typeface="Calibri" panose="020F0502020204030204" pitchFamily="34" charset="0"/>
                <a:cs typeface="B Mitra" panose="00000400000000000000" pitchFamily="2" charset="-78"/>
              </a:rPr>
              <a:t>از توجه شما متشکرم</a:t>
            </a:r>
            <a:endParaRPr lang="en-US" altLang="en-US" sz="5400" b="1" dirty="0">
              <a:solidFill>
                <a:srgbClr val="FFFF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  <a:p>
            <a:pPr algn="ctr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</a:pPr>
            <a:endParaRPr lang="en-US" altLang="en-US" sz="4000" b="1" dirty="0">
              <a:solidFill>
                <a:srgbClr val="FFFF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  <a:p>
            <a:pPr algn="ctr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</a:pPr>
            <a:endParaRPr lang="en-US" altLang="en-US" sz="4000" b="1" dirty="0">
              <a:solidFill>
                <a:srgbClr val="FFFF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  <a:p>
            <a:pPr algn="ctr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</a:pPr>
            <a:endParaRPr lang="en-US" altLang="en-US" sz="4000" b="1" dirty="0">
              <a:solidFill>
                <a:srgbClr val="FFFF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430282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13b112b0b83352baa59990928961e08382db4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1888</TotalTime>
  <Words>1552</Words>
  <Application>Microsoft Office PowerPoint</Application>
  <PresentationFormat>Widescreen</PresentationFormat>
  <Paragraphs>302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B Mitra</vt:lpstr>
      <vt:lpstr>B Nazanin</vt:lpstr>
      <vt:lpstr>B Titr</vt:lpstr>
      <vt:lpstr>Calibri</vt:lpstr>
      <vt:lpstr>Calibri Light</vt:lpstr>
      <vt:lpstr>Times New Roman</vt:lpstr>
      <vt:lpstr>Wingdings</vt:lpstr>
      <vt:lpstr>Office Theme</vt:lpstr>
      <vt:lpstr>کربوهیدرات</vt:lpstr>
      <vt:lpstr>کربوهیدراتها</vt:lpstr>
      <vt:lpstr>کربوهیدراتها</vt:lpstr>
      <vt:lpstr>طبقه بندی کربوهیدراتها</vt:lpstr>
      <vt:lpstr>گلوکز</vt:lpstr>
      <vt:lpstr>فروکتوز</vt:lpstr>
      <vt:lpstr>گالاکتوز</vt:lpstr>
      <vt:lpstr>دی ساکاریدها</vt:lpstr>
      <vt:lpstr>PowerPoint Presentation</vt:lpstr>
      <vt:lpstr>سوکروز</vt:lpstr>
      <vt:lpstr>مالتوز</vt:lpstr>
      <vt:lpstr>لاکتوز</vt:lpstr>
      <vt:lpstr>پلی ساکاریدها</vt:lpstr>
      <vt:lpstr>فیبر</vt:lpstr>
      <vt:lpstr>فیبر غیر محلول</vt:lpstr>
      <vt:lpstr>فیبر محلول</vt:lpstr>
      <vt:lpstr>فیبر محلول</vt:lpstr>
      <vt:lpstr>فیبر رژیمی</vt:lpstr>
      <vt:lpstr>فیبر عملکردی</vt:lpstr>
      <vt:lpstr>جذب کربوهیدرات ها</vt:lpstr>
      <vt:lpstr>متابولیسم کربوهیدرات ها</vt:lpstr>
      <vt:lpstr>نقش کربوهیدرات در بدن</vt:lpstr>
      <vt:lpstr>نقش کربوهیدرات در بدن</vt:lpstr>
      <vt:lpstr>ساخت ترکیبات دیگر</vt:lpstr>
      <vt:lpstr>ساخت ترکیبات دیگر</vt:lpstr>
      <vt:lpstr>منابع و مقادیر توصیه شده کربوهیدرات</vt:lpstr>
      <vt:lpstr>ساخت ترکیبات دیگر</vt:lpstr>
      <vt:lpstr>قندهای جایگزین</vt:lpstr>
      <vt:lpstr>قندهای الکلی</vt:lpstr>
      <vt:lpstr>شیرین کننده های مصنوعی</vt:lpstr>
      <vt:lpstr>شاخص گلیسمی و بار گلیسمی</vt:lpstr>
      <vt:lpstr>شاخص گلیسمی و بار گلیسمی برخی از غذاها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اصول کلی تغذیه</dc:title>
  <dc:creator>mona</dc:creator>
  <cp:lastModifiedBy>JAHAN-SYSTEM</cp:lastModifiedBy>
  <cp:revision>269</cp:revision>
  <dcterms:created xsi:type="dcterms:W3CDTF">2022-10-27T05:31:22Z</dcterms:created>
  <dcterms:modified xsi:type="dcterms:W3CDTF">2026-10-22T07:22:49Z</dcterms:modified>
</cp:coreProperties>
</file>