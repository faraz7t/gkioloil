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omments/comment1.xml" ContentType="application/vnd.openxmlformats-officedocument.presentationml.comments+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 id="2147483702" r:id="rId2"/>
  </p:sldMasterIdLst>
  <p:notesMasterIdLst>
    <p:notesMasterId r:id="rId62"/>
  </p:notesMasterIdLst>
  <p:sldIdLst>
    <p:sldId id="256" r:id="rId3"/>
    <p:sldId id="257" r:id="rId4"/>
    <p:sldId id="261" r:id="rId5"/>
    <p:sldId id="262" r:id="rId6"/>
    <p:sldId id="263" r:id="rId7"/>
    <p:sldId id="264" r:id="rId8"/>
    <p:sldId id="266" r:id="rId9"/>
    <p:sldId id="267" r:id="rId10"/>
    <p:sldId id="268" r:id="rId11"/>
    <p:sldId id="269" r:id="rId12"/>
    <p:sldId id="334" r:id="rId13"/>
    <p:sldId id="270" r:id="rId14"/>
    <p:sldId id="272" r:id="rId15"/>
    <p:sldId id="273" r:id="rId16"/>
    <p:sldId id="297" r:id="rId17"/>
    <p:sldId id="298" r:id="rId18"/>
    <p:sldId id="299" r:id="rId19"/>
    <p:sldId id="300" r:id="rId20"/>
    <p:sldId id="274" r:id="rId21"/>
    <p:sldId id="275" r:id="rId22"/>
    <p:sldId id="276" r:id="rId23"/>
    <p:sldId id="277" r:id="rId24"/>
    <p:sldId id="278" r:id="rId25"/>
    <p:sldId id="279" r:id="rId26"/>
    <p:sldId id="339" r:id="rId27"/>
    <p:sldId id="335" r:id="rId28"/>
    <p:sldId id="336" r:id="rId29"/>
    <p:sldId id="337" r:id="rId30"/>
    <p:sldId id="338" r:id="rId31"/>
    <p:sldId id="292" r:id="rId32"/>
    <p:sldId id="293" r:id="rId33"/>
    <p:sldId id="294" r:id="rId34"/>
    <p:sldId id="280" r:id="rId35"/>
    <p:sldId id="281" r:id="rId36"/>
    <p:sldId id="301" r:id="rId37"/>
    <p:sldId id="287" r:id="rId38"/>
    <p:sldId id="340" r:id="rId39"/>
    <p:sldId id="288" r:id="rId40"/>
    <p:sldId id="289" r:id="rId41"/>
    <p:sldId id="290" r:id="rId42"/>
    <p:sldId id="291" r:id="rId43"/>
    <p:sldId id="309" r:id="rId44"/>
    <p:sldId id="310" r:id="rId45"/>
    <p:sldId id="311" r:id="rId46"/>
    <p:sldId id="312" r:id="rId47"/>
    <p:sldId id="313" r:id="rId48"/>
    <p:sldId id="314" r:id="rId49"/>
    <p:sldId id="316" r:id="rId50"/>
    <p:sldId id="318" r:id="rId51"/>
    <p:sldId id="320" r:id="rId52"/>
    <p:sldId id="321" r:id="rId53"/>
    <p:sldId id="315" r:id="rId54"/>
    <p:sldId id="333" r:id="rId55"/>
    <p:sldId id="302" r:id="rId56"/>
    <p:sldId id="303" r:id="rId57"/>
    <p:sldId id="304" r:id="rId58"/>
    <p:sldId id="305" r:id="rId59"/>
    <p:sldId id="306" r:id="rId60"/>
    <p:sldId id="307" r:id="rId6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aharak Aghapour" initials="BA" lastIdx="1" clrIdx="0">
    <p:extLst>
      <p:ext uri="{19B8F6BF-5375-455C-9EA6-DF929625EA0E}">
        <p15:presenceInfo xmlns:p15="http://schemas.microsoft.com/office/powerpoint/2012/main" userId="66a3e64294b24547"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681" autoAdjust="0"/>
    <p:restoredTop sz="95332" autoAdjust="0"/>
  </p:normalViewPr>
  <p:slideViewPr>
    <p:cSldViewPr snapToGrid="0">
      <p:cViewPr varScale="1">
        <p:scale>
          <a:sx n="85" d="100"/>
          <a:sy n="85" d="100"/>
        </p:scale>
        <p:origin x="605"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commentAuthors" Target="commentAuthor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theme" Target="theme/theme1.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tableStyles" Target="tableStyle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6-10-11T18:10:56.136" idx="1">
    <p:pos x="10" y="10"/>
    <p:text>مقدار مجاز توصیه‌شده روزانه:RDA</p:text>
    <p:extLst>
      <p:ext uri="{C676402C-5697-4E1C-873F-D02D1690AC5C}">
        <p15:threadingInfo xmlns:p15="http://schemas.microsoft.com/office/powerpoint/2012/main" timeZoneBias="-21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9666B01-21EC-46B8-9786-DE5D02B461FD}" type="datetimeFigureOut">
              <a:rPr lang="en-US" smtClean="0"/>
              <a:t>10/12/2026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D9C6F58-AF32-4864-9144-12DA8C724410}" type="slidenum">
              <a:rPr lang="en-US" smtClean="0"/>
              <a:t>‹#›</a:t>
            </a:fld>
            <a:endParaRPr lang="en-US"/>
          </a:p>
        </p:txBody>
      </p:sp>
    </p:spTree>
    <p:extLst>
      <p:ext uri="{BB962C8B-B14F-4D97-AF65-F5344CB8AC3E}">
        <p14:creationId xmlns:p14="http://schemas.microsoft.com/office/powerpoint/2010/main" val="5581551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algn="r" rtl="1"/>
            <a:r>
              <a:rPr lang="fa-IR" dirty="0"/>
              <a:t>توسط</a:t>
            </a:r>
            <a:r>
              <a:rPr lang="fa-IR" baseline="0" dirty="0"/>
              <a:t> این افراد اجرا می شود.</a:t>
            </a:r>
            <a:endParaRPr lang="en-US" dirty="0"/>
          </a:p>
        </p:txBody>
      </p:sp>
      <p:sp>
        <p:nvSpPr>
          <p:cNvPr id="4" name="Slide Number Placeholder 3"/>
          <p:cNvSpPr>
            <a:spLocks noGrp="1"/>
          </p:cNvSpPr>
          <p:nvPr>
            <p:ph type="sldNum" sz="quarter" idx="10"/>
          </p:nvPr>
        </p:nvSpPr>
        <p:spPr/>
        <p:txBody>
          <a:bodyPr/>
          <a:lstStyle/>
          <a:p>
            <a:fld id="{ED9C6F58-AF32-4864-9144-12DA8C724410}" type="slidenum">
              <a:rPr lang="en-US" smtClean="0"/>
              <a:t>33</a:t>
            </a:fld>
            <a:endParaRPr lang="en-US"/>
          </a:p>
        </p:txBody>
      </p:sp>
    </p:spTree>
    <p:extLst>
      <p:ext uri="{BB962C8B-B14F-4D97-AF65-F5344CB8AC3E}">
        <p14:creationId xmlns:p14="http://schemas.microsoft.com/office/powerpoint/2010/main" val="20890985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accent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1109980" y="882376"/>
            <a:ext cx="9966960" cy="2926080"/>
          </a:xfrm>
        </p:spPr>
        <p:txBody>
          <a:bodyPr anchor="b">
            <a:normAutofit/>
          </a:bodyPr>
          <a:lstStyle>
            <a:lvl1pPr algn="ctr">
              <a:lnSpc>
                <a:spcPct val="85000"/>
              </a:lnSpc>
              <a:defRPr sz="7200" b="1" cap="all"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1709530" y="3869634"/>
            <a:ext cx="8767860" cy="1388165"/>
          </a:xfrm>
        </p:spPr>
        <p:txBody>
          <a:bodyPr>
            <a:normAutofit/>
          </a:bodyPr>
          <a:lstStyle>
            <a:lvl1pPr marL="0" indent="0" algn="ctr">
              <a:buNone/>
              <a:defRPr sz="2200">
                <a:solidFill>
                  <a:srgbClr val="FFFFFF"/>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rgbClr val="FFFFFF"/>
                </a:solidFill>
              </a:defRPr>
            </a:lvl1pPr>
          </a:lstStyle>
          <a:p>
            <a:fld id="{65AB751E-B0CF-4ED1-986F-05774460CB25}" type="datetime1">
              <a:rPr lang="en-US" smtClean="0"/>
              <a:t>10/12/2026</a:t>
            </a:fld>
            <a:endParaRPr lang="en-US"/>
          </a:p>
        </p:txBody>
      </p:sp>
      <p:sp>
        <p:nvSpPr>
          <p:cNvPr id="5" name="Footer Placeholder 4"/>
          <p:cNvSpPr>
            <a:spLocks noGrp="1"/>
          </p:cNvSpPr>
          <p:nvPr>
            <p:ph type="ftr" sz="quarter" idx="11"/>
          </p:nvPr>
        </p:nvSpPr>
        <p:spPr/>
        <p:txBody>
          <a:bodyPr/>
          <a:lstStyle>
            <a:lvl1pPr>
              <a:defRPr>
                <a:solidFill>
                  <a:srgbClr val="FFFFFF"/>
                </a:solidFill>
              </a:defRPr>
            </a:lvl1pPr>
          </a:lstStyle>
          <a:p>
            <a:endParaRPr lang="en-US"/>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2D8CB573-7144-4842-A8FD-250830F20887}" type="slidenum">
              <a:rPr lang="en-US" smtClean="0"/>
              <a:t>‹#›</a:t>
            </a:fld>
            <a:endParaRPr lang="en-US"/>
          </a:p>
        </p:txBody>
      </p:sp>
      <p:cxnSp>
        <p:nvCxnSpPr>
          <p:cNvPr id="8" name="Straight Connector 7"/>
          <p:cNvCxnSpPr/>
          <p:nvPr/>
        </p:nvCxnSpPr>
        <p:spPr>
          <a:xfrm>
            <a:off x="1978660" y="3733800"/>
            <a:ext cx="8229601" cy="0"/>
          </a:xfrm>
          <a:prstGeom prst="line">
            <a:avLst/>
          </a:prstGeom>
          <a:ln>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241727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36F6907-438F-4FDE-B330-FA5BC8FC2890}" type="datetime1">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D8CB573-7144-4842-A8FD-250830F20887}" type="slidenum">
              <a:rPr lang="en-US" smtClean="0"/>
              <a:t>‹#›</a:t>
            </a:fld>
            <a:endParaRPr lang="en-US"/>
          </a:p>
        </p:txBody>
      </p:sp>
    </p:spTree>
    <p:extLst>
      <p:ext uri="{BB962C8B-B14F-4D97-AF65-F5344CB8AC3E}">
        <p14:creationId xmlns:p14="http://schemas.microsoft.com/office/powerpoint/2010/main" val="16201420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06424" y="1173575"/>
            <a:ext cx="9966960" cy="2926080"/>
          </a:xfrm>
        </p:spPr>
        <p:txBody>
          <a:bodyPr anchor="b">
            <a:noAutofit/>
          </a:bodyPr>
          <a:lstStyle>
            <a:lvl1pPr algn="ctr">
              <a:lnSpc>
                <a:spcPct val="85000"/>
              </a:lnSpc>
              <a:defRPr sz="7200" b="0" cap="all" baseline="0"/>
            </a:lvl1pPr>
          </a:lstStyle>
          <a:p>
            <a:r>
              <a:rPr lang="en-US"/>
              <a:t>Click to edit Master title style</a:t>
            </a:r>
            <a:endParaRPr lang="en-US" dirty="0"/>
          </a:p>
        </p:txBody>
      </p:sp>
      <p:sp>
        <p:nvSpPr>
          <p:cNvPr id="3" name="Text Placeholder 2"/>
          <p:cNvSpPr>
            <a:spLocks noGrp="1"/>
          </p:cNvSpPr>
          <p:nvPr>
            <p:ph type="body" idx="1"/>
          </p:nvPr>
        </p:nvSpPr>
        <p:spPr>
          <a:xfrm>
            <a:off x="1709928" y="4154520"/>
            <a:ext cx="8769096" cy="1363806"/>
          </a:xfrm>
        </p:spPr>
        <p:txBody>
          <a:bodyPr anchor="t">
            <a:normAutofit/>
          </a:bodyPr>
          <a:lstStyle>
            <a:lvl1pPr marL="0" indent="0" algn="ctr">
              <a:buNone/>
              <a:defRPr sz="2200">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8C13E29F-62E8-49E5-B883-809D781BB5A0}" type="datetime1">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D8CB573-7144-4842-A8FD-250830F20887}" type="slidenum">
              <a:rPr lang="en-US" smtClean="0"/>
              <a:t>‹#›</a:t>
            </a:fld>
            <a:endParaRPr lang="en-US"/>
          </a:p>
        </p:txBody>
      </p:sp>
      <p:cxnSp>
        <p:nvCxnSpPr>
          <p:cNvPr id="7" name="Straight Connector 6"/>
          <p:cNvCxnSpPr/>
          <p:nvPr/>
        </p:nvCxnSpPr>
        <p:spPr>
          <a:xfrm>
            <a:off x="1981200" y="4020408"/>
            <a:ext cx="8229601"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256532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3000" y="2057399"/>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67612" y="2057400"/>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2D9F6AF-EEA3-400F-AE80-D9C07CBD9B4B}" type="datetime1">
              <a:rPr lang="en-US" smtClean="0"/>
              <a:t>10/12/2026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D8CB573-7144-4842-A8FD-250830F20887}" type="slidenum">
              <a:rPr lang="en-US" smtClean="0"/>
              <a:t>‹#›</a:t>
            </a:fld>
            <a:endParaRPr lang="en-US"/>
          </a:p>
        </p:txBody>
      </p:sp>
    </p:spTree>
    <p:extLst>
      <p:ext uri="{BB962C8B-B14F-4D97-AF65-F5344CB8AC3E}">
        <p14:creationId xmlns:p14="http://schemas.microsoft.com/office/powerpoint/2010/main" val="13716226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143000" y="2001511"/>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143000" y="2721483"/>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69173" y="1999032"/>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269173" y="2719322"/>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E62E56E-606D-4D82-9ACF-DAE3A9F9B141}" type="datetime1">
              <a:rPr lang="en-US" smtClean="0"/>
              <a:t>10/12/2026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D8CB573-7144-4842-A8FD-250830F20887}" type="slidenum">
              <a:rPr lang="en-US" smtClean="0"/>
              <a:t>‹#›</a:t>
            </a:fld>
            <a:endParaRPr lang="en-US"/>
          </a:p>
        </p:txBody>
      </p:sp>
    </p:spTree>
    <p:extLst>
      <p:ext uri="{BB962C8B-B14F-4D97-AF65-F5344CB8AC3E}">
        <p14:creationId xmlns:p14="http://schemas.microsoft.com/office/powerpoint/2010/main" val="5471737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9FD9F68-1A72-4413-80EB-A1D347DFC9CF}" type="datetime1">
              <a:rPr lang="en-US" smtClean="0"/>
              <a:t>10/12/2026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D8CB573-7144-4842-A8FD-250830F20887}" type="slidenum">
              <a:rPr lang="en-US" smtClean="0"/>
              <a:t>‹#›</a:t>
            </a:fld>
            <a:endParaRPr lang="en-US"/>
          </a:p>
        </p:txBody>
      </p:sp>
    </p:spTree>
    <p:extLst>
      <p:ext uri="{BB962C8B-B14F-4D97-AF65-F5344CB8AC3E}">
        <p14:creationId xmlns:p14="http://schemas.microsoft.com/office/powerpoint/2010/main" val="6081694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6A61476-5CF1-4976-A0B8-CB74FFC8E2B5}" type="datetime1">
              <a:rPr lang="en-US" smtClean="0"/>
              <a:t>10/12/2026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D8CB573-7144-4842-A8FD-250830F20887}" type="slidenum">
              <a:rPr lang="en-US" smtClean="0"/>
              <a:t>‹#›</a:t>
            </a:fld>
            <a:endParaRPr lang="en-US"/>
          </a:p>
        </p:txBody>
      </p:sp>
    </p:spTree>
    <p:extLst>
      <p:ext uri="{BB962C8B-B14F-4D97-AF65-F5344CB8AC3E}">
        <p14:creationId xmlns:p14="http://schemas.microsoft.com/office/powerpoint/2010/main" val="3129209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a:t>Click to edit Master title style</a:t>
            </a:r>
            <a:endParaRPr lang="en-US" dirty="0"/>
          </a:p>
        </p:txBody>
      </p:sp>
      <p:sp>
        <p:nvSpPr>
          <p:cNvPr id="3" name="Content Placeholder 2"/>
          <p:cNvSpPr>
            <a:spLocks noGrp="1"/>
          </p:cNvSpPr>
          <p:nvPr>
            <p:ph idx="1"/>
          </p:nvPr>
        </p:nvSpPr>
        <p:spPr>
          <a:xfrm>
            <a:off x="5852159" y="1097280"/>
            <a:ext cx="5212080" cy="46634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3000" y="2834640"/>
            <a:ext cx="3931920" cy="301752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1B662450-50F9-4521-A659-901C1B90EE19}" type="datetime1">
              <a:rPr lang="en-US" smtClean="0"/>
              <a:t>10/12/2026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D8CB573-7144-4842-A8FD-250830F20887}" type="slidenum">
              <a:rPr lang="en-US" smtClean="0"/>
              <a:t>‹#›</a:t>
            </a:fld>
            <a:endParaRPr lang="en-US"/>
          </a:p>
        </p:txBody>
      </p:sp>
    </p:spTree>
    <p:extLst>
      <p:ext uri="{BB962C8B-B14F-4D97-AF65-F5344CB8AC3E}">
        <p14:creationId xmlns:p14="http://schemas.microsoft.com/office/powerpoint/2010/main" val="2994839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413248" y="1069847"/>
            <a:ext cx="6099048" cy="4800600"/>
          </a:xfrm>
        </p:spPr>
        <p:txBody>
          <a:bodyPr lIns="274320" tIns="182880" anchor="t">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3000" y="2834640"/>
            <a:ext cx="3931920" cy="288036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F718F46A-6997-4AE3-A9AC-AD8C3552A85D}" type="datetime1">
              <a:rPr lang="en-US" smtClean="0"/>
              <a:t>10/12/2026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D8CB573-7144-4842-A8FD-250830F20887}" type="slidenum">
              <a:rPr lang="en-US" smtClean="0"/>
              <a:t>‹#›</a:t>
            </a:fld>
            <a:endParaRPr lang="en-US"/>
          </a:p>
        </p:txBody>
      </p:sp>
    </p:spTree>
    <p:extLst>
      <p:ext uri="{BB962C8B-B14F-4D97-AF65-F5344CB8AC3E}">
        <p14:creationId xmlns:p14="http://schemas.microsoft.com/office/powerpoint/2010/main" val="16391190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A9B6085-A551-4712-A040-642B247B8419}" type="datetime1">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D8CB573-7144-4842-A8FD-250830F20887}" type="slidenum">
              <a:rPr lang="en-US" smtClean="0"/>
              <a:t>‹#›</a:t>
            </a:fld>
            <a:endParaRPr lang="en-US"/>
          </a:p>
        </p:txBody>
      </p:sp>
    </p:spTree>
    <p:extLst>
      <p:ext uri="{BB962C8B-B14F-4D97-AF65-F5344CB8AC3E}">
        <p14:creationId xmlns:p14="http://schemas.microsoft.com/office/powerpoint/2010/main" val="34489481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762000"/>
            <a:ext cx="2324100" cy="54102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3000" y="762000"/>
            <a:ext cx="7429500" cy="541020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5EC2E53-202D-4817-8ED5-3D6EE50C85F1}" type="datetime1">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D8CB573-7144-4842-A8FD-250830F20887}" type="slidenum">
              <a:rPr lang="en-US" smtClean="0"/>
              <a:t>‹#›</a:t>
            </a:fld>
            <a:endParaRPr lang="en-US"/>
          </a:p>
        </p:txBody>
      </p:sp>
    </p:spTree>
    <p:extLst>
      <p:ext uri="{BB962C8B-B14F-4D97-AF65-F5344CB8AC3E}">
        <p14:creationId xmlns:p14="http://schemas.microsoft.com/office/powerpoint/2010/main" val="14620839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1109980" y="882376"/>
            <a:ext cx="9966960" cy="2926080"/>
          </a:xfrm>
        </p:spPr>
        <p:txBody>
          <a:bodyPr anchor="b">
            <a:normAutofit/>
          </a:bodyPr>
          <a:lstStyle>
            <a:lvl1pPr algn="ctr">
              <a:lnSpc>
                <a:spcPct val="85000"/>
              </a:lnSpc>
              <a:defRPr sz="7200" b="1" cap="all"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1709530" y="3869634"/>
            <a:ext cx="8767860" cy="1388165"/>
          </a:xfrm>
        </p:spPr>
        <p:txBody>
          <a:bodyPr>
            <a:normAutofit/>
          </a:bodyPr>
          <a:lstStyle>
            <a:lvl1pPr marL="0" indent="0" algn="ctr">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tx1"/>
                </a:solidFill>
              </a:defRPr>
            </a:lvl1pPr>
          </a:lstStyle>
          <a:p>
            <a:fld id="{65AB751E-B0CF-4ED1-986F-05774460CB25}" type="datetime1">
              <a:rPr lang="en-US" smtClean="0"/>
              <a:t>10/12/2026</a:t>
            </a:fld>
            <a:endParaRPr lang="en-US"/>
          </a:p>
        </p:txBody>
      </p:sp>
      <p:sp>
        <p:nvSpPr>
          <p:cNvPr id="5" name="Footer Placeholder 4"/>
          <p:cNvSpPr>
            <a:spLocks noGrp="1"/>
          </p:cNvSpPr>
          <p:nvPr>
            <p:ph type="ftr" sz="quarter" idx="11"/>
          </p:nvPr>
        </p:nvSpPr>
        <p:spPr/>
        <p:txBody>
          <a:bodyPr/>
          <a:lstStyle>
            <a:lvl1pPr>
              <a:defRPr>
                <a:solidFill>
                  <a:schemeClr val="tx1"/>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tx1"/>
                </a:solidFill>
              </a:defRPr>
            </a:lvl1pPr>
          </a:lstStyle>
          <a:p>
            <a:fld id="{2D8CB573-7144-4842-A8FD-250830F20887}" type="slidenum">
              <a:rPr lang="en-US" smtClean="0"/>
              <a:t>‹#›</a:t>
            </a:fld>
            <a:endParaRPr lang="en-US"/>
          </a:p>
        </p:txBody>
      </p:sp>
      <p:cxnSp>
        <p:nvCxnSpPr>
          <p:cNvPr id="8" name="Straight Connector 7"/>
          <p:cNvCxnSpPr/>
          <p:nvPr/>
        </p:nvCxnSpPr>
        <p:spPr>
          <a:xfrm>
            <a:off x="1978660" y="3733800"/>
            <a:ext cx="822960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4439163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36F6907-438F-4FDE-B330-FA5BC8FC2890}" type="datetime1">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D8CB573-7144-4842-A8FD-250830F20887}" type="slidenum">
              <a:rPr lang="en-US" smtClean="0"/>
              <a:t>‹#›</a:t>
            </a:fld>
            <a:endParaRPr lang="en-US"/>
          </a:p>
        </p:txBody>
      </p:sp>
    </p:spTree>
    <p:extLst>
      <p:ext uri="{BB962C8B-B14F-4D97-AF65-F5344CB8AC3E}">
        <p14:creationId xmlns:p14="http://schemas.microsoft.com/office/powerpoint/2010/main" val="358363589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06424" y="1173575"/>
            <a:ext cx="9966960" cy="2926080"/>
          </a:xfrm>
        </p:spPr>
        <p:txBody>
          <a:bodyPr anchor="b">
            <a:noAutofit/>
          </a:bodyPr>
          <a:lstStyle>
            <a:lvl1pPr algn="ctr">
              <a:lnSpc>
                <a:spcPct val="85000"/>
              </a:lnSpc>
              <a:defRPr sz="7200" b="0" cap="all" baseline="0"/>
            </a:lvl1pPr>
          </a:lstStyle>
          <a:p>
            <a:r>
              <a:rPr lang="en-US"/>
              <a:t>Click to edit Master title style</a:t>
            </a:r>
            <a:endParaRPr lang="en-US" dirty="0"/>
          </a:p>
        </p:txBody>
      </p:sp>
      <p:sp>
        <p:nvSpPr>
          <p:cNvPr id="3" name="Text Placeholder 2"/>
          <p:cNvSpPr>
            <a:spLocks noGrp="1"/>
          </p:cNvSpPr>
          <p:nvPr>
            <p:ph type="body" idx="1"/>
          </p:nvPr>
        </p:nvSpPr>
        <p:spPr>
          <a:xfrm>
            <a:off x="1709928" y="4154520"/>
            <a:ext cx="8769096" cy="1363806"/>
          </a:xfrm>
        </p:spPr>
        <p:txBody>
          <a:bodyPr anchor="t">
            <a:normAutofit/>
          </a:bodyPr>
          <a:lstStyle>
            <a:lvl1pPr marL="0" indent="0" algn="ctr">
              <a:buNone/>
              <a:defRPr sz="22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8C13E29F-62E8-49E5-B883-809D781BB5A0}" type="datetime1">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D8CB573-7144-4842-A8FD-250830F20887}" type="slidenum">
              <a:rPr lang="en-US" smtClean="0"/>
              <a:t>‹#›</a:t>
            </a:fld>
            <a:endParaRPr lang="en-US"/>
          </a:p>
        </p:txBody>
      </p:sp>
      <p:cxnSp>
        <p:nvCxnSpPr>
          <p:cNvPr id="7" name="Straight Connector 6"/>
          <p:cNvCxnSpPr/>
          <p:nvPr/>
        </p:nvCxnSpPr>
        <p:spPr>
          <a:xfrm>
            <a:off x="1981200" y="4020408"/>
            <a:ext cx="822960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6390969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3000" y="2057399"/>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67612" y="2057400"/>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2D9F6AF-EEA3-400F-AE80-D9C07CBD9B4B}" type="datetime1">
              <a:rPr lang="en-US" smtClean="0"/>
              <a:t>10/12/2026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D8CB573-7144-4842-A8FD-250830F20887}" type="slidenum">
              <a:rPr lang="en-US" smtClean="0"/>
              <a:t>‹#›</a:t>
            </a:fld>
            <a:endParaRPr lang="en-US"/>
          </a:p>
        </p:txBody>
      </p:sp>
    </p:spTree>
    <p:extLst>
      <p:ext uri="{BB962C8B-B14F-4D97-AF65-F5344CB8AC3E}">
        <p14:creationId xmlns:p14="http://schemas.microsoft.com/office/powerpoint/2010/main" val="217605743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143000" y="2001511"/>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143000" y="2721483"/>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69173" y="1999032"/>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269173" y="2719322"/>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E62E56E-606D-4D82-9ACF-DAE3A9F9B141}" type="datetime1">
              <a:rPr lang="en-US" smtClean="0"/>
              <a:t>10/12/2026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D8CB573-7144-4842-A8FD-250830F20887}" type="slidenum">
              <a:rPr lang="en-US" smtClean="0"/>
              <a:t>‹#›</a:t>
            </a:fld>
            <a:endParaRPr lang="en-US"/>
          </a:p>
        </p:txBody>
      </p:sp>
    </p:spTree>
    <p:extLst>
      <p:ext uri="{BB962C8B-B14F-4D97-AF65-F5344CB8AC3E}">
        <p14:creationId xmlns:p14="http://schemas.microsoft.com/office/powerpoint/2010/main" val="350891770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9FD9F68-1A72-4413-80EB-A1D347DFC9CF}" type="datetime1">
              <a:rPr lang="en-US" smtClean="0"/>
              <a:t>10/12/2026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D8CB573-7144-4842-A8FD-250830F20887}" type="slidenum">
              <a:rPr lang="en-US" smtClean="0"/>
              <a:t>‹#›</a:t>
            </a:fld>
            <a:endParaRPr lang="en-US"/>
          </a:p>
        </p:txBody>
      </p:sp>
    </p:spTree>
    <p:extLst>
      <p:ext uri="{BB962C8B-B14F-4D97-AF65-F5344CB8AC3E}">
        <p14:creationId xmlns:p14="http://schemas.microsoft.com/office/powerpoint/2010/main" val="176308269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6A61476-5CF1-4976-A0B8-CB74FFC8E2B5}" type="datetime1">
              <a:rPr lang="en-US" smtClean="0"/>
              <a:t>10/12/2026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D8CB573-7144-4842-A8FD-250830F20887}" type="slidenum">
              <a:rPr lang="en-US" smtClean="0"/>
              <a:t>‹#›</a:t>
            </a:fld>
            <a:endParaRPr lang="en-US"/>
          </a:p>
        </p:txBody>
      </p:sp>
    </p:spTree>
    <p:extLst>
      <p:ext uri="{BB962C8B-B14F-4D97-AF65-F5344CB8AC3E}">
        <p14:creationId xmlns:p14="http://schemas.microsoft.com/office/powerpoint/2010/main" val="58736421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a:t>Click to edit Master title style</a:t>
            </a:r>
            <a:endParaRPr lang="en-US" dirty="0"/>
          </a:p>
        </p:txBody>
      </p:sp>
      <p:sp>
        <p:nvSpPr>
          <p:cNvPr id="3" name="Content Placeholder 2"/>
          <p:cNvSpPr>
            <a:spLocks noGrp="1"/>
          </p:cNvSpPr>
          <p:nvPr>
            <p:ph idx="1"/>
          </p:nvPr>
        </p:nvSpPr>
        <p:spPr>
          <a:xfrm>
            <a:off x="5852159" y="1097280"/>
            <a:ext cx="5212080" cy="46634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3000" y="2834640"/>
            <a:ext cx="3931920" cy="301752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1B662450-50F9-4521-A659-901C1B90EE19}" type="datetime1">
              <a:rPr lang="en-US" smtClean="0"/>
              <a:t>10/12/2026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D8CB573-7144-4842-A8FD-250830F20887}" type="slidenum">
              <a:rPr lang="en-US" smtClean="0"/>
              <a:t>‹#›</a:t>
            </a:fld>
            <a:endParaRPr lang="en-US"/>
          </a:p>
        </p:txBody>
      </p:sp>
    </p:spTree>
    <p:extLst>
      <p:ext uri="{BB962C8B-B14F-4D97-AF65-F5344CB8AC3E}">
        <p14:creationId xmlns:p14="http://schemas.microsoft.com/office/powerpoint/2010/main" val="143442852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413248" y="1069847"/>
            <a:ext cx="6099048" cy="4800600"/>
          </a:xfrm>
        </p:spPr>
        <p:txBody>
          <a:bodyPr lIns="274320" tIns="182880" anchor="t">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3000" y="2834640"/>
            <a:ext cx="3931920" cy="288036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F718F46A-6997-4AE3-A9AC-AD8C3552A85D}" type="datetime1">
              <a:rPr lang="en-US" smtClean="0"/>
              <a:t>10/12/2026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D8CB573-7144-4842-A8FD-250830F20887}" type="slidenum">
              <a:rPr lang="en-US" smtClean="0"/>
              <a:t>‹#›</a:t>
            </a:fld>
            <a:endParaRPr lang="en-US"/>
          </a:p>
        </p:txBody>
      </p:sp>
    </p:spTree>
    <p:extLst>
      <p:ext uri="{BB962C8B-B14F-4D97-AF65-F5344CB8AC3E}">
        <p14:creationId xmlns:p14="http://schemas.microsoft.com/office/powerpoint/2010/main" val="253858870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A9B6085-A551-4712-A040-642B247B8419}" type="datetime1">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D8CB573-7144-4842-A8FD-250830F20887}" type="slidenum">
              <a:rPr lang="en-US" smtClean="0"/>
              <a:t>‹#›</a:t>
            </a:fld>
            <a:endParaRPr lang="en-US"/>
          </a:p>
        </p:txBody>
      </p:sp>
    </p:spTree>
    <p:extLst>
      <p:ext uri="{BB962C8B-B14F-4D97-AF65-F5344CB8AC3E}">
        <p14:creationId xmlns:p14="http://schemas.microsoft.com/office/powerpoint/2010/main" val="258061818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762000"/>
            <a:ext cx="2324100" cy="54102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3000" y="762000"/>
            <a:ext cx="7429500" cy="541020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5EC2E53-202D-4817-8ED5-3D6EE50C85F1}" type="datetime1">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D8CB573-7144-4842-A8FD-250830F20887}" type="slidenum">
              <a:rPr lang="en-US" smtClean="0"/>
              <a:t>‹#›</a:t>
            </a:fld>
            <a:endParaRPr lang="en-US"/>
          </a:p>
        </p:txBody>
      </p:sp>
    </p:spTree>
    <p:extLst>
      <p:ext uri="{BB962C8B-B14F-4D97-AF65-F5344CB8AC3E}">
        <p14:creationId xmlns:p14="http://schemas.microsoft.com/office/powerpoint/2010/main" val="27973131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1143000" y="609600"/>
            <a:ext cx="9875520" cy="135636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43000" y="2057400"/>
            <a:ext cx="9872871" cy="40386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142996" y="6223828"/>
            <a:ext cx="2329074" cy="365125"/>
          </a:xfrm>
          <a:prstGeom prst="rect">
            <a:avLst/>
          </a:prstGeom>
        </p:spPr>
        <p:txBody>
          <a:bodyPr vert="horz" lIns="91440" tIns="45720" rIns="91440" bIns="45720" rtlCol="0" anchor="ctr"/>
          <a:lstStyle>
            <a:lvl1pPr algn="l">
              <a:defRPr sz="1200">
                <a:solidFill>
                  <a:schemeClr val="accent1"/>
                </a:solidFill>
              </a:defRPr>
            </a:lvl1pPr>
          </a:lstStyle>
          <a:p>
            <a:fld id="{4DAB4E8D-F5BA-45ED-A26B-926A783E973E}" type="datetime1">
              <a:rPr lang="en-US" smtClean="0"/>
              <a:t>10/12/2026</a:t>
            </a:fld>
            <a:endParaRPr lang="en-US"/>
          </a:p>
        </p:txBody>
      </p:sp>
      <p:sp>
        <p:nvSpPr>
          <p:cNvPr id="5" name="Footer Placeholder 4"/>
          <p:cNvSpPr>
            <a:spLocks noGrp="1"/>
          </p:cNvSpPr>
          <p:nvPr>
            <p:ph type="ftr" sz="quarter" idx="3"/>
          </p:nvPr>
        </p:nvSpPr>
        <p:spPr>
          <a:xfrm>
            <a:off x="3949148" y="6223828"/>
            <a:ext cx="4717774" cy="365125"/>
          </a:xfrm>
          <a:prstGeom prst="rect">
            <a:avLst/>
          </a:prstGeom>
        </p:spPr>
        <p:txBody>
          <a:bodyPr vert="horz" lIns="91440" tIns="45720" rIns="91440" bIns="45720" rtlCol="0" anchor="ctr"/>
          <a:lstStyle>
            <a:lvl1pPr algn="ctr">
              <a:defRPr sz="1200">
                <a:solidFill>
                  <a:schemeClr val="accent1"/>
                </a:solidFill>
              </a:defRPr>
            </a:lvl1pPr>
          </a:lstStyle>
          <a:p>
            <a:endParaRPr lang="en-US"/>
          </a:p>
        </p:txBody>
      </p:sp>
      <p:sp>
        <p:nvSpPr>
          <p:cNvPr id="6" name="Slide Number Placeholder 5"/>
          <p:cNvSpPr>
            <a:spLocks noGrp="1"/>
          </p:cNvSpPr>
          <p:nvPr>
            <p:ph type="sldNum" sz="quarter" idx="4"/>
          </p:nvPr>
        </p:nvSpPr>
        <p:spPr>
          <a:xfrm>
            <a:off x="9329530" y="6223828"/>
            <a:ext cx="1706217" cy="365125"/>
          </a:xfrm>
          <a:prstGeom prst="rect">
            <a:avLst/>
          </a:prstGeom>
        </p:spPr>
        <p:txBody>
          <a:bodyPr vert="horz" lIns="91440" tIns="45720" rIns="91440" bIns="45720" rtlCol="0" anchor="ctr"/>
          <a:lstStyle>
            <a:lvl1pPr algn="r">
              <a:defRPr sz="1200">
                <a:solidFill>
                  <a:schemeClr val="accent1"/>
                </a:solidFill>
              </a:defRPr>
            </a:lvl1pPr>
          </a:lstStyle>
          <a:p>
            <a:fld id="{2D8CB573-7144-4842-A8FD-250830F20887}" type="slidenum">
              <a:rPr lang="en-US" smtClean="0"/>
              <a:t>‹#›</a:t>
            </a:fld>
            <a:endParaRPr lang="en-US"/>
          </a:p>
        </p:txBody>
      </p:sp>
    </p:spTree>
    <p:extLst>
      <p:ext uri="{BB962C8B-B14F-4D97-AF65-F5344CB8AC3E}">
        <p14:creationId xmlns:p14="http://schemas.microsoft.com/office/powerpoint/2010/main" val="869848028"/>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Lst>
  <p:hf hdr="0" ftr="0" dt="0"/>
  <p:txStyles>
    <p:titleStyle>
      <a:lvl1pPr algn="l" defTabSz="914400" rtl="0" eaLnBrk="1" latinLnBrk="0" hangingPunct="1">
        <a:lnSpc>
          <a:spcPct val="90000"/>
        </a:lnSpc>
        <a:spcBef>
          <a:spcPct val="0"/>
        </a:spcBef>
        <a:buNone/>
        <a:defRPr sz="4400" kern="1200">
          <a:solidFill>
            <a:schemeClr val="accent1"/>
          </a:solidFill>
          <a:latin typeface="+mj-lt"/>
          <a:ea typeface="+mj-ea"/>
          <a:cs typeface="+mj-cs"/>
        </a:defRPr>
      </a:lvl1pPr>
    </p:titleStyle>
    <p:bodyStyle>
      <a:lvl1pPr marL="228600" indent="-182880" algn="l" defTabSz="914400" rtl="0" eaLnBrk="1" latinLnBrk="0" hangingPunct="1">
        <a:lnSpc>
          <a:spcPct val="90000"/>
        </a:lnSpc>
        <a:spcBef>
          <a:spcPts val="1400"/>
        </a:spcBef>
        <a:buClr>
          <a:schemeClr val="accent1"/>
        </a:buClr>
        <a:buSzPct val="80000"/>
        <a:buFont typeface="Corbel" pitchFamily="34" charset="0"/>
        <a:buChar char="•"/>
        <a:defRPr sz="2200" kern="1200">
          <a:solidFill>
            <a:schemeClr val="accent1"/>
          </a:solidFill>
          <a:latin typeface="+mn-lt"/>
          <a:ea typeface="+mn-ea"/>
          <a:cs typeface="+mn-cs"/>
        </a:defRPr>
      </a:lvl1pPr>
      <a:lvl2pPr marL="45720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2000" kern="1200">
          <a:solidFill>
            <a:schemeClr val="accent1"/>
          </a:solidFill>
          <a:latin typeface="+mn-lt"/>
          <a:ea typeface="+mn-ea"/>
          <a:cs typeface="+mn-cs"/>
        </a:defRPr>
      </a:lvl2pPr>
      <a:lvl3pPr marL="73152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800" kern="1200">
          <a:solidFill>
            <a:schemeClr val="accent1"/>
          </a:solidFill>
          <a:latin typeface="+mn-lt"/>
          <a:ea typeface="+mn-ea"/>
          <a:cs typeface="+mn-cs"/>
        </a:defRPr>
      </a:lvl3pPr>
      <a:lvl4pPr marL="100584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4pPr>
      <a:lvl5pPr marL="128016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5pPr>
      <a:lvl6pPr marL="16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6pPr>
      <a:lvl7pPr marL="19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7pPr>
      <a:lvl8pPr marL="22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8pPr>
      <a:lvl9pPr marL="25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1143000" y="609600"/>
            <a:ext cx="9875520" cy="135636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43000" y="2057400"/>
            <a:ext cx="9872871" cy="40386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142996" y="6223828"/>
            <a:ext cx="2329074" cy="365125"/>
          </a:xfrm>
          <a:prstGeom prst="rect">
            <a:avLst/>
          </a:prstGeom>
        </p:spPr>
        <p:txBody>
          <a:bodyPr vert="horz" lIns="91440" tIns="45720" rIns="91440" bIns="45720" rtlCol="0" anchor="ctr"/>
          <a:lstStyle>
            <a:lvl1pPr algn="l">
              <a:defRPr sz="1200">
                <a:solidFill>
                  <a:schemeClr val="tx1"/>
                </a:solidFill>
              </a:defRPr>
            </a:lvl1pPr>
          </a:lstStyle>
          <a:p>
            <a:fld id="{4DAB4E8D-F5BA-45ED-A26B-926A783E973E}" type="datetime1">
              <a:rPr lang="en-US" smtClean="0"/>
              <a:t>10/12/2026</a:t>
            </a:fld>
            <a:endParaRPr lang="en-US"/>
          </a:p>
        </p:txBody>
      </p:sp>
      <p:sp>
        <p:nvSpPr>
          <p:cNvPr id="5" name="Footer Placeholder 4"/>
          <p:cNvSpPr>
            <a:spLocks noGrp="1"/>
          </p:cNvSpPr>
          <p:nvPr>
            <p:ph type="ftr" sz="quarter" idx="3"/>
          </p:nvPr>
        </p:nvSpPr>
        <p:spPr>
          <a:xfrm>
            <a:off x="3949148" y="6223828"/>
            <a:ext cx="4717774" cy="365125"/>
          </a:xfrm>
          <a:prstGeom prst="rect">
            <a:avLst/>
          </a:prstGeom>
        </p:spPr>
        <p:txBody>
          <a:bodyPr vert="horz" lIns="91440" tIns="45720" rIns="91440" bIns="45720" rtlCol="0" anchor="ctr"/>
          <a:lstStyle>
            <a:lvl1pPr algn="ctr">
              <a:defRPr sz="1200">
                <a:solidFill>
                  <a:schemeClr val="tx1"/>
                </a:solidFill>
              </a:defRPr>
            </a:lvl1pPr>
          </a:lstStyle>
          <a:p>
            <a:endParaRPr lang="en-US"/>
          </a:p>
        </p:txBody>
      </p:sp>
      <p:sp>
        <p:nvSpPr>
          <p:cNvPr id="6" name="Slide Number Placeholder 5"/>
          <p:cNvSpPr>
            <a:spLocks noGrp="1"/>
          </p:cNvSpPr>
          <p:nvPr>
            <p:ph type="sldNum" sz="quarter" idx="4"/>
          </p:nvPr>
        </p:nvSpPr>
        <p:spPr>
          <a:xfrm>
            <a:off x="9329530" y="6223828"/>
            <a:ext cx="1706217" cy="365125"/>
          </a:xfrm>
          <a:prstGeom prst="rect">
            <a:avLst/>
          </a:prstGeom>
        </p:spPr>
        <p:txBody>
          <a:bodyPr vert="horz" lIns="91440" tIns="45720" rIns="91440" bIns="45720" rtlCol="0" anchor="ctr"/>
          <a:lstStyle>
            <a:lvl1pPr algn="r">
              <a:defRPr sz="1200">
                <a:solidFill>
                  <a:schemeClr val="tx1"/>
                </a:solidFill>
              </a:defRPr>
            </a:lvl1pPr>
          </a:lstStyle>
          <a:p>
            <a:fld id="{2D8CB573-7144-4842-A8FD-250830F20887}" type="slidenum">
              <a:rPr lang="en-US" smtClean="0"/>
              <a:t>‹#›</a:t>
            </a:fld>
            <a:endParaRPr lang="en-US"/>
          </a:p>
        </p:txBody>
      </p:sp>
    </p:spTree>
    <p:extLst>
      <p:ext uri="{BB962C8B-B14F-4D97-AF65-F5344CB8AC3E}">
        <p14:creationId xmlns:p14="http://schemas.microsoft.com/office/powerpoint/2010/main" val="3766682813"/>
      </p:ext>
    </p:extLst>
  </p:cSld>
  <p:clrMap bg1="lt1" tx1="dk1" bg2="lt2" tx2="dk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182880" algn="l" defTabSz="914400" rtl="0" eaLnBrk="1" latinLnBrk="0" hangingPunct="1">
        <a:lnSpc>
          <a:spcPct val="90000"/>
        </a:lnSpc>
        <a:spcBef>
          <a:spcPts val="1400"/>
        </a:spcBef>
        <a:buClr>
          <a:schemeClr val="tx1"/>
        </a:buClr>
        <a:buSzPct val="80000"/>
        <a:buFont typeface="Corbel" pitchFamily="34" charset="0"/>
        <a:buChar char="•"/>
        <a:defRPr sz="2200" kern="1200">
          <a:solidFill>
            <a:schemeClr val="tx1"/>
          </a:solidFill>
          <a:latin typeface="+mn-lt"/>
          <a:ea typeface="+mn-ea"/>
          <a:cs typeface="+mn-cs"/>
        </a:defRPr>
      </a:lvl1pPr>
      <a:lvl2pPr marL="457200" indent="-182880" algn="l" defTabSz="914400" rtl="0" eaLnBrk="1" latinLnBrk="0" hangingPunct="1">
        <a:lnSpc>
          <a:spcPct val="90000"/>
        </a:lnSpc>
        <a:spcBef>
          <a:spcPts val="200"/>
        </a:spcBef>
        <a:spcAft>
          <a:spcPts val="400"/>
        </a:spcAft>
        <a:buClr>
          <a:schemeClr val="tx1"/>
        </a:buClr>
        <a:buSzPct val="80000"/>
        <a:buFont typeface="Corbel" pitchFamily="34" charset="0"/>
        <a:buChar char="•"/>
        <a:defRPr sz="2000" kern="1200">
          <a:solidFill>
            <a:schemeClr val="tx1"/>
          </a:solidFill>
          <a:latin typeface="+mn-lt"/>
          <a:ea typeface="+mn-ea"/>
          <a:cs typeface="+mn-cs"/>
        </a:defRPr>
      </a:lvl2pPr>
      <a:lvl3pPr marL="731520" indent="-182880" algn="l" defTabSz="914400" rtl="0" eaLnBrk="1" latinLnBrk="0" hangingPunct="1">
        <a:lnSpc>
          <a:spcPct val="90000"/>
        </a:lnSpc>
        <a:spcBef>
          <a:spcPts val="200"/>
        </a:spcBef>
        <a:spcAft>
          <a:spcPts val="400"/>
        </a:spcAft>
        <a:buClr>
          <a:schemeClr val="tx1"/>
        </a:buClr>
        <a:buSzPct val="80000"/>
        <a:buFont typeface="Corbel" pitchFamily="34" charset="0"/>
        <a:buChar char="•"/>
        <a:defRPr sz="1800" kern="1200">
          <a:solidFill>
            <a:schemeClr val="tx1"/>
          </a:solidFill>
          <a:latin typeface="+mn-lt"/>
          <a:ea typeface="+mn-ea"/>
          <a:cs typeface="+mn-cs"/>
        </a:defRPr>
      </a:lvl3pPr>
      <a:lvl4pPr marL="1005840" indent="-18288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image" Target="../media/image14.em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image" Target="../media/image16.emf"/><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image" Target="../media/image27.emf"/><Relationship Id="rId1"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image" Target="../media/image29.png"/></Relationships>
</file>

<file path=ppt/slides/_rels/slide4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emf"/><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emf"/><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7.xml"/><Relationship Id="rId5" Type="http://schemas.openxmlformats.org/officeDocument/2006/relationships/image" Target="../media/image38.png"/><Relationship Id="rId4" Type="http://schemas.openxmlformats.org/officeDocument/2006/relationships/image" Target="../media/image37.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7.xml"/><Relationship Id="rId5" Type="http://schemas.openxmlformats.org/officeDocument/2006/relationships/image" Target="../media/image43.png"/><Relationship Id="rId4" Type="http://schemas.openxmlformats.org/officeDocument/2006/relationships/image" Target="../media/image42.png"/></Relationships>
</file>

<file path=ppt/slides/_rels/slide53.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185984" y="1612726"/>
            <a:ext cx="8142576" cy="2025841"/>
          </a:xfrm>
        </p:spPr>
        <p:txBody>
          <a:bodyPr>
            <a:normAutofit/>
          </a:bodyPr>
          <a:lstStyle/>
          <a:p>
            <a:pPr algn="ctr" rtl="1"/>
            <a:r>
              <a:rPr lang="fa-IR" sz="6000" dirty="0">
                <a:cs typeface="2  Titr" panose="00000700000000000000" pitchFamily="2" charset="-78"/>
              </a:rPr>
              <a:t>تغذیه‌ در مراقبت‌های بهداشتی</a:t>
            </a:r>
            <a:endParaRPr lang="en-US" sz="6000" dirty="0">
              <a:cs typeface="2  Titr" panose="00000700000000000000" pitchFamily="2" charset="-78"/>
            </a:endParaRPr>
          </a:p>
        </p:txBody>
      </p:sp>
      <p:sp>
        <p:nvSpPr>
          <p:cNvPr id="3" name="Subtitle 2"/>
          <p:cNvSpPr>
            <a:spLocks noGrp="1"/>
          </p:cNvSpPr>
          <p:nvPr>
            <p:ph type="subTitle" idx="1"/>
          </p:nvPr>
        </p:nvSpPr>
        <p:spPr>
          <a:xfrm>
            <a:off x="1653718" y="4294909"/>
            <a:ext cx="8825658" cy="1630218"/>
          </a:xfrm>
        </p:spPr>
        <p:txBody>
          <a:bodyPr>
            <a:normAutofit/>
          </a:bodyPr>
          <a:lstStyle/>
          <a:p>
            <a:pPr algn="ctr" rtl="1"/>
            <a:r>
              <a:rPr lang="fa-IR" sz="2400" b="1" dirty="0">
                <a:solidFill>
                  <a:srgbClr val="FF0000"/>
                </a:solidFill>
                <a:cs typeface="B Nazanin" panose="00000400000000000000" pitchFamily="2" charset="-78"/>
              </a:rPr>
              <a:t>دکتر بهارک آقاپور</a:t>
            </a:r>
          </a:p>
          <a:p>
            <a:pPr algn="ctr" rtl="1"/>
            <a:r>
              <a:rPr lang="fa-IR" sz="2400" b="1" dirty="0">
                <a:solidFill>
                  <a:srgbClr val="FF0000"/>
                </a:solidFill>
                <a:cs typeface="B Nazanin" panose="00000400000000000000" pitchFamily="2" charset="-78"/>
              </a:rPr>
              <a:t>استادیار دانشگاه علوم پزشکی سراب</a:t>
            </a:r>
          </a:p>
        </p:txBody>
      </p:sp>
      <p:sp>
        <p:nvSpPr>
          <p:cNvPr id="4" name="Slide Number Placeholder 3"/>
          <p:cNvSpPr>
            <a:spLocks noGrp="1"/>
          </p:cNvSpPr>
          <p:nvPr>
            <p:ph type="sldNum" sz="quarter" idx="12"/>
          </p:nvPr>
        </p:nvSpPr>
        <p:spPr/>
        <p:txBody>
          <a:bodyPr/>
          <a:lstStyle/>
          <a:p>
            <a:fld id="{2D8CB573-7144-4842-A8FD-250830F20887}" type="slidenum">
              <a:rPr lang="en-US" smtClean="0"/>
              <a:t>1</a:t>
            </a:fld>
            <a:endParaRPr lang="en-US"/>
          </a:p>
        </p:txBody>
      </p:sp>
      <p:sp>
        <p:nvSpPr>
          <p:cNvPr id="7" name="TextBox 6"/>
          <p:cNvSpPr txBox="1"/>
          <p:nvPr/>
        </p:nvSpPr>
        <p:spPr>
          <a:xfrm>
            <a:off x="4567783" y="335069"/>
            <a:ext cx="2256183" cy="461665"/>
          </a:xfrm>
          <a:prstGeom prst="rect">
            <a:avLst/>
          </a:prstGeom>
          <a:noFill/>
        </p:spPr>
        <p:txBody>
          <a:bodyPr wrap="square" rtlCol="0">
            <a:spAutoFit/>
          </a:bodyPr>
          <a:lstStyle/>
          <a:p>
            <a:pPr algn="r" rtl="1"/>
            <a:r>
              <a:rPr lang="fa-IR" sz="2400" b="1" dirty="0">
                <a:solidFill>
                  <a:prstClr val="black"/>
                </a:solidFill>
                <a:latin typeface="Traditional Arabic" panose="02020603050405020304" pitchFamily="18" charset="-78"/>
                <a:cs typeface="Traditional Arabic" panose="02020603050405020304" pitchFamily="18" charset="-78"/>
              </a:rPr>
              <a:t>بسم الله الرحمن رحیم</a:t>
            </a:r>
            <a:endParaRPr lang="en-US" sz="2400" b="1" dirty="0">
              <a:solidFill>
                <a:prstClr val="black"/>
              </a:solidFill>
              <a:latin typeface="Traditional Arabic" panose="02020603050405020304" pitchFamily="18" charset="-78"/>
              <a:cs typeface="Traditional Arabic" panose="02020603050405020304" pitchFamily="18" charset="-78"/>
            </a:endParaRPr>
          </a:p>
        </p:txBody>
      </p:sp>
      <p:sp>
        <p:nvSpPr>
          <p:cNvPr id="8" name="Rectangle 7"/>
          <p:cNvSpPr/>
          <p:nvPr/>
        </p:nvSpPr>
        <p:spPr>
          <a:xfrm>
            <a:off x="5561441" y="6126079"/>
            <a:ext cx="1010213" cy="369332"/>
          </a:xfrm>
          <a:prstGeom prst="rect">
            <a:avLst/>
          </a:prstGeom>
        </p:spPr>
        <p:txBody>
          <a:bodyPr wrap="none">
            <a:spAutoFit/>
          </a:bodyPr>
          <a:lstStyle/>
          <a:p>
            <a:pPr algn="ctr" rtl="1"/>
            <a:r>
              <a:rPr lang="fa-IR" b="1" dirty="0">
                <a:solidFill>
                  <a:srgbClr val="FF0000"/>
                </a:solidFill>
                <a:cs typeface="B Nazanin" panose="00000400000000000000" pitchFamily="2" charset="-78"/>
              </a:rPr>
              <a:t>پاییز ۱۴۰۵</a:t>
            </a:r>
          </a:p>
        </p:txBody>
      </p:sp>
    </p:spTree>
    <p:extLst>
      <p:ext uri="{BB962C8B-B14F-4D97-AF65-F5344CB8AC3E}">
        <p14:creationId xmlns:p14="http://schemas.microsoft.com/office/powerpoint/2010/main" val="7309006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13691" y="293803"/>
            <a:ext cx="9875520" cy="1356360"/>
          </a:xfrm>
        </p:spPr>
        <p:txBody>
          <a:bodyPr/>
          <a:lstStyle/>
          <a:p>
            <a:pPr algn="ctr" rtl="1"/>
            <a:r>
              <a:rPr lang="fa-IR" dirty="0">
                <a:cs typeface="2  Titr" panose="00000700000000000000" pitchFamily="2" charset="-78"/>
              </a:rPr>
              <a:t>نظام سلامت</a:t>
            </a:r>
            <a:endParaRPr lang="en-US" dirty="0">
              <a:cs typeface="2  Titr" panose="00000700000000000000" pitchFamily="2" charset="-78"/>
            </a:endParaRPr>
          </a:p>
        </p:txBody>
      </p:sp>
      <p:sp>
        <p:nvSpPr>
          <p:cNvPr id="3" name="Content Placeholder 2"/>
          <p:cNvSpPr>
            <a:spLocks noGrp="1"/>
          </p:cNvSpPr>
          <p:nvPr>
            <p:ph idx="1"/>
          </p:nvPr>
        </p:nvSpPr>
        <p:spPr>
          <a:xfrm>
            <a:off x="1162876" y="1516928"/>
            <a:ext cx="9872871" cy="4889462"/>
          </a:xfrm>
        </p:spPr>
        <p:txBody>
          <a:bodyPr>
            <a:normAutofit lnSpcReduction="10000"/>
          </a:bodyPr>
          <a:lstStyle/>
          <a:p>
            <a:pPr algn="just" rtl="1">
              <a:lnSpc>
                <a:spcPct val="150000"/>
              </a:lnSpc>
            </a:pPr>
            <a:r>
              <a:rPr lang="fa-IR" b="1" dirty="0">
                <a:solidFill>
                  <a:srgbClr val="FF0000"/>
                </a:solidFill>
                <a:cs typeface="B Nazanin" panose="00000400000000000000" pitchFamily="2" charset="-78"/>
              </a:rPr>
              <a:t>تعریف سلامت:</a:t>
            </a:r>
            <a:r>
              <a:rPr lang="fa-IR" b="1" dirty="0">
                <a:solidFill>
                  <a:schemeClr val="tx1"/>
                </a:solidFill>
                <a:cs typeface="B Nazanin" panose="00000400000000000000" pitchFamily="2" charset="-78"/>
              </a:rPr>
              <a:t> </a:t>
            </a:r>
            <a:r>
              <a:rPr lang="fa-IR" b="1" u="sng" dirty="0">
                <a:solidFill>
                  <a:schemeClr val="tx1"/>
                </a:solidFill>
                <a:cs typeface="B Nazanin" panose="00000400000000000000" pitchFamily="2" charset="-78"/>
              </a:rPr>
              <a:t>احساس خوب بودن </a:t>
            </a:r>
            <a:r>
              <a:rPr lang="fa-IR" b="1" dirty="0">
                <a:solidFill>
                  <a:schemeClr val="tx1"/>
                </a:solidFill>
                <a:cs typeface="B Nazanin" panose="00000400000000000000" pitchFamily="2" charset="-78"/>
              </a:rPr>
              <a:t>و در واقع </a:t>
            </a:r>
            <a:r>
              <a:rPr lang="fa-IR" b="1" u="sng" dirty="0">
                <a:solidFill>
                  <a:schemeClr val="tx1"/>
                </a:solidFill>
                <a:cs typeface="B Nazanin" panose="00000400000000000000" pitchFamily="2" charset="-78"/>
              </a:rPr>
              <a:t>سلامت جسمی، روانی، اجتماعی  و معنوی </a:t>
            </a:r>
            <a:r>
              <a:rPr lang="fa-IR" b="1" dirty="0">
                <a:solidFill>
                  <a:schemeClr val="tx1"/>
                </a:solidFill>
                <a:cs typeface="B Nazanin" panose="00000400000000000000" pitchFamily="2" charset="-78"/>
              </a:rPr>
              <a:t>( چیزی بیش از غایب بودن بیماری)</a:t>
            </a:r>
          </a:p>
          <a:p>
            <a:pPr algn="just" rtl="1">
              <a:lnSpc>
                <a:spcPct val="150000"/>
              </a:lnSpc>
            </a:pPr>
            <a:r>
              <a:rPr lang="fa-IR" b="1" dirty="0">
                <a:solidFill>
                  <a:schemeClr val="tx1"/>
                </a:solidFill>
                <a:cs typeface="B Nazanin" panose="00000400000000000000" pitchFamily="2" charset="-78"/>
              </a:rPr>
              <a:t>  </a:t>
            </a:r>
            <a:r>
              <a:rPr lang="fa-IR" b="1" dirty="0">
                <a:solidFill>
                  <a:srgbClr val="FF0000"/>
                </a:solidFill>
                <a:cs typeface="B Nazanin" panose="00000400000000000000" pitchFamily="2" charset="-78"/>
              </a:rPr>
              <a:t>نظام سلامت: </a:t>
            </a:r>
            <a:r>
              <a:rPr lang="fa-IR" b="1" dirty="0">
                <a:solidFill>
                  <a:schemeClr val="tx1"/>
                </a:solidFill>
                <a:cs typeface="B Nazanin" panose="00000400000000000000" pitchFamily="2" charset="-78"/>
              </a:rPr>
              <a:t>عبارت است از </a:t>
            </a:r>
            <a:r>
              <a:rPr lang="fa-IR" b="1" u="sng" dirty="0">
                <a:solidFill>
                  <a:schemeClr val="tx1"/>
                </a:solidFill>
                <a:cs typeface="B Nazanin" panose="00000400000000000000" pitchFamily="2" charset="-78"/>
              </a:rPr>
              <a:t>سازمان‌ها، موسسات و منابعی </a:t>
            </a:r>
            <a:r>
              <a:rPr lang="fa-IR" b="1" dirty="0">
                <a:solidFill>
                  <a:schemeClr val="tx1"/>
                </a:solidFill>
                <a:cs typeface="B Nazanin" panose="00000400000000000000" pitchFamily="2" charset="-78"/>
              </a:rPr>
              <a:t>که فعالیت‌هایشان با</a:t>
            </a:r>
            <a:r>
              <a:rPr lang="fa-IR" b="1" u="sng" dirty="0">
                <a:solidFill>
                  <a:schemeClr val="tx1"/>
                </a:solidFill>
                <a:cs typeface="B Nazanin" panose="00000400000000000000" pitchFamily="2" charset="-78"/>
              </a:rPr>
              <a:t> هدف اولیه ارتقاء سلامت</a:t>
            </a:r>
            <a:r>
              <a:rPr lang="fa-IR" b="1" dirty="0">
                <a:solidFill>
                  <a:schemeClr val="tx1"/>
                </a:solidFill>
                <a:cs typeface="B Nazanin" panose="00000400000000000000" pitchFamily="2" charset="-78"/>
              </a:rPr>
              <a:t> باشد.</a:t>
            </a:r>
          </a:p>
          <a:p>
            <a:pPr algn="just" rtl="1">
              <a:lnSpc>
                <a:spcPct val="150000"/>
              </a:lnSpc>
            </a:pPr>
            <a:r>
              <a:rPr lang="fa-IR" b="1" dirty="0">
                <a:solidFill>
                  <a:schemeClr val="tx1"/>
                </a:solidFill>
                <a:cs typeface="B Nazanin" panose="00000400000000000000" pitchFamily="2" charset="-78"/>
              </a:rPr>
              <a:t>  </a:t>
            </a:r>
            <a:r>
              <a:rPr lang="fa-IR" b="1" dirty="0">
                <a:solidFill>
                  <a:srgbClr val="FF0000"/>
                </a:solidFill>
                <a:cs typeface="B Nazanin" panose="00000400000000000000" pitchFamily="2" charset="-78"/>
              </a:rPr>
              <a:t>نظام مراقبت سلامت: </a:t>
            </a:r>
            <a:r>
              <a:rPr lang="fa-IR" b="1" u="sng" dirty="0">
                <a:solidFill>
                  <a:schemeClr val="tx1"/>
                </a:solidFill>
                <a:cs typeface="B Nazanin" panose="00000400000000000000" pitchFamily="2" charset="-78"/>
              </a:rPr>
              <a:t>موسسات، منابع و افرادی </a:t>
            </a:r>
            <a:r>
              <a:rPr lang="fa-IR" b="1" dirty="0">
                <a:solidFill>
                  <a:schemeClr val="tx1"/>
                </a:solidFill>
                <a:cs typeface="B Nazanin" panose="00000400000000000000" pitchFamily="2" charset="-78"/>
              </a:rPr>
              <a:t>است که در </a:t>
            </a:r>
            <a:r>
              <a:rPr lang="fa-IR" b="1" u="sng" dirty="0">
                <a:solidFill>
                  <a:schemeClr val="tx1"/>
                </a:solidFill>
                <a:cs typeface="B Nazanin" panose="00000400000000000000" pitchFamily="2" charset="-78"/>
              </a:rPr>
              <a:t>ارائه خدمات و مراقبت سلامت به افراد و جامعه دخالت دارند.</a:t>
            </a:r>
          </a:p>
          <a:p>
            <a:pPr algn="just" rtl="1">
              <a:lnSpc>
                <a:spcPct val="150000"/>
              </a:lnSpc>
            </a:pPr>
            <a:r>
              <a:rPr lang="ar-SA" altLang="fa-IR" b="1" dirty="0">
                <a:solidFill>
                  <a:schemeClr val="tx1"/>
                </a:solidFill>
                <a:cs typeface="B Nazanin" panose="00000400000000000000" pitchFamily="2" charset="-78"/>
              </a:rPr>
              <a:t>اين خدمات مي</a:t>
            </a:r>
            <a:r>
              <a:rPr lang="fa-IR" altLang="fa-IR" b="1" dirty="0">
                <a:solidFill>
                  <a:schemeClr val="tx1"/>
                </a:solidFill>
                <a:cs typeface="B Nazanin" panose="00000400000000000000" pitchFamily="2" charset="-78"/>
              </a:rPr>
              <a:t>‌</a:t>
            </a:r>
            <a:r>
              <a:rPr lang="ar-SA" altLang="fa-IR" b="1" dirty="0">
                <a:solidFill>
                  <a:schemeClr val="tx1"/>
                </a:solidFill>
                <a:cs typeface="B Nazanin" panose="00000400000000000000" pitchFamily="2" charset="-78"/>
              </a:rPr>
              <a:t>تواند به صورت هرگونه تلاشي كه خواه در </a:t>
            </a:r>
            <a:r>
              <a:rPr lang="ar-SA" altLang="fa-IR" b="1" u="sng" dirty="0">
                <a:solidFill>
                  <a:schemeClr val="tx1"/>
                </a:solidFill>
                <a:cs typeface="B Nazanin" panose="00000400000000000000" pitchFamily="2" charset="-78"/>
              </a:rPr>
              <a:t>مراقبت سلامت فردي </a:t>
            </a:r>
            <a:r>
              <a:rPr lang="ar-SA" altLang="fa-IR" b="1" dirty="0">
                <a:solidFill>
                  <a:schemeClr val="tx1"/>
                </a:solidFill>
                <a:cs typeface="B Nazanin" panose="00000400000000000000" pitchFamily="2" charset="-78"/>
              </a:rPr>
              <a:t>ـ خدمات بهداشت عمومي و يا از طريق </a:t>
            </a:r>
            <a:r>
              <a:rPr lang="ar-SA" altLang="fa-IR" b="1" u="sng" dirty="0">
                <a:solidFill>
                  <a:schemeClr val="tx1"/>
                </a:solidFill>
                <a:cs typeface="B Nazanin" panose="00000400000000000000" pitchFamily="2" charset="-78"/>
              </a:rPr>
              <a:t>برنامه</a:t>
            </a:r>
            <a:r>
              <a:rPr lang="en-US" altLang="fa-IR" b="1" u="sng" dirty="0">
                <a:solidFill>
                  <a:schemeClr val="tx1"/>
                </a:solidFill>
                <a:cs typeface="B Nazanin" panose="00000400000000000000" pitchFamily="2" charset="-78"/>
              </a:rPr>
              <a:t> </a:t>
            </a:r>
            <a:r>
              <a:rPr lang="ar-SA" altLang="fa-IR" b="1" u="sng" dirty="0">
                <a:solidFill>
                  <a:schemeClr val="tx1"/>
                </a:solidFill>
                <a:cs typeface="B Nazanin" panose="00000400000000000000" pitchFamily="2" charset="-78"/>
              </a:rPr>
              <a:t>هاي بين بخشي </a:t>
            </a:r>
            <a:r>
              <a:rPr lang="ar-SA" altLang="fa-IR" b="1" dirty="0">
                <a:solidFill>
                  <a:schemeClr val="tx1"/>
                </a:solidFill>
                <a:cs typeface="B Nazanin" panose="00000400000000000000" pitchFamily="2" charset="-78"/>
              </a:rPr>
              <a:t>انجام </a:t>
            </a:r>
            <a:r>
              <a:rPr lang="fa-IR" altLang="fa-IR" b="1" dirty="0">
                <a:solidFill>
                  <a:schemeClr val="tx1"/>
                </a:solidFill>
                <a:cs typeface="B Nazanin" panose="00000400000000000000" pitchFamily="2" charset="-78"/>
              </a:rPr>
              <a:t>می‌</a:t>
            </a:r>
            <a:r>
              <a:rPr lang="ar-SA" altLang="fa-IR" b="1" dirty="0">
                <a:solidFill>
                  <a:schemeClr val="tx1"/>
                </a:solidFill>
                <a:cs typeface="B Nazanin" panose="00000400000000000000" pitchFamily="2" charset="-78"/>
              </a:rPr>
              <a:t>گيرد، تعريف شود و </a:t>
            </a:r>
            <a:r>
              <a:rPr lang="ar-SA" altLang="fa-IR" b="1" dirty="0">
                <a:solidFill>
                  <a:srgbClr val="FF0000"/>
                </a:solidFill>
                <a:cs typeface="B Nazanin" panose="00000400000000000000" pitchFamily="2" charset="-78"/>
              </a:rPr>
              <a:t>هدف اصلي آن ارتقاء سلامت </a:t>
            </a:r>
            <a:r>
              <a:rPr lang="ar-SA" altLang="fa-IR" b="1" dirty="0">
                <a:solidFill>
                  <a:schemeClr val="tx1"/>
                </a:solidFill>
                <a:cs typeface="B Nazanin" panose="00000400000000000000" pitchFamily="2" charset="-78"/>
              </a:rPr>
              <a:t>است</a:t>
            </a:r>
            <a:r>
              <a:rPr lang="en-US" altLang="fa-IR" b="1" dirty="0">
                <a:solidFill>
                  <a:schemeClr val="tx1"/>
                </a:solidFill>
                <a:cs typeface="B Nazanin" panose="00000400000000000000" pitchFamily="2" charset="-78"/>
              </a:rPr>
              <a:t>.</a:t>
            </a:r>
            <a:endParaRPr lang="fa-IR" b="1" dirty="0">
              <a:solidFill>
                <a:schemeClr val="tx1"/>
              </a:solidFill>
              <a:cs typeface="B Nazanin" panose="00000400000000000000" pitchFamily="2" charset="-78"/>
            </a:endParaRPr>
          </a:p>
          <a:p>
            <a:pPr algn="just" rtl="1">
              <a:lnSpc>
                <a:spcPct val="150000"/>
              </a:lnSpc>
            </a:pPr>
            <a:endParaRPr lang="en-US" b="1" dirty="0">
              <a:solidFill>
                <a:schemeClr val="tx1"/>
              </a:solidFill>
            </a:endParaRPr>
          </a:p>
        </p:txBody>
      </p:sp>
      <p:sp>
        <p:nvSpPr>
          <p:cNvPr id="4" name="Slide Number Placeholder 3"/>
          <p:cNvSpPr>
            <a:spLocks noGrp="1"/>
          </p:cNvSpPr>
          <p:nvPr>
            <p:ph type="sldNum" sz="quarter" idx="12"/>
          </p:nvPr>
        </p:nvSpPr>
        <p:spPr/>
        <p:txBody>
          <a:bodyPr/>
          <a:lstStyle/>
          <a:p>
            <a:fld id="{2D8CB573-7144-4842-A8FD-250830F20887}" type="slidenum">
              <a:rPr lang="en-US" smtClean="0"/>
              <a:t>2</a:t>
            </a:fld>
            <a:endParaRPr lang="en-US"/>
          </a:p>
        </p:txBody>
      </p:sp>
    </p:spTree>
    <p:extLst>
      <p:ext uri="{BB962C8B-B14F-4D97-AF65-F5344CB8AC3E}">
        <p14:creationId xmlns:p14="http://schemas.microsoft.com/office/powerpoint/2010/main" val="22297353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rtl="1"/>
            <a:r>
              <a:rPr lang="fa-IR" dirty="0">
                <a:cs typeface="2  Titr" panose="00000700000000000000" pitchFamily="2" charset="-78"/>
              </a:rPr>
              <a:t>اصول مراقبت‌های بهداشتی اولیه شامل:</a:t>
            </a:r>
            <a:endParaRPr lang="en-US" dirty="0">
              <a:cs typeface="2  Titr" panose="00000700000000000000" pitchFamily="2" charset="-78"/>
            </a:endParaRPr>
          </a:p>
        </p:txBody>
      </p:sp>
      <p:sp>
        <p:nvSpPr>
          <p:cNvPr id="3" name="Content Placeholder 2"/>
          <p:cNvSpPr>
            <a:spLocks noGrp="1"/>
          </p:cNvSpPr>
          <p:nvPr>
            <p:ph idx="1"/>
          </p:nvPr>
        </p:nvSpPr>
        <p:spPr>
          <a:xfrm>
            <a:off x="1143000" y="1819563"/>
            <a:ext cx="9872871" cy="4599709"/>
          </a:xfrm>
        </p:spPr>
        <p:txBody>
          <a:bodyPr>
            <a:normAutofit fontScale="92500"/>
          </a:bodyPr>
          <a:lstStyle/>
          <a:p>
            <a:pPr marL="45720" indent="0" algn="just" rtl="1">
              <a:buNone/>
            </a:pPr>
            <a:r>
              <a:rPr lang="fa-IR" b="1" dirty="0">
                <a:solidFill>
                  <a:srgbClr val="FF0000"/>
                </a:solidFill>
                <a:cs typeface="B Nazanin" panose="00000400000000000000" pitchFamily="2" charset="-78"/>
              </a:rPr>
              <a:t>1- برابری توزیع یا عادلانه بودن توزیع خدمات </a:t>
            </a:r>
          </a:p>
          <a:p>
            <a:pPr marL="45720" indent="0" algn="just" rtl="1">
              <a:buNone/>
            </a:pPr>
            <a:r>
              <a:rPr lang="fa-IR" b="1" dirty="0">
                <a:solidFill>
                  <a:schemeClr val="tx1"/>
                </a:solidFill>
                <a:cs typeface="B Nazanin" panose="00000400000000000000" pitchFamily="2" charset="-78"/>
              </a:rPr>
              <a:t>خدمات بهداشتی باید بدون توجه به توانایی پرداخت مردم بین همه آن‌ها یکسان توزیع شود و همه به خدمات بهداشتی دسترسی داشته باشند. </a:t>
            </a:r>
          </a:p>
          <a:p>
            <a:pPr marL="45720" indent="0" algn="just" rtl="1">
              <a:buNone/>
            </a:pPr>
            <a:r>
              <a:rPr lang="fa-IR" b="1" dirty="0">
                <a:solidFill>
                  <a:srgbClr val="FF0000"/>
                </a:solidFill>
                <a:cs typeface="B Nazanin" panose="00000400000000000000" pitchFamily="2" charset="-78"/>
              </a:rPr>
              <a:t>2- مشارکت جامعه</a:t>
            </a:r>
          </a:p>
          <a:p>
            <a:pPr algn="just" rtl="1"/>
            <a:r>
              <a:rPr lang="fa-IR" b="1" dirty="0">
                <a:solidFill>
                  <a:schemeClr val="tx1"/>
                </a:solidFill>
                <a:cs typeface="B Nazanin" panose="00000400000000000000" pitchFamily="2" charset="-78"/>
              </a:rPr>
              <a:t>مشارکت افراد و خانواده‌ها در ارتقا سلامتی خود، صرف نظر از مسئولیت دولت، یک بخش ضروری از مراقبت‌هاست.</a:t>
            </a:r>
          </a:p>
          <a:p>
            <a:pPr algn="just" rtl="1"/>
            <a:r>
              <a:rPr lang="fa-IR" b="1" dirty="0">
                <a:solidFill>
                  <a:schemeClr val="tx1"/>
                </a:solidFill>
                <a:cs typeface="B Nazanin" panose="00000400000000000000" pitchFamily="2" charset="-78"/>
              </a:rPr>
              <a:t>بدون مداخله جامعه نمی‌توان به پوشش کامل و جامع مراقبت‌های بهداشتی اولیه دست یافت.</a:t>
            </a:r>
          </a:p>
          <a:p>
            <a:pPr marL="45720" indent="0" algn="just" rtl="1">
              <a:buNone/>
            </a:pPr>
            <a:r>
              <a:rPr lang="fa-IR" b="1" dirty="0">
                <a:solidFill>
                  <a:srgbClr val="FF0000"/>
                </a:solidFill>
                <a:cs typeface="B Nazanin" panose="00000400000000000000" pitchFamily="2" charset="-78"/>
              </a:rPr>
              <a:t>3- هماهنگی بین بخشی </a:t>
            </a:r>
          </a:p>
          <a:p>
            <a:pPr algn="just" rtl="1"/>
            <a:r>
              <a:rPr lang="fa-IR" b="1" dirty="0">
                <a:solidFill>
                  <a:schemeClr val="tx1"/>
                </a:solidFill>
                <a:cs typeface="B Nazanin" panose="00000400000000000000" pitchFamily="2" charset="-78"/>
              </a:rPr>
              <a:t>بهداشت تحت تاثیر ترکیبی از عوامل محیطی اجتماعی و اقتصادی است که با یکدیگر ارتباط تنگاتنگ دارند.</a:t>
            </a:r>
          </a:p>
          <a:p>
            <a:pPr algn="just" rtl="1"/>
            <a:r>
              <a:rPr lang="fa-IR" b="1" dirty="0">
                <a:solidFill>
                  <a:schemeClr val="tx1"/>
                </a:solidFill>
                <a:cs typeface="B Nazanin" panose="00000400000000000000" pitchFamily="2" charset="-78"/>
              </a:rPr>
              <a:t>مراقبت‌های بهداشتی اولیه تنها با بخش بهداشت فراهم نمی‌شود. سایر بخش‌های مرتبط با توسعه جامعه از قبیل بخش کشاورزی، آموزش، مسکن، ارتباطات و ... باید در مراقبت‌های بهداشتی اولیه درگیر شوند.</a:t>
            </a:r>
          </a:p>
        </p:txBody>
      </p:sp>
      <p:sp>
        <p:nvSpPr>
          <p:cNvPr id="4" name="Slide Number Placeholder 3"/>
          <p:cNvSpPr>
            <a:spLocks noGrp="1"/>
          </p:cNvSpPr>
          <p:nvPr>
            <p:ph type="sldNum" sz="quarter" idx="12"/>
          </p:nvPr>
        </p:nvSpPr>
        <p:spPr/>
        <p:txBody>
          <a:bodyPr/>
          <a:lstStyle/>
          <a:p>
            <a:fld id="{2D8CB573-7144-4842-A8FD-250830F20887}" type="slidenum">
              <a:rPr lang="en-US" smtClean="0"/>
              <a:t>3</a:t>
            </a:fld>
            <a:endParaRPr lang="en-US"/>
          </a:p>
        </p:txBody>
      </p:sp>
    </p:spTree>
    <p:extLst>
      <p:ext uri="{BB962C8B-B14F-4D97-AF65-F5344CB8AC3E}">
        <p14:creationId xmlns:p14="http://schemas.microsoft.com/office/powerpoint/2010/main" val="23425698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a:bodyPr>
          <a:lstStyle/>
          <a:p>
            <a:pPr algn="r" rtl="1"/>
            <a:r>
              <a:rPr lang="fa-IR" sz="3600" dirty="0">
                <a:solidFill>
                  <a:srgbClr val="A6B727"/>
                </a:solidFill>
                <a:cs typeface="2  Titr" panose="00000700000000000000" pitchFamily="2" charset="-78"/>
              </a:rPr>
              <a:t>ادامه‌ی اصول مراقبت‌های بهداشتی اولیه...</a:t>
            </a:r>
            <a:endParaRPr lang="en-US" sz="3600" dirty="0"/>
          </a:p>
        </p:txBody>
      </p:sp>
      <p:sp>
        <p:nvSpPr>
          <p:cNvPr id="3" name="Content Placeholder 2"/>
          <p:cNvSpPr>
            <a:spLocks noGrp="1"/>
          </p:cNvSpPr>
          <p:nvPr>
            <p:ph idx="1"/>
          </p:nvPr>
        </p:nvSpPr>
        <p:spPr>
          <a:xfrm>
            <a:off x="1145649" y="1838036"/>
            <a:ext cx="9872871" cy="4257964"/>
          </a:xfrm>
        </p:spPr>
        <p:txBody>
          <a:bodyPr>
            <a:normAutofit fontScale="92500"/>
          </a:bodyPr>
          <a:lstStyle/>
          <a:p>
            <a:pPr algn="just" rtl="1">
              <a:lnSpc>
                <a:spcPct val="150000"/>
              </a:lnSpc>
            </a:pPr>
            <a:r>
              <a:rPr lang="fa-IR" b="1" dirty="0">
                <a:solidFill>
                  <a:schemeClr val="tx1"/>
                </a:solidFill>
                <a:cs typeface="B Nazanin" panose="00000400000000000000" pitchFamily="2" charset="-78"/>
              </a:rPr>
              <a:t>دولت‌ها باید جهت اطمینان از این هماهنگی مقررات ویژه‌ای وضع کنند و با برنامه‌ریزی مناسب از کم کاری و یا دوباره‌کاری غیرضروری پرهیز کنند.</a:t>
            </a:r>
          </a:p>
          <a:p>
            <a:pPr marL="45720" indent="0" algn="just" rtl="1">
              <a:lnSpc>
                <a:spcPct val="150000"/>
              </a:lnSpc>
              <a:buNone/>
            </a:pPr>
            <a:r>
              <a:rPr lang="fa-IR" b="1" dirty="0">
                <a:solidFill>
                  <a:srgbClr val="FF0000"/>
                </a:solidFill>
                <a:cs typeface="B Nazanin" panose="00000400000000000000" pitchFamily="2" charset="-78"/>
              </a:rPr>
              <a:t>4- فناوری مناسب</a:t>
            </a:r>
          </a:p>
          <a:p>
            <a:pPr algn="just" rtl="1">
              <a:lnSpc>
                <a:spcPct val="150000"/>
              </a:lnSpc>
            </a:pPr>
            <a:r>
              <a:rPr lang="fa-IR" b="1" dirty="0">
                <a:solidFill>
                  <a:schemeClr val="tx1"/>
                </a:solidFill>
                <a:cs typeface="B Nazanin" panose="00000400000000000000" pitchFamily="2" charset="-78"/>
              </a:rPr>
              <a:t>منظور فناوری معتبر علمی و قابل انطباق با نیازهای محلی و قابل پذیرش توسط ارائه‌کنندگان و گیرندگان خدمت است که با اتکا بر منابع جامعه و با بهایی قابل پرداخت توسط کشور قابل نگهداری باشد.</a:t>
            </a:r>
          </a:p>
          <a:p>
            <a:pPr algn="just" rtl="1">
              <a:lnSpc>
                <a:spcPct val="150000"/>
              </a:lnSpc>
            </a:pPr>
            <a:r>
              <a:rPr lang="fa-IR" b="1" dirty="0">
                <a:solidFill>
                  <a:schemeClr val="tx1"/>
                </a:solidFill>
                <a:cs typeface="B Nazanin" panose="00000400000000000000" pitchFamily="2" charset="-78"/>
              </a:rPr>
              <a:t>به طور خلاصه فناوری مناسب ترکیبی است که هم نیازهای مراقبت بهداشتی و هم بافت اقتصادی اجتماعی کشور را در نظر می‌گیرد.</a:t>
            </a:r>
          </a:p>
        </p:txBody>
      </p:sp>
      <p:sp>
        <p:nvSpPr>
          <p:cNvPr id="4" name="Slide Number Placeholder 3"/>
          <p:cNvSpPr>
            <a:spLocks noGrp="1"/>
          </p:cNvSpPr>
          <p:nvPr>
            <p:ph type="sldNum" sz="quarter" idx="12"/>
          </p:nvPr>
        </p:nvSpPr>
        <p:spPr/>
        <p:txBody>
          <a:bodyPr/>
          <a:lstStyle/>
          <a:p>
            <a:fld id="{2D8CB573-7144-4842-A8FD-250830F20887}" type="slidenum">
              <a:rPr lang="en-US" smtClean="0"/>
              <a:t>4</a:t>
            </a:fld>
            <a:endParaRPr lang="en-US"/>
          </a:p>
        </p:txBody>
      </p:sp>
    </p:spTree>
    <p:extLst>
      <p:ext uri="{BB962C8B-B14F-4D97-AF65-F5344CB8AC3E}">
        <p14:creationId xmlns:p14="http://schemas.microsoft.com/office/powerpoint/2010/main" val="19821466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60227" y="157018"/>
            <a:ext cx="9875520" cy="1356360"/>
          </a:xfrm>
        </p:spPr>
        <p:txBody>
          <a:bodyPr/>
          <a:lstStyle/>
          <a:p>
            <a:pPr algn="r" rtl="1"/>
            <a:r>
              <a:rPr lang="fa-IR" sz="3600" dirty="0">
                <a:solidFill>
                  <a:srgbClr val="A6B727"/>
                </a:solidFill>
                <a:cs typeface="2  Titr" panose="00000700000000000000" pitchFamily="2" charset="-78"/>
              </a:rPr>
              <a:t>ادامه‌ی اصول مراقبت‌های بهداشتی اولیه...</a:t>
            </a:r>
            <a:endParaRPr lang="en-US" dirty="0"/>
          </a:p>
        </p:txBody>
      </p:sp>
      <p:sp>
        <p:nvSpPr>
          <p:cNvPr id="3" name="Content Placeholder 2"/>
          <p:cNvSpPr>
            <a:spLocks noGrp="1"/>
          </p:cNvSpPr>
          <p:nvPr>
            <p:ph idx="1"/>
          </p:nvPr>
        </p:nvSpPr>
        <p:spPr>
          <a:xfrm>
            <a:off x="1162876" y="1228436"/>
            <a:ext cx="9872871" cy="5080001"/>
          </a:xfrm>
        </p:spPr>
        <p:txBody>
          <a:bodyPr>
            <a:normAutofit/>
          </a:bodyPr>
          <a:lstStyle/>
          <a:p>
            <a:pPr marL="45720" lvl="0" indent="0" algn="just" rtl="1">
              <a:lnSpc>
                <a:spcPct val="150000"/>
              </a:lnSpc>
              <a:buClr>
                <a:srgbClr val="A6B727"/>
              </a:buClr>
              <a:buNone/>
            </a:pPr>
            <a:r>
              <a:rPr lang="fa-IR" sz="2000" b="1" dirty="0">
                <a:solidFill>
                  <a:srgbClr val="FF0000"/>
                </a:solidFill>
                <a:cs typeface="B Nazanin" panose="00000400000000000000" pitchFamily="2" charset="-78"/>
              </a:rPr>
              <a:t>5-</a:t>
            </a:r>
            <a:r>
              <a:rPr lang="fa-IR" sz="2000" b="1" dirty="0">
                <a:solidFill>
                  <a:srgbClr val="000000"/>
                </a:solidFill>
                <a:cs typeface="B Nazanin" panose="00000400000000000000" pitchFamily="2" charset="-78"/>
              </a:rPr>
              <a:t> </a:t>
            </a:r>
            <a:r>
              <a:rPr lang="fa-IR" sz="2000" b="1" dirty="0">
                <a:solidFill>
                  <a:srgbClr val="FF0000"/>
                </a:solidFill>
                <a:cs typeface="B Nazanin" panose="00000400000000000000" pitchFamily="2" charset="-78"/>
              </a:rPr>
              <a:t>جامعیت خدمات </a:t>
            </a:r>
          </a:p>
          <a:p>
            <a:pPr marL="45720" lvl="0" indent="0" algn="just" rtl="1">
              <a:lnSpc>
                <a:spcPct val="150000"/>
              </a:lnSpc>
              <a:buClr>
                <a:srgbClr val="A6B727"/>
              </a:buClr>
              <a:buNone/>
            </a:pPr>
            <a:r>
              <a:rPr lang="fa-IR" sz="2000" b="1" dirty="0">
                <a:solidFill>
                  <a:srgbClr val="000000"/>
                </a:solidFill>
                <a:cs typeface="B Nazanin" panose="00000400000000000000" pitchFamily="2" charset="-78"/>
              </a:rPr>
              <a:t>مراقبت‌های بهداشتی اولیه یک رویکرد جامع است به عبارتی رویکرد جامع مراقبت‌های بهداشتی اولیه نیازمند استفاده از کارکنانی است که بتوانند در برخورد با مشکلات راه حل جامع ارائه دهند.</a:t>
            </a:r>
          </a:p>
          <a:p>
            <a:pPr marL="45720" lvl="0" indent="0" algn="just" rtl="1">
              <a:lnSpc>
                <a:spcPct val="150000"/>
              </a:lnSpc>
              <a:buClr>
                <a:srgbClr val="A6B727"/>
              </a:buClr>
              <a:buNone/>
            </a:pPr>
            <a:r>
              <a:rPr lang="fa-IR" sz="2000" b="1" dirty="0">
                <a:solidFill>
                  <a:srgbClr val="000000"/>
                </a:solidFill>
                <a:cs typeface="B Nazanin" panose="00000400000000000000" pitchFamily="2" charset="-78"/>
              </a:rPr>
              <a:t>مثال: برای کودک مبتلا به اسهال تنها مایع درمانی خوراکی کافی نیست. نگهداری سلامت کودک نیازمند ارائه آموزش به خانواده، بهداشت محیط و بهبود تغذیه است.</a:t>
            </a:r>
          </a:p>
          <a:p>
            <a:pPr marL="45720" lvl="0" indent="0" algn="just" rtl="1">
              <a:lnSpc>
                <a:spcPct val="150000"/>
              </a:lnSpc>
              <a:buClr>
                <a:srgbClr val="A6B727"/>
              </a:buClr>
              <a:buNone/>
            </a:pPr>
            <a:r>
              <a:rPr lang="fa-IR" sz="2000" b="1" dirty="0">
                <a:solidFill>
                  <a:srgbClr val="000000"/>
                </a:solidFill>
                <a:cs typeface="B Nazanin" panose="00000400000000000000" pitchFamily="2" charset="-78"/>
              </a:rPr>
              <a:t>3 اصل درمان در منزل باید به مادر آموزش داده شده شامل: 1- دادن مایعات اضافی 2- ادامه تغذیه (غذاهای آبکی) 3- زمان مراجعه مجدد </a:t>
            </a:r>
          </a:p>
          <a:p>
            <a:pPr marL="45720" lvl="0" indent="0" algn="just" rtl="1">
              <a:lnSpc>
                <a:spcPct val="150000"/>
              </a:lnSpc>
              <a:buClr>
                <a:srgbClr val="A6B727"/>
              </a:buClr>
              <a:buNone/>
            </a:pPr>
            <a:r>
              <a:rPr lang="fa-IR" sz="2000" b="1" dirty="0">
                <a:solidFill>
                  <a:srgbClr val="FF0000"/>
                </a:solidFill>
                <a:cs typeface="B Nazanin" panose="00000400000000000000" pitchFamily="2" charset="-78"/>
              </a:rPr>
              <a:t>6- تعهد سیاسی دولت</a:t>
            </a:r>
          </a:p>
          <a:p>
            <a:pPr marL="45720" lvl="0" indent="0" algn="just" rtl="1">
              <a:lnSpc>
                <a:spcPct val="150000"/>
              </a:lnSpc>
              <a:buClr>
                <a:srgbClr val="A6B727"/>
              </a:buClr>
              <a:buNone/>
            </a:pPr>
            <a:r>
              <a:rPr lang="fa-IR" sz="2000" b="1" dirty="0">
                <a:solidFill>
                  <a:srgbClr val="000000"/>
                </a:solidFill>
                <a:cs typeface="B Nazanin" panose="00000400000000000000" pitchFamily="2" charset="-78"/>
              </a:rPr>
              <a:t>دولت‌ها مسئولیت مهم و اصلی را در زمینه دستیابی به سلامت دارند و در این زمینه باید مسئولیت‌پذیر باشند.</a:t>
            </a:r>
          </a:p>
        </p:txBody>
      </p:sp>
      <p:sp>
        <p:nvSpPr>
          <p:cNvPr id="4" name="Slide Number Placeholder 3"/>
          <p:cNvSpPr>
            <a:spLocks noGrp="1"/>
          </p:cNvSpPr>
          <p:nvPr>
            <p:ph type="sldNum" sz="quarter" idx="12"/>
          </p:nvPr>
        </p:nvSpPr>
        <p:spPr/>
        <p:txBody>
          <a:bodyPr/>
          <a:lstStyle/>
          <a:p>
            <a:fld id="{2D8CB573-7144-4842-A8FD-250830F20887}" type="slidenum">
              <a:rPr lang="en-US" smtClean="0"/>
              <a:t>5</a:t>
            </a:fld>
            <a:endParaRPr lang="en-US"/>
          </a:p>
        </p:txBody>
      </p:sp>
    </p:spTree>
    <p:extLst>
      <p:ext uri="{BB962C8B-B14F-4D97-AF65-F5344CB8AC3E}">
        <p14:creationId xmlns:p14="http://schemas.microsoft.com/office/powerpoint/2010/main" val="39680510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rtl="1"/>
            <a:r>
              <a:rPr lang="fa-IR" dirty="0">
                <a:cs typeface="2  Titr" panose="00000700000000000000" pitchFamily="2" charset="-78"/>
              </a:rPr>
              <a:t>اجزای مراقبت‌های بهداشتی اولیه</a:t>
            </a:r>
            <a:endParaRPr lang="en-US" dirty="0">
              <a:cs typeface="2  Titr" panose="00000700000000000000" pitchFamily="2" charset="-78"/>
            </a:endParaRPr>
          </a:p>
        </p:txBody>
      </p:sp>
      <p:sp>
        <p:nvSpPr>
          <p:cNvPr id="3" name="Content Placeholder 2"/>
          <p:cNvSpPr>
            <a:spLocks noGrp="1"/>
          </p:cNvSpPr>
          <p:nvPr>
            <p:ph idx="1"/>
          </p:nvPr>
        </p:nvSpPr>
        <p:spPr>
          <a:xfrm>
            <a:off x="5634182" y="2128064"/>
            <a:ext cx="5680363" cy="2955636"/>
          </a:xfrm>
        </p:spPr>
        <p:txBody>
          <a:bodyPr>
            <a:noAutofit/>
          </a:bodyPr>
          <a:lstStyle/>
          <a:p>
            <a:pPr algn="r" rtl="1"/>
            <a:r>
              <a:rPr lang="fa-IR" sz="2400" b="1" dirty="0">
                <a:solidFill>
                  <a:srgbClr val="000000"/>
                </a:solidFill>
                <a:cs typeface="B Nazanin" panose="00000400000000000000" pitchFamily="2" charset="-78"/>
              </a:rPr>
              <a:t>آموزش بهداشت</a:t>
            </a:r>
          </a:p>
          <a:p>
            <a:pPr algn="r" rtl="1"/>
            <a:r>
              <a:rPr lang="fa-IR" sz="2400" b="1" dirty="0">
                <a:solidFill>
                  <a:srgbClr val="000000"/>
                </a:solidFill>
                <a:cs typeface="B Nazanin" panose="00000400000000000000" pitchFamily="2" charset="-78"/>
              </a:rPr>
              <a:t>تغذیه مناسب</a:t>
            </a:r>
          </a:p>
          <a:p>
            <a:pPr algn="r" rtl="1"/>
            <a:r>
              <a:rPr lang="fa-IR" sz="2400" b="1" dirty="0">
                <a:solidFill>
                  <a:srgbClr val="000000"/>
                </a:solidFill>
                <a:cs typeface="B Nazanin" panose="00000400000000000000" pitchFamily="2" charset="-78"/>
              </a:rPr>
              <a:t>تامین آب کافی و سالم و بهسازی محیط</a:t>
            </a:r>
          </a:p>
          <a:p>
            <a:pPr algn="r" rtl="1"/>
            <a:r>
              <a:rPr lang="fa-IR" sz="2400" b="1" dirty="0">
                <a:solidFill>
                  <a:srgbClr val="000000"/>
                </a:solidFill>
                <a:cs typeface="B Nazanin" panose="00000400000000000000" pitchFamily="2" charset="-78"/>
              </a:rPr>
              <a:t>مراقبت بهداشتی مادر و کودک و تنظیم خانواده</a:t>
            </a:r>
          </a:p>
          <a:p>
            <a:pPr algn="r" rtl="1"/>
            <a:r>
              <a:rPr lang="fa-IR" sz="2400" b="1" dirty="0">
                <a:solidFill>
                  <a:srgbClr val="000000"/>
                </a:solidFill>
                <a:cs typeface="B Nazanin" panose="00000400000000000000" pitchFamily="2" charset="-78"/>
              </a:rPr>
              <a:t>ایمن‌سازی علیه بیماری‌های عمده عفونی</a:t>
            </a:r>
          </a:p>
          <a:p>
            <a:pPr algn="r" rtl="1"/>
            <a:r>
              <a:rPr lang="fa-IR" sz="2400" b="1" dirty="0">
                <a:solidFill>
                  <a:srgbClr val="000000"/>
                </a:solidFill>
                <a:cs typeface="B Nazanin" panose="00000400000000000000" pitchFamily="2" charset="-78"/>
              </a:rPr>
              <a:t>پیشگیری از بیماری‌های بومی شایع و کنترل آن‌ها</a:t>
            </a:r>
          </a:p>
        </p:txBody>
      </p:sp>
      <p:sp>
        <p:nvSpPr>
          <p:cNvPr id="4" name="Slide Number Placeholder 3"/>
          <p:cNvSpPr>
            <a:spLocks noGrp="1"/>
          </p:cNvSpPr>
          <p:nvPr>
            <p:ph type="sldNum" sz="quarter" idx="12"/>
          </p:nvPr>
        </p:nvSpPr>
        <p:spPr/>
        <p:txBody>
          <a:bodyPr/>
          <a:lstStyle/>
          <a:p>
            <a:fld id="{2D8CB573-7144-4842-A8FD-250830F20887}" type="slidenum">
              <a:rPr lang="en-US" smtClean="0"/>
              <a:t>6</a:t>
            </a:fld>
            <a:endParaRPr lang="en-US"/>
          </a:p>
        </p:txBody>
      </p:sp>
      <p:sp>
        <p:nvSpPr>
          <p:cNvPr id="5" name="Rectangle 4"/>
          <p:cNvSpPr/>
          <p:nvPr/>
        </p:nvSpPr>
        <p:spPr>
          <a:xfrm>
            <a:off x="960582" y="2128064"/>
            <a:ext cx="4535054" cy="2481705"/>
          </a:xfrm>
          <a:prstGeom prst="rect">
            <a:avLst/>
          </a:prstGeom>
        </p:spPr>
        <p:txBody>
          <a:bodyPr wrap="square">
            <a:spAutoFit/>
          </a:bodyPr>
          <a:lstStyle/>
          <a:p>
            <a:pPr marL="228600" lvl="0" indent="-182880" algn="r" rtl="1">
              <a:lnSpc>
                <a:spcPct val="90000"/>
              </a:lnSpc>
              <a:spcBef>
                <a:spcPts val="1400"/>
              </a:spcBef>
              <a:buClr>
                <a:srgbClr val="A6B727"/>
              </a:buClr>
              <a:buSzPct val="80000"/>
              <a:buFont typeface="Corbel" pitchFamily="34" charset="0"/>
              <a:buChar char="•"/>
            </a:pPr>
            <a:r>
              <a:rPr lang="fa-IR" sz="2400" b="1" dirty="0">
                <a:solidFill>
                  <a:srgbClr val="000000"/>
                </a:solidFill>
                <a:cs typeface="B Nazanin" panose="00000400000000000000" pitchFamily="2" charset="-78"/>
              </a:rPr>
              <a:t>درمان مناسب بیماری و حوادث شایع</a:t>
            </a:r>
          </a:p>
          <a:p>
            <a:pPr marL="228600" lvl="0" indent="-182880" algn="r" rtl="1">
              <a:lnSpc>
                <a:spcPct val="90000"/>
              </a:lnSpc>
              <a:spcBef>
                <a:spcPts val="1400"/>
              </a:spcBef>
              <a:buClr>
                <a:srgbClr val="A6B727"/>
              </a:buClr>
              <a:buSzPct val="80000"/>
              <a:buFont typeface="Corbel" pitchFamily="34" charset="0"/>
              <a:buChar char="•"/>
            </a:pPr>
            <a:r>
              <a:rPr lang="fa-IR" sz="2400" b="1" dirty="0">
                <a:solidFill>
                  <a:srgbClr val="000000"/>
                </a:solidFill>
                <a:cs typeface="B Nazanin" panose="00000400000000000000" pitchFamily="2" charset="-78"/>
              </a:rPr>
              <a:t>تدارک داروهای اساسی</a:t>
            </a:r>
          </a:p>
          <a:p>
            <a:pPr marL="228600" lvl="0" indent="-182880" algn="r" rtl="1">
              <a:lnSpc>
                <a:spcPct val="90000"/>
              </a:lnSpc>
              <a:spcBef>
                <a:spcPts val="1400"/>
              </a:spcBef>
              <a:buClr>
                <a:srgbClr val="A6B727"/>
              </a:buClr>
              <a:buSzPct val="80000"/>
              <a:buFont typeface="Corbel" pitchFamily="34" charset="0"/>
              <a:buChar char="•"/>
            </a:pPr>
            <a:r>
              <a:rPr lang="fa-IR" sz="2400" b="1" dirty="0">
                <a:solidFill>
                  <a:srgbClr val="000000"/>
                </a:solidFill>
                <a:cs typeface="B Nazanin" panose="00000400000000000000" pitchFamily="2" charset="-78"/>
              </a:rPr>
              <a:t>بهداشت دهان و دندان</a:t>
            </a:r>
          </a:p>
          <a:p>
            <a:pPr marL="228600" lvl="0" indent="-182880" algn="r" rtl="1">
              <a:lnSpc>
                <a:spcPct val="90000"/>
              </a:lnSpc>
              <a:spcBef>
                <a:spcPts val="1400"/>
              </a:spcBef>
              <a:buClr>
                <a:srgbClr val="A6B727"/>
              </a:buClr>
              <a:buSzPct val="80000"/>
              <a:buFont typeface="Corbel" pitchFamily="34" charset="0"/>
              <a:buChar char="•"/>
            </a:pPr>
            <a:r>
              <a:rPr lang="fa-IR" sz="2400" b="1" dirty="0">
                <a:solidFill>
                  <a:srgbClr val="000000"/>
                </a:solidFill>
                <a:cs typeface="B Nazanin" panose="00000400000000000000" pitchFamily="2" charset="-78"/>
              </a:rPr>
              <a:t>بهداشت روان</a:t>
            </a:r>
          </a:p>
          <a:p>
            <a:pPr marL="228600" lvl="0" indent="-182880" algn="r" rtl="1">
              <a:lnSpc>
                <a:spcPct val="90000"/>
              </a:lnSpc>
              <a:spcBef>
                <a:spcPts val="1400"/>
              </a:spcBef>
              <a:buClr>
                <a:srgbClr val="A6B727"/>
              </a:buClr>
              <a:buSzPct val="80000"/>
              <a:buFont typeface="Corbel" pitchFamily="34" charset="0"/>
              <a:buChar char="•"/>
            </a:pPr>
            <a:r>
              <a:rPr lang="fa-IR" sz="2400" b="1" dirty="0">
                <a:solidFill>
                  <a:srgbClr val="000000"/>
                </a:solidFill>
                <a:cs typeface="B Nazanin" panose="00000400000000000000" pitchFamily="2" charset="-78"/>
              </a:rPr>
              <a:t>آمادگی مقابله با بلایای طبیعی </a:t>
            </a:r>
            <a:endParaRPr lang="en-US" sz="2400" b="1" dirty="0">
              <a:solidFill>
                <a:srgbClr val="000000"/>
              </a:solidFill>
              <a:cs typeface="B Nazanin" panose="00000400000000000000" pitchFamily="2" charset="-78"/>
            </a:endParaRPr>
          </a:p>
        </p:txBody>
      </p:sp>
    </p:spTree>
    <p:extLst>
      <p:ext uri="{BB962C8B-B14F-4D97-AF65-F5344CB8AC3E}">
        <p14:creationId xmlns:p14="http://schemas.microsoft.com/office/powerpoint/2010/main" val="20854993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2D8CB573-7144-4842-A8FD-250830F20887}" type="slidenum">
              <a:rPr lang="en-US" smtClean="0"/>
              <a:t>7</a:t>
            </a:fld>
            <a:endParaRPr lang="en-US"/>
          </a:p>
        </p:txBody>
      </p:sp>
      <p:pic>
        <p:nvPicPr>
          <p:cNvPr id="6" name="Picture 5"/>
          <p:cNvPicPr>
            <a:picLocks noChangeAspect="1"/>
          </p:cNvPicPr>
          <p:nvPr/>
        </p:nvPicPr>
        <p:blipFill>
          <a:blip r:embed="rId2"/>
          <a:stretch>
            <a:fillRect/>
          </a:stretch>
        </p:blipFill>
        <p:spPr>
          <a:xfrm>
            <a:off x="3436954" y="520330"/>
            <a:ext cx="5300646" cy="6068623"/>
          </a:xfrm>
          <a:prstGeom prst="rect">
            <a:avLst/>
          </a:prstGeom>
        </p:spPr>
      </p:pic>
    </p:spTree>
    <p:extLst>
      <p:ext uri="{BB962C8B-B14F-4D97-AF65-F5344CB8AC3E}">
        <p14:creationId xmlns:p14="http://schemas.microsoft.com/office/powerpoint/2010/main" val="8083176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pPr algn="ctr" rtl="1"/>
            <a:r>
              <a:rPr lang="fa-IR" dirty="0">
                <a:cs typeface="2  Titr" panose="00000700000000000000" pitchFamily="2" charset="-78"/>
              </a:rPr>
              <a:t>واحدهای ارائه خدمات سلامت در کشور</a:t>
            </a:r>
            <a:endParaRPr lang="en-US" dirty="0">
              <a:cs typeface="2  Titr" panose="00000700000000000000" pitchFamily="2" charset="-78"/>
            </a:endParaRPr>
          </a:p>
        </p:txBody>
      </p:sp>
      <p:sp>
        <p:nvSpPr>
          <p:cNvPr id="4" name="Content Placeholder 3"/>
          <p:cNvSpPr>
            <a:spLocks noGrp="1"/>
          </p:cNvSpPr>
          <p:nvPr>
            <p:ph idx="1"/>
          </p:nvPr>
        </p:nvSpPr>
        <p:spPr>
          <a:xfrm>
            <a:off x="1143000" y="1874982"/>
            <a:ext cx="9872871" cy="4348846"/>
          </a:xfrm>
        </p:spPr>
        <p:txBody>
          <a:bodyPr>
            <a:normAutofit/>
          </a:bodyPr>
          <a:lstStyle/>
          <a:p>
            <a:pPr algn="r" rtl="1"/>
            <a:r>
              <a:rPr lang="fa-IR" sz="2000" b="1" dirty="0">
                <a:solidFill>
                  <a:srgbClr val="000000"/>
                </a:solidFill>
                <a:cs typeface="B Nazanin" panose="00000400000000000000" pitchFamily="2" charset="-78"/>
              </a:rPr>
              <a:t>خانه بهداشت</a:t>
            </a:r>
          </a:p>
          <a:p>
            <a:pPr algn="r" rtl="1"/>
            <a:r>
              <a:rPr lang="fa-IR" sz="2000" b="1" dirty="0">
                <a:solidFill>
                  <a:srgbClr val="000000"/>
                </a:solidFill>
                <a:cs typeface="B Nazanin" panose="00000400000000000000" pitchFamily="2" charset="-78"/>
              </a:rPr>
              <a:t>پایگاه بهداشت روستایی</a:t>
            </a:r>
          </a:p>
          <a:p>
            <a:pPr algn="r" rtl="1"/>
            <a:r>
              <a:rPr lang="fa-IR" sz="2000" b="1" dirty="0">
                <a:solidFill>
                  <a:srgbClr val="000000"/>
                </a:solidFill>
                <a:cs typeface="B Nazanin" panose="00000400000000000000" pitchFamily="2" charset="-78"/>
              </a:rPr>
              <a:t>پایگاه ضمیمه (در داخل مرکز مستقر هستند و اطلاعات آن در داخل مرکز بهداشتی درمانی شهری وارد می‌شود)</a:t>
            </a:r>
          </a:p>
          <a:p>
            <a:pPr algn="r" rtl="1"/>
            <a:r>
              <a:rPr lang="fa-IR" sz="2000" b="1" dirty="0">
                <a:solidFill>
                  <a:srgbClr val="000000"/>
                </a:solidFill>
                <a:cs typeface="B Nazanin" panose="00000400000000000000" pitchFamily="2" charset="-78"/>
              </a:rPr>
              <a:t>پایگاه غیرضمیمه</a:t>
            </a:r>
          </a:p>
          <a:p>
            <a:pPr algn="r" rtl="1"/>
            <a:r>
              <a:rPr lang="fa-IR" sz="2000" b="1" dirty="0">
                <a:solidFill>
                  <a:srgbClr val="000000"/>
                </a:solidFill>
                <a:cs typeface="B Nazanin" panose="00000400000000000000" pitchFamily="2" charset="-78"/>
              </a:rPr>
              <a:t>مرکز بهداشتی درمانی روستایی</a:t>
            </a:r>
          </a:p>
          <a:p>
            <a:pPr algn="r" rtl="1"/>
            <a:r>
              <a:rPr lang="fa-IR" sz="2000" b="1" dirty="0">
                <a:solidFill>
                  <a:srgbClr val="000000"/>
                </a:solidFill>
                <a:cs typeface="B Nazanin" panose="00000400000000000000" pitchFamily="2" charset="-78"/>
              </a:rPr>
              <a:t>مرکز بهداشتی درمانی شهری</a:t>
            </a:r>
          </a:p>
          <a:p>
            <a:pPr algn="r" rtl="1"/>
            <a:r>
              <a:rPr lang="fa-IR" sz="2000" b="1" dirty="0">
                <a:solidFill>
                  <a:srgbClr val="000000"/>
                </a:solidFill>
                <a:cs typeface="B Nazanin" panose="00000400000000000000" pitchFamily="2" charset="-78"/>
              </a:rPr>
              <a:t>مرکز شبانه‌روزی روستایی درجه 1 و 2</a:t>
            </a:r>
          </a:p>
          <a:p>
            <a:pPr algn="r" rtl="1"/>
            <a:r>
              <a:rPr lang="fa-IR" sz="2000" b="1" dirty="0">
                <a:solidFill>
                  <a:srgbClr val="000000"/>
                </a:solidFill>
                <a:cs typeface="B Nazanin" panose="00000400000000000000" pitchFamily="2" charset="-78"/>
              </a:rPr>
              <a:t>مرکز شبانه‌روزی شهری درجه 1 و 2</a:t>
            </a:r>
            <a:endParaRPr lang="en-US" sz="2000" b="1" dirty="0">
              <a:solidFill>
                <a:srgbClr val="000000"/>
              </a:solidFill>
              <a:cs typeface="B Nazanin" panose="00000400000000000000" pitchFamily="2" charset="-78"/>
            </a:endParaRPr>
          </a:p>
        </p:txBody>
      </p:sp>
      <p:sp>
        <p:nvSpPr>
          <p:cNvPr id="2" name="Slide Number Placeholder 1"/>
          <p:cNvSpPr>
            <a:spLocks noGrp="1"/>
          </p:cNvSpPr>
          <p:nvPr>
            <p:ph type="sldNum" sz="quarter" idx="12"/>
          </p:nvPr>
        </p:nvSpPr>
        <p:spPr/>
        <p:txBody>
          <a:bodyPr/>
          <a:lstStyle/>
          <a:p>
            <a:fld id="{2D8CB573-7144-4842-A8FD-250830F20887}" type="slidenum">
              <a:rPr lang="en-US" smtClean="0"/>
              <a:t>8</a:t>
            </a:fld>
            <a:endParaRPr lang="en-US"/>
          </a:p>
        </p:txBody>
      </p:sp>
    </p:spTree>
    <p:extLst>
      <p:ext uri="{BB962C8B-B14F-4D97-AF65-F5344CB8AC3E}">
        <p14:creationId xmlns:p14="http://schemas.microsoft.com/office/powerpoint/2010/main" val="32866501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r" rtl="1"/>
            <a:r>
              <a:rPr lang="fa-IR" sz="3600" dirty="0">
                <a:solidFill>
                  <a:srgbClr val="A6B727"/>
                </a:solidFill>
                <a:cs typeface="2  Titr" panose="00000700000000000000" pitchFamily="2" charset="-78"/>
              </a:rPr>
              <a:t>ادامه‌ی واحدهای ارائه خدمات سلامت در کشور...</a:t>
            </a:r>
            <a:endParaRPr lang="en-US" sz="3600" dirty="0"/>
          </a:p>
        </p:txBody>
      </p:sp>
      <p:sp>
        <p:nvSpPr>
          <p:cNvPr id="3" name="Content Placeholder 2"/>
          <p:cNvSpPr>
            <a:spLocks noGrp="1"/>
          </p:cNvSpPr>
          <p:nvPr>
            <p:ph idx="1"/>
          </p:nvPr>
        </p:nvSpPr>
        <p:spPr>
          <a:xfrm>
            <a:off x="1145649" y="1865745"/>
            <a:ext cx="9872871" cy="4358083"/>
          </a:xfrm>
        </p:spPr>
        <p:txBody>
          <a:bodyPr>
            <a:normAutofit/>
          </a:bodyPr>
          <a:lstStyle/>
          <a:p>
            <a:pPr algn="r" rtl="1"/>
            <a:r>
              <a:rPr lang="fa-IR" sz="2400" b="1" dirty="0">
                <a:solidFill>
                  <a:srgbClr val="000000"/>
                </a:solidFill>
                <a:cs typeface="B Nazanin" panose="00000400000000000000" pitchFamily="2" charset="-78"/>
              </a:rPr>
              <a:t>تسهیلات زایمانی</a:t>
            </a:r>
          </a:p>
          <a:p>
            <a:pPr algn="r" rtl="1"/>
            <a:r>
              <a:rPr lang="fa-IR" sz="2400" b="1" dirty="0">
                <a:solidFill>
                  <a:srgbClr val="000000"/>
                </a:solidFill>
                <a:cs typeface="B Nazanin" panose="00000400000000000000" pitchFamily="2" charset="-78"/>
              </a:rPr>
              <a:t>مرکز بهداشت شهرستان</a:t>
            </a:r>
          </a:p>
          <a:p>
            <a:pPr algn="r" rtl="1"/>
            <a:r>
              <a:rPr lang="fa-IR" sz="2400" b="1" dirty="0">
                <a:solidFill>
                  <a:srgbClr val="000000"/>
                </a:solidFill>
                <a:cs typeface="B Nazanin" panose="00000400000000000000" pitchFamily="2" charset="-78"/>
              </a:rPr>
              <a:t>درمانگاه</a:t>
            </a:r>
          </a:p>
          <a:p>
            <a:pPr algn="r" rtl="1"/>
            <a:r>
              <a:rPr lang="fa-IR" sz="2400" b="1" dirty="0">
                <a:solidFill>
                  <a:srgbClr val="000000"/>
                </a:solidFill>
                <a:cs typeface="B Nazanin" panose="00000400000000000000" pitchFamily="2" charset="-78"/>
              </a:rPr>
              <a:t>کلینیک </a:t>
            </a:r>
          </a:p>
          <a:p>
            <a:pPr algn="r" rtl="1"/>
            <a:r>
              <a:rPr lang="fa-IR" sz="2400" b="1" dirty="0">
                <a:solidFill>
                  <a:srgbClr val="000000"/>
                </a:solidFill>
                <a:cs typeface="B Nazanin" panose="00000400000000000000" pitchFamily="2" charset="-78"/>
              </a:rPr>
              <a:t>پلی‌کلینیک</a:t>
            </a:r>
          </a:p>
          <a:p>
            <a:pPr algn="r" rtl="1"/>
            <a:r>
              <a:rPr lang="fa-IR" sz="2400" b="1" dirty="0">
                <a:solidFill>
                  <a:srgbClr val="000000"/>
                </a:solidFill>
                <a:cs typeface="B Nazanin" panose="00000400000000000000" pitchFamily="2" charset="-78"/>
              </a:rPr>
              <a:t>بیمارستان</a:t>
            </a:r>
          </a:p>
          <a:p>
            <a:pPr algn="r" rtl="1"/>
            <a:r>
              <a:rPr lang="fa-IR" sz="2400" b="1" dirty="0">
                <a:solidFill>
                  <a:srgbClr val="000000"/>
                </a:solidFill>
                <a:cs typeface="B Nazanin" panose="00000400000000000000" pitchFamily="2" charset="-78"/>
              </a:rPr>
              <a:t>توانبخشی</a:t>
            </a:r>
          </a:p>
          <a:p>
            <a:pPr algn="r" rtl="1"/>
            <a:r>
              <a:rPr lang="fa-IR" sz="2400" b="1" dirty="0">
                <a:solidFill>
                  <a:srgbClr val="000000"/>
                </a:solidFill>
                <a:cs typeface="B Nazanin" panose="00000400000000000000" pitchFamily="2" charset="-78"/>
              </a:rPr>
              <a:t>مرکز طب کار و خانه بهداشت کارگری</a:t>
            </a:r>
            <a:endParaRPr lang="en-US" sz="2400" b="1" dirty="0">
              <a:solidFill>
                <a:srgbClr val="000000"/>
              </a:solidFill>
              <a:cs typeface="B Nazanin" panose="00000400000000000000" pitchFamily="2" charset="-78"/>
            </a:endParaRPr>
          </a:p>
        </p:txBody>
      </p:sp>
      <p:sp>
        <p:nvSpPr>
          <p:cNvPr id="4" name="Slide Number Placeholder 3"/>
          <p:cNvSpPr>
            <a:spLocks noGrp="1"/>
          </p:cNvSpPr>
          <p:nvPr>
            <p:ph type="sldNum" sz="quarter" idx="12"/>
          </p:nvPr>
        </p:nvSpPr>
        <p:spPr/>
        <p:txBody>
          <a:bodyPr/>
          <a:lstStyle/>
          <a:p>
            <a:fld id="{2D8CB573-7144-4842-A8FD-250830F20887}" type="slidenum">
              <a:rPr lang="en-US" smtClean="0"/>
              <a:t>9</a:t>
            </a:fld>
            <a:endParaRPr lang="en-US"/>
          </a:p>
        </p:txBody>
      </p:sp>
      <p:pic>
        <p:nvPicPr>
          <p:cNvPr id="5" name="Picture 4"/>
          <p:cNvPicPr>
            <a:picLocks noChangeAspect="1"/>
          </p:cNvPicPr>
          <p:nvPr/>
        </p:nvPicPr>
        <p:blipFill>
          <a:blip r:embed="rId2"/>
          <a:stretch>
            <a:fillRect/>
          </a:stretch>
        </p:blipFill>
        <p:spPr>
          <a:xfrm>
            <a:off x="1374227" y="2295342"/>
            <a:ext cx="3962082" cy="2756949"/>
          </a:xfrm>
          <a:prstGeom prst="rect">
            <a:avLst/>
          </a:prstGeom>
        </p:spPr>
      </p:pic>
    </p:spTree>
    <p:extLst>
      <p:ext uri="{BB962C8B-B14F-4D97-AF65-F5344CB8AC3E}">
        <p14:creationId xmlns:p14="http://schemas.microsoft.com/office/powerpoint/2010/main" val="22858997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r" rtl="1"/>
            <a:r>
              <a:rPr lang="fa-IR" sz="3200" dirty="0">
                <a:cs typeface="2  Titr" panose="00000700000000000000" pitchFamily="2" charset="-78"/>
              </a:rPr>
              <a:t>سطوح ارائه خدمات شبکه بهداشتی درمانی دانشگاهی و نظام ارجاع</a:t>
            </a:r>
            <a:endParaRPr lang="en-US" sz="3200" dirty="0">
              <a:cs typeface="2  Titr" panose="00000700000000000000" pitchFamily="2" charset="-78"/>
            </a:endParaRPr>
          </a:p>
        </p:txBody>
      </p:sp>
      <p:sp>
        <p:nvSpPr>
          <p:cNvPr id="4" name="Slide Number Placeholder 3"/>
          <p:cNvSpPr>
            <a:spLocks noGrp="1"/>
          </p:cNvSpPr>
          <p:nvPr>
            <p:ph type="sldNum" sz="quarter" idx="12"/>
          </p:nvPr>
        </p:nvSpPr>
        <p:spPr/>
        <p:txBody>
          <a:bodyPr/>
          <a:lstStyle/>
          <a:p>
            <a:fld id="{2D8CB573-7144-4842-A8FD-250830F20887}" type="slidenum">
              <a:rPr lang="en-US" smtClean="0"/>
              <a:t>10</a:t>
            </a:fld>
            <a:endParaRPr lang="en-US"/>
          </a:p>
        </p:txBody>
      </p:sp>
      <p:pic>
        <p:nvPicPr>
          <p:cNvPr id="6" name="Picture 5"/>
          <p:cNvPicPr>
            <a:picLocks noChangeAspect="1"/>
          </p:cNvPicPr>
          <p:nvPr/>
        </p:nvPicPr>
        <p:blipFill>
          <a:blip r:embed="rId2"/>
          <a:stretch>
            <a:fillRect/>
          </a:stretch>
        </p:blipFill>
        <p:spPr>
          <a:xfrm>
            <a:off x="2256002" y="1965960"/>
            <a:ext cx="4052433" cy="4555491"/>
          </a:xfrm>
          <a:prstGeom prst="rect">
            <a:avLst/>
          </a:prstGeom>
        </p:spPr>
      </p:pic>
      <p:sp>
        <p:nvSpPr>
          <p:cNvPr id="7" name="Left-Right Arrow 6"/>
          <p:cNvSpPr/>
          <p:nvPr/>
        </p:nvSpPr>
        <p:spPr>
          <a:xfrm rot="5400000">
            <a:off x="5791719" y="4828450"/>
            <a:ext cx="2512294" cy="484632"/>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Left-Right Arrow 7"/>
          <p:cNvSpPr/>
          <p:nvPr/>
        </p:nvSpPr>
        <p:spPr>
          <a:xfrm rot="5400000">
            <a:off x="6566050" y="3050043"/>
            <a:ext cx="942110" cy="484632"/>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Left-Right Arrow 8"/>
          <p:cNvSpPr/>
          <p:nvPr/>
        </p:nvSpPr>
        <p:spPr>
          <a:xfrm rot="5400000">
            <a:off x="6635324" y="2166297"/>
            <a:ext cx="803562" cy="484632"/>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p:cNvSpPr txBox="1"/>
          <p:nvPr/>
        </p:nvSpPr>
        <p:spPr>
          <a:xfrm>
            <a:off x="8072581" y="4839933"/>
            <a:ext cx="1288491" cy="461665"/>
          </a:xfrm>
          <a:prstGeom prst="rect">
            <a:avLst/>
          </a:prstGeom>
        </p:spPr>
        <p:style>
          <a:lnRef idx="2">
            <a:schemeClr val="accent4"/>
          </a:lnRef>
          <a:fillRef idx="1">
            <a:schemeClr val="lt1"/>
          </a:fillRef>
          <a:effectRef idx="0">
            <a:schemeClr val="accent4"/>
          </a:effectRef>
          <a:fontRef idx="minor">
            <a:schemeClr val="dk1"/>
          </a:fontRef>
        </p:style>
        <p:txBody>
          <a:bodyPr wrap="square" rtlCol="0">
            <a:spAutoFit/>
          </a:bodyPr>
          <a:lstStyle/>
          <a:p>
            <a:pPr algn="ctr" rtl="1"/>
            <a:r>
              <a:rPr lang="fa-IR" sz="2400" dirty="0">
                <a:latin typeface="+mj-lt"/>
                <a:ea typeface="+mj-ea"/>
                <a:cs typeface="2  Titr" panose="00000700000000000000" pitchFamily="2" charset="-78"/>
              </a:rPr>
              <a:t>سطح اول</a:t>
            </a:r>
            <a:endParaRPr lang="en-US" sz="2400" dirty="0">
              <a:latin typeface="+mj-lt"/>
              <a:ea typeface="+mj-ea"/>
              <a:cs typeface="2  Titr" panose="00000700000000000000" pitchFamily="2" charset="-78"/>
            </a:endParaRPr>
          </a:p>
        </p:txBody>
      </p:sp>
      <p:sp>
        <p:nvSpPr>
          <p:cNvPr id="12" name="TextBox 11"/>
          <p:cNvSpPr txBox="1"/>
          <p:nvPr/>
        </p:nvSpPr>
        <p:spPr>
          <a:xfrm>
            <a:off x="8019232" y="3061526"/>
            <a:ext cx="1288491" cy="461665"/>
          </a:xfrm>
          <a:prstGeom prst="rect">
            <a:avLst/>
          </a:prstGeom>
        </p:spPr>
        <p:style>
          <a:lnRef idx="2">
            <a:schemeClr val="accent4"/>
          </a:lnRef>
          <a:fillRef idx="1">
            <a:schemeClr val="lt1"/>
          </a:fillRef>
          <a:effectRef idx="0">
            <a:schemeClr val="accent4"/>
          </a:effectRef>
          <a:fontRef idx="minor">
            <a:schemeClr val="dk1"/>
          </a:fontRef>
        </p:style>
        <p:txBody>
          <a:bodyPr wrap="square" rtlCol="0">
            <a:spAutoFit/>
          </a:bodyPr>
          <a:lstStyle/>
          <a:p>
            <a:pPr algn="ctr" rtl="1"/>
            <a:r>
              <a:rPr lang="fa-IR" sz="2400" dirty="0">
                <a:latin typeface="+mj-lt"/>
                <a:ea typeface="+mj-ea"/>
                <a:cs typeface="2  Titr" panose="00000700000000000000" pitchFamily="2" charset="-78"/>
              </a:rPr>
              <a:t>سطح دوم</a:t>
            </a:r>
            <a:endParaRPr lang="en-US" sz="2400" dirty="0">
              <a:latin typeface="+mj-lt"/>
              <a:ea typeface="+mj-ea"/>
              <a:cs typeface="2  Titr" panose="00000700000000000000" pitchFamily="2" charset="-78"/>
            </a:endParaRPr>
          </a:p>
        </p:txBody>
      </p:sp>
      <p:sp>
        <p:nvSpPr>
          <p:cNvPr id="13" name="TextBox 12"/>
          <p:cNvSpPr txBox="1"/>
          <p:nvPr/>
        </p:nvSpPr>
        <p:spPr>
          <a:xfrm>
            <a:off x="8072580" y="2138746"/>
            <a:ext cx="1288491" cy="461665"/>
          </a:xfrm>
          <a:prstGeom prst="rect">
            <a:avLst/>
          </a:prstGeom>
        </p:spPr>
        <p:style>
          <a:lnRef idx="2">
            <a:schemeClr val="accent4"/>
          </a:lnRef>
          <a:fillRef idx="1">
            <a:schemeClr val="lt1"/>
          </a:fillRef>
          <a:effectRef idx="0">
            <a:schemeClr val="accent4"/>
          </a:effectRef>
          <a:fontRef idx="minor">
            <a:schemeClr val="dk1"/>
          </a:fontRef>
        </p:style>
        <p:txBody>
          <a:bodyPr wrap="square" rtlCol="0">
            <a:spAutoFit/>
          </a:bodyPr>
          <a:lstStyle/>
          <a:p>
            <a:pPr algn="ctr" rtl="1"/>
            <a:r>
              <a:rPr lang="fa-IR" sz="2400" dirty="0">
                <a:latin typeface="+mj-lt"/>
                <a:ea typeface="+mj-ea"/>
                <a:cs typeface="2  Titr" panose="00000700000000000000" pitchFamily="2" charset="-78"/>
              </a:rPr>
              <a:t>سطح سوم</a:t>
            </a:r>
            <a:endParaRPr lang="en-US" sz="2400" dirty="0">
              <a:latin typeface="+mj-lt"/>
              <a:ea typeface="+mj-ea"/>
              <a:cs typeface="2  Titr" panose="00000700000000000000" pitchFamily="2" charset="-78"/>
            </a:endParaRPr>
          </a:p>
        </p:txBody>
      </p:sp>
    </p:spTree>
    <p:extLst>
      <p:ext uri="{BB962C8B-B14F-4D97-AF65-F5344CB8AC3E}">
        <p14:creationId xmlns:p14="http://schemas.microsoft.com/office/powerpoint/2010/main" val="38694016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62876" y="780971"/>
            <a:ext cx="9872871" cy="5442857"/>
          </a:xfrm>
        </p:spPr>
        <p:txBody>
          <a:bodyPr>
            <a:noAutofit/>
          </a:bodyPr>
          <a:lstStyle/>
          <a:p>
            <a:pPr algn="just" rtl="1"/>
            <a:r>
              <a:rPr lang="fa-IR" sz="2000" b="1" u="sng" dirty="0">
                <a:solidFill>
                  <a:srgbClr val="FF0000"/>
                </a:solidFill>
                <a:cs typeface="B Nazanin" panose="00000400000000000000" pitchFamily="2" charset="-78"/>
              </a:rPr>
              <a:t>روستای اصلی</a:t>
            </a:r>
          </a:p>
          <a:p>
            <a:pPr marL="45720" indent="0" algn="just" rtl="1">
              <a:buNone/>
            </a:pPr>
            <a:r>
              <a:rPr lang="fa-IR" sz="2000" b="1" dirty="0">
                <a:solidFill>
                  <a:srgbClr val="000000"/>
                </a:solidFill>
                <a:cs typeface="B Nazanin" panose="00000400000000000000" pitchFamily="2" charset="-78"/>
              </a:rPr>
              <a:t>این روستا طبق شرایط طرح گسترش وزارت بهداشت، درمان و آموزش پزشكي، ممکن است دارای مرکز بهداشتی درمانی روستایی باشد ولی دارای خانه بهداشت یا پایگاه بهداشت روستایی است. این روستا، روستای اصلی نام دارد ولی محل استقرار مرکز بهداشتی درمانی نمی‌باشد. روستای اصلی، روستای محل استقرار خانه بهداشت است.</a:t>
            </a:r>
          </a:p>
          <a:p>
            <a:pPr algn="just" rtl="1"/>
            <a:r>
              <a:rPr lang="fa-IR" sz="2000" b="1" u="sng" dirty="0">
                <a:solidFill>
                  <a:srgbClr val="FF0000"/>
                </a:solidFill>
                <a:cs typeface="B Nazanin" panose="00000400000000000000" pitchFamily="2" charset="-78"/>
              </a:rPr>
              <a:t>روستای قمر</a:t>
            </a:r>
          </a:p>
          <a:p>
            <a:pPr marL="45720" indent="0" algn="just" rtl="1">
              <a:buNone/>
            </a:pPr>
            <a:r>
              <a:rPr lang="fa-IR" sz="2000" b="1" dirty="0">
                <a:solidFill>
                  <a:srgbClr val="000000"/>
                </a:solidFill>
                <a:cs typeface="B Nazanin" panose="00000400000000000000" pitchFamily="2" charset="-78"/>
              </a:rPr>
              <a:t>این روستا طبق دفترچه‌های طرح گسترش وزارت بهداشت، درمان و آموزش پزشكي، محل استقرار مرکز بهداشتی درمانی روستایی یا خانه بهداشت نبوده ولی تحت پوشش خانه بهداشت می‌باشد که به آن، روستای قمر گویند.</a:t>
            </a:r>
          </a:p>
          <a:p>
            <a:pPr algn="just" rtl="1"/>
            <a:r>
              <a:rPr lang="fa-IR" sz="2000" b="1" u="sng" dirty="0">
                <a:solidFill>
                  <a:srgbClr val="FF0000"/>
                </a:solidFill>
                <a:cs typeface="B Nazanin" panose="00000400000000000000" pitchFamily="2" charset="-78"/>
              </a:rPr>
              <a:t>جمعیت سیاری</a:t>
            </a:r>
          </a:p>
          <a:p>
            <a:pPr marL="45720" indent="0" algn="just" rtl="1">
              <a:buNone/>
            </a:pPr>
            <a:r>
              <a:rPr lang="fa-IR" sz="2000" b="1" dirty="0">
                <a:solidFill>
                  <a:srgbClr val="000000"/>
                </a:solidFill>
                <a:cs typeface="B Nazanin" panose="00000400000000000000" pitchFamily="2" charset="-78"/>
              </a:rPr>
              <a:t>به روستاهایی با  جمعیت کم و به فاصله بیش از یکساعت پیاده‌روی (حدود 6 کیلومتر) از خانه بهداشت، که خدمات به این روستاها توسط تیم سیار انجام می‌شود، روستای سیار گفته می‌شود.</a:t>
            </a:r>
          </a:p>
          <a:p>
            <a:pPr algn="just" rtl="1"/>
            <a:r>
              <a:rPr lang="fa-IR" sz="2000" b="1" u="sng" dirty="0">
                <a:solidFill>
                  <a:srgbClr val="FF0000"/>
                </a:solidFill>
                <a:cs typeface="B Nazanin" panose="00000400000000000000" pitchFamily="2" charset="-78"/>
              </a:rPr>
              <a:t>جمعیت مستقیم</a:t>
            </a:r>
          </a:p>
          <a:p>
            <a:pPr marL="45720" indent="0" algn="just" rtl="1">
              <a:buNone/>
            </a:pPr>
            <a:r>
              <a:rPr lang="fa-IR" sz="2000" b="1" dirty="0">
                <a:solidFill>
                  <a:srgbClr val="000000"/>
                </a:solidFill>
                <a:cs typeface="B Nazanin" panose="00000400000000000000" pitchFamily="2" charset="-78"/>
              </a:rPr>
              <a:t>جمعیتی از روستا که نزدیک آن قرار دارد، این روستاها که در حاشیه شهرها واقع شده‌اند جمعیت قابل توجهی ندارند و اغلب بدون واسطه خانه بهداشت تحت پوشش یک مرکز بهداشتی درمانی شهری روستایی قرار دارند.</a:t>
            </a:r>
            <a:endParaRPr lang="en-US" sz="2000" b="1" dirty="0">
              <a:solidFill>
                <a:srgbClr val="000000"/>
              </a:solidFill>
              <a:cs typeface="B Nazanin" panose="00000400000000000000" pitchFamily="2" charset="-78"/>
            </a:endParaRPr>
          </a:p>
        </p:txBody>
      </p:sp>
      <p:sp>
        <p:nvSpPr>
          <p:cNvPr id="4" name="Slide Number Placeholder 3"/>
          <p:cNvSpPr>
            <a:spLocks noGrp="1"/>
          </p:cNvSpPr>
          <p:nvPr>
            <p:ph type="sldNum" sz="quarter" idx="12"/>
          </p:nvPr>
        </p:nvSpPr>
        <p:spPr/>
        <p:txBody>
          <a:bodyPr/>
          <a:lstStyle/>
          <a:p>
            <a:fld id="{2D8CB573-7144-4842-A8FD-250830F20887}" type="slidenum">
              <a:rPr lang="en-US" smtClean="0"/>
              <a:t>11</a:t>
            </a:fld>
            <a:endParaRPr lang="en-US"/>
          </a:p>
        </p:txBody>
      </p:sp>
    </p:spTree>
    <p:extLst>
      <p:ext uri="{BB962C8B-B14F-4D97-AF65-F5344CB8AC3E}">
        <p14:creationId xmlns:p14="http://schemas.microsoft.com/office/powerpoint/2010/main" val="25069154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rtl="1"/>
            <a:r>
              <a:rPr lang="fa-IR" dirty="0">
                <a:cs typeface="2  Titr" panose="00000700000000000000" pitchFamily="2" charset="-78"/>
              </a:rPr>
              <a:t>ضرورت بکارگیری نظام ارجاع</a:t>
            </a:r>
            <a:endParaRPr lang="en-US" dirty="0">
              <a:cs typeface="2  Titr" panose="00000700000000000000" pitchFamily="2" charset="-78"/>
            </a:endParaRPr>
          </a:p>
        </p:txBody>
      </p:sp>
      <p:sp>
        <p:nvSpPr>
          <p:cNvPr id="3" name="Content Placeholder 2"/>
          <p:cNvSpPr>
            <a:spLocks noGrp="1"/>
          </p:cNvSpPr>
          <p:nvPr>
            <p:ph idx="1"/>
          </p:nvPr>
        </p:nvSpPr>
        <p:spPr>
          <a:xfrm>
            <a:off x="1143000" y="2667000"/>
            <a:ext cx="9872871" cy="2449945"/>
          </a:xfrm>
        </p:spPr>
        <p:txBody>
          <a:bodyPr>
            <a:normAutofit/>
          </a:bodyPr>
          <a:lstStyle/>
          <a:p>
            <a:pPr algn="r" rtl="1">
              <a:lnSpc>
                <a:spcPct val="150000"/>
              </a:lnSpc>
            </a:pPr>
            <a:r>
              <a:rPr lang="fa-IR" sz="2400" b="1" dirty="0">
                <a:solidFill>
                  <a:srgbClr val="000000"/>
                </a:solidFill>
                <a:cs typeface="B Nazanin" panose="00000400000000000000" pitchFamily="2" charset="-78"/>
              </a:rPr>
              <a:t>راهی برای برخورداری سهل‌تر نیازمندان واقعی از امکانات بهداشتی درمانی کشور</a:t>
            </a:r>
          </a:p>
          <a:p>
            <a:pPr algn="r" rtl="1">
              <a:lnSpc>
                <a:spcPct val="150000"/>
              </a:lnSpc>
            </a:pPr>
            <a:r>
              <a:rPr lang="fa-IR" sz="2400" b="1" dirty="0">
                <a:solidFill>
                  <a:srgbClr val="000000"/>
                </a:solidFill>
                <a:cs typeface="B Nazanin" panose="00000400000000000000" pitchFamily="2" charset="-78"/>
              </a:rPr>
              <a:t>وسیله‌ای برای توزیع عادلانه منابع بهداشتی و گامی در مسیر عدالت اجتماعی </a:t>
            </a:r>
            <a:endParaRPr lang="en-US" sz="2400" b="1" dirty="0">
              <a:solidFill>
                <a:srgbClr val="000000"/>
              </a:solidFill>
              <a:cs typeface="B Nazanin" panose="00000400000000000000" pitchFamily="2" charset="-78"/>
            </a:endParaRPr>
          </a:p>
        </p:txBody>
      </p:sp>
      <p:sp>
        <p:nvSpPr>
          <p:cNvPr id="4" name="Slide Number Placeholder 3"/>
          <p:cNvSpPr>
            <a:spLocks noGrp="1"/>
          </p:cNvSpPr>
          <p:nvPr>
            <p:ph type="sldNum" sz="quarter" idx="12"/>
          </p:nvPr>
        </p:nvSpPr>
        <p:spPr/>
        <p:txBody>
          <a:bodyPr/>
          <a:lstStyle/>
          <a:p>
            <a:fld id="{2D8CB573-7144-4842-A8FD-250830F20887}" type="slidenum">
              <a:rPr lang="en-US" smtClean="0"/>
              <a:t>12</a:t>
            </a:fld>
            <a:endParaRPr lang="en-US"/>
          </a:p>
        </p:txBody>
      </p:sp>
    </p:spTree>
    <p:extLst>
      <p:ext uri="{BB962C8B-B14F-4D97-AF65-F5344CB8AC3E}">
        <p14:creationId xmlns:p14="http://schemas.microsoft.com/office/powerpoint/2010/main" val="5248696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rtl="1"/>
            <a:r>
              <a:rPr lang="fa-IR" dirty="0">
                <a:cs typeface="2  Titr" panose="00000700000000000000" pitchFamily="2" charset="-78"/>
              </a:rPr>
              <a:t>اهداف طرح تحول نظام سلامت در حوزه تغذیه</a:t>
            </a:r>
            <a:endParaRPr lang="en-US" dirty="0">
              <a:cs typeface="2  Titr" panose="00000700000000000000" pitchFamily="2" charset="-78"/>
            </a:endParaRPr>
          </a:p>
        </p:txBody>
      </p:sp>
      <p:sp>
        <p:nvSpPr>
          <p:cNvPr id="4" name="Slide Number Placeholder 3"/>
          <p:cNvSpPr>
            <a:spLocks noGrp="1"/>
          </p:cNvSpPr>
          <p:nvPr>
            <p:ph type="sldNum" sz="quarter" idx="12"/>
          </p:nvPr>
        </p:nvSpPr>
        <p:spPr/>
        <p:txBody>
          <a:bodyPr/>
          <a:lstStyle/>
          <a:p>
            <a:fld id="{2D8CB573-7144-4842-A8FD-250830F20887}" type="slidenum">
              <a:rPr lang="en-US" smtClean="0"/>
              <a:t>13</a:t>
            </a:fld>
            <a:endParaRPr lang="en-US"/>
          </a:p>
        </p:txBody>
      </p:sp>
      <p:pic>
        <p:nvPicPr>
          <p:cNvPr id="5" name="Picture 4"/>
          <p:cNvPicPr>
            <a:picLocks noChangeAspect="1"/>
          </p:cNvPicPr>
          <p:nvPr/>
        </p:nvPicPr>
        <p:blipFill>
          <a:blip r:embed="rId2">
            <a:lum bright="-20000" contrast="40000"/>
          </a:blip>
          <a:stretch>
            <a:fillRect/>
          </a:stretch>
        </p:blipFill>
        <p:spPr>
          <a:xfrm>
            <a:off x="630364" y="1838910"/>
            <a:ext cx="10753161" cy="4210908"/>
          </a:xfrm>
          <a:prstGeom prst="rect">
            <a:avLst/>
          </a:prstGeom>
        </p:spPr>
      </p:pic>
    </p:spTree>
    <p:extLst>
      <p:ext uri="{BB962C8B-B14F-4D97-AF65-F5344CB8AC3E}">
        <p14:creationId xmlns:p14="http://schemas.microsoft.com/office/powerpoint/2010/main" val="21361846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rtl="1"/>
            <a:r>
              <a:rPr lang="fa-IR" dirty="0">
                <a:cs typeface="2  Titr" panose="00000700000000000000" pitchFamily="2" charset="-78"/>
              </a:rPr>
              <a:t>مراقبت‌های تغذیه‌ای برنامه تحول سلامت</a:t>
            </a:r>
            <a:endParaRPr lang="en-US" dirty="0">
              <a:cs typeface="2  Titr" panose="00000700000000000000" pitchFamily="2" charset="-78"/>
            </a:endParaRPr>
          </a:p>
        </p:txBody>
      </p:sp>
      <p:sp>
        <p:nvSpPr>
          <p:cNvPr id="3" name="Content Placeholder 2"/>
          <p:cNvSpPr>
            <a:spLocks noGrp="1"/>
          </p:cNvSpPr>
          <p:nvPr>
            <p:ph idx="1"/>
          </p:nvPr>
        </p:nvSpPr>
        <p:spPr>
          <a:xfrm>
            <a:off x="1143000" y="1965960"/>
            <a:ext cx="9872871" cy="4038600"/>
          </a:xfrm>
        </p:spPr>
        <p:txBody>
          <a:bodyPr>
            <a:normAutofit lnSpcReduction="10000"/>
          </a:bodyPr>
          <a:lstStyle/>
          <a:p>
            <a:pPr algn="just" rtl="1">
              <a:lnSpc>
                <a:spcPct val="150000"/>
              </a:lnSpc>
            </a:pPr>
            <a:r>
              <a:rPr lang="fa-IR" sz="2400" b="1" dirty="0">
                <a:solidFill>
                  <a:srgbClr val="000000"/>
                </a:solidFill>
                <a:cs typeface="B Nazanin" panose="00000400000000000000" pitchFamily="2" charset="-78"/>
              </a:rPr>
              <a:t>ارائه خدمات پیشگیرانه و مراقبت‌های تغذیه‌ای شامل: آموزش تغذیه سالم و پیشگیری از بیماری‌های مرتبط با تغذیه</a:t>
            </a:r>
          </a:p>
          <a:p>
            <a:pPr algn="just" rtl="1">
              <a:lnSpc>
                <a:spcPct val="150000"/>
              </a:lnSpc>
            </a:pPr>
            <a:r>
              <a:rPr lang="fa-IR" sz="2400" b="1" dirty="0">
                <a:solidFill>
                  <a:srgbClr val="000000"/>
                </a:solidFill>
                <a:cs typeface="B Nazanin" panose="00000400000000000000" pitchFamily="2" charset="-78"/>
              </a:rPr>
              <a:t>خدمات به صورت </a:t>
            </a:r>
            <a:r>
              <a:rPr lang="fa-IR" sz="2400" b="1" dirty="0">
                <a:solidFill>
                  <a:srgbClr val="FF0000"/>
                </a:solidFill>
                <a:cs typeface="B Nazanin" panose="00000400000000000000" pitchFamily="2" charset="-78"/>
              </a:rPr>
              <a:t>آموزش چهره به چهره</a:t>
            </a:r>
            <a:r>
              <a:rPr lang="fa-IR" sz="2400" b="1" dirty="0">
                <a:solidFill>
                  <a:srgbClr val="000000"/>
                </a:solidFill>
                <a:cs typeface="B Nazanin" panose="00000400000000000000" pitchFamily="2" charset="-78"/>
              </a:rPr>
              <a:t>، </a:t>
            </a:r>
            <a:r>
              <a:rPr lang="fa-IR" sz="2400" b="1" dirty="0">
                <a:solidFill>
                  <a:srgbClr val="FF0000"/>
                </a:solidFill>
                <a:cs typeface="B Nazanin" panose="00000400000000000000" pitchFamily="2" charset="-78"/>
              </a:rPr>
              <a:t>مشاوره</a:t>
            </a:r>
            <a:r>
              <a:rPr lang="fa-IR" sz="2400" b="1" dirty="0">
                <a:solidFill>
                  <a:srgbClr val="000000"/>
                </a:solidFill>
                <a:cs typeface="B Nazanin" panose="00000400000000000000" pitchFamily="2" charset="-78"/>
              </a:rPr>
              <a:t>، </a:t>
            </a:r>
            <a:r>
              <a:rPr lang="fa-IR" sz="2400" b="1" dirty="0">
                <a:solidFill>
                  <a:srgbClr val="FF0000"/>
                </a:solidFill>
                <a:cs typeface="B Nazanin" panose="00000400000000000000" pitchFamily="2" charset="-78"/>
              </a:rPr>
              <a:t>جلسات آموزشی گروهی</a:t>
            </a:r>
            <a:r>
              <a:rPr lang="fa-IR" sz="2400" b="1" dirty="0">
                <a:solidFill>
                  <a:srgbClr val="000000"/>
                </a:solidFill>
                <a:cs typeface="B Nazanin" panose="00000400000000000000" pitchFamily="2" charset="-78"/>
              </a:rPr>
              <a:t>، </a:t>
            </a:r>
            <a:r>
              <a:rPr lang="fa-IR" sz="2400" b="1" dirty="0">
                <a:solidFill>
                  <a:srgbClr val="FF0000"/>
                </a:solidFill>
                <a:cs typeface="B Nazanin" panose="00000400000000000000" pitchFamily="2" charset="-78"/>
              </a:rPr>
              <a:t>مراقبت تغذیه‌ای و مداخلات تغذیه‌ای جامعه محور</a:t>
            </a:r>
          </a:p>
          <a:p>
            <a:pPr algn="just" rtl="1">
              <a:lnSpc>
                <a:spcPct val="150000"/>
              </a:lnSpc>
            </a:pPr>
            <a:r>
              <a:rPr lang="fa-IR" sz="2400" b="1" dirty="0">
                <a:solidFill>
                  <a:srgbClr val="000000"/>
                </a:solidFill>
                <a:cs typeface="B Nazanin" panose="00000400000000000000" pitchFamily="2" charset="-78"/>
              </a:rPr>
              <a:t>افراد مراجعه‌کننده به پایگاه سلامت توسط مراقبت سلامت مورد ارزیابی‌های اولیه تغذیه‌ای قرار می‌گیرند، سپس افرادی که نیازمند مشاوره تغذیه و دریافت خدمات بیشتر هستند به کارشناس تغذیه ارجاع داده می‌شوند تا مراقبت‌های تغذیه‌ای دریافت کنند. </a:t>
            </a:r>
            <a:endParaRPr lang="en-US" sz="2400" b="1" dirty="0">
              <a:solidFill>
                <a:srgbClr val="000000"/>
              </a:solidFill>
              <a:cs typeface="B Nazanin" panose="00000400000000000000" pitchFamily="2" charset="-78"/>
            </a:endParaRPr>
          </a:p>
        </p:txBody>
      </p:sp>
      <p:sp>
        <p:nvSpPr>
          <p:cNvPr id="4" name="Slide Number Placeholder 3"/>
          <p:cNvSpPr>
            <a:spLocks noGrp="1"/>
          </p:cNvSpPr>
          <p:nvPr>
            <p:ph type="sldNum" sz="quarter" idx="12"/>
          </p:nvPr>
        </p:nvSpPr>
        <p:spPr/>
        <p:txBody>
          <a:bodyPr/>
          <a:lstStyle/>
          <a:p>
            <a:fld id="{2D8CB573-7144-4842-A8FD-250830F20887}" type="slidenum">
              <a:rPr lang="en-US" smtClean="0"/>
              <a:t>14</a:t>
            </a:fld>
            <a:endParaRPr lang="en-US"/>
          </a:p>
        </p:txBody>
      </p:sp>
    </p:spTree>
    <p:extLst>
      <p:ext uri="{BB962C8B-B14F-4D97-AF65-F5344CB8AC3E}">
        <p14:creationId xmlns:p14="http://schemas.microsoft.com/office/powerpoint/2010/main" val="31742571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2D8CB573-7144-4842-A8FD-250830F20887}" type="slidenum">
              <a:rPr lang="en-US" smtClean="0"/>
              <a:t>15</a:t>
            </a:fld>
            <a:endParaRPr lang="en-US"/>
          </a:p>
        </p:txBody>
      </p:sp>
      <p:pic>
        <p:nvPicPr>
          <p:cNvPr id="5" name="Content Placeholder 4"/>
          <p:cNvPicPr>
            <a:picLocks noGrp="1" noChangeAspect="1"/>
          </p:cNvPicPr>
          <p:nvPr>
            <p:ph idx="4294967295"/>
          </p:nvPr>
        </p:nvPicPr>
        <p:blipFill>
          <a:blip r:embed="rId2"/>
          <a:stretch>
            <a:fillRect/>
          </a:stretch>
        </p:blipFill>
        <p:spPr>
          <a:xfrm>
            <a:off x="2091063" y="378690"/>
            <a:ext cx="7979306" cy="6086763"/>
          </a:xfrm>
          <a:prstGeom prst="rect">
            <a:avLst/>
          </a:prstGeom>
        </p:spPr>
      </p:pic>
    </p:spTree>
    <p:extLst>
      <p:ext uri="{BB962C8B-B14F-4D97-AF65-F5344CB8AC3E}">
        <p14:creationId xmlns:p14="http://schemas.microsoft.com/office/powerpoint/2010/main" val="8713217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2D8CB573-7144-4842-A8FD-250830F20887}" type="slidenum">
              <a:rPr lang="en-US" smtClean="0"/>
              <a:t>16</a:t>
            </a:fld>
            <a:endParaRPr lang="en-US"/>
          </a:p>
        </p:txBody>
      </p:sp>
      <p:pic>
        <p:nvPicPr>
          <p:cNvPr id="3" name="Picture 2"/>
          <p:cNvPicPr>
            <a:picLocks noChangeAspect="1"/>
          </p:cNvPicPr>
          <p:nvPr/>
        </p:nvPicPr>
        <p:blipFill>
          <a:blip r:embed="rId2"/>
          <a:stretch>
            <a:fillRect/>
          </a:stretch>
        </p:blipFill>
        <p:spPr>
          <a:xfrm>
            <a:off x="1987138" y="323273"/>
            <a:ext cx="8110585" cy="6265680"/>
          </a:xfrm>
          <a:prstGeom prst="rect">
            <a:avLst/>
          </a:prstGeom>
        </p:spPr>
      </p:pic>
    </p:spTree>
    <p:extLst>
      <p:ext uri="{BB962C8B-B14F-4D97-AF65-F5344CB8AC3E}">
        <p14:creationId xmlns:p14="http://schemas.microsoft.com/office/powerpoint/2010/main" val="21628045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2D8CB573-7144-4842-A8FD-250830F20887}" type="slidenum">
              <a:rPr lang="en-US" smtClean="0"/>
              <a:t>17</a:t>
            </a:fld>
            <a:endParaRPr lang="en-US"/>
          </a:p>
        </p:txBody>
      </p:sp>
      <p:pic>
        <p:nvPicPr>
          <p:cNvPr id="3" name="Picture 2"/>
          <p:cNvPicPr>
            <a:picLocks noChangeAspect="1"/>
          </p:cNvPicPr>
          <p:nvPr/>
        </p:nvPicPr>
        <p:blipFill>
          <a:blip r:embed="rId2"/>
          <a:stretch>
            <a:fillRect/>
          </a:stretch>
        </p:blipFill>
        <p:spPr>
          <a:xfrm>
            <a:off x="1602009" y="277091"/>
            <a:ext cx="8580629" cy="6311862"/>
          </a:xfrm>
          <a:prstGeom prst="rect">
            <a:avLst/>
          </a:prstGeom>
        </p:spPr>
      </p:pic>
    </p:spTree>
    <p:extLst>
      <p:ext uri="{BB962C8B-B14F-4D97-AF65-F5344CB8AC3E}">
        <p14:creationId xmlns:p14="http://schemas.microsoft.com/office/powerpoint/2010/main" val="34648959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2D8CB573-7144-4842-A8FD-250830F20887}" type="slidenum">
              <a:rPr lang="en-US" smtClean="0"/>
              <a:t>18</a:t>
            </a:fld>
            <a:endParaRPr lang="en-US"/>
          </a:p>
        </p:txBody>
      </p:sp>
      <p:pic>
        <p:nvPicPr>
          <p:cNvPr id="3" name="Picture 2"/>
          <p:cNvPicPr>
            <a:picLocks noChangeAspect="1"/>
          </p:cNvPicPr>
          <p:nvPr/>
        </p:nvPicPr>
        <p:blipFill>
          <a:blip r:embed="rId2"/>
          <a:stretch>
            <a:fillRect/>
          </a:stretch>
        </p:blipFill>
        <p:spPr>
          <a:xfrm>
            <a:off x="1922456" y="304800"/>
            <a:ext cx="8260182" cy="6179127"/>
          </a:xfrm>
          <a:prstGeom prst="rect">
            <a:avLst/>
          </a:prstGeom>
        </p:spPr>
      </p:pic>
    </p:spTree>
    <p:extLst>
      <p:ext uri="{BB962C8B-B14F-4D97-AF65-F5344CB8AC3E}">
        <p14:creationId xmlns:p14="http://schemas.microsoft.com/office/powerpoint/2010/main" val="37533578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8709" y="127618"/>
            <a:ext cx="9875520" cy="1356360"/>
          </a:xfrm>
        </p:spPr>
        <p:txBody>
          <a:bodyPr>
            <a:normAutofit/>
          </a:bodyPr>
          <a:lstStyle/>
          <a:p>
            <a:pPr algn="r" rtl="1"/>
            <a:r>
              <a:rPr lang="fa-IR" sz="4000" dirty="0">
                <a:cs typeface="2  Titr" panose="00000700000000000000" pitchFamily="2" charset="-78"/>
              </a:rPr>
              <a:t>افراد نیازمند به خدمات تغذیه‌ای:</a:t>
            </a:r>
            <a:endParaRPr lang="en-US" sz="4000" dirty="0">
              <a:cs typeface="2  Titr" panose="00000700000000000000" pitchFamily="2" charset="-78"/>
            </a:endParaRPr>
          </a:p>
        </p:txBody>
      </p:sp>
      <p:sp>
        <p:nvSpPr>
          <p:cNvPr id="3" name="Content Placeholder 2"/>
          <p:cNvSpPr>
            <a:spLocks noGrp="1"/>
          </p:cNvSpPr>
          <p:nvPr>
            <p:ph idx="1"/>
          </p:nvPr>
        </p:nvSpPr>
        <p:spPr/>
        <p:txBody>
          <a:bodyPr/>
          <a:lstStyle/>
          <a:p>
            <a:endParaRPr lang="en-US"/>
          </a:p>
        </p:txBody>
      </p:sp>
      <p:sp>
        <p:nvSpPr>
          <p:cNvPr id="4" name="Slide Number Placeholder 3"/>
          <p:cNvSpPr>
            <a:spLocks noGrp="1"/>
          </p:cNvSpPr>
          <p:nvPr>
            <p:ph type="sldNum" sz="quarter" idx="12"/>
          </p:nvPr>
        </p:nvSpPr>
        <p:spPr/>
        <p:txBody>
          <a:bodyPr/>
          <a:lstStyle/>
          <a:p>
            <a:fld id="{2D8CB573-7144-4842-A8FD-250830F20887}" type="slidenum">
              <a:rPr lang="en-US" smtClean="0"/>
              <a:t>19</a:t>
            </a:fld>
            <a:endParaRPr lang="en-US"/>
          </a:p>
        </p:txBody>
      </p:sp>
      <p:pic>
        <p:nvPicPr>
          <p:cNvPr id="5" name="Picture 4"/>
          <p:cNvPicPr>
            <a:picLocks noChangeAspect="1"/>
          </p:cNvPicPr>
          <p:nvPr/>
        </p:nvPicPr>
        <p:blipFill>
          <a:blip r:embed="rId2">
            <a:lum bright="-20000" contrast="40000"/>
          </a:blip>
          <a:stretch>
            <a:fillRect/>
          </a:stretch>
        </p:blipFill>
        <p:spPr>
          <a:xfrm>
            <a:off x="613146" y="1301416"/>
            <a:ext cx="11064344" cy="5104975"/>
          </a:xfrm>
          <a:prstGeom prst="rect">
            <a:avLst/>
          </a:prstGeom>
        </p:spPr>
      </p:pic>
    </p:spTree>
    <p:extLst>
      <p:ext uri="{BB962C8B-B14F-4D97-AF65-F5344CB8AC3E}">
        <p14:creationId xmlns:p14="http://schemas.microsoft.com/office/powerpoint/2010/main" val="32662351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2D8CB573-7144-4842-A8FD-250830F20887}" type="slidenum">
              <a:rPr lang="en-US" smtClean="0"/>
              <a:t>20</a:t>
            </a:fld>
            <a:endParaRPr lang="en-US"/>
          </a:p>
        </p:txBody>
      </p:sp>
      <p:pic>
        <p:nvPicPr>
          <p:cNvPr id="5" name="Picture 4"/>
          <p:cNvPicPr>
            <a:picLocks noChangeAspect="1"/>
          </p:cNvPicPr>
          <p:nvPr/>
        </p:nvPicPr>
        <p:blipFill>
          <a:blip r:embed="rId2">
            <a:lum bright="-20000" contrast="40000"/>
          </a:blip>
          <a:stretch>
            <a:fillRect/>
          </a:stretch>
        </p:blipFill>
        <p:spPr>
          <a:xfrm>
            <a:off x="561235" y="1330035"/>
            <a:ext cx="10977131" cy="3773143"/>
          </a:xfrm>
          <a:prstGeom prst="rect">
            <a:avLst/>
          </a:prstGeom>
        </p:spPr>
      </p:pic>
    </p:spTree>
    <p:extLst>
      <p:ext uri="{BB962C8B-B14F-4D97-AF65-F5344CB8AC3E}">
        <p14:creationId xmlns:p14="http://schemas.microsoft.com/office/powerpoint/2010/main" val="39349799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60227" y="452581"/>
            <a:ext cx="9875520" cy="1356360"/>
          </a:xfrm>
        </p:spPr>
        <p:txBody>
          <a:bodyPr>
            <a:normAutofit/>
          </a:bodyPr>
          <a:lstStyle/>
          <a:p>
            <a:pPr algn="ctr" rtl="1"/>
            <a:r>
              <a:rPr lang="fa-IR" sz="3600" dirty="0">
                <a:cs typeface="2  Titr" panose="00000700000000000000" pitchFamily="2" charset="-78"/>
              </a:rPr>
              <a:t>ابزار و ملزومات ارائه خدمات تغذیه‌ای در اتاق مراقبت سلامت</a:t>
            </a:r>
            <a:endParaRPr lang="en-US" sz="3600" dirty="0">
              <a:cs typeface="2  Titr" panose="00000700000000000000" pitchFamily="2" charset="-78"/>
            </a:endParaRPr>
          </a:p>
        </p:txBody>
      </p:sp>
      <p:sp>
        <p:nvSpPr>
          <p:cNvPr id="4" name="Slide Number Placeholder 3"/>
          <p:cNvSpPr>
            <a:spLocks noGrp="1"/>
          </p:cNvSpPr>
          <p:nvPr>
            <p:ph type="sldNum" sz="quarter" idx="12"/>
          </p:nvPr>
        </p:nvSpPr>
        <p:spPr>
          <a:xfrm>
            <a:off x="9329530" y="6297719"/>
            <a:ext cx="1706217" cy="365125"/>
          </a:xfrm>
        </p:spPr>
        <p:txBody>
          <a:bodyPr/>
          <a:lstStyle/>
          <a:p>
            <a:fld id="{2D8CB573-7144-4842-A8FD-250830F20887}" type="slidenum">
              <a:rPr lang="en-US" smtClean="0"/>
              <a:t>21</a:t>
            </a:fld>
            <a:endParaRPr lang="en-US"/>
          </a:p>
        </p:txBody>
      </p:sp>
      <p:pic>
        <p:nvPicPr>
          <p:cNvPr id="5" name="Picture 4"/>
          <p:cNvPicPr>
            <a:picLocks noChangeAspect="1"/>
          </p:cNvPicPr>
          <p:nvPr/>
        </p:nvPicPr>
        <p:blipFill>
          <a:blip r:embed="rId2">
            <a:lum bright="-20000" contrast="40000"/>
          </a:blip>
          <a:stretch>
            <a:fillRect/>
          </a:stretch>
        </p:blipFill>
        <p:spPr>
          <a:xfrm>
            <a:off x="1247155" y="1635617"/>
            <a:ext cx="9873427" cy="4761536"/>
          </a:xfrm>
          <a:prstGeom prst="rect">
            <a:avLst/>
          </a:prstGeom>
        </p:spPr>
      </p:pic>
      <p:sp>
        <p:nvSpPr>
          <p:cNvPr id="6" name="Rectangle 5"/>
          <p:cNvSpPr/>
          <p:nvPr/>
        </p:nvSpPr>
        <p:spPr>
          <a:xfrm>
            <a:off x="5172365" y="4091709"/>
            <a:ext cx="1524000" cy="29556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976872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rtl="1"/>
            <a:r>
              <a:rPr lang="fa-IR" sz="3600" dirty="0">
                <a:cs typeface="2  Titr" panose="00000700000000000000" pitchFamily="2" charset="-78"/>
              </a:rPr>
              <a:t>مکمل‌های مورد نیاز گروه‌های سنی و فیزیولوژیک جهت ارائه توسط مراقبت سلامت</a:t>
            </a:r>
            <a:endParaRPr lang="en-US" sz="3600" dirty="0">
              <a:cs typeface="2  Titr" panose="00000700000000000000" pitchFamily="2" charset="-78"/>
            </a:endParaRPr>
          </a:p>
        </p:txBody>
      </p:sp>
      <p:sp>
        <p:nvSpPr>
          <p:cNvPr id="4" name="Slide Number Placeholder 3"/>
          <p:cNvSpPr>
            <a:spLocks noGrp="1"/>
          </p:cNvSpPr>
          <p:nvPr>
            <p:ph type="sldNum" sz="quarter" idx="12"/>
          </p:nvPr>
        </p:nvSpPr>
        <p:spPr/>
        <p:txBody>
          <a:bodyPr/>
          <a:lstStyle/>
          <a:p>
            <a:fld id="{2D8CB573-7144-4842-A8FD-250830F20887}" type="slidenum">
              <a:rPr lang="en-US" smtClean="0"/>
              <a:t>22</a:t>
            </a:fld>
            <a:endParaRPr lang="en-US"/>
          </a:p>
        </p:txBody>
      </p:sp>
      <p:pic>
        <p:nvPicPr>
          <p:cNvPr id="5" name="Picture 4"/>
          <p:cNvPicPr>
            <a:picLocks noChangeAspect="1"/>
          </p:cNvPicPr>
          <p:nvPr/>
        </p:nvPicPr>
        <p:blipFill>
          <a:blip r:embed="rId2">
            <a:lum bright="-20000" contrast="40000"/>
          </a:blip>
          <a:stretch>
            <a:fillRect/>
          </a:stretch>
        </p:blipFill>
        <p:spPr>
          <a:xfrm>
            <a:off x="1510223" y="1873763"/>
            <a:ext cx="9141073" cy="4442262"/>
          </a:xfrm>
          <a:prstGeom prst="rect">
            <a:avLst/>
          </a:prstGeom>
        </p:spPr>
      </p:pic>
    </p:spTree>
    <p:extLst>
      <p:ext uri="{BB962C8B-B14F-4D97-AF65-F5344CB8AC3E}">
        <p14:creationId xmlns:p14="http://schemas.microsoft.com/office/powerpoint/2010/main" val="27578031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2D8CB573-7144-4842-A8FD-250830F20887}" type="slidenum">
              <a:rPr lang="en-US" smtClean="0"/>
              <a:t>23</a:t>
            </a:fld>
            <a:endParaRPr lang="en-US"/>
          </a:p>
        </p:txBody>
      </p:sp>
      <p:pic>
        <p:nvPicPr>
          <p:cNvPr id="5" name="Picture 4"/>
          <p:cNvPicPr>
            <a:picLocks noChangeAspect="1"/>
          </p:cNvPicPr>
          <p:nvPr/>
        </p:nvPicPr>
        <p:blipFill>
          <a:blip r:embed="rId2">
            <a:lum bright="-20000" contrast="40000"/>
          </a:blip>
          <a:stretch>
            <a:fillRect/>
          </a:stretch>
        </p:blipFill>
        <p:spPr>
          <a:xfrm>
            <a:off x="1919018" y="460940"/>
            <a:ext cx="8459425" cy="6128013"/>
          </a:xfrm>
          <a:prstGeom prst="rect">
            <a:avLst/>
          </a:prstGeom>
        </p:spPr>
      </p:pic>
    </p:spTree>
    <p:extLst>
      <p:ext uri="{BB962C8B-B14F-4D97-AF65-F5344CB8AC3E}">
        <p14:creationId xmlns:p14="http://schemas.microsoft.com/office/powerpoint/2010/main" val="18513756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2D8CB573-7144-4842-A8FD-250830F20887}" type="slidenum">
              <a:rPr lang="en-US" smtClean="0"/>
              <a:t>24</a:t>
            </a:fld>
            <a:endParaRPr lang="en-US"/>
          </a:p>
        </p:txBody>
      </p:sp>
      <p:pic>
        <p:nvPicPr>
          <p:cNvPr id="5" name="Picture 4"/>
          <p:cNvPicPr>
            <a:picLocks noChangeAspect="1"/>
          </p:cNvPicPr>
          <p:nvPr/>
        </p:nvPicPr>
        <p:blipFill>
          <a:blip r:embed="rId2"/>
          <a:stretch>
            <a:fillRect/>
          </a:stretch>
        </p:blipFill>
        <p:spPr>
          <a:xfrm>
            <a:off x="2217744" y="347037"/>
            <a:ext cx="7433563" cy="1982084"/>
          </a:xfrm>
          <a:prstGeom prst="rect">
            <a:avLst/>
          </a:prstGeom>
        </p:spPr>
      </p:pic>
      <p:pic>
        <p:nvPicPr>
          <p:cNvPr id="6" name="Picture 5"/>
          <p:cNvPicPr>
            <a:picLocks noChangeAspect="1"/>
          </p:cNvPicPr>
          <p:nvPr/>
        </p:nvPicPr>
        <p:blipFill>
          <a:blip r:embed="rId3"/>
          <a:stretch>
            <a:fillRect/>
          </a:stretch>
        </p:blipFill>
        <p:spPr>
          <a:xfrm>
            <a:off x="2217744" y="2109614"/>
            <a:ext cx="7416145" cy="4296776"/>
          </a:xfrm>
          <a:prstGeom prst="rect">
            <a:avLst/>
          </a:prstGeom>
        </p:spPr>
      </p:pic>
    </p:spTree>
    <p:extLst>
      <p:ext uri="{BB962C8B-B14F-4D97-AF65-F5344CB8AC3E}">
        <p14:creationId xmlns:p14="http://schemas.microsoft.com/office/powerpoint/2010/main" val="13987237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3F29F-0334-1E83-9836-A2E394459442}"/>
              </a:ext>
            </a:extLst>
          </p:cNvPr>
          <p:cNvSpPr>
            <a:spLocks noGrp="1"/>
          </p:cNvSpPr>
          <p:nvPr>
            <p:ph type="title"/>
          </p:nvPr>
        </p:nvSpPr>
        <p:spPr/>
        <p:txBody>
          <a:bodyPr/>
          <a:lstStyle/>
          <a:p>
            <a:r>
              <a:rPr lang="en-US" dirty="0"/>
              <a:t>RDA</a:t>
            </a:r>
          </a:p>
        </p:txBody>
      </p:sp>
      <p:sp>
        <p:nvSpPr>
          <p:cNvPr id="3" name="Content Placeholder 2">
            <a:extLst>
              <a:ext uri="{FF2B5EF4-FFF2-40B4-BE49-F238E27FC236}">
                <a16:creationId xmlns:a16="http://schemas.microsoft.com/office/drawing/2014/main" id="{4FCEA6B8-F4DD-0D06-F61C-B706B7E9BD80}"/>
              </a:ext>
            </a:extLst>
          </p:cNvPr>
          <p:cNvSpPr>
            <a:spLocks noGrp="1"/>
          </p:cNvSpPr>
          <p:nvPr>
            <p:ph idx="1"/>
          </p:nvPr>
        </p:nvSpPr>
        <p:spPr/>
        <p:txBody>
          <a:bodyPr/>
          <a:lstStyle/>
          <a:p>
            <a:pPr algn="r" rtl="1"/>
            <a:r>
              <a:rPr lang="en-US" b="1" dirty="0"/>
              <a:t>RDA</a:t>
            </a:r>
            <a:r>
              <a:rPr lang="en-US" dirty="0"/>
              <a:t>  </a:t>
            </a:r>
            <a:r>
              <a:rPr lang="fa-IR" dirty="0"/>
              <a:t> </a:t>
            </a:r>
            <a:r>
              <a:rPr lang="en-US" dirty="0" err="1"/>
              <a:t>یا</a:t>
            </a:r>
            <a:r>
              <a:rPr lang="en-US" dirty="0"/>
              <a:t> </a:t>
            </a:r>
            <a:r>
              <a:rPr lang="en-US" b="1" dirty="0"/>
              <a:t>Recommended Dietary Allowance</a:t>
            </a:r>
            <a:r>
              <a:rPr lang="en-US" dirty="0"/>
              <a:t> </a:t>
            </a:r>
            <a:r>
              <a:rPr lang="en-US" dirty="0" err="1"/>
              <a:t>مقدار</a:t>
            </a:r>
            <a:r>
              <a:rPr lang="en-US" dirty="0"/>
              <a:t> </a:t>
            </a:r>
            <a:r>
              <a:rPr lang="en-US" dirty="0" err="1"/>
              <a:t>مجاز</a:t>
            </a:r>
            <a:r>
              <a:rPr lang="en-US" dirty="0"/>
              <a:t> </a:t>
            </a:r>
            <a:r>
              <a:rPr lang="en-US" dirty="0" err="1"/>
              <a:t>توصیه‌شده</a:t>
            </a:r>
            <a:r>
              <a:rPr lang="en-US" dirty="0"/>
              <a:t> </a:t>
            </a:r>
            <a:r>
              <a:rPr lang="en-US" dirty="0" err="1"/>
              <a:t>روزانه</a:t>
            </a:r>
            <a:r>
              <a:rPr lang="en-US" dirty="0"/>
              <a:t>) </a:t>
            </a:r>
            <a:r>
              <a:rPr lang="en-US" dirty="0" err="1"/>
              <a:t>به</a:t>
            </a:r>
            <a:r>
              <a:rPr lang="en-US" dirty="0"/>
              <a:t> </a:t>
            </a:r>
            <a:r>
              <a:rPr lang="en-US" dirty="0" err="1"/>
              <a:t>میانگین</a:t>
            </a:r>
            <a:r>
              <a:rPr lang="en-US" dirty="0"/>
              <a:t> </a:t>
            </a:r>
            <a:r>
              <a:rPr lang="en-US" dirty="0" err="1"/>
              <a:t>میزان</a:t>
            </a:r>
            <a:r>
              <a:rPr lang="en-US" dirty="0"/>
              <a:t> </a:t>
            </a:r>
            <a:r>
              <a:rPr lang="en-US" dirty="0" err="1"/>
              <a:t>مصرف</a:t>
            </a:r>
            <a:r>
              <a:rPr lang="en-US" dirty="0"/>
              <a:t> </a:t>
            </a:r>
            <a:r>
              <a:rPr lang="en-US" dirty="0" err="1"/>
              <a:t>روزانه</a:t>
            </a:r>
            <a:r>
              <a:rPr lang="en-US" dirty="0"/>
              <a:t> یک </a:t>
            </a:r>
            <a:r>
              <a:rPr lang="en-US" dirty="0" err="1"/>
              <a:t>ماده</a:t>
            </a:r>
            <a:r>
              <a:rPr lang="en-US" dirty="0"/>
              <a:t> </a:t>
            </a:r>
            <a:r>
              <a:rPr lang="en-US" dirty="0" err="1"/>
              <a:t>مغذی</a:t>
            </a:r>
            <a:r>
              <a:rPr lang="en-US" dirty="0"/>
              <a:t> </a:t>
            </a:r>
            <a:r>
              <a:rPr lang="en-US" dirty="0" err="1"/>
              <a:t>گفته</a:t>
            </a:r>
            <a:r>
              <a:rPr lang="en-US" dirty="0"/>
              <a:t> </a:t>
            </a:r>
            <a:r>
              <a:rPr lang="en-US" dirty="0" err="1"/>
              <a:t>می‌شود</a:t>
            </a:r>
            <a:r>
              <a:rPr lang="en-US" dirty="0"/>
              <a:t> </a:t>
            </a:r>
            <a:r>
              <a:rPr lang="en-US" dirty="0" err="1"/>
              <a:t>که</a:t>
            </a:r>
            <a:r>
              <a:rPr lang="en-US" dirty="0"/>
              <a:t> </a:t>
            </a:r>
            <a:r>
              <a:rPr lang="en-US" dirty="0" err="1"/>
              <a:t>برای</a:t>
            </a:r>
            <a:r>
              <a:rPr lang="en-US" dirty="0"/>
              <a:t> </a:t>
            </a:r>
            <a:r>
              <a:rPr lang="en-US" dirty="0" err="1"/>
              <a:t>تأمین</a:t>
            </a:r>
            <a:r>
              <a:rPr lang="en-US" dirty="0"/>
              <a:t> </a:t>
            </a:r>
            <a:r>
              <a:rPr lang="en-US" dirty="0" err="1"/>
              <a:t>نیاز</a:t>
            </a:r>
            <a:r>
              <a:rPr lang="en-US" dirty="0"/>
              <a:t> </a:t>
            </a:r>
            <a:r>
              <a:rPr lang="en-US" dirty="0" err="1"/>
              <a:t>تقریباً</a:t>
            </a:r>
            <a:r>
              <a:rPr lang="en-US" dirty="0"/>
              <a:t> </a:t>
            </a:r>
            <a:r>
              <a:rPr lang="en-US" dirty="0" err="1"/>
              <a:t>تمام</a:t>
            </a:r>
            <a:r>
              <a:rPr lang="en-US" dirty="0"/>
              <a:t> (۹۷ </a:t>
            </a:r>
            <a:r>
              <a:rPr lang="en-US" dirty="0" err="1"/>
              <a:t>تا</a:t>
            </a:r>
            <a:r>
              <a:rPr lang="en-US" dirty="0"/>
              <a:t> ۹۸ </a:t>
            </a:r>
            <a:r>
              <a:rPr lang="en-US" dirty="0" err="1"/>
              <a:t>درصد</a:t>
            </a:r>
            <a:r>
              <a:rPr lang="en-US" dirty="0"/>
              <a:t>) </a:t>
            </a:r>
            <a:r>
              <a:rPr lang="en-US" dirty="0" err="1"/>
              <a:t>افراد</a:t>
            </a:r>
            <a:r>
              <a:rPr lang="en-US" dirty="0"/>
              <a:t> </a:t>
            </a:r>
            <a:r>
              <a:rPr lang="en-US" dirty="0" err="1"/>
              <a:t>سالم</a:t>
            </a:r>
            <a:r>
              <a:rPr lang="en-US" dirty="0"/>
              <a:t> </a:t>
            </a:r>
            <a:r>
              <a:rPr lang="en-US" dirty="0" err="1"/>
              <a:t>در</a:t>
            </a:r>
            <a:r>
              <a:rPr lang="en-US" dirty="0"/>
              <a:t> یک </a:t>
            </a:r>
            <a:r>
              <a:rPr lang="en-US" dirty="0" err="1"/>
              <a:t>گروه</a:t>
            </a:r>
            <a:r>
              <a:rPr lang="en-US" dirty="0"/>
              <a:t> </a:t>
            </a:r>
            <a:r>
              <a:rPr lang="en-US" dirty="0" err="1"/>
              <a:t>سنی</a:t>
            </a:r>
            <a:r>
              <a:rPr lang="en-US" dirty="0"/>
              <a:t> و </a:t>
            </a:r>
            <a:r>
              <a:rPr lang="en-US" dirty="0" err="1"/>
              <a:t>جنسی</a:t>
            </a:r>
            <a:r>
              <a:rPr lang="en-US" dirty="0"/>
              <a:t> </a:t>
            </a:r>
            <a:r>
              <a:rPr lang="en-US" dirty="0" err="1"/>
              <a:t>خاص</a:t>
            </a:r>
            <a:r>
              <a:rPr lang="en-US" dirty="0"/>
              <a:t> </a:t>
            </a:r>
            <a:r>
              <a:rPr lang="en-US" dirty="0" err="1"/>
              <a:t>کافی</a:t>
            </a:r>
            <a:r>
              <a:rPr lang="en-US" dirty="0"/>
              <a:t> </a:t>
            </a:r>
            <a:r>
              <a:rPr lang="en-US" dirty="0" err="1"/>
              <a:t>است</a:t>
            </a:r>
            <a:r>
              <a:rPr lang="fa-IR" dirty="0"/>
              <a:t>.</a:t>
            </a:r>
            <a:r>
              <a:rPr lang="en-US" dirty="0"/>
              <a:t> </a:t>
            </a:r>
          </a:p>
        </p:txBody>
      </p:sp>
      <p:sp>
        <p:nvSpPr>
          <p:cNvPr id="4" name="Slide Number Placeholder 3">
            <a:extLst>
              <a:ext uri="{FF2B5EF4-FFF2-40B4-BE49-F238E27FC236}">
                <a16:creationId xmlns:a16="http://schemas.microsoft.com/office/drawing/2014/main" id="{1DFC83A6-8EB6-C1C1-9BE4-9A883871A3A5}"/>
              </a:ext>
            </a:extLst>
          </p:cNvPr>
          <p:cNvSpPr>
            <a:spLocks noGrp="1"/>
          </p:cNvSpPr>
          <p:nvPr>
            <p:ph type="sldNum" sz="quarter" idx="12"/>
          </p:nvPr>
        </p:nvSpPr>
        <p:spPr/>
        <p:txBody>
          <a:bodyPr/>
          <a:lstStyle/>
          <a:p>
            <a:fld id="{2D8CB573-7144-4842-A8FD-250830F20887}" type="slidenum">
              <a:rPr lang="en-US" smtClean="0"/>
              <a:t>25</a:t>
            </a:fld>
            <a:endParaRPr lang="en-US"/>
          </a:p>
        </p:txBody>
      </p:sp>
    </p:spTree>
    <p:extLst>
      <p:ext uri="{BB962C8B-B14F-4D97-AF65-F5344CB8AC3E}">
        <p14:creationId xmlns:p14="http://schemas.microsoft.com/office/powerpoint/2010/main" val="102535878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2D8CB573-7144-4842-A8FD-250830F20887}" type="slidenum">
              <a:rPr lang="en-US" smtClean="0"/>
              <a:t>26</a:t>
            </a:fld>
            <a:endParaRPr lang="en-US"/>
          </a:p>
        </p:txBody>
      </p:sp>
      <p:pic>
        <p:nvPicPr>
          <p:cNvPr id="5" name="Picture 4"/>
          <p:cNvPicPr>
            <a:picLocks noChangeAspect="1"/>
          </p:cNvPicPr>
          <p:nvPr/>
        </p:nvPicPr>
        <p:blipFill>
          <a:blip r:embed="rId2">
            <a:lum bright="-20000" contrast="40000"/>
          </a:blip>
          <a:stretch>
            <a:fillRect/>
          </a:stretch>
        </p:blipFill>
        <p:spPr>
          <a:xfrm>
            <a:off x="2969622" y="304115"/>
            <a:ext cx="6219042" cy="6102275"/>
          </a:xfrm>
          <a:prstGeom prst="rect">
            <a:avLst/>
          </a:prstGeom>
        </p:spPr>
      </p:pic>
    </p:spTree>
    <p:extLst>
      <p:ext uri="{BB962C8B-B14F-4D97-AF65-F5344CB8AC3E}">
        <p14:creationId xmlns:p14="http://schemas.microsoft.com/office/powerpoint/2010/main" val="279548969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2D8CB573-7144-4842-A8FD-250830F20887}" type="slidenum">
              <a:rPr lang="en-US" smtClean="0"/>
              <a:t>27</a:t>
            </a:fld>
            <a:endParaRPr lang="en-US"/>
          </a:p>
        </p:txBody>
      </p:sp>
      <p:pic>
        <p:nvPicPr>
          <p:cNvPr id="3" name="Picture 2"/>
          <p:cNvPicPr>
            <a:picLocks noChangeAspect="1"/>
          </p:cNvPicPr>
          <p:nvPr/>
        </p:nvPicPr>
        <p:blipFill>
          <a:blip r:embed="rId2"/>
          <a:stretch>
            <a:fillRect/>
          </a:stretch>
        </p:blipFill>
        <p:spPr>
          <a:xfrm>
            <a:off x="530485" y="554548"/>
            <a:ext cx="11204263" cy="5669280"/>
          </a:xfrm>
          <a:prstGeom prst="rect">
            <a:avLst/>
          </a:prstGeom>
        </p:spPr>
      </p:pic>
    </p:spTree>
    <p:extLst>
      <p:ext uri="{BB962C8B-B14F-4D97-AF65-F5344CB8AC3E}">
        <p14:creationId xmlns:p14="http://schemas.microsoft.com/office/powerpoint/2010/main" val="83530261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2D8CB573-7144-4842-A8FD-250830F20887}" type="slidenum">
              <a:rPr lang="en-US" smtClean="0"/>
              <a:t>28</a:t>
            </a:fld>
            <a:endParaRPr lang="en-US"/>
          </a:p>
        </p:txBody>
      </p:sp>
      <p:pic>
        <p:nvPicPr>
          <p:cNvPr id="3" name="Picture 2"/>
          <p:cNvPicPr>
            <a:picLocks noChangeAspect="1"/>
          </p:cNvPicPr>
          <p:nvPr/>
        </p:nvPicPr>
        <p:blipFill>
          <a:blip r:embed="rId2"/>
          <a:stretch>
            <a:fillRect/>
          </a:stretch>
        </p:blipFill>
        <p:spPr>
          <a:xfrm>
            <a:off x="2506153" y="496388"/>
            <a:ext cx="7069524" cy="5822599"/>
          </a:xfrm>
          <a:prstGeom prst="rect">
            <a:avLst/>
          </a:prstGeom>
        </p:spPr>
      </p:pic>
    </p:spTree>
    <p:extLst>
      <p:ext uri="{BB962C8B-B14F-4D97-AF65-F5344CB8AC3E}">
        <p14:creationId xmlns:p14="http://schemas.microsoft.com/office/powerpoint/2010/main" val="364653465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2D8CB573-7144-4842-A8FD-250830F20887}" type="slidenum">
              <a:rPr lang="en-US" smtClean="0"/>
              <a:t>29</a:t>
            </a:fld>
            <a:endParaRPr lang="en-US"/>
          </a:p>
        </p:txBody>
      </p:sp>
      <p:pic>
        <p:nvPicPr>
          <p:cNvPr id="3" name="Picture 2"/>
          <p:cNvPicPr>
            <a:picLocks noChangeAspect="1"/>
          </p:cNvPicPr>
          <p:nvPr/>
        </p:nvPicPr>
        <p:blipFill>
          <a:blip r:embed="rId2">
            <a:lum bright="-20000" contrast="40000"/>
          </a:blip>
          <a:stretch>
            <a:fillRect/>
          </a:stretch>
        </p:blipFill>
        <p:spPr>
          <a:xfrm>
            <a:off x="2113799" y="449727"/>
            <a:ext cx="7827256" cy="5956663"/>
          </a:xfrm>
          <a:prstGeom prst="rect">
            <a:avLst/>
          </a:prstGeom>
        </p:spPr>
      </p:pic>
    </p:spTree>
    <p:extLst>
      <p:ext uri="{BB962C8B-B14F-4D97-AF65-F5344CB8AC3E}">
        <p14:creationId xmlns:p14="http://schemas.microsoft.com/office/powerpoint/2010/main" val="177389092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r" rtl="1"/>
            <a:r>
              <a:rPr lang="fa-IR" sz="4000" dirty="0">
                <a:cs typeface="2  Titr" panose="00000700000000000000" pitchFamily="2" charset="-78"/>
              </a:rPr>
              <a:t>در خصوص مکمل‌ها به نکات زیر توجه گردد:</a:t>
            </a:r>
            <a:endParaRPr lang="en-US" sz="4000" dirty="0">
              <a:cs typeface="2  Titr" panose="00000700000000000000" pitchFamily="2" charset="-78"/>
            </a:endParaRPr>
          </a:p>
        </p:txBody>
      </p:sp>
      <p:sp>
        <p:nvSpPr>
          <p:cNvPr id="4" name="Slide Number Placeholder 3"/>
          <p:cNvSpPr>
            <a:spLocks noGrp="1"/>
          </p:cNvSpPr>
          <p:nvPr>
            <p:ph type="sldNum" sz="quarter" idx="12"/>
          </p:nvPr>
        </p:nvSpPr>
        <p:spPr/>
        <p:txBody>
          <a:bodyPr/>
          <a:lstStyle/>
          <a:p>
            <a:fld id="{2D8CB573-7144-4842-A8FD-250830F20887}" type="slidenum">
              <a:rPr lang="en-US" smtClean="0"/>
              <a:t>30</a:t>
            </a:fld>
            <a:endParaRPr lang="en-US"/>
          </a:p>
        </p:txBody>
      </p:sp>
      <p:pic>
        <p:nvPicPr>
          <p:cNvPr id="5" name="Picture 4"/>
          <p:cNvPicPr>
            <a:picLocks noChangeAspect="1"/>
          </p:cNvPicPr>
          <p:nvPr/>
        </p:nvPicPr>
        <p:blipFill>
          <a:blip r:embed="rId2">
            <a:lum bright="-20000" contrast="40000"/>
          </a:blip>
          <a:stretch>
            <a:fillRect/>
          </a:stretch>
        </p:blipFill>
        <p:spPr>
          <a:xfrm>
            <a:off x="708891" y="1965960"/>
            <a:ext cx="10435990" cy="3678100"/>
          </a:xfrm>
          <a:prstGeom prst="rect">
            <a:avLst/>
          </a:prstGeom>
        </p:spPr>
      </p:pic>
    </p:spTree>
    <p:extLst>
      <p:ext uri="{BB962C8B-B14F-4D97-AF65-F5344CB8AC3E}">
        <p14:creationId xmlns:p14="http://schemas.microsoft.com/office/powerpoint/2010/main" val="367604040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2D8CB573-7144-4842-A8FD-250830F20887}" type="slidenum">
              <a:rPr lang="en-US" smtClean="0"/>
              <a:t>31</a:t>
            </a:fld>
            <a:endParaRPr lang="en-US"/>
          </a:p>
        </p:txBody>
      </p:sp>
      <p:pic>
        <p:nvPicPr>
          <p:cNvPr id="5" name="Picture 4"/>
          <p:cNvPicPr>
            <a:picLocks noChangeAspect="1"/>
          </p:cNvPicPr>
          <p:nvPr/>
        </p:nvPicPr>
        <p:blipFill>
          <a:blip r:embed="rId2">
            <a:lum bright="-20000" contrast="40000"/>
          </a:blip>
          <a:stretch>
            <a:fillRect/>
          </a:stretch>
        </p:blipFill>
        <p:spPr>
          <a:xfrm>
            <a:off x="902827" y="951345"/>
            <a:ext cx="10329620" cy="5060449"/>
          </a:xfrm>
          <a:prstGeom prst="rect">
            <a:avLst/>
          </a:prstGeom>
        </p:spPr>
      </p:pic>
    </p:spTree>
    <p:extLst>
      <p:ext uri="{BB962C8B-B14F-4D97-AF65-F5344CB8AC3E}">
        <p14:creationId xmlns:p14="http://schemas.microsoft.com/office/powerpoint/2010/main" val="3967868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2D8CB573-7144-4842-A8FD-250830F20887}" type="slidenum">
              <a:rPr lang="en-US" smtClean="0"/>
              <a:t>32</a:t>
            </a:fld>
            <a:endParaRPr lang="en-US"/>
          </a:p>
        </p:txBody>
      </p:sp>
      <p:pic>
        <p:nvPicPr>
          <p:cNvPr id="5" name="Picture 4"/>
          <p:cNvPicPr>
            <a:picLocks noChangeAspect="1"/>
          </p:cNvPicPr>
          <p:nvPr/>
        </p:nvPicPr>
        <p:blipFill rotWithShape="1">
          <a:blip r:embed="rId2">
            <a:lum bright="-20000" contrast="40000"/>
          </a:blip>
          <a:srcRect b="31800"/>
          <a:stretch/>
        </p:blipFill>
        <p:spPr>
          <a:xfrm>
            <a:off x="973052" y="1022727"/>
            <a:ext cx="10350729" cy="4629928"/>
          </a:xfrm>
          <a:prstGeom prst="rect">
            <a:avLst/>
          </a:prstGeom>
        </p:spPr>
      </p:pic>
    </p:spTree>
    <p:extLst>
      <p:ext uri="{BB962C8B-B14F-4D97-AF65-F5344CB8AC3E}">
        <p14:creationId xmlns:p14="http://schemas.microsoft.com/office/powerpoint/2010/main" val="199379793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rtl="1"/>
            <a:r>
              <a:rPr lang="fa-IR" sz="4000" dirty="0">
                <a:cs typeface="2  Titr" panose="00000700000000000000" pitchFamily="2" charset="-78"/>
              </a:rPr>
              <a:t>خدمات و مراقبت‌های تغذیه‌ای طرح تحول نظام سلامت</a:t>
            </a:r>
            <a:endParaRPr lang="en-US" sz="4000" dirty="0">
              <a:cs typeface="2  Titr" panose="00000700000000000000" pitchFamily="2" charset="-78"/>
            </a:endParaRPr>
          </a:p>
        </p:txBody>
      </p:sp>
      <p:sp>
        <p:nvSpPr>
          <p:cNvPr id="3" name="Content Placeholder 2"/>
          <p:cNvSpPr>
            <a:spLocks noGrp="1"/>
          </p:cNvSpPr>
          <p:nvPr>
            <p:ph idx="1"/>
          </p:nvPr>
        </p:nvSpPr>
        <p:spPr/>
        <p:txBody>
          <a:bodyPr>
            <a:normAutofit lnSpcReduction="10000"/>
          </a:bodyPr>
          <a:lstStyle/>
          <a:p>
            <a:pPr algn="just" rtl="1">
              <a:lnSpc>
                <a:spcPct val="150000"/>
              </a:lnSpc>
            </a:pPr>
            <a:r>
              <a:rPr lang="fa-IR" sz="2400" b="1" u="sng" dirty="0">
                <a:solidFill>
                  <a:srgbClr val="FF0000"/>
                </a:solidFill>
                <a:cs typeface="B Nazanin" panose="00000400000000000000" pitchFamily="2" charset="-78"/>
              </a:rPr>
              <a:t>مراقبین سلامت</a:t>
            </a:r>
          </a:p>
          <a:p>
            <a:pPr algn="just" rtl="1">
              <a:lnSpc>
                <a:spcPct val="150000"/>
              </a:lnSpc>
            </a:pPr>
            <a:r>
              <a:rPr lang="fa-IR" sz="2400" b="1" u="sng" dirty="0">
                <a:solidFill>
                  <a:srgbClr val="FF0000"/>
                </a:solidFill>
                <a:cs typeface="B Nazanin" panose="00000400000000000000" pitchFamily="2" charset="-78"/>
              </a:rPr>
              <a:t>پزشکان</a:t>
            </a:r>
          </a:p>
          <a:p>
            <a:pPr algn="just" rtl="1">
              <a:lnSpc>
                <a:spcPct val="150000"/>
              </a:lnSpc>
            </a:pPr>
            <a:r>
              <a:rPr lang="fa-IR" sz="2400" b="1" u="sng" dirty="0">
                <a:solidFill>
                  <a:srgbClr val="FF0000"/>
                </a:solidFill>
                <a:cs typeface="B Nazanin" panose="00000400000000000000" pitchFamily="2" charset="-78"/>
              </a:rPr>
              <a:t>کارشناسان تغذیه</a:t>
            </a:r>
          </a:p>
          <a:p>
            <a:pPr algn="just" rtl="1">
              <a:lnSpc>
                <a:spcPct val="150000"/>
              </a:lnSpc>
            </a:pPr>
            <a:r>
              <a:rPr lang="fa-IR" sz="2400" b="1" dirty="0">
                <a:solidFill>
                  <a:srgbClr val="000000"/>
                </a:solidFill>
                <a:cs typeface="B Nazanin" panose="00000400000000000000" pitchFamily="2" charset="-78"/>
              </a:rPr>
              <a:t>از کلیه این افراد انتظار می‌رود از شاخص‌ها و آمارهای بهداشتی و تغذیه‌ای در سطوح ملی، استانی و منطقه تحت پوشش و برنامه‌های بهبود تغذیه جامعه در کشور آگاهی داشته باشند. </a:t>
            </a:r>
          </a:p>
          <a:p>
            <a:pPr algn="just" rtl="1">
              <a:lnSpc>
                <a:spcPct val="150000"/>
              </a:lnSpc>
            </a:pPr>
            <a:r>
              <a:rPr lang="fa-IR" sz="2400" b="1" dirty="0">
                <a:solidFill>
                  <a:srgbClr val="000000"/>
                </a:solidFill>
                <a:cs typeface="B Nazanin" panose="00000400000000000000" pitchFamily="2" charset="-78"/>
              </a:rPr>
              <a:t>لازم است شرح وظایف هر گروه، به تفکیک در اتاق مربوطه نصب شده باشد.</a:t>
            </a:r>
            <a:endParaRPr lang="en-US" sz="2400" b="1" dirty="0">
              <a:solidFill>
                <a:srgbClr val="000000"/>
              </a:solidFill>
              <a:cs typeface="B Nazanin" panose="00000400000000000000" pitchFamily="2" charset="-78"/>
            </a:endParaRPr>
          </a:p>
        </p:txBody>
      </p:sp>
      <p:sp>
        <p:nvSpPr>
          <p:cNvPr id="4" name="Slide Number Placeholder 3"/>
          <p:cNvSpPr>
            <a:spLocks noGrp="1"/>
          </p:cNvSpPr>
          <p:nvPr>
            <p:ph type="sldNum" sz="quarter" idx="12"/>
          </p:nvPr>
        </p:nvSpPr>
        <p:spPr/>
        <p:txBody>
          <a:bodyPr/>
          <a:lstStyle/>
          <a:p>
            <a:fld id="{2D8CB573-7144-4842-A8FD-250830F20887}" type="slidenum">
              <a:rPr lang="en-US" smtClean="0"/>
              <a:t>33</a:t>
            </a:fld>
            <a:endParaRPr lang="en-US"/>
          </a:p>
        </p:txBody>
      </p:sp>
      <p:pic>
        <p:nvPicPr>
          <p:cNvPr id="5" name="Picture 4"/>
          <p:cNvPicPr>
            <a:picLocks noChangeAspect="1"/>
          </p:cNvPicPr>
          <p:nvPr/>
        </p:nvPicPr>
        <p:blipFill>
          <a:blip r:embed="rId3"/>
          <a:stretch>
            <a:fillRect/>
          </a:stretch>
        </p:blipFill>
        <p:spPr>
          <a:xfrm>
            <a:off x="1143000" y="1929572"/>
            <a:ext cx="3156382" cy="1814013"/>
          </a:xfrm>
          <a:prstGeom prst="rect">
            <a:avLst/>
          </a:prstGeom>
        </p:spPr>
      </p:pic>
    </p:spTree>
    <p:extLst>
      <p:ext uri="{BB962C8B-B14F-4D97-AF65-F5344CB8AC3E}">
        <p14:creationId xmlns:p14="http://schemas.microsoft.com/office/powerpoint/2010/main" val="191741480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60227" y="434109"/>
            <a:ext cx="9875520" cy="1356360"/>
          </a:xfrm>
        </p:spPr>
        <p:txBody>
          <a:bodyPr>
            <a:normAutofit/>
          </a:bodyPr>
          <a:lstStyle/>
          <a:p>
            <a:pPr algn="r" rtl="1"/>
            <a:r>
              <a:rPr lang="fa-IR" sz="4000" dirty="0">
                <a:cs typeface="2  Titr" panose="00000700000000000000" pitchFamily="2" charset="-78"/>
              </a:rPr>
              <a:t>شرح وظایف مراقب سلامت</a:t>
            </a:r>
            <a:endParaRPr lang="en-US" sz="4000" dirty="0">
              <a:cs typeface="2  Titr" panose="00000700000000000000" pitchFamily="2" charset="-78"/>
            </a:endParaRPr>
          </a:p>
        </p:txBody>
      </p:sp>
      <p:sp>
        <p:nvSpPr>
          <p:cNvPr id="4" name="Slide Number Placeholder 3"/>
          <p:cNvSpPr>
            <a:spLocks noGrp="1"/>
          </p:cNvSpPr>
          <p:nvPr>
            <p:ph type="sldNum" sz="quarter" idx="12"/>
          </p:nvPr>
        </p:nvSpPr>
        <p:spPr/>
        <p:txBody>
          <a:bodyPr/>
          <a:lstStyle/>
          <a:p>
            <a:fld id="{2D8CB573-7144-4842-A8FD-250830F20887}" type="slidenum">
              <a:rPr lang="en-US" smtClean="0"/>
              <a:t>34</a:t>
            </a:fld>
            <a:endParaRPr lang="en-US"/>
          </a:p>
        </p:txBody>
      </p:sp>
      <p:pic>
        <p:nvPicPr>
          <p:cNvPr id="5" name="Picture 4"/>
          <p:cNvPicPr>
            <a:picLocks noChangeAspect="1"/>
          </p:cNvPicPr>
          <p:nvPr/>
        </p:nvPicPr>
        <p:blipFill>
          <a:blip r:embed="rId2">
            <a:lum bright="-20000" contrast="40000"/>
          </a:blip>
          <a:stretch>
            <a:fillRect/>
          </a:stretch>
        </p:blipFill>
        <p:spPr>
          <a:xfrm>
            <a:off x="882674" y="1663122"/>
            <a:ext cx="10153073" cy="4699326"/>
          </a:xfrm>
          <a:prstGeom prst="rect">
            <a:avLst/>
          </a:prstGeom>
        </p:spPr>
      </p:pic>
    </p:spTree>
    <p:extLst>
      <p:ext uri="{BB962C8B-B14F-4D97-AF65-F5344CB8AC3E}">
        <p14:creationId xmlns:p14="http://schemas.microsoft.com/office/powerpoint/2010/main" val="341802809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rtl="1"/>
            <a:r>
              <a:rPr lang="fa-IR" sz="3600" dirty="0">
                <a:cs typeface="2  Titr" panose="00000700000000000000" pitchFamily="2" charset="-78"/>
              </a:rPr>
              <a:t>برنامه‌‌های تغذیه‌ای جاری در نظام مراقبت‌های بهداشتی در ایران</a:t>
            </a:r>
            <a:endParaRPr lang="en-US" sz="3600" dirty="0">
              <a:cs typeface="2  Titr" panose="00000700000000000000" pitchFamily="2" charset="-78"/>
            </a:endParaRPr>
          </a:p>
        </p:txBody>
      </p:sp>
      <p:sp>
        <p:nvSpPr>
          <p:cNvPr id="3" name="Content Placeholder 2"/>
          <p:cNvSpPr>
            <a:spLocks noGrp="1"/>
          </p:cNvSpPr>
          <p:nvPr>
            <p:ph idx="1"/>
          </p:nvPr>
        </p:nvSpPr>
        <p:spPr/>
        <p:txBody>
          <a:bodyPr>
            <a:normAutofit/>
          </a:bodyPr>
          <a:lstStyle/>
          <a:p>
            <a:pPr lvl="1" algn="r" rtl="1">
              <a:lnSpc>
                <a:spcPct val="150000"/>
              </a:lnSpc>
            </a:pPr>
            <a:r>
              <a:rPr lang="fa-IR" sz="2200" b="1" u="sng" dirty="0">
                <a:solidFill>
                  <a:srgbClr val="0070C0"/>
                </a:solidFill>
                <a:cs typeface="B Nazanin" panose="00000400000000000000" pitchFamily="2" charset="-78"/>
              </a:rPr>
              <a:t>برنامه‌ مشاوره و آموزش تغذیه‌ای </a:t>
            </a:r>
            <a:r>
              <a:rPr lang="fa-IR" b="1" u="sng" dirty="0">
                <a:solidFill>
                  <a:srgbClr val="0070C0"/>
                </a:solidFill>
              </a:rPr>
              <a:t> </a:t>
            </a:r>
          </a:p>
          <a:p>
            <a:pPr lvl="1" algn="r" rtl="1">
              <a:lnSpc>
                <a:spcPct val="150000"/>
              </a:lnSpc>
              <a:buFont typeface="Wingdings" panose="05000000000000000000" pitchFamily="2" charset="2"/>
              <a:buChar char="ü"/>
            </a:pPr>
            <a:r>
              <a:rPr lang="fa-IR" b="1" dirty="0">
                <a:solidFill>
                  <a:schemeClr val="tx1"/>
                </a:solidFill>
              </a:rPr>
              <a:t> </a:t>
            </a:r>
            <a:r>
              <a:rPr lang="fa-IR" sz="2200" b="1" dirty="0">
                <a:solidFill>
                  <a:schemeClr val="tx1"/>
                </a:solidFill>
                <a:cs typeface="B Nazanin" panose="00000400000000000000" pitchFamily="2" charset="-78"/>
              </a:rPr>
              <a:t>مادر باردار، شیرده، کودک زیر 2 سال، کودک 5-2 سال، دیابت، فشار خون بالا، نوجوان، میانسال و سالمند</a:t>
            </a:r>
          </a:p>
          <a:p>
            <a:pPr lvl="1" algn="r" rtl="1">
              <a:lnSpc>
                <a:spcPct val="150000"/>
              </a:lnSpc>
            </a:pPr>
            <a:r>
              <a:rPr lang="fa-IR" sz="2200" b="1" u="sng" dirty="0">
                <a:solidFill>
                  <a:srgbClr val="0070C0"/>
                </a:solidFill>
                <a:cs typeface="B Nazanin" panose="00000400000000000000" pitchFamily="2" charset="-78"/>
              </a:rPr>
              <a:t>برنامه مکمل‌یاری آهن و ویتامین </a:t>
            </a:r>
            <a:r>
              <a:rPr lang="en-US" b="1" u="sng" dirty="0">
                <a:solidFill>
                  <a:srgbClr val="0070C0"/>
                </a:solidFill>
                <a:latin typeface="Times New Roman" panose="02020603050405020304" pitchFamily="18" charset="0"/>
                <a:cs typeface="Times New Roman" panose="02020603050405020304" pitchFamily="18" charset="0"/>
              </a:rPr>
              <a:t>D</a:t>
            </a:r>
            <a:r>
              <a:rPr lang="fa-IR" sz="2200" b="1" u="sng" dirty="0">
                <a:solidFill>
                  <a:srgbClr val="0070C0"/>
                </a:solidFill>
                <a:cs typeface="B Nazanin" panose="00000400000000000000" pitchFamily="2" charset="-78"/>
              </a:rPr>
              <a:t> برای دختران دبیرستانی </a:t>
            </a:r>
          </a:p>
          <a:p>
            <a:pPr lvl="1" algn="r" rtl="1">
              <a:lnSpc>
                <a:spcPct val="150000"/>
              </a:lnSpc>
              <a:buFont typeface="Arial" panose="020B0604020202020204" pitchFamily="34" charset="0"/>
              <a:buChar char="•"/>
            </a:pPr>
            <a:r>
              <a:rPr lang="fa-IR" sz="2200" b="1" u="sng" dirty="0">
                <a:solidFill>
                  <a:srgbClr val="0070C0"/>
                </a:solidFill>
                <a:cs typeface="B Nazanin" panose="00000400000000000000" pitchFamily="2" charset="-78"/>
              </a:rPr>
              <a:t>طرح حمایتی مشارکتی برای کودکان سوء تغذیه‌ای </a:t>
            </a:r>
            <a:r>
              <a:rPr lang="fa-IR" sz="2200" b="1" dirty="0">
                <a:solidFill>
                  <a:schemeClr val="tx1"/>
                </a:solidFill>
                <a:cs typeface="B Nazanin" panose="00000400000000000000" pitchFamily="2" charset="-78"/>
              </a:rPr>
              <a:t> </a:t>
            </a:r>
          </a:p>
        </p:txBody>
      </p:sp>
      <p:sp>
        <p:nvSpPr>
          <p:cNvPr id="4" name="Slide Number Placeholder 3"/>
          <p:cNvSpPr>
            <a:spLocks noGrp="1"/>
          </p:cNvSpPr>
          <p:nvPr>
            <p:ph type="sldNum" sz="quarter" idx="12"/>
          </p:nvPr>
        </p:nvSpPr>
        <p:spPr/>
        <p:txBody>
          <a:bodyPr/>
          <a:lstStyle/>
          <a:p>
            <a:fld id="{2D8CB573-7144-4842-A8FD-250830F20887}" type="slidenum">
              <a:rPr lang="en-US" smtClean="0"/>
              <a:t>35</a:t>
            </a:fld>
            <a:endParaRPr lang="en-US"/>
          </a:p>
        </p:txBody>
      </p:sp>
    </p:spTree>
    <p:extLst>
      <p:ext uri="{BB962C8B-B14F-4D97-AF65-F5344CB8AC3E}">
        <p14:creationId xmlns:p14="http://schemas.microsoft.com/office/powerpoint/2010/main" val="181725566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pPr algn="just" rtl="1"/>
            <a:r>
              <a:rPr lang="fa-IR" sz="4000" dirty="0">
                <a:cs typeface="2  Titr" panose="00000700000000000000" pitchFamily="2" charset="-78"/>
              </a:rPr>
              <a:t>وظایف کارشناس تغذیه در انجام مشاوره‌های فردی برای گروه‌های سنی</a:t>
            </a:r>
            <a:endParaRPr lang="en-US" sz="4000" dirty="0">
              <a:cs typeface="2  Titr" panose="00000700000000000000" pitchFamily="2" charset="-78"/>
            </a:endParaRPr>
          </a:p>
        </p:txBody>
      </p:sp>
      <p:sp>
        <p:nvSpPr>
          <p:cNvPr id="4" name="Content Placeholder 3"/>
          <p:cNvSpPr>
            <a:spLocks noGrp="1"/>
          </p:cNvSpPr>
          <p:nvPr>
            <p:ph idx="1"/>
          </p:nvPr>
        </p:nvSpPr>
        <p:spPr/>
        <p:txBody>
          <a:bodyPr>
            <a:normAutofit/>
          </a:bodyPr>
          <a:lstStyle/>
          <a:p>
            <a:pPr marL="45720" indent="0" algn="r" rtl="1">
              <a:buNone/>
            </a:pPr>
            <a:r>
              <a:rPr lang="fa-IR" sz="2400" b="1" u="sng" dirty="0">
                <a:solidFill>
                  <a:srgbClr val="FF0000"/>
                </a:solidFill>
                <a:cs typeface="B Nazanin" panose="00000400000000000000" pitchFamily="2" charset="-78"/>
              </a:rPr>
              <a:t>مادران باردار</a:t>
            </a:r>
          </a:p>
          <a:p>
            <a:pPr marL="45720" indent="0" algn="r" rtl="1">
              <a:buNone/>
            </a:pPr>
            <a:endParaRPr lang="en-US" sz="2400" b="1" u="sng" dirty="0">
              <a:solidFill>
                <a:srgbClr val="FF0000"/>
              </a:solidFill>
              <a:cs typeface="B Nazanin" panose="00000400000000000000" pitchFamily="2" charset="-78"/>
            </a:endParaRPr>
          </a:p>
        </p:txBody>
      </p:sp>
      <p:sp>
        <p:nvSpPr>
          <p:cNvPr id="2" name="Slide Number Placeholder 1"/>
          <p:cNvSpPr>
            <a:spLocks noGrp="1"/>
          </p:cNvSpPr>
          <p:nvPr>
            <p:ph type="sldNum" sz="quarter" idx="12"/>
          </p:nvPr>
        </p:nvSpPr>
        <p:spPr/>
        <p:txBody>
          <a:bodyPr/>
          <a:lstStyle/>
          <a:p>
            <a:fld id="{2D8CB573-7144-4842-A8FD-250830F20887}" type="slidenum">
              <a:rPr lang="en-US" smtClean="0"/>
              <a:t>36</a:t>
            </a:fld>
            <a:endParaRPr lang="en-US"/>
          </a:p>
        </p:txBody>
      </p:sp>
      <p:pic>
        <p:nvPicPr>
          <p:cNvPr id="5" name="Picture 4"/>
          <p:cNvPicPr>
            <a:picLocks noChangeAspect="1"/>
          </p:cNvPicPr>
          <p:nvPr/>
        </p:nvPicPr>
        <p:blipFill>
          <a:blip r:embed="rId2">
            <a:lum bright="-20000" contrast="40000"/>
          </a:blip>
          <a:stretch>
            <a:fillRect/>
          </a:stretch>
        </p:blipFill>
        <p:spPr>
          <a:xfrm>
            <a:off x="525791" y="2613150"/>
            <a:ext cx="10640974" cy="3546764"/>
          </a:xfrm>
          <a:prstGeom prst="rect">
            <a:avLst/>
          </a:prstGeom>
        </p:spPr>
      </p:pic>
    </p:spTree>
    <p:extLst>
      <p:ext uri="{BB962C8B-B14F-4D97-AF65-F5344CB8AC3E}">
        <p14:creationId xmlns:p14="http://schemas.microsoft.com/office/powerpoint/2010/main" val="374055649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19EF84-CA1F-BC26-1683-9755BD256A13}"/>
              </a:ext>
            </a:extLst>
          </p:cNvPr>
          <p:cNvSpPr>
            <a:spLocks noGrp="1"/>
          </p:cNvSpPr>
          <p:nvPr>
            <p:ph type="title"/>
          </p:nvPr>
        </p:nvSpPr>
        <p:spPr>
          <a:xfrm>
            <a:off x="1143000" y="-131974"/>
            <a:ext cx="9875520" cy="1593130"/>
          </a:xfrm>
        </p:spPr>
        <p:txBody>
          <a:bodyPr/>
          <a:lstStyle/>
          <a:p>
            <a:pPr marL="228600" indent="-182880">
              <a:buClr>
                <a:schemeClr val="accent1"/>
              </a:buClr>
              <a:buSzPct val="80000"/>
              <a:buFont typeface="Corbel" pitchFamily="34" charset="0"/>
              <a:buChar char="•"/>
            </a:pPr>
            <a:r>
              <a:rPr lang="en-US" dirty="0"/>
              <a:t>Preeclampsia</a:t>
            </a:r>
          </a:p>
        </p:txBody>
      </p:sp>
      <p:sp>
        <p:nvSpPr>
          <p:cNvPr id="3" name="Content Placeholder 2">
            <a:extLst>
              <a:ext uri="{FF2B5EF4-FFF2-40B4-BE49-F238E27FC236}">
                <a16:creationId xmlns:a16="http://schemas.microsoft.com/office/drawing/2014/main" id="{CA3E72D8-9206-0FB2-41B4-6D909D02AE3D}"/>
              </a:ext>
            </a:extLst>
          </p:cNvPr>
          <p:cNvSpPr>
            <a:spLocks noGrp="1"/>
          </p:cNvSpPr>
          <p:nvPr>
            <p:ph idx="1"/>
          </p:nvPr>
        </p:nvSpPr>
        <p:spPr>
          <a:xfrm>
            <a:off x="1143000" y="1111625"/>
            <a:ext cx="9872871" cy="4984376"/>
          </a:xfrm>
        </p:spPr>
        <p:txBody>
          <a:bodyPr>
            <a:noAutofit/>
          </a:bodyPr>
          <a:lstStyle/>
          <a:p>
            <a:pPr algn="r" rtl="1"/>
            <a:r>
              <a:rPr lang="en-US" sz="1600" dirty="0">
                <a:latin typeface="Calibri" panose="020F0502020204030204" pitchFamily="34" charset="0"/>
                <a:ea typeface="Calibri" panose="020F0502020204030204" pitchFamily="34" charset="0"/>
                <a:cs typeface="Calibri" panose="020F0502020204030204" pitchFamily="34" charset="0"/>
              </a:rPr>
              <a:t>پره‌اکلامپسی (Preeclampsia) یک اختلال </a:t>
            </a:r>
            <a:r>
              <a:rPr lang="en-US" sz="1600" dirty="0" err="1">
                <a:latin typeface="Calibri" panose="020F0502020204030204" pitchFamily="34" charset="0"/>
                <a:ea typeface="Calibri" panose="020F0502020204030204" pitchFamily="34" charset="0"/>
                <a:cs typeface="Calibri" panose="020F0502020204030204" pitchFamily="34" charset="0"/>
              </a:rPr>
              <a:t>جدی</a:t>
            </a:r>
            <a:r>
              <a:rPr lang="en-US" sz="1600" dirty="0">
                <a:latin typeface="Calibri" panose="020F0502020204030204" pitchFamily="34" charset="0"/>
                <a:ea typeface="Calibri" panose="020F0502020204030204" pitchFamily="34" charset="0"/>
                <a:cs typeface="Calibri" panose="020F0502020204030204" pitchFamily="34" charset="0"/>
              </a:rPr>
              <a:t> </a:t>
            </a:r>
            <a:r>
              <a:rPr lang="en-US" sz="1600" dirty="0" err="1">
                <a:latin typeface="Calibri" panose="020F0502020204030204" pitchFamily="34" charset="0"/>
                <a:ea typeface="Calibri" panose="020F0502020204030204" pitchFamily="34" charset="0"/>
                <a:cs typeface="Calibri" panose="020F0502020204030204" pitchFamily="34" charset="0"/>
              </a:rPr>
              <a:t>مرتبط</a:t>
            </a:r>
            <a:r>
              <a:rPr lang="en-US" sz="1600" dirty="0">
                <a:latin typeface="Calibri" panose="020F0502020204030204" pitchFamily="34" charset="0"/>
                <a:ea typeface="Calibri" panose="020F0502020204030204" pitchFamily="34" charset="0"/>
                <a:cs typeface="Calibri" panose="020F0502020204030204" pitchFamily="34" charset="0"/>
              </a:rPr>
              <a:t> </a:t>
            </a:r>
            <a:r>
              <a:rPr lang="en-US" sz="1600" dirty="0" err="1">
                <a:latin typeface="Calibri" panose="020F0502020204030204" pitchFamily="34" charset="0"/>
                <a:ea typeface="Calibri" panose="020F0502020204030204" pitchFamily="34" charset="0"/>
                <a:cs typeface="Calibri" panose="020F0502020204030204" pitchFamily="34" charset="0"/>
              </a:rPr>
              <a:t>با</a:t>
            </a:r>
            <a:r>
              <a:rPr lang="en-US" sz="1600" dirty="0">
                <a:latin typeface="Calibri" panose="020F0502020204030204" pitchFamily="34" charset="0"/>
                <a:ea typeface="Calibri" panose="020F0502020204030204" pitchFamily="34" charset="0"/>
                <a:cs typeface="Calibri" panose="020F0502020204030204" pitchFamily="34" charset="0"/>
              </a:rPr>
              <a:t> </a:t>
            </a:r>
            <a:r>
              <a:rPr lang="en-US" sz="1600" dirty="0" err="1">
                <a:latin typeface="Calibri" panose="020F0502020204030204" pitchFamily="34" charset="0"/>
                <a:ea typeface="Calibri" panose="020F0502020204030204" pitchFamily="34" charset="0"/>
                <a:cs typeface="Calibri" panose="020F0502020204030204" pitchFamily="34" charset="0"/>
              </a:rPr>
              <a:t>بارداری</a:t>
            </a:r>
            <a:r>
              <a:rPr lang="en-US" sz="1600" dirty="0">
                <a:latin typeface="Calibri" panose="020F0502020204030204" pitchFamily="34" charset="0"/>
                <a:ea typeface="Calibri" panose="020F0502020204030204" pitchFamily="34" charset="0"/>
                <a:cs typeface="Calibri" panose="020F0502020204030204" pitchFamily="34" charset="0"/>
              </a:rPr>
              <a:t> </a:t>
            </a:r>
            <a:r>
              <a:rPr lang="en-US" sz="1600" dirty="0" err="1">
                <a:latin typeface="Calibri" panose="020F0502020204030204" pitchFamily="34" charset="0"/>
                <a:ea typeface="Calibri" panose="020F0502020204030204" pitchFamily="34" charset="0"/>
                <a:cs typeface="Calibri" panose="020F0502020204030204" pitchFamily="34" charset="0"/>
              </a:rPr>
              <a:t>است</a:t>
            </a:r>
            <a:r>
              <a:rPr lang="en-US" sz="1600" dirty="0">
                <a:latin typeface="Calibri" panose="020F0502020204030204" pitchFamily="34" charset="0"/>
                <a:ea typeface="Calibri" panose="020F0502020204030204" pitchFamily="34" charset="0"/>
                <a:cs typeface="Calibri" panose="020F0502020204030204" pitchFamily="34" charset="0"/>
              </a:rPr>
              <a:t> </a:t>
            </a:r>
            <a:r>
              <a:rPr lang="en-US" sz="1600" dirty="0" err="1">
                <a:latin typeface="Calibri" panose="020F0502020204030204" pitchFamily="34" charset="0"/>
                <a:ea typeface="Calibri" panose="020F0502020204030204" pitchFamily="34" charset="0"/>
                <a:cs typeface="Calibri" panose="020F0502020204030204" pitchFamily="34" charset="0"/>
              </a:rPr>
              <a:t>که</a:t>
            </a:r>
            <a:r>
              <a:rPr lang="en-US" sz="1600" dirty="0">
                <a:latin typeface="Calibri" panose="020F0502020204030204" pitchFamily="34" charset="0"/>
                <a:ea typeface="Calibri" panose="020F0502020204030204" pitchFamily="34" charset="0"/>
                <a:cs typeface="Calibri" panose="020F0502020204030204" pitchFamily="34" charset="0"/>
              </a:rPr>
              <a:t> </a:t>
            </a:r>
            <a:r>
              <a:rPr lang="en-US" sz="1600" dirty="0" err="1">
                <a:latin typeface="Calibri" panose="020F0502020204030204" pitchFamily="34" charset="0"/>
                <a:ea typeface="Calibri" panose="020F0502020204030204" pitchFamily="34" charset="0"/>
                <a:cs typeface="Calibri" panose="020F0502020204030204" pitchFamily="34" charset="0"/>
              </a:rPr>
              <a:t>معمولاً</a:t>
            </a:r>
            <a:r>
              <a:rPr lang="en-US" sz="1600" dirty="0">
                <a:latin typeface="Calibri" panose="020F0502020204030204" pitchFamily="34" charset="0"/>
                <a:ea typeface="Calibri" panose="020F0502020204030204" pitchFamily="34" charset="0"/>
                <a:cs typeface="Calibri" panose="020F0502020204030204" pitchFamily="34" charset="0"/>
              </a:rPr>
              <a:t> </a:t>
            </a:r>
            <a:r>
              <a:rPr lang="en-US" sz="1600" dirty="0" err="1">
                <a:latin typeface="Calibri" panose="020F0502020204030204" pitchFamily="34" charset="0"/>
                <a:ea typeface="Calibri" panose="020F0502020204030204" pitchFamily="34" charset="0"/>
                <a:cs typeface="Calibri" panose="020F0502020204030204" pitchFamily="34" charset="0"/>
              </a:rPr>
              <a:t>پس</a:t>
            </a:r>
            <a:r>
              <a:rPr lang="en-US" sz="1600" dirty="0">
                <a:latin typeface="Calibri" panose="020F0502020204030204" pitchFamily="34" charset="0"/>
                <a:ea typeface="Calibri" panose="020F0502020204030204" pitchFamily="34" charset="0"/>
                <a:cs typeface="Calibri" panose="020F0502020204030204" pitchFamily="34" charset="0"/>
              </a:rPr>
              <a:t> </a:t>
            </a:r>
            <a:r>
              <a:rPr lang="en-US" sz="1600" dirty="0" err="1">
                <a:latin typeface="Calibri" panose="020F0502020204030204" pitchFamily="34" charset="0"/>
                <a:ea typeface="Calibri" panose="020F0502020204030204" pitchFamily="34" charset="0"/>
                <a:cs typeface="Calibri" panose="020F0502020204030204" pitchFamily="34" charset="0"/>
              </a:rPr>
              <a:t>از</a:t>
            </a:r>
            <a:r>
              <a:rPr lang="en-US" sz="1600" dirty="0">
                <a:latin typeface="Calibri" panose="020F0502020204030204" pitchFamily="34" charset="0"/>
                <a:ea typeface="Calibri" panose="020F0502020204030204" pitchFamily="34" charset="0"/>
                <a:cs typeface="Calibri" panose="020F0502020204030204" pitchFamily="34" charset="0"/>
              </a:rPr>
              <a:t> </a:t>
            </a:r>
            <a:r>
              <a:rPr lang="en-US" sz="1600" dirty="0" err="1">
                <a:latin typeface="Calibri" panose="020F0502020204030204" pitchFamily="34" charset="0"/>
                <a:ea typeface="Calibri" panose="020F0502020204030204" pitchFamily="34" charset="0"/>
                <a:cs typeface="Calibri" panose="020F0502020204030204" pitchFamily="34" charset="0"/>
              </a:rPr>
              <a:t>هفته</a:t>
            </a:r>
            <a:r>
              <a:rPr lang="en-US" sz="1600" dirty="0">
                <a:latin typeface="Calibri" panose="020F0502020204030204" pitchFamily="34" charset="0"/>
                <a:ea typeface="Calibri" panose="020F0502020204030204" pitchFamily="34" charset="0"/>
                <a:cs typeface="Calibri" panose="020F0502020204030204" pitchFamily="34" charset="0"/>
              </a:rPr>
              <a:t> </a:t>
            </a:r>
            <a:r>
              <a:rPr lang="en-US" sz="1600" dirty="0" err="1">
                <a:latin typeface="Calibri" panose="020F0502020204030204" pitchFamily="34" charset="0"/>
                <a:ea typeface="Calibri" panose="020F0502020204030204" pitchFamily="34" charset="0"/>
                <a:cs typeface="Calibri" panose="020F0502020204030204" pitchFamily="34" charset="0"/>
              </a:rPr>
              <a:t>بیستم</a:t>
            </a:r>
            <a:r>
              <a:rPr lang="en-US" sz="1600" dirty="0">
                <a:latin typeface="Calibri" panose="020F0502020204030204" pitchFamily="34" charset="0"/>
                <a:ea typeface="Calibri" panose="020F0502020204030204" pitchFamily="34" charset="0"/>
                <a:cs typeface="Calibri" panose="020F0502020204030204" pitchFamily="34" charset="0"/>
              </a:rPr>
              <a:t> </a:t>
            </a:r>
            <a:r>
              <a:rPr lang="en-US" sz="1600" dirty="0" err="1">
                <a:latin typeface="Calibri" panose="020F0502020204030204" pitchFamily="34" charset="0"/>
                <a:ea typeface="Calibri" panose="020F0502020204030204" pitchFamily="34" charset="0"/>
                <a:cs typeface="Calibri" panose="020F0502020204030204" pitchFamily="34" charset="0"/>
              </a:rPr>
              <a:t>بارداری</a:t>
            </a:r>
            <a:r>
              <a:rPr lang="en-US" sz="1600" dirty="0">
                <a:latin typeface="Calibri" panose="020F0502020204030204" pitchFamily="34" charset="0"/>
                <a:ea typeface="Calibri" panose="020F0502020204030204" pitchFamily="34" charset="0"/>
                <a:cs typeface="Calibri" panose="020F0502020204030204" pitchFamily="34" charset="0"/>
              </a:rPr>
              <a:t> </a:t>
            </a:r>
            <a:r>
              <a:rPr lang="en-US" sz="1600" dirty="0" err="1">
                <a:latin typeface="Calibri" panose="020F0502020204030204" pitchFamily="34" charset="0"/>
                <a:ea typeface="Calibri" panose="020F0502020204030204" pitchFamily="34" charset="0"/>
                <a:cs typeface="Calibri" panose="020F0502020204030204" pitchFamily="34" charset="0"/>
              </a:rPr>
              <a:t>بروز</a:t>
            </a:r>
            <a:r>
              <a:rPr lang="en-US" sz="1600" dirty="0">
                <a:latin typeface="Calibri" panose="020F0502020204030204" pitchFamily="34" charset="0"/>
                <a:ea typeface="Calibri" panose="020F0502020204030204" pitchFamily="34" charset="0"/>
                <a:cs typeface="Calibri" panose="020F0502020204030204" pitchFamily="34" charset="0"/>
              </a:rPr>
              <a:t> </a:t>
            </a:r>
            <a:r>
              <a:rPr lang="en-US" sz="1600" dirty="0" err="1">
                <a:latin typeface="Calibri" panose="020F0502020204030204" pitchFamily="34" charset="0"/>
                <a:ea typeface="Calibri" panose="020F0502020204030204" pitchFamily="34" charset="0"/>
                <a:cs typeface="Calibri" panose="020F0502020204030204" pitchFamily="34" charset="0"/>
              </a:rPr>
              <a:t>می‌کند</a:t>
            </a:r>
            <a:r>
              <a:rPr lang="en-US" sz="1600" dirty="0">
                <a:latin typeface="Calibri" panose="020F0502020204030204" pitchFamily="34" charset="0"/>
                <a:ea typeface="Calibri" panose="020F0502020204030204" pitchFamily="34" charset="0"/>
                <a:cs typeface="Calibri" panose="020F0502020204030204" pitchFamily="34" charset="0"/>
              </a:rPr>
              <a:t> و </a:t>
            </a:r>
            <a:r>
              <a:rPr lang="en-US" sz="1600" dirty="0" err="1">
                <a:latin typeface="Calibri" panose="020F0502020204030204" pitchFamily="34" charset="0"/>
                <a:ea typeface="Calibri" panose="020F0502020204030204" pitchFamily="34" charset="0"/>
                <a:cs typeface="Calibri" panose="020F0502020204030204" pitchFamily="34" charset="0"/>
              </a:rPr>
              <a:t>با</a:t>
            </a:r>
            <a:r>
              <a:rPr lang="en-US" sz="1600" dirty="0">
                <a:latin typeface="Calibri" panose="020F0502020204030204" pitchFamily="34" charset="0"/>
                <a:ea typeface="Calibri" panose="020F0502020204030204" pitchFamily="34" charset="0"/>
                <a:cs typeface="Calibri" panose="020F0502020204030204" pitchFamily="34" charset="0"/>
              </a:rPr>
              <a:t> </a:t>
            </a:r>
            <a:r>
              <a:rPr lang="en-US" sz="1600" dirty="0" err="1">
                <a:latin typeface="Calibri" panose="020F0502020204030204" pitchFamily="34" charset="0"/>
                <a:ea typeface="Calibri" panose="020F0502020204030204" pitchFamily="34" charset="0"/>
                <a:cs typeface="Calibri" panose="020F0502020204030204" pitchFamily="34" charset="0"/>
              </a:rPr>
              <a:t>فشار</a:t>
            </a:r>
            <a:r>
              <a:rPr lang="en-US" sz="1600" dirty="0">
                <a:latin typeface="Calibri" panose="020F0502020204030204" pitchFamily="34" charset="0"/>
                <a:ea typeface="Calibri" panose="020F0502020204030204" pitchFamily="34" charset="0"/>
                <a:cs typeface="Calibri" panose="020F0502020204030204" pitchFamily="34" charset="0"/>
              </a:rPr>
              <a:t> </a:t>
            </a:r>
            <a:r>
              <a:rPr lang="en-US" sz="1600" dirty="0" err="1">
                <a:latin typeface="Calibri" panose="020F0502020204030204" pitchFamily="34" charset="0"/>
                <a:ea typeface="Calibri" panose="020F0502020204030204" pitchFamily="34" charset="0"/>
                <a:cs typeface="Calibri" panose="020F0502020204030204" pitchFamily="34" charset="0"/>
              </a:rPr>
              <a:t>خون</a:t>
            </a:r>
            <a:r>
              <a:rPr lang="en-US" sz="1600" dirty="0">
                <a:latin typeface="Calibri" panose="020F0502020204030204" pitchFamily="34" charset="0"/>
                <a:ea typeface="Calibri" panose="020F0502020204030204" pitchFamily="34" charset="0"/>
                <a:cs typeface="Calibri" panose="020F0502020204030204" pitchFamily="34" charset="0"/>
              </a:rPr>
              <a:t> </a:t>
            </a:r>
            <a:r>
              <a:rPr lang="en-US" sz="1600" dirty="0" err="1">
                <a:latin typeface="Calibri" panose="020F0502020204030204" pitchFamily="34" charset="0"/>
                <a:ea typeface="Calibri" panose="020F0502020204030204" pitchFamily="34" charset="0"/>
                <a:cs typeface="Calibri" panose="020F0502020204030204" pitchFamily="34" charset="0"/>
              </a:rPr>
              <a:t>بالا</a:t>
            </a:r>
            <a:r>
              <a:rPr lang="en-US" sz="1600" dirty="0">
                <a:latin typeface="Calibri" panose="020F0502020204030204" pitchFamily="34" charset="0"/>
                <a:ea typeface="Calibri" panose="020F0502020204030204" pitchFamily="34" charset="0"/>
                <a:cs typeface="Calibri" panose="020F0502020204030204" pitchFamily="34" charset="0"/>
              </a:rPr>
              <a:t> و نشانه‌های </a:t>
            </a:r>
            <a:r>
              <a:rPr lang="en-US" sz="1600" dirty="0" err="1">
                <a:latin typeface="Calibri" panose="020F0502020204030204" pitchFamily="34" charset="0"/>
                <a:ea typeface="Calibri" panose="020F0502020204030204" pitchFamily="34" charset="0"/>
                <a:cs typeface="Calibri" panose="020F0502020204030204" pitchFamily="34" charset="0"/>
              </a:rPr>
              <a:t>آسیب</a:t>
            </a:r>
            <a:r>
              <a:rPr lang="en-US" sz="1600" dirty="0">
                <a:latin typeface="Calibri" panose="020F0502020204030204" pitchFamily="34" charset="0"/>
                <a:ea typeface="Calibri" panose="020F0502020204030204" pitchFamily="34" charset="0"/>
                <a:cs typeface="Calibri" panose="020F0502020204030204" pitchFamily="34" charset="0"/>
              </a:rPr>
              <a:t> </a:t>
            </a:r>
            <a:r>
              <a:rPr lang="en-US" sz="1600" dirty="0" err="1">
                <a:latin typeface="Calibri" panose="020F0502020204030204" pitchFamily="34" charset="0"/>
                <a:ea typeface="Calibri" panose="020F0502020204030204" pitchFamily="34" charset="0"/>
                <a:cs typeface="Calibri" panose="020F0502020204030204" pitchFamily="34" charset="0"/>
              </a:rPr>
              <a:t>به</a:t>
            </a:r>
            <a:r>
              <a:rPr lang="en-US" sz="1600" dirty="0">
                <a:latin typeface="Calibri" panose="020F0502020204030204" pitchFamily="34" charset="0"/>
                <a:ea typeface="Calibri" panose="020F0502020204030204" pitchFamily="34" charset="0"/>
                <a:cs typeface="Calibri" panose="020F0502020204030204" pitchFamily="34" charset="0"/>
              </a:rPr>
              <a:t> </a:t>
            </a:r>
            <a:r>
              <a:rPr lang="en-US" sz="1600" dirty="0" err="1">
                <a:latin typeface="Calibri" panose="020F0502020204030204" pitchFamily="34" charset="0"/>
                <a:ea typeface="Calibri" panose="020F0502020204030204" pitchFamily="34" charset="0"/>
                <a:cs typeface="Calibri" panose="020F0502020204030204" pitchFamily="34" charset="0"/>
              </a:rPr>
              <a:t>اندام‌ها</a:t>
            </a:r>
            <a:r>
              <a:rPr lang="en-US" sz="1600" dirty="0">
                <a:latin typeface="Calibri" panose="020F0502020204030204" pitchFamily="34" charset="0"/>
                <a:ea typeface="Calibri" panose="020F0502020204030204" pitchFamily="34" charset="0"/>
                <a:cs typeface="Calibri" panose="020F0502020204030204" pitchFamily="34" charset="0"/>
              </a:rPr>
              <a:t> </a:t>
            </a:r>
            <a:r>
              <a:rPr lang="en-US" sz="1600" dirty="0" err="1">
                <a:latin typeface="Calibri" panose="020F0502020204030204" pitchFamily="34" charset="0"/>
                <a:ea typeface="Calibri" panose="020F0502020204030204" pitchFamily="34" charset="0"/>
                <a:cs typeface="Calibri" panose="020F0502020204030204" pitchFamily="34" charset="0"/>
              </a:rPr>
              <a:t>مانند</a:t>
            </a:r>
            <a:r>
              <a:rPr lang="en-US" sz="1600" dirty="0">
                <a:latin typeface="Calibri" panose="020F0502020204030204" pitchFamily="34" charset="0"/>
                <a:ea typeface="Calibri" panose="020F0502020204030204" pitchFamily="34" charset="0"/>
                <a:cs typeface="Calibri" panose="020F0502020204030204" pitchFamily="34" charset="0"/>
              </a:rPr>
              <a:t> </a:t>
            </a:r>
            <a:r>
              <a:rPr lang="en-US" sz="1600" dirty="0" err="1">
                <a:latin typeface="Calibri" panose="020F0502020204030204" pitchFamily="34" charset="0"/>
                <a:ea typeface="Calibri" panose="020F0502020204030204" pitchFamily="34" charset="0"/>
                <a:cs typeface="Calibri" panose="020F0502020204030204" pitchFamily="34" charset="0"/>
              </a:rPr>
              <a:t>کلیه‌ها</a:t>
            </a:r>
            <a:r>
              <a:rPr lang="en-US" sz="1600" dirty="0">
                <a:latin typeface="Calibri" panose="020F0502020204030204" pitchFamily="34" charset="0"/>
                <a:ea typeface="Calibri" panose="020F0502020204030204" pitchFamily="34" charset="0"/>
                <a:cs typeface="Calibri" panose="020F0502020204030204" pitchFamily="34" charset="0"/>
              </a:rPr>
              <a:t> </a:t>
            </a:r>
            <a:r>
              <a:rPr lang="en-US" sz="1600" dirty="0" err="1">
                <a:latin typeface="Calibri" panose="020F0502020204030204" pitchFamily="34" charset="0"/>
                <a:ea typeface="Calibri" panose="020F0502020204030204" pitchFamily="34" charset="0"/>
                <a:cs typeface="Calibri" panose="020F0502020204030204" pitchFamily="34" charset="0"/>
              </a:rPr>
              <a:t>یا</a:t>
            </a:r>
            <a:r>
              <a:rPr lang="en-US" sz="1600" dirty="0">
                <a:latin typeface="Calibri" panose="020F0502020204030204" pitchFamily="34" charset="0"/>
                <a:ea typeface="Calibri" panose="020F0502020204030204" pitchFamily="34" charset="0"/>
                <a:cs typeface="Calibri" panose="020F0502020204030204" pitchFamily="34" charset="0"/>
              </a:rPr>
              <a:t> </a:t>
            </a:r>
            <a:r>
              <a:rPr lang="en-US" sz="1600" dirty="0" err="1">
                <a:latin typeface="Calibri" panose="020F0502020204030204" pitchFamily="34" charset="0"/>
                <a:ea typeface="Calibri" panose="020F0502020204030204" pitchFamily="34" charset="0"/>
                <a:cs typeface="Calibri" panose="020F0502020204030204" pitchFamily="34" charset="0"/>
              </a:rPr>
              <a:t>کبد</a:t>
            </a:r>
            <a:r>
              <a:rPr lang="fa-IR" sz="1600" dirty="0">
                <a:latin typeface="Calibri" panose="020F0502020204030204" pitchFamily="34" charset="0"/>
                <a:ea typeface="Calibri" panose="020F0502020204030204" pitchFamily="34" charset="0"/>
                <a:cs typeface="Calibri" panose="020F0502020204030204" pitchFamily="34" charset="0"/>
              </a:rPr>
              <a:t> </a:t>
            </a:r>
            <a:r>
              <a:rPr lang="en-US" sz="1600" dirty="0" err="1">
                <a:latin typeface="Calibri" panose="020F0502020204030204" pitchFamily="34" charset="0"/>
                <a:ea typeface="Calibri" panose="020F0502020204030204" pitchFamily="34" charset="0"/>
                <a:cs typeface="Calibri" panose="020F0502020204030204" pitchFamily="34" charset="0"/>
              </a:rPr>
              <a:t>مشخص</a:t>
            </a:r>
            <a:r>
              <a:rPr lang="en-US" sz="1600" dirty="0">
                <a:latin typeface="Calibri" panose="020F0502020204030204" pitchFamily="34" charset="0"/>
                <a:ea typeface="Calibri" panose="020F0502020204030204" pitchFamily="34" charset="0"/>
                <a:cs typeface="Calibri" panose="020F0502020204030204" pitchFamily="34" charset="0"/>
              </a:rPr>
              <a:t> </a:t>
            </a:r>
            <a:r>
              <a:rPr lang="en-US" sz="1600" dirty="0" err="1">
                <a:latin typeface="Calibri" panose="020F0502020204030204" pitchFamily="34" charset="0"/>
                <a:ea typeface="Calibri" panose="020F0502020204030204" pitchFamily="34" charset="0"/>
                <a:cs typeface="Calibri" panose="020F0502020204030204" pitchFamily="34" charset="0"/>
              </a:rPr>
              <a:t>می‌شود</a:t>
            </a:r>
            <a:endParaRPr lang="fa-IR" sz="1600" dirty="0">
              <a:latin typeface="Calibri" panose="020F0502020204030204" pitchFamily="34" charset="0"/>
              <a:ea typeface="Calibri" panose="020F0502020204030204" pitchFamily="34" charset="0"/>
              <a:cs typeface="Calibri" panose="020F0502020204030204" pitchFamily="34" charset="0"/>
            </a:endParaRPr>
          </a:p>
          <a:p>
            <a:pPr algn="r" rtl="1"/>
            <a:r>
              <a:rPr lang="en-US" sz="1600" dirty="0" err="1">
                <a:latin typeface="Calibri" panose="020F0502020204030204" pitchFamily="34" charset="0"/>
                <a:ea typeface="Calibri" panose="020F0502020204030204" pitchFamily="34" charset="0"/>
                <a:cs typeface="Calibri" panose="020F0502020204030204" pitchFamily="34" charset="0"/>
              </a:rPr>
              <a:t>این</a:t>
            </a:r>
            <a:r>
              <a:rPr lang="en-US" sz="1600" dirty="0">
                <a:latin typeface="Calibri" panose="020F0502020204030204" pitchFamily="34" charset="0"/>
                <a:ea typeface="Calibri" panose="020F0502020204030204" pitchFamily="34" charset="0"/>
                <a:cs typeface="Calibri" panose="020F0502020204030204" pitchFamily="34" charset="0"/>
              </a:rPr>
              <a:t> </a:t>
            </a:r>
            <a:r>
              <a:rPr lang="en-US" sz="1600" dirty="0" err="1">
                <a:latin typeface="Calibri" panose="020F0502020204030204" pitchFamily="34" charset="0"/>
                <a:ea typeface="Calibri" panose="020F0502020204030204" pitchFamily="34" charset="0"/>
                <a:cs typeface="Calibri" panose="020F0502020204030204" pitchFamily="34" charset="0"/>
              </a:rPr>
              <a:t>بیماری</a:t>
            </a:r>
            <a:r>
              <a:rPr lang="en-US" sz="1600" dirty="0">
                <a:latin typeface="Calibri" panose="020F0502020204030204" pitchFamily="34" charset="0"/>
                <a:ea typeface="Calibri" panose="020F0502020204030204" pitchFamily="34" charset="0"/>
                <a:cs typeface="Calibri" panose="020F0502020204030204" pitchFamily="34" charset="0"/>
              </a:rPr>
              <a:t> </a:t>
            </a:r>
            <a:r>
              <a:rPr lang="en-US" sz="1600" dirty="0" err="1">
                <a:latin typeface="Calibri" panose="020F0502020204030204" pitchFamily="34" charset="0"/>
                <a:ea typeface="Calibri" panose="020F0502020204030204" pitchFamily="34" charset="0"/>
                <a:cs typeface="Calibri" panose="020F0502020204030204" pitchFamily="34" charset="0"/>
              </a:rPr>
              <a:t>در</a:t>
            </a:r>
            <a:r>
              <a:rPr lang="en-US" sz="1600" dirty="0">
                <a:latin typeface="Calibri" panose="020F0502020204030204" pitchFamily="34" charset="0"/>
                <a:ea typeface="Calibri" panose="020F0502020204030204" pitchFamily="34" charset="0"/>
                <a:cs typeface="Calibri" panose="020F0502020204030204" pitchFamily="34" charset="0"/>
              </a:rPr>
              <a:t> </a:t>
            </a:r>
            <a:r>
              <a:rPr lang="en-US" sz="1600" dirty="0" err="1">
                <a:latin typeface="Calibri" panose="020F0502020204030204" pitchFamily="34" charset="0"/>
                <a:ea typeface="Calibri" panose="020F0502020204030204" pitchFamily="34" charset="0"/>
                <a:cs typeface="Calibri" panose="020F0502020204030204" pitchFamily="34" charset="0"/>
              </a:rPr>
              <a:t>گذشته</a:t>
            </a:r>
            <a:r>
              <a:rPr lang="en-US" sz="1600" dirty="0">
                <a:latin typeface="Calibri" panose="020F0502020204030204" pitchFamily="34" charset="0"/>
                <a:ea typeface="Calibri" panose="020F0502020204030204" pitchFamily="34" charset="0"/>
                <a:cs typeface="Calibri" panose="020F0502020204030204" pitchFamily="34" charset="0"/>
              </a:rPr>
              <a:t> </a:t>
            </a:r>
            <a:r>
              <a:rPr lang="en-US" sz="1600" dirty="0" err="1">
                <a:latin typeface="Calibri" panose="020F0502020204030204" pitchFamily="34" charset="0"/>
                <a:ea typeface="Calibri" panose="020F0502020204030204" pitchFamily="34" charset="0"/>
                <a:cs typeface="Calibri" panose="020F0502020204030204" pitchFamily="34" charset="0"/>
              </a:rPr>
              <a:t>بیشتر</a:t>
            </a:r>
            <a:r>
              <a:rPr lang="en-US" sz="1600" dirty="0">
                <a:latin typeface="Calibri" panose="020F0502020204030204" pitchFamily="34" charset="0"/>
                <a:ea typeface="Calibri" panose="020F0502020204030204" pitchFamily="34" charset="0"/>
                <a:cs typeface="Calibri" panose="020F0502020204030204" pitchFamily="34" charset="0"/>
              </a:rPr>
              <a:t> </a:t>
            </a:r>
            <a:r>
              <a:rPr lang="en-US" sz="1600" dirty="0" err="1">
                <a:latin typeface="Calibri" panose="020F0502020204030204" pitchFamily="34" charset="0"/>
                <a:ea typeface="Calibri" panose="020F0502020204030204" pitchFamily="34" charset="0"/>
                <a:cs typeface="Calibri" panose="020F0502020204030204" pitchFamily="34" charset="0"/>
              </a:rPr>
              <a:t>با</a:t>
            </a:r>
            <a:r>
              <a:rPr lang="en-US" sz="1600" dirty="0">
                <a:latin typeface="Calibri" panose="020F0502020204030204" pitchFamily="34" charset="0"/>
                <a:ea typeface="Calibri" panose="020F0502020204030204" pitchFamily="34" charset="0"/>
                <a:cs typeface="Calibri" panose="020F0502020204030204" pitchFamily="34" charset="0"/>
              </a:rPr>
              <a:t> </a:t>
            </a:r>
            <a:r>
              <a:rPr lang="en-US" sz="1600" dirty="0" err="1">
                <a:latin typeface="Calibri" panose="020F0502020204030204" pitchFamily="34" charset="0"/>
                <a:ea typeface="Calibri" panose="020F0502020204030204" pitchFamily="34" charset="0"/>
                <a:cs typeface="Calibri" panose="020F0502020204030204" pitchFamily="34" charset="0"/>
              </a:rPr>
              <a:t>وجود</a:t>
            </a:r>
            <a:r>
              <a:rPr lang="en-US" sz="1600" dirty="0">
                <a:latin typeface="Calibri" panose="020F0502020204030204" pitchFamily="34" charset="0"/>
                <a:ea typeface="Calibri" panose="020F0502020204030204" pitchFamily="34" charset="0"/>
                <a:cs typeface="Calibri" panose="020F0502020204030204" pitchFamily="34" charset="0"/>
              </a:rPr>
              <a:t> </a:t>
            </a:r>
            <a:r>
              <a:rPr lang="en-US" sz="1600" b="1" dirty="0" err="1">
                <a:latin typeface="Calibri" panose="020F0502020204030204" pitchFamily="34" charset="0"/>
                <a:ea typeface="Calibri" panose="020F0502020204030204" pitchFamily="34" charset="0"/>
                <a:cs typeface="Calibri" panose="020F0502020204030204" pitchFamily="34" charset="0"/>
              </a:rPr>
              <a:t>پروتئین</a:t>
            </a:r>
            <a:r>
              <a:rPr lang="en-US" sz="1600" b="1" dirty="0">
                <a:latin typeface="Calibri" panose="020F0502020204030204" pitchFamily="34" charset="0"/>
                <a:ea typeface="Calibri" panose="020F0502020204030204" pitchFamily="34" charset="0"/>
                <a:cs typeface="Calibri" panose="020F0502020204030204" pitchFamily="34" charset="0"/>
              </a:rPr>
              <a:t> </a:t>
            </a:r>
            <a:r>
              <a:rPr lang="en-US" sz="1600" b="1" dirty="0" err="1">
                <a:latin typeface="Calibri" panose="020F0502020204030204" pitchFamily="34" charset="0"/>
                <a:ea typeface="Calibri" panose="020F0502020204030204" pitchFamily="34" charset="0"/>
                <a:cs typeface="Calibri" panose="020F0502020204030204" pitchFamily="34" charset="0"/>
              </a:rPr>
              <a:t>در</a:t>
            </a:r>
            <a:r>
              <a:rPr lang="en-US" sz="1600" b="1" dirty="0">
                <a:latin typeface="Calibri" panose="020F0502020204030204" pitchFamily="34" charset="0"/>
                <a:ea typeface="Calibri" panose="020F0502020204030204" pitchFamily="34" charset="0"/>
                <a:cs typeface="Calibri" panose="020F0502020204030204" pitchFamily="34" charset="0"/>
              </a:rPr>
              <a:t> </a:t>
            </a:r>
            <a:r>
              <a:rPr lang="fa-IR" sz="1600" b="1" dirty="0">
                <a:latin typeface="Calibri" panose="020F0502020204030204" pitchFamily="34" charset="0"/>
                <a:ea typeface="Calibri" panose="020F0502020204030204" pitchFamily="34" charset="0"/>
                <a:cs typeface="Calibri" panose="020F0502020204030204" pitchFamily="34" charset="0"/>
              </a:rPr>
              <a:t>ادرار (</a:t>
            </a:r>
            <a:r>
              <a:rPr lang="en-US" sz="1600" dirty="0" err="1">
                <a:latin typeface="Calibri" panose="020F0502020204030204" pitchFamily="34" charset="0"/>
                <a:ea typeface="Calibri" panose="020F0502020204030204" pitchFamily="34" charset="0"/>
                <a:cs typeface="Calibri" panose="020F0502020204030204" pitchFamily="34" charset="0"/>
              </a:rPr>
              <a:t>پروتئینوری</a:t>
            </a:r>
            <a:r>
              <a:rPr lang="fa-IR" sz="1600" dirty="0">
                <a:latin typeface="Calibri" panose="020F0502020204030204" pitchFamily="34" charset="0"/>
                <a:ea typeface="Calibri" panose="020F0502020204030204" pitchFamily="34" charset="0"/>
                <a:cs typeface="Calibri" panose="020F0502020204030204" pitchFamily="34" charset="0"/>
              </a:rPr>
              <a:t>)</a:t>
            </a:r>
            <a:r>
              <a:rPr lang="en-US" sz="1600" dirty="0">
                <a:latin typeface="Calibri" panose="020F0502020204030204" pitchFamily="34" charset="0"/>
                <a:ea typeface="Calibri" panose="020F0502020204030204" pitchFamily="34" charset="0"/>
                <a:cs typeface="Calibri" panose="020F0502020204030204" pitchFamily="34" charset="0"/>
              </a:rPr>
              <a:t> </a:t>
            </a:r>
            <a:r>
              <a:rPr lang="en-US" sz="1600" dirty="0" err="1">
                <a:latin typeface="Calibri" panose="020F0502020204030204" pitchFamily="34" charset="0"/>
                <a:ea typeface="Calibri" panose="020F0502020204030204" pitchFamily="34" charset="0"/>
                <a:cs typeface="Calibri" panose="020F0502020204030204" pitchFamily="34" charset="0"/>
              </a:rPr>
              <a:t>همراه</a:t>
            </a:r>
            <a:r>
              <a:rPr lang="en-US" sz="1600" dirty="0">
                <a:latin typeface="Calibri" panose="020F0502020204030204" pitchFamily="34" charset="0"/>
                <a:ea typeface="Calibri" panose="020F0502020204030204" pitchFamily="34" charset="0"/>
                <a:cs typeface="Calibri" panose="020F0502020204030204" pitchFamily="34" charset="0"/>
              </a:rPr>
              <a:t> </a:t>
            </a:r>
            <a:r>
              <a:rPr lang="en-US" sz="1600" dirty="0" err="1">
                <a:latin typeface="Calibri" panose="020F0502020204030204" pitchFamily="34" charset="0"/>
                <a:ea typeface="Calibri" panose="020F0502020204030204" pitchFamily="34" charset="0"/>
                <a:cs typeface="Calibri" panose="020F0502020204030204" pitchFamily="34" charset="0"/>
              </a:rPr>
              <a:t>با</a:t>
            </a:r>
            <a:r>
              <a:rPr lang="en-US" sz="1600" dirty="0">
                <a:latin typeface="Calibri" panose="020F0502020204030204" pitchFamily="34" charset="0"/>
                <a:ea typeface="Calibri" panose="020F0502020204030204" pitchFamily="34" charset="0"/>
                <a:cs typeface="Calibri" panose="020F0502020204030204" pitchFamily="34" charset="0"/>
              </a:rPr>
              <a:t> </a:t>
            </a:r>
            <a:r>
              <a:rPr lang="en-US" sz="1600" dirty="0" err="1">
                <a:latin typeface="Calibri" panose="020F0502020204030204" pitchFamily="34" charset="0"/>
                <a:ea typeface="Calibri" panose="020F0502020204030204" pitchFamily="34" charset="0"/>
                <a:cs typeface="Calibri" panose="020F0502020204030204" pitchFamily="34" charset="0"/>
              </a:rPr>
              <a:t>فشار</a:t>
            </a:r>
            <a:r>
              <a:rPr lang="en-US" sz="1600" dirty="0">
                <a:latin typeface="Calibri" panose="020F0502020204030204" pitchFamily="34" charset="0"/>
                <a:ea typeface="Calibri" panose="020F0502020204030204" pitchFamily="34" charset="0"/>
                <a:cs typeface="Calibri" panose="020F0502020204030204" pitchFamily="34" charset="0"/>
              </a:rPr>
              <a:t> </a:t>
            </a:r>
            <a:r>
              <a:rPr lang="en-US" sz="1600" dirty="0" err="1">
                <a:latin typeface="Calibri" panose="020F0502020204030204" pitchFamily="34" charset="0"/>
                <a:ea typeface="Calibri" panose="020F0502020204030204" pitchFamily="34" charset="0"/>
                <a:cs typeface="Calibri" panose="020F0502020204030204" pitchFamily="34" charset="0"/>
              </a:rPr>
              <a:t>خون</a:t>
            </a:r>
            <a:r>
              <a:rPr lang="en-US" sz="1600" dirty="0">
                <a:latin typeface="Calibri" panose="020F0502020204030204" pitchFamily="34" charset="0"/>
                <a:ea typeface="Calibri" panose="020F0502020204030204" pitchFamily="34" charset="0"/>
                <a:cs typeface="Calibri" panose="020F0502020204030204" pitchFamily="34" charset="0"/>
              </a:rPr>
              <a:t> </a:t>
            </a:r>
            <a:r>
              <a:rPr lang="en-US" sz="1600" dirty="0" err="1">
                <a:latin typeface="Calibri" panose="020F0502020204030204" pitchFamily="34" charset="0"/>
                <a:ea typeface="Calibri" panose="020F0502020204030204" pitchFamily="34" charset="0"/>
                <a:cs typeface="Calibri" panose="020F0502020204030204" pitchFamily="34" charset="0"/>
              </a:rPr>
              <a:t>بالا</a:t>
            </a:r>
            <a:r>
              <a:rPr lang="en-US" sz="1600" dirty="0">
                <a:latin typeface="Calibri" panose="020F0502020204030204" pitchFamily="34" charset="0"/>
                <a:ea typeface="Calibri" panose="020F0502020204030204" pitchFamily="34" charset="0"/>
                <a:cs typeface="Calibri" panose="020F0502020204030204" pitchFamily="34" charset="0"/>
              </a:rPr>
              <a:t> </a:t>
            </a:r>
            <a:r>
              <a:rPr lang="en-US" sz="1600" dirty="0" err="1">
                <a:latin typeface="Calibri" panose="020F0502020204030204" pitchFamily="34" charset="0"/>
                <a:ea typeface="Calibri" panose="020F0502020204030204" pitchFamily="34" charset="0"/>
                <a:cs typeface="Calibri" panose="020F0502020204030204" pitchFamily="34" charset="0"/>
              </a:rPr>
              <a:t>شناخته</a:t>
            </a:r>
            <a:r>
              <a:rPr lang="en-US" sz="1600" dirty="0">
                <a:latin typeface="Calibri" panose="020F0502020204030204" pitchFamily="34" charset="0"/>
                <a:ea typeface="Calibri" panose="020F0502020204030204" pitchFamily="34" charset="0"/>
                <a:cs typeface="Calibri" panose="020F0502020204030204" pitchFamily="34" charset="0"/>
              </a:rPr>
              <a:t> </a:t>
            </a:r>
            <a:r>
              <a:rPr lang="en-US" sz="1600" dirty="0" err="1">
                <a:latin typeface="Calibri" panose="020F0502020204030204" pitchFamily="34" charset="0"/>
                <a:ea typeface="Calibri" panose="020F0502020204030204" pitchFamily="34" charset="0"/>
                <a:cs typeface="Calibri" panose="020F0502020204030204" pitchFamily="34" charset="0"/>
              </a:rPr>
              <a:t>می‌شد</a:t>
            </a:r>
            <a:r>
              <a:rPr lang="en-US" sz="1600" dirty="0">
                <a:latin typeface="Calibri" panose="020F0502020204030204" pitchFamily="34" charset="0"/>
                <a:ea typeface="Calibri" panose="020F0502020204030204" pitchFamily="34" charset="0"/>
                <a:cs typeface="Calibri" panose="020F0502020204030204" pitchFamily="34" charset="0"/>
              </a:rPr>
              <a:t>. </a:t>
            </a:r>
            <a:r>
              <a:rPr lang="en-US" sz="1600" dirty="0" err="1">
                <a:latin typeface="Calibri" panose="020F0502020204030204" pitchFamily="34" charset="0"/>
                <a:ea typeface="Calibri" panose="020F0502020204030204" pitchFamily="34" charset="0"/>
                <a:cs typeface="Calibri" panose="020F0502020204030204" pitchFamily="34" charset="0"/>
              </a:rPr>
              <a:t>اما</a:t>
            </a:r>
            <a:r>
              <a:rPr lang="en-US" sz="1600" dirty="0">
                <a:latin typeface="Calibri" panose="020F0502020204030204" pitchFamily="34" charset="0"/>
                <a:ea typeface="Calibri" panose="020F0502020204030204" pitchFamily="34" charset="0"/>
                <a:cs typeface="Calibri" panose="020F0502020204030204" pitchFamily="34" charset="0"/>
              </a:rPr>
              <a:t> </a:t>
            </a:r>
            <a:r>
              <a:rPr lang="en-US" sz="1600" dirty="0" err="1">
                <a:latin typeface="Calibri" panose="020F0502020204030204" pitchFamily="34" charset="0"/>
                <a:ea typeface="Calibri" panose="020F0502020204030204" pitchFamily="34" charset="0"/>
                <a:cs typeface="Calibri" panose="020F0502020204030204" pitchFamily="34" charset="0"/>
              </a:rPr>
              <a:t>امروزه</a:t>
            </a:r>
            <a:r>
              <a:rPr lang="en-US" sz="1600" dirty="0">
                <a:latin typeface="Calibri" panose="020F0502020204030204" pitchFamily="34" charset="0"/>
                <a:ea typeface="Calibri" panose="020F0502020204030204" pitchFamily="34" charset="0"/>
                <a:cs typeface="Calibri" panose="020F0502020204030204" pitchFamily="34" charset="0"/>
              </a:rPr>
              <a:t> </a:t>
            </a:r>
            <a:r>
              <a:rPr lang="en-US" sz="1600" dirty="0" err="1">
                <a:latin typeface="Calibri" panose="020F0502020204030204" pitchFamily="34" charset="0"/>
                <a:ea typeface="Calibri" panose="020F0502020204030204" pitchFamily="34" charset="0"/>
                <a:cs typeface="Calibri" panose="020F0502020204030204" pitchFamily="34" charset="0"/>
              </a:rPr>
              <a:t>تشخیص</a:t>
            </a:r>
            <a:r>
              <a:rPr lang="en-US" sz="1600" dirty="0">
                <a:latin typeface="Calibri" panose="020F0502020204030204" pitchFamily="34" charset="0"/>
                <a:ea typeface="Calibri" panose="020F0502020204030204" pitchFamily="34" charset="0"/>
                <a:cs typeface="Calibri" panose="020F0502020204030204" pitchFamily="34" charset="0"/>
              </a:rPr>
              <a:t> </a:t>
            </a:r>
            <a:r>
              <a:rPr lang="en-US" sz="1600" dirty="0" err="1">
                <a:latin typeface="Calibri" panose="020F0502020204030204" pitchFamily="34" charset="0"/>
                <a:ea typeface="Calibri" panose="020F0502020204030204" pitchFamily="34" charset="0"/>
                <a:cs typeface="Calibri" panose="020F0502020204030204" pitchFamily="34" charset="0"/>
              </a:rPr>
              <a:t>آن</a:t>
            </a:r>
            <a:r>
              <a:rPr lang="en-US" sz="1600" dirty="0">
                <a:latin typeface="Calibri" panose="020F0502020204030204" pitchFamily="34" charset="0"/>
                <a:ea typeface="Calibri" panose="020F0502020204030204" pitchFamily="34" charset="0"/>
                <a:cs typeface="Calibri" panose="020F0502020204030204" pitchFamily="34" charset="0"/>
              </a:rPr>
              <a:t> </a:t>
            </a:r>
            <a:r>
              <a:rPr lang="en-US" sz="1600" dirty="0" err="1">
                <a:latin typeface="Calibri" panose="020F0502020204030204" pitchFamily="34" charset="0"/>
                <a:ea typeface="Calibri" panose="020F0502020204030204" pitchFamily="34" charset="0"/>
                <a:cs typeface="Calibri" panose="020F0502020204030204" pitchFamily="34" charset="0"/>
              </a:rPr>
              <a:t>گسترش</a:t>
            </a:r>
            <a:r>
              <a:rPr lang="en-US" sz="1600" dirty="0">
                <a:latin typeface="Calibri" panose="020F0502020204030204" pitchFamily="34" charset="0"/>
                <a:ea typeface="Calibri" panose="020F0502020204030204" pitchFamily="34" charset="0"/>
                <a:cs typeface="Calibri" panose="020F0502020204030204" pitchFamily="34" charset="0"/>
              </a:rPr>
              <a:t> </a:t>
            </a:r>
            <a:r>
              <a:rPr lang="en-US" sz="1600" dirty="0" err="1">
                <a:latin typeface="Calibri" panose="020F0502020204030204" pitchFamily="34" charset="0"/>
                <a:ea typeface="Calibri" panose="020F0502020204030204" pitchFamily="34" charset="0"/>
                <a:cs typeface="Calibri" panose="020F0502020204030204" pitchFamily="34" charset="0"/>
              </a:rPr>
              <a:t>یافته</a:t>
            </a:r>
            <a:r>
              <a:rPr lang="en-US" sz="1600" dirty="0">
                <a:latin typeface="Calibri" panose="020F0502020204030204" pitchFamily="34" charset="0"/>
                <a:ea typeface="Calibri" panose="020F0502020204030204" pitchFamily="34" charset="0"/>
                <a:cs typeface="Calibri" panose="020F0502020204030204" pitchFamily="34" charset="0"/>
              </a:rPr>
              <a:t> و </a:t>
            </a:r>
            <a:r>
              <a:rPr lang="en-US" sz="1600" dirty="0" err="1">
                <a:latin typeface="Calibri" panose="020F0502020204030204" pitchFamily="34" charset="0"/>
                <a:ea typeface="Calibri" panose="020F0502020204030204" pitchFamily="34" charset="0"/>
                <a:cs typeface="Calibri" panose="020F0502020204030204" pitchFamily="34" charset="0"/>
              </a:rPr>
              <a:t>حتی</a:t>
            </a:r>
            <a:r>
              <a:rPr lang="en-US" sz="1600" dirty="0">
                <a:latin typeface="Calibri" panose="020F0502020204030204" pitchFamily="34" charset="0"/>
                <a:ea typeface="Calibri" panose="020F0502020204030204" pitchFamily="34" charset="0"/>
                <a:cs typeface="Calibri" panose="020F0502020204030204" pitchFamily="34" charset="0"/>
              </a:rPr>
              <a:t> </a:t>
            </a:r>
            <a:r>
              <a:rPr lang="en-US" sz="1600" dirty="0" err="1">
                <a:latin typeface="Calibri" panose="020F0502020204030204" pitchFamily="34" charset="0"/>
                <a:ea typeface="Calibri" panose="020F0502020204030204" pitchFamily="34" charset="0"/>
                <a:cs typeface="Calibri" panose="020F0502020204030204" pitchFamily="34" charset="0"/>
              </a:rPr>
              <a:t>اگر</a:t>
            </a:r>
            <a:r>
              <a:rPr lang="en-US" sz="1600" dirty="0">
                <a:latin typeface="Calibri" panose="020F0502020204030204" pitchFamily="34" charset="0"/>
                <a:ea typeface="Calibri" panose="020F0502020204030204" pitchFamily="34" charset="0"/>
                <a:cs typeface="Calibri" panose="020F0502020204030204" pitchFamily="34" charset="0"/>
              </a:rPr>
              <a:t> </a:t>
            </a:r>
            <a:r>
              <a:rPr lang="en-US" sz="1600" dirty="0" err="1">
                <a:latin typeface="Calibri" panose="020F0502020204030204" pitchFamily="34" charset="0"/>
                <a:ea typeface="Calibri" panose="020F0502020204030204" pitchFamily="34" charset="0"/>
                <a:cs typeface="Calibri" panose="020F0502020204030204" pitchFamily="34" charset="0"/>
              </a:rPr>
              <a:t>پروتئین</a:t>
            </a:r>
            <a:r>
              <a:rPr lang="en-US" sz="1600" dirty="0">
                <a:latin typeface="Calibri" panose="020F0502020204030204" pitchFamily="34" charset="0"/>
                <a:ea typeface="Calibri" panose="020F0502020204030204" pitchFamily="34" charset="0"/>
                <a:cs typeface="Calibri" panose="020F0502020204030204" pitchFamily="34" charset="0"/>
              </a:rPr>
              <a:t> </a:t>
            </a:r>
            <a:r>
              <a:rPr lang="en-US" sz="1600" dirty="0" err="1">
                <a:latin typeface="Calibri" panose="020F0502020204030204" pitchFamily="34" charset="0"/>
                <a:ea typeface="Calibri" panose="020F0502020204030204" pitchFamily="34" charset="0"/>
                <a:cs typeface="Calibri" panose="020F0502020204030204" pitchFamily="34" charset="0"/>
              </a:rPr>
              <a:t>در</a:t>
            </a:r>
            <a:r>
              <a:rPr lang="en-US" sz="1600" dirty="0">
                <a:latin typeface="Calibri" panose="020F0502020204030204" pitchFamily="34" charset="0"/>
                <a:ea typeface="Calibri" panose="020F0502020204030204" pitchFamily="34" charset="0"/>
                <a:cs typeface="Calibri" panose="020F0502020204030204" pitchFamily="34" charset="0"/>
              </a:rPr>
              <a:t> </a:t>
            </a:r>
            <a:r>
              <a:rPr lang="en-US" sz="1600" dirty="0" err="1">
                <a:latin typeface="Calibri" panose="020F0502020204030204" pitchFamily="34" charset="0"/>
                <a:ea typeface="Calibri" panose="020F0502020204030204" pitchFamily="34" charset="0"/>
                <a:cs typeface="Calibri" panose="020F0502020204030204" pitchFamily="34" charset="0"/>
              </a:rPr>
              <a:t>ادرار</a:t>
            </a:r>
            <a:r>
              <a:rPr lang="en-US" sz="1600" dirty="0">
                <a:latin typeface="Calibri" panose="020F0502020204030204" pitchFamily="34" charset="0"/>
                <a:ea typeface="Calibri" panose="020F0502020204030204" pitchFamily="34" charset="0"/>
                <a:cs typeface="Calibri" panose="020F0502020204030204" pitchFamily="34" charset="0"/>
              </a:rPr>
              <a:t> </a:t>
            </a:r>
            <a:r>
              <a:rPr lang="en-US" sz="1600" dirty="0" err="1">
                <a:latin typeface="Calibri" panose="020F0502020204030204" pitchFamily="34" charset="0"/>
                <a:ea typeface="Calibri" panose="020F0502020204030204" pitchFamily="34" charset="0"/>
                <a:cs typeface="Calibri" panose="020F0502020204030204" pitchFamily="34" charset="0"/>
              </a:rPr>
              <a:t>نباشد</a:t>
            </a:r>
            <a:r>
              <a:rPr lang="en-US" sz="1600" dirty="0">
                <a:latin typeface="Calibri" panose="020F0502020204030204" pitchFamily="34" charset="0"/>
                <a:ea typeface="Calibri" panose="020F0502020204030204" pitchFamily="34" charset="0"/>
                <a:cs typeface="Calibri" panose="020F0502020204030204" pitchFamily="34" charset="0"/>
              </a:rPr>
              <a:t>، </a:t>
            </a:r>
            <a:r>
              <a:rPr lang="en-US" sz="1600" dirty="0" err="1">
                <a:latin typeface="Calibri" panose="020F0502020204030204" pitchFamily="34" charset="0"/>
                <a:ea typeface="Calibri" panose="020F0502020204030204" pitchFamily="34" charset="0"/>
                <a:cs typeface="Calibri" panose="020F0502020204030204" pitchFamily="34" charset="0"/>
              </a:rPr>
              <a:t>وجود</a:t>
            </a:r>
            <a:r>
              <a:rPr lang="en-US" sz="1600" dirty="0">
                <a:latin typeface="Calibri" panose="020F0502020204030204" pitchFamily="34" charset="0"/>
                <a:ea typeface="Calibri" panose="020F0502020204030204" pitchFamily="34" charset="0"/>
                <a:cs typeface="Calibri" panose="020F0502020204030204" pitchFamily="34" charset="0"/>
              </a:rPr>
              <a:t> نشانه‌های </a:t>
            </a:r>
            <a:r>
              <a:rPr lang="en-US" sz="1600" dirty="0" err="1">
                <a:latin typeface="Calibri" panose="020F0502020204030204" pitchFamily="34" charset="0"/>
                <a:ea typeface="Calibri" panose="020F0502020204030204" pitchFamily="34" charset="0"/>
                <a:cs typeface="Calibri" panose="020F0502020204030204" pitchFamily="34" charset="0"/>
              </a:rPr>
              <a:t>آسیب</a:t>
            </a:r>
            <a:r>
              <a:rPr lang="en-US" sz="1600" dirty="0">
                <a:latin typeface="Calibri" panose="020F0502020204030204" pitchFamily="34" charset="0"/>
                <a:ea typeface="Calibri" panose="020F0502020204030204" pitchFamily="34" charset="0"/>
                <a:cs typeface="Calibri" panose="020F0502020204030204" pitchFamily="34" charset="0"/>
              </a:rPr>
              <a:t> </a:t>
            </a:r>
            <a:r>
              <a:rPr lang="en-US" sz="1600" dirty="0" err="1">
                <a:latin typeface="Calibri" panose="020F0502020204030204" pitchFamily="34" charset="0"/>
                <a:ea typeface="Calibri" panose="020F0502020204030204" pitchFamily="34" charset="0"/>
                <a:cs typeface="Calibri" panose="020F0502020204030204" pitchFamily="34" charset="0"/>
              </a:rPr>
              <a:t>به</a:t>
            </a:r>
            <a:r>
              <a:rPr lang="en-US" sz="1600" dirty="0">
                <a:latin typeface="Calibri" panose="020F0502020204030204" pitchFamily="34" charset="0"/>
                <a:ea typeface="Calibri" panose="020F0502020204030204" pitchFamily="34" charset="0"/>
                <a:cs typeface="Calibri" panose="020F0502020204030204" pitchFamily="34" charset="0"/>
              </a:rPr>
              <a:t> </a:t>
            </a:r>
            <a:r>
              <a:rPr lang="en-US" sz="1600" dirty="0" err="1">
                <a:latin typeface="Calibri" panose="020F0502020204030204" pitchFamily="34" charset="0"/>
                <a:ea typeface="Calibri" panose="020F0502020204030204" pitchFamily="34" charset="0"/>
                <a:cs typeface="Calibri" panose="020F0502020204030204" pitchFamily="34" charset="0"/>
              </a:rPr>
              <a:t>اندام‌های</a:t>
            </a:r>
            <a:r>
              <a:rPr lang="en-US" sz="1600" dirty="0">
                <a:latin typeface="Calibri" panose="020F0502020204030204" pitchFamily="34" charset="0"/>
                <a:ea typeface="Calibri" panose="020F0502020204030204" pitchFamily="34" charset="0"/>
                <a:cs typeface="Calibri" panose="020F0502020204030204" pitchFamily="34" charset="0"/>
              </a:rPr>
              <a:t> </a:t>
            </a:r>
            <a:r>
              <a:rPr lang="en-US" sz="1600" dirty="0" err="1">
                <a:latin typeface="Calibri" panose="020F0502020204030204" pitchFamily="34" charset="0"/>
                <a:ea typeface="Calibri" panose="020F0502020204030204" pitchFamily="34" charset="0"/>
                <a:cs typeface="Calibri" panose="020F0502020204030204" pitchFamily="34" charset="0"/>
              </a:rPr>
              <a:t>حیاتی</a:t>
            </a:r>
            <a:r>
              <a:rPr lang="en-US" sz="1600" dirty="0">
                <a:latin typeface="Calibri" panose="020F0502020204030204" pitchFamily="34" charset="0"/>
                <a:ea typeface="Calibri" panose="020F0502020204030204" pitchFamily="34" charset="0"/>
                <a:cs typeface="Calibri" panose="020F0502020204030204" pitchFamily="34" charset="0"/>
              </a:rPr>
              <a:t> </a:t>
            </a:r>
            <a:r>
              <a:rPr lang="en-US" sz="1600" dirty="0" err="1">
                <a:latin typeface="Calibri" panose="020F0502020204030204" pitchFamily="34" charset="0"/>
                <a:ea typeface="Calibri" panose="020F0502020204030204" pitchFamily="34" charset="0"/>
                <a:cs typeface="Calibri" panose="020F0502020204030204" pitchFamily="34" charset="0"/>
              </a:rPr>
              <a:t>نیز</a:t>
            </a:r>
            <a:r>
              <a:rPr lang="en-US" sz="1600" dirty="0">
                <a:latin typeface="Calibri" panose="020F0502020204030204" pitchFamily="34" charset="0"/>
                <a:ea typeface="Calibri" panose="020F0502020204030204" pitchFamily="34" charset="0"/>
                <a:cs typeface="Calibri" panose="020F0502020204030204" pitchFamily="34" charset="0"/>
              </a:rPr>
              <a:t> </a:t>
            </a:r>
            <a:r>
              <a:rPr lang="en-US" sz="1600" dirty="0" err="1">
                <a:latin typeface="Calibri" panose="020F0502020204030204" pitchFamily="34" charset="0"/>
                <a:ea typeface="Calibri" panose="020F0502020204030204" pitchFamily="34" charset="0"/>
                <a:cs typeface="Calibri" panose="020F0502020204030204" pitchFamily="34" charset="0"/>
              </a:rPr>
              <a:t>برای</a:t>
            </a:r>
            <a:r>
              <a:rPr lang="en-US" sz="1600" dirty="0">
                <a:latin typeface="Calibri" panose="020F0502020204030204" pitchFamily="34" charset="0"/>
                <a:ea typeface="Calibri" panose="020F0502020204030204" pitchFamily="34" charset="0"/>
                <a:cs typeface="Calibri" panose="020F0502020204030204" pitchFamily="34" charset="0"/>
              </a:rPr>
              <a:t> </a:t>
            </a:r>
            <a:r>
              <a:rPr lang="en-US" sz="1600" dirty="0" err="1">
                <a:latin typeface="Calibri" panose="020F0502020204030204" pitchFamily="34" charset="0"/>
                <a:ea typeface="Calibri" panose="020F0502020204030204" pitchFamily="34" charset="0"/>
                <a:cs typeface="Calibri" panose="020F0502020204030204" pitchFamily="34" charset="0"/>
              </a:rPr>
              <a:t>تشخیص</a:t>
            </a:r>
            <a:r>
              <a:rPr lang="en-US" sz="1600" dirty="0">
                <a:latin typeface="Calibri" panose="020F0502020204030204" pitchFamily="34" charset="0"/>
                <a:ea typeface="Calibri" panose="020F0502020204030204" pitchFamily="34" charset="0"/>
                <a:cs typeface="Calibri" panose="020F0502020204030204" pitchFamily="34" charset="0"/>
              </a:rPr>
              <a:t> </a:t>
            </a:r>
            <a:r>
              <a:rPr lang="en-US" sz="1600" dirty="0" err="1">
                <a:latin typeface="Calibri" panose="020F0502020204030204" pitchFamily="34" charset="0"/>
                <a:ea typeface="Calibri" panose="020F0502020204030204" pitchFamily="34" charset="0"/>
                <a:cs typeface="Calibri" panose="020F0502020204030204" pitchFamily="34" charset="0"/>
              </a:rPr>
              <a:t>کافی</a:t>
            </a:r>
            <a:r>
              <a:rPr lang="en-US" sz="1600" dirty="0">
                <a:latin typeface="Calibri" panose="020F0502020204030204" pitchFamily="34" charset="0"/>
                <a:ea typeface="Calibri" panose="020F0502020204030204" pitchFamily="34" charset="0"/>
                <a:cs typeface="Calibri" panose="020F0502020204030204" pitchFamily="34" charset="0"/>
              </a:rPr>
              <a:t> </a:t>
            </a:r>
            <a:r>
              <a:rPr lang="en-US" sz="1600" dirty="0" err="1">
                <a:latin typeface="Calibri" panose="020F0502020204030204" pitchFamily="34" charset="0"/>
                <a:ea typeface="Calibri" panose="020F0502020204030204" pitchFamily="34" charset="0"/>
                <a:cs typeface="Calibri" panose="020F0502020204030204" pitchFamily="34" charset="0"/>
              </a:rPr>
              <a:t>است</a:t>
            </a:r>
            <a:endParaRPr lang="fa-IR" sz="1600" dirty="0">
              <a:latin typeface="Calibri" panose="020F0502020204030204" pitchFamily="34" charset="0"/>
              <a:ea typeface="Calibri" panose="020F0502020204030204" pitchFamily="34" charset="0"/>
              <a:cs typeface="Calibri" panose="020F0502020204030204" pitchFamily="34" charset="0"/>
            </a:endParaRPr>
          </a:p>
          <a:p>
            <a:pPr algn="r" rtl="1"/>
            <a:r>
              <a:rPr lang="en-US" sz="1600" dirty="0" err="1">
                <a:latin typeface="Calibri" panose="020F0502020204030204" pitchFamily="34" charset="0"/>
                <a:ea typeface="Calibri" panose="020F0502020204030204" pitchFamily="34" charset="0"/>
                <a:cs typeface="Calibri" panose="020F0502020204030204" pitchFamily="34" charset="0"/>
              </a:rPr>
              <a:t>تنها</a:t>
            </a:r>
            <a:r>
              <a:rPr lang="en-US" sz="1600" dirty="0">
                <a:latin typeface="Calibri" panose="020F0502020204030204" pitchFamily="34" charset="0"/>
                <a:ea typeface="Calibri" panose="020F0502020204030204" pitchFamily="34" charset="0"/>
                <a:cs typeface="Calibri" panose="020F0502020204030204" pitchFamily="34" charset="0"/>
              </a:rPr>
              <a:t> </a:t>
            </a:r>
            <a:r>
              <a:rPr lang="en-US" sz="1600" b="1" dirty="0" err="1">
                <a:latin typeface="Calibri" panose="020F0502020204030204" pitchFamily="34" charset="0"/>
                <a:ea typeface="Calibri" panose="020F0502020204030204" pitchFamily="34" charset="0"/>
                <a:cs typeface="Calibri" panose="020F0502020204030204" pitchFamily="34" charset="0"/>
              </a:rPr>
              <a:t>درمان</a:t>
            </a:r>
            <a:r>
              <a:rPr lang="en-US" sz="1600" b="1" dirty="0">
                <a:latin typeface="Calibri" panose="020F0502020204030204" pitchFamily="34" charset="0"/>
                <a:ea typeface="Calibri" panose="020F0502020204030204" pitchFamily="34" charset="0"/>
                <a:cs typeface="Calibri" panose="020F0502020204030204" pitchFamily="34" charset="0"/>
              </a:rPr>
              <a:t> </a:t>
            </a:r>
            <a:r>
              <a:rPr lang="en-US" sz="1600" b="1" dirty="0" err="1">
                <a:latin typeface="Calibri" panose="020F0502020204030204" pitchFamily="34" charset="0"/>
                <a:ea typeface="Calibri" panose="020F0502020204030204" pitchFamily="34" charset="0"/>
                <a:cs typeface="Calibri" panose="020F0502020204030204" pitchFamily="34" charset="0"/>
              </a:rPr>
              <a:t>قطعی</a:t>
            </a:r>
            <a:r>
              <a:rPr lang="en-US" sz="1600" dirty="0">
                <a:latin typeface="Calibri" panose="020F0502020204030204" pitchFamily="34" charset="0"/>
                <a:ea typeface="Calibri" panose="020F0502020204030204" pitchFamily="34" charset="0"/>
                <a:cs typeface="Calibri" panose="020F0502020204030204" pitchFamily="34" charset="0"/>
              </a:rPr>
              <a:t> پره‌اکلامپسی، </a:t>
            </a:r>
            <a:r>
              <a:rPr lang="en-US" sz="1600" b="1" dirty="0" err="1">
                <a:latin typeface="Calibri" panose="020F0502020204030204" pitchFamily="34" charset="0"/>
                <a:ea typeface="Calibri" panose="020F0502020204030204" pitchFamily="34" charset="0"/>
                <a:cs typeface="Calibri" panose="020F0502020204030204" pitchFamily="34" charset="0"/>
              </a:rPr>
              <a:t>زایمان</a:t>
            </a:r>
            <a:r>
              <a:rPr lang="en-US" sz="1600" dirty="0">
                <a:latin typeface="Calibri" panose="020F0502020204030204" pitchFamily="34" charset="0"/>
                <a:ea typeface="Calibri" panose="020F0502020204030204" pitchFamily="34" charset="0"/>
                <a:cs typeface="Calibri" panose="020F0502020204030204" pitchFamily="34" charset="0"/>
              </a:rPr>
              <a:t> (</a:t>
            </a:r>
            <a:r>
              <a:rPr lang="en-US" sz="1600" dirty="0" err="1">
                <a:latin typeface="Calibri" panose="020F0502020204030204" pitchFamily="34" charset="0"/>
                <a:ea typeface="Calibri" panose="020F0502020204030204" pitchFamily="34" charset="0"/>
                <a:cs typeface="Calibri" panose="020F0502020204030204" pitchFamily="34" charset="0"/>
              </a:rPr>
              <a:t>ختم</a:t>
            </a:r>
            <a:r>
              <a:rPr lang="en-US" sz="1600" dirty="0">
                <a:latin typeface="Calibri" panose="020F0502020204030204" pitchFamily="34" charset="0"/>
                <a:ea typeface="Calibri" panose="020F0502020204030204" pitchFamily="34" charset="0"/>
                <a:cs typeface="Calibri" panose="020F0502020204030204" pitchFamily="34" charset="0"/>
              </a:rPr>
              <a:t> </a:t>
            </a:r>
            <a:r>
              <a:rPr lang="en-US" sz="1600" dirty="0" err="1">
                <a:latin typeface="Calibri" panose="020F0502020204030204" pitchFamily="34" charset="0"/>
                <a:ea typeface="Calibri" panose="020F0502020204030204" pitchFamily="34" charset="0"/>
                <a:cs typeface="Calibri" panose="020F0502020204030204" pitchFamily="34" charset="0"/>
              </a:rPr>
              <a:t>بارداری</a:t>
            </a:r>
            <a:r>
              <a:rPr lang="en-US" sz="1600" dirty="0">
                <a:latin typeface="Calibri" panose="020F0502020204030204" pitchFamily="34" charset="0"/>
                <a:ea typeface="Calibri" panose="020F0502020204030204" pitchFamily="34" charset="0"/>
                <a:cs typeface="Calibri" panose="020F0502020204030204" pitchFamily="34" charset="0"/>
              </a:rPr>
              <a:t>) </a:t>
            </a:r>
            <a:r>
              <a:rPr lang="en-US" sz="1600" dirty="0" err="1">
                <a:latin typeface="Calibri" panose="020F0502020204030204" pitchFamily="34" charset="0"/>
                <a:ea typeface="Calibri" panose="020F0502020204030204" pitchFamily="34" charset="0"/>
                <a:cs typeface="Calibri" panose="020F0502020204030204" pitchFamily="34" charset="0"/>
              </a:rPr>
              <a:t>است</a:t>
            </a:r>
            <a:endParaRPr lang="fa-IR" sz="1600" dirty="0">
              <a:latin typeface="Calibri" panose="020F0502020204030204" pitchFamily="34" charset="0"/>
              <a:ea typeface="Calibri" panose="020F0502020204030204" pitchFamily="34" charset="0"/>
              <a:cs typeface="Calibri" panose="020F0502020204030204" pitchFamily="34" charset="0"/>
            </a:endParaRPr>
          </a:p>
          <a:p>
            <a:pPr marL="45720" indent="0" algn="r" rtl="1">
              <a:buNone/>
            </a:pPr>
            <a:r>
              <a:rPr lang="en-US" sz="1600" b="1" dirty="0" err="1">
                <a:latin typeface="Calibri" panose="020F0502020204030204" pitchFamily="34" charset="0"/>
                <a:ea typeface="Calibri" panose="020F0502020204030204" pitchFamily="34" charset="0"/>
                <a:cs typeface="Calibri" panose="020F0502020204030204" pitchFamily="34" charset="0"/>
              </a:rPr>
              <a:t>علائم</a:t>
            </a:r>
            <a:r>
              <a:rPr lang="en-US" sz="1600" b="1" dirty="0">
                <a:latin typeface="Calibri" panose="020F0502020204030204" pitchFamily="34" charset="0"/>
                <a:ea typeface="Calibri" panose="020F0502020204030204" pitchFamily="34" charset="0"/>
                <a:cs typeface="Calibri" panose="020F0502020204030204" pitchFamily="34" charset="0"/>
              </a:rPr>
              <a:t> </a:t>
            </a:r>
            <a:r>
              <a:rPr lang="en-US" sz="1600" b="1" dirty="0" err="1">
                <a:latin typeface="Calibri" panose="020F0502020204030204" pitchFamily="34" charset="0"/>
                <a:ea typeface="Calibri" panose="020F0502020204030204" pitchFamily="34" charset="0"/>
                <a:cs typeface="Calibri" panose="020F0502020204030204" pitchFamily="34" charset="0"/>
              </a:rPr>
              <a:t>اصلی</a:t>
            </a:r>
            <a:endParaRPr lang="en-US" sz="1600" b="1" dirty="0">
              <a:latin typeface="Calibri" panose="020F0502020204030204" pitchFamily="34" charset="0"/>
              <a:ea typeface="Calibri" panose="020F0502020204030204" pitchFamily="34" charset="0"/>
              <a:cs typeface="Calibri" panose="020F0502020204030204" pitchFamily="34" charset="0"/>
            </a:endParaRPr>
          </a:p>
          <a:p>
            <a:pPr algn="r" rtl="1"/>
            <a:r>
              <a:rPr lang="en-US" sz="1600" b="1" dirty="0" err="1">
                <a:latin typeface="Calibri" panose="020F0502020204030204" pitchFamily="34" charset="0"/>
                <a:ea typeface="Calibri" panose="020F0502020204030204" pitchFamily="34" charset="0"/>
                <a:cs typeface="Calibri" panose="020F0502020204030204" pitchFamily="34" charset="0"/>
              </a:rPr>
              <a:t>علائم</a:t>
            </a:r>
            <a:r>
              <a:rPr lang="en-US" sz="1600" b="1" dirty="0">
                <a:latin typeface="Calibri" panose="020F0502020204030204" pitchFamily="34" charset="0"/>
                <a:ea typeface="Calibri" panose="020F0502020204030204" pitchFamily="34" charset="0"/>
                <a:cs typeface="Calibri" panose="020F0502020204030204" pitchFamily="34" charset="0"/>
              </a:rPr>
              <a:t> </a:t>
            </a:r>
            <a:r>
              <a:rPr lang="en-US" sz="1600" b="1" dirty="0" err="1">
                <a:latin typeface="Calibri" panose="020F0502020204030204" pitchFamily="34" charset="0"/>
                <a:ea typeface="Calibri" panose="020F0502020204030204" pitchFamily="34" charset="0"/>
                <a:cs typeface="Calibri" panose="020F0502020204030204" pitchFamily="34" charset="0"/>
              </a:rPr>
              <a:t>هشداردهنده</a:t>
            </a:r>
            <a:r>
              <a:rPr lang="en-US" sz="1600" dirty="0">
                <a:latin typeface="Calibri" panose="020F0502020204030204" pitchFamily="34" charset="0"/>
                <a:ea typeface="Calibri" panose="020F0502020204030204" pitchFamily="34" charset="0"/>
                <a:cs typeface="Calibri" panose="020F0502020204030204" pitchFamily="34" charset="0"/>
              </a:rPr>
              <a:t> </a:t>
            </a:r>
            <a:r>
              <a:rPr lang="en-US" sz="1600" dirty="0" err="1">
                <a:latin typeface="Calibri" panose="020F0502020204030204" pitchFamily="34" charset="0"/>
                <a:ea typeface="Calibri" panose="020F0502020204030204" pitchFamily="34" charset="0"/>
                <a:cs typeface="Calibri" panose="020F0502020204030204" pitchFamily="34" charset="0"/>
              </a:rPr>
              <a:t>ممکن</a:t>
            </a:r>
            <a:r>
              <a:rPr lang="en-US" sz="1600" dirty="0">
                <a:latin typeface="Calibri" panose="020F0502020204030204" pitchFamily="34" charset="0"/>
                <a:ea typeface="Calibri" panose="020F0502020204030204" pitchFamily="34" charset="0"/>
                <a:cs typeface="Calibri" panose="020F0502020204030204" pitchFamily="34" charset="0"/>
              </a:rPr>
              <a:t> </a:t>
            </a:r>
            <a:r>
              <a:rPr lang="en-US" sz="1600" dirty="0" err="1">
                <a:latin typeface="Calibri" panose="020F0502020204030204" pitchFamily="34" charset="0"/>
                <a:ea typeface="Calibri" panose="020F0502020204030204" pitchFamily="34" charset="0"/>
                <a:cs typeface="Calibri" panose="020F0502020204030204" pitchFamily="34" charset="0"/>
              </a:rPr>
              <a:t>است</a:t>
            </a:r>
            <a:r>
              <a:rPr lang="en-US" sz="1600" dirty="0">
                <a:latin typeface="Calibri" panose="020F0502020204030204" pitchFamily="34" charset="0"/>
                <a:ea typeface="Calibri" panose="020F0502020204030204" pitchFamily="34" charset="0"/>
                <a:cs typeface="Calibri" panose="020F0502020204030204" pitchFamily="34" charset="0"/>
              </a:rPr>
              <a:t> </a:t>
            </a:r>
            <a:r>
              <a:rPr lang="en-US" sz="1600" dirty="0" err="1">
                <a:latin typeface="Calibri" panose="020F0502020204030204" pitchFamily="34" charset="0"/>
                <a:ea typeface="Calibri" panose="020F0502020204030204" pitchFamily="34" charset="0"/>
                <a:cs typeface="Calibri" panose="020F0502020204030204" pitchFamily="34" charset="0"/>
              </a:rPr>
              <a:t>شامل</a:t>
            </a:r>
            <a:r>
              <a:rPr lang="en-US" sz="1600" dirty="0">
                <a:latin typeface="Calibri" panose="020F0502020204030204" pitchFamily="34" charset="0"/>
                <a:ea typeface="Calibri" panose="020F0502020204030204" pitchFamily="34" charset="0"/>
                <a:cs typeface="Calibri" panose="020F0502020204030204" pitchFamily="34" charset="0"/>
              </a:rPr>
              <a:t> </a:t>
            </a:r>
            <a:r>
              <a:rPr lang="en-US" sz="1600" dirty="0" err="1">
                <a:latin typeface="Calibri" panose="020F0502020204030204" pitchFamily="34" charset="0"/>
                <a:ea typeface="Calibri" panose="020F0502020204030204" pitchFamily="34" charset="0"/>
                <a:cs typeface="Calibri" panose="020F0502020204030204" pitchFamily="34" charset="0"/>
              </a:rPr>
              <a:t>موارد</a:t>
            </a:r>
            <a:r>
              <a:rPr lang="en-US" sz="1600" dirty="0">
                <a:latin typeface="Calibri" panose="020F0502020204030204" pitchFamily="34" charset="0"/>
                <a:ea typeface="Calibri" panose="020F0502020204030204" pitchFamily="34" charset="0"/>
                <a:cs typeface="Calibri" panose="020F0502020204030204" pitchFamily="34" charset="0"/>
              </a:rPr>
              <a:t> </a:t>
            </a:r>
            <a:r>
              <a:rPr lang="en-US" sz="1600" dirty="0" err="1">
                <a:latin typeface="Calibri" panose="020F0502020204030204" pitchFamily="34" charset="0"/>
                <a:ea typeface="Calibri" panose="020F0502020204030204" pitchFamily="34" charset="0"/>
                <a:cs typeface="Calibri" panose="020F0502020204030204" pitchFamily="34" charset="0"/>
              </a:rPr>
              <a:t>زیر</a:t>
            </a:r>
            <a:r>
              <a:rPr lang="en-US" sz="1600" dirty="0">
                <a:latin typeface="Calibri" panose="020F0502020204030204" pitchFamily="34" charset="0"/>
                <a:ea typeface="Calibri" panose="020F0502020204030204" pitchFamily="34" charset="0"/>
                <a:cs typeface="Calibri" panose="020F0502020204030204" pitchFamily="34" charset="0"/>
              </a:rPr>
              <a:t> </a:t>
            </a:r>
            <a:r>
              <a:rPr lang="en-US" sz="1600" dirty="0" err="1">
                <a:latin typeface="Calibri" panose="020F0502020204030204" pitchFamily="34" charset="0"/>
                <a:ea typeface="Calibri" panose="020F0502020204030204" pitchFamily="34" charset="0"/>
                <a:cs typeface="Calibri" panose="020F0502020204030204" pitchFamily="34" charset="0"/>
              </a:rPr>
              <a:t>باشد</a:t>
            </a:r>
            <a:r>
              <a:rPr lang="en-US" sz="1600" dirty="0">
                <a:latin typeface="Calibri" panose="020F0502020204030204" pitchFamily="34" charset="0"/>
                <a:ea typeface="Calibri" panose="020F0502020204030204" pitchFamily="34" charset="0"/>
                <a:cs typeface="Calibri" panose="020F0502020204030204" pitchFamily="34" charset="0"/>
              </a:rPr>
              <a:t>:</a:t>
            </a:r>
          </a:p>
          <a:p>
            <a:pPr algn="r" rtl="1"/>
            <a:r>
              <a:rPr lang="en-US" sz="1600" b="1" dirty="0" err="1">
                <a:latin typeface="Calibri" panose="020F0502020204030204" pitchFamily="34" charset="0"/>
                <a:ea typeface="Calibri" panose="020F0502020204030204" pitchFamily="34" charset="0"/>
                <a:cs typeface="Calibri" panose="020F0502020204030204" pitchFamily="34" charset="0"/>
              </a:rPr>
              <a:t>تورم</a:t>
            </a:r>
            <a:r>
              <a:rPr lang="en-US" sz="1600" b="1" dirty="0">
                <a:latin typeface="Calibri" panose="020F0502020204030204" pitchFamily="34" charset="0"/>
                <a:ea typeface="Calibri" panose="020F0502020204030204" pitchFamily="34" charset="0"/>
                <a:cs typeface="Calibri" panose="020F0502020204030204" pitchFamily="34" charset="0"/>
              </a:rPr>
              <a:t> </a:t>
            </a:r>
            <a:r>
              <a:rPr lang="en-US" sz="1600" b="1" dirty="0" err="1">
                <a:latin typeface="Calibri" panose="020F0502020204030204" pitchFamily="34" charset="0"/>
                <a:ea typeface="Calibri" panose="020F0502020204030204" pitchFamily="34" charset="0"/>
                <a:cs typeface="Calibri" panose="020F0502020204030204" pitchFamily="34" charset="0"/>
              </a:rPr>
              <a:t>ناگهانی</a:t>
            </a:r>
            <a:r>
              <a:rPr lang="en-US" sz="1600" dirty="0">
                <a:latin typeface="Calibri" panose="020F0502020204030204" pitchFamily="34" charset="0"/>
                <a:ea typeface="Calibri" panose="020F0502020204030204" pitchFamily="34" charset="0"/>
                <a:cs typeface="Calibri" panose="020F0502020204030204" pitchFamily="34" charset="0"/>
              </a:rPr>
              <a:t>: </a:t>
            </a:r>
            <a:r>
              <a:rPr lang="en-US" sz="1600" dirty="0" err="1">
                <a:latin typeface="Calibri" panose="020F0502020204030204" pitchFamily="34" charset="0"/>
                <a:ea typeface="Calibri" panose="020F0502020204030204" pitchFamily="34" charset="0"/>
                <a:cs typeface="Calibri" panose="020F0502020204030204" pitchFamily="34" charset="0"/>
              </a:rPr>
              <a:t>در</a:t>
            </a:r>
            <a:r>
              <a:rPr lang="en-US" sz="1600" dirty="0">
                <a:latin typeface="Calibri" panose="020F0502020204030204" pitchFamily="34" charset="0"/>
                <a:ea typeface="Calibri" panose="020F0502020204030204" pitchFamily="34" charset="0"/>
                <a:cs typeface="Calibri" panose="020F0502020204030204" pitchFamily="34" charset="0"/>
              </a:rPr>
              <a:t> </a:t>
            </a:r>
            <a:r>
              <a:rPr lang="en-US" sz="1600" dirty="0" err="1">
                <a:latin typeface="Calibri" panose="020F0502020204030204" pitchFamily="34" charset="0"/>
                <a:ea typeface="Calibri" panose="020F0502020204030204" pitchFamily="34" charset="0"/>
                <a:cs typeface="Calibri" panose="020F0502020204030204" pitchFamily="34" charset="0"/>
              </a:rPr>
              <a:t>دست‌ها</a:t>
            </a:r>
            <a:r>
              <a:rPr lang="en-US" sz="1600" dirty="0">
                <a:latin typeface="Calibri" panose="020F0502020204030204" pitchFamily="34" charset="0"/>
                <a:ea typeface="Calibri" panose="020F0502020204030204" pitchFamily="34" charset="0"/>
                <a:cs typeface="Calibri" panose="020F0502020204030204" pitchFamily="34" charset="0"/>
              </a:rPr>
              <a:t>، </a:t>
            </a:r>
            <a:r>
              <a:rPr lang="en-US" sz="1600" dirty="0" err="1">
                <a:latin typeface="Calibri" panose="020F0502020204030204" pitchFamily="34" charset="0"/>
                <a:ea typeface="Calibri" panose="020F0502020204030204" pitchFamily="34" charset="0"/>
                <a:cs typeface="Calibri" panose="020F0502020204030204" pitchFamily="34" charset="0"/>
              </a:rPr>
              <a:t>صورت</a:t>
            </a:r>
            <a:r>
              <a:rPr lang="en-US" sz="1600" dirty="0">
                <a:latin typeface="Calibri" panose="020F0502020204030204" pitchFamily="34" charset="0"/>
                <a:ea typeface="Calibri" panose="020F0502020204030204" pitchFamily="34" charset="0"/>
                <a:cs typeface="Calibri" panose="020F0502020204030204" pitchFamily="34" charset="0"/>
              </a:rPr>
              <a:t> </a:t>
            </a:r>
            <a:r>
              <a:rPr lang="en-US" sz="1600" dirty="0" err="1">
                <a:latin typeface="Calibri" panose="020F0502020204030204" pitchFamily="34" charset="0"/>
                <a:ea typeface="Calibri" panose="020F0502020204030204" pitchFamily="34" charset="0"/>
                <a:cs typeface="Calibri" panose="020F0502020204030204" pitchFamily="34" charset="0"/>
              </a:rPr>
              <a:t>به‌ویژه</a:t>
            </a:r>
            <a:r>
              <a:rPr lang="en-US" sz="1600" dirty="0">
                <a:latin typeface="Calibri" panose="020F0502020204030204" pitchFamily="34" charset="0"/>
                <a:ea typeface="Calibri" panose="020F0502020204030204" pitchFamily="34" charset="0"/>
                <a:cs typeface="Calibri" panose="020F0502020204030204" pitchFamily="34" charset="0"/>
              </a:rPr>
              <a:t> (</a:t>
            </a:r>
            <a:r>
              <a:rPr lang="en-US" sz="1600" dirty="0" err="1">
                <a:latin typeface="Calibri" panose="020F0502020204030204" pitchFamily="34" charset="0"/>
                <a:ea typeface="Calibri" panose="020F0502020204030204" pitchFamily="34" charset="0"/>
                <a:cs typeface="Calibri" panose="020F0502020204030204" pitchFamily="34" charset="0"/>
              </a:rPr>
              <a:t>اطراف</a:t>
            </a:r>
            <a:r>
              <a:rPr lang="en-US" sz="1600" dirty="0">
                <a:latin typeface="Calibri" panose="020F0502020204030204" pitchFamily="34" charset="0"/>
                <a:ea typeface="Calibri" panose="020F0502020204030204" pitchFamily="34" charset="0"/>
                <a:cs typeface="Calibri" panose="020F0502020204030204" pitchFamily="34" charset="0"/>
              </a:rPr>
              <a:t> </a:t>
            </a:r>
            <a:r>
              <a:rPr lang="en-US" sz="1600" dirty="0" err="1">
                <a:latin typeface="Calibri" panose="020F0502020204030204" pitchFamily="34" charset="0"/>
                <a:ea typeface="Calibri" panose="020F0502020204030204" pitchFamily="34" charset="0"/>
                <a:cs typeface="Calibri" panose="020F0502020204030204" pitchFamily="34" charset="0"/>
              </a:rPr>
              <a:t>چشم‌ها</a:t>
            </a:r>
            <a:r>
              <a:rPr lang="en-US" sz="1600" dirty="0">
                <a:latin typeface="Calibri" panose="020F0502020204030204" pitchFamily="34" charset="0"/>
                <a:ea typeface="Calibri" panose="020F0502020204030204" pitchFamily="34" charset="0"/>
                <a:cs typeface="Calibri" panose="020F0502020204030204" pitchFamily="34" charset="0"/>
              </a:rPr>
              <a:t>) </a:t>
            </a:r>
            <a:r>
              <a:rPr lang="en-US" sz="1600" dirty="0" err="1">
                <a:latin typeface="Calibri" panose="020F0502020204030204" pitchFamily="34" charset="0"/>
                <a:ea typeface="Calibri" panose="020F0502020204030204" pitchFamily="34" charset="0"/>
                <a:cs typeface="Calibri" panose="020F0502020204030204" pitchFamily="34" charset="0"/>
              </a:rPr>
              <a:t>یا</a:t>
            </a:r>
            <a:r>
              <a:rPr lang="en-US" sz="1600" dirty="0">
                <a:latin typeface="Calibri" panose="020F0502020204030204" pitchFamily="34" charset="0"/>
                <a:ea typeface="Calibri" panose="020F0502020204030204" pitchFamily="34" charset="0"/>
                <a:cs typeface="Calibri" panose="020F0502020204030204" pitchFamily="34" charset="0"/>
              </a:rPr>
              <a:t> </a:t>
            </a:r>
            <a:r>
              <a:rPr lang="en-US" sz="1600" dirty="0" err="1">
                <a:latin typeface="Calibri" panose="020F0502020204030204" pitchFamily="34" charset="0"/>
                <a:ea typeface="Calibri" panose="020F0502020204030204" pitchFamily="34" charset="0"/>
                <a:cs typeface="Calibri" panose="020F0502020204030204" pitchFamily="34" charset="0"/>
              </a:rPr>
              <a:t>پاها</a:t>
            </a:r>
            <a:r>
              <a:rPr lang="en-US" sz="1600" dirty="0">
                <a:latin typeface="Calibri" panose="020F0502020204030204" pitchFamily="34" charset="0"/>
                <a:ea typeface="Calibri" panose="020F0502020204030204" pitchFamily="34" charset="0"/>
                <a:cs typeface="Calibri" panose="020F0502020204030204" pitchFamily="34" charset="0"/>
              </a:rPr>
              <a:t>.</a:t>
            </a:r>
          </a:p>
          <a:p>
            <a:pPr lvl="0" algn="r" rtl="1"/>
            <a:r>
              <a:rPr lang="en-US" sz="1600" b="1" dirty="0" err="1">
                <a:latin typeface="Calibri" panose="020F0502020204030204" pitchFamily="34" charset="0"/>
                <a:ea typeface="Calibri" panose="020F0502020204030204" pitchFamily="34" charset="0"/>
                <a:cs typeface="Calibri" panose="020F0502020204030204" pitchFamily="34" charset="0"/>
              </a:rPr>
              <a:t>سردرد</a:t>
            </a:r>
            <a:r>
              <a:rPr lang="en-US" sz="1600" b="1" dirty="0">
                <a:latin typeface="Calibri" panose="020F0502020204030204" pitchFamily="34" charset="0"/>
                <a:ea typeface="Calibri" panose="020F0502020204030204" pitchFamily="34" charset="0"/>
                <a:cs typeface="Calibri" panose="020F0502020204030204" pitchFamily="34" charset="0"/>
              </a:rPr>
              <a:t> </a:t>
            </a:r>
            <a:r>
              <a:rPr lang="en-US" sz="1600" b="1" dirty="0" err="1">
                <a:latin typeface="Calibri" panose="020F0502020204030204" pitchFamily="34" charset="0"/>
                <a:ea typeface="Calibri" panose="020F0502020204030204" pitchFamily="34" charset="0"/>
                <a:cs typeface="Calibri" panose="020F0502020204030204" pitchFamily="34" charset="0"/>
              </a:rPr>
              <a:t>مداوم</a:t>
            </a:r>
            <a:r>
              <a:rPr lang="en-US" sz="1600" dirty="0">
                <a:latin typeface="Calibri" panose="020F0502020204030204" pitchFamily="34" charset="0"/>
                <a:ea typeface="Calibri" panose="020F0502020204030204" pitchFamily="34" charset="0"/>
                <a:cs typeface="Calibri" panose="020F0502020204030204" pitchFamily="34" charset="0"/>
              </a:rPr>
              <a:t>: </a:t>
            </a:r>
            <a:r>
              <a:rPr lang="en-US" sz="1600" dirty="0" err="1">
                <a:latin typeface="Calibri" panose="020F0502020204030204" pitchFamily="34" charset="0"/>
                <a:ea typeface="Calibri" panose="020F0502020204030204" pitchFamily="34" charset="0"/>
                <a:cs typeface="Calibri" panose="020F0502020204030204" pitchFamily="34" charset="0"/>
              </a:rPr>
              <a:t>سردردی</a:t>
            </a:r>
            <a:r>
              <a:rPr lang="en-US" sz="1600" dirty="0">
                <a:latin typeface="Calibri" panose="020F0502020204030204" pitchFamily="34" charset="0"/>
                <a:ea typeface="Calibri" panose="020F0502020204030204" pitchFamily="34" charset="0"/>
                <a:cs typeface="Calibri" panose="020F0502020204030204" pitchFamily="34" charset="0"/>
              </a:rPr>
              <a:t> </a:t>
            </a:r>
            <a:r>
              <a:rPr lang="en-US" sz="1600" dirty="0" err="1">
                <a:latin typeface="Calibri" panose="020F0502020204030204" pitchFamily="34" charset="0"/>
                <a:ea typeface="Calibri" panose="020F0502020204030204" pitchFamily="34" charset="0"/>
                <a:cs typeface="Calibri" panose="020F0502020204030204" pitchFamily="34" charset="0"/>
              </a:rPr>
              <a:t>جدید</a:t>
            </a:r>
            <a:r>
              <a:rPr lang="en-US" sz="1600" dirty="0">
                <a:latin typeface="Calibri" panose="020F0502020204030204" pitchFamily="34" charset="0"/>
                <a:ea typeface="Calibri" panose="020F0502020204030204" pitchFamily="34" charset="0"/>
                <a:cs typeface="Calibri" panose="020F0502020204030204" pitchFamily="34" charset="0"/>
              </a:rPr>
              <a:t> </a:t>
            </a:r>
            <a:r>
              <a:rPr lang="en-US" sz="1600" dirty="0" err="1">
                <a:latin typeface="Calibri" panose="020F0502020204030204" pitchFamily="34" charset="0"/>
                <a:ea typeface="Calibri" panose="020F0502020204030204" pitchFamily="34" charset="0"/>
                <a:cs typeface="Calibri" panose="020F0502020204030204" pitchFamily="34" charset="0"/>
              </a:rPr>
              <a:t>که</a:t>
            </a:r>
            <a:r>
              <a:rPr lang="en-US" sz="1600" dirty="0">
                <a:latin typeface="Calibri" panose="020F0502020204030204" pitchFamily="34" charset="0"/>
                <a:ea typeface="Calibri" panose="020F0502020204030204" pitchFamily="34" charset="0"/>
                <a:cs typeface="Calibri" panose="020F0502020204030204" pitchFamily="34" charset="0"/>
              </a:rPr>
              <a:t> </a:t>
            </a:r>
            <a:r>
              <a:rPr lang="en-US" sz="1600" dirty="0" err="1">
                <a:latin typeface="Calibri" panose="020F0502020204030204" pitchFamily="34" charset="0"/>
                <a:ea typeface="Calibri" panose="020F0502020204030204" pitchFamily="34" charset="0"/>
                <a:cs typeface="Calibri" panose="020F0502020204030204" pitchFamily="34" charset="0"/>
              </a:rPr>
              <a:t>با</a:t>
            </a:r>
            <a:r>
              <a:rPr lang="en-US" sz="1600" dirty="0">
                <a:latin typeface="Calibri" panose="020F0502020204030204" pitchFamily="34" charset="0"/>
                <a:ea typeface="Calibri" panose="020F0502020204030204" pitchFamily="34" charset="0"/>
                <a:cs typeface="Calibri" panose="020F0502020204030204" pitchFamily="34" charset="0"/>
              </a:rPr>
              <a:t> </a:t>
            </a:r>
            <a:r>
              <a:rPr lang="en-US" sz="1600" dirty="0" err="1">
                <a:latin typeface="Calibri" panose="020F0502020204030204" pitchFamily="34" charset="0"/>
                <a:ea typeface="Calibri" panose="020F0502020204030204" pitchFamily="34" charset="0"/>
                <a:cs typeface="Calibri" panose="020F0502020204030204" pitchFamily="34" charset="0"/>
              </a:rPr>
              <a:t>مسکن</a:t>
            </a:r>
            <a:r>
              <a:rPr lang="en-US" sz="1600" dirty="0">
                <a:latin typeface="Calibri" panose="020F0502020204030204" pitchFamily="34" charset="0"/>
                <a:ea typeface="Calibri" panose="020F0502020204030204" pitchFamily="34" charset="0"/>
                <a:cs typeface="Calibri" panose="020F0502020204030204" pitchFamily="34" charset="0"/>
              </a:rPr>
              <a:t> </a:t>
            </a:r>
            <a:r>
              <a:rPr lang="en-US" sz="1600" dirty="0" err="1">
                <a:latin typeface="Calibri" panose="020F0502020204030204" pitchFamily="34" charset="0"/>
                <a:ea typeface="Calibri" panose="020F0502020204030204" pitchFamily="34" charset="0"/>
                <a:cs typeface="Calibri" panose="020F0502020204030204" pitchFamily="34" charset="0"/>
              </a:rPr>
              <a:t>معمولی</a:t>
            </a:r>
            <a:r>
              <a:rPr lang="en-US" sz="1600" dirty="0">
                <a:latin typeface="Calibri" panose="020F0502020204030204" pitchFamily="34" charset="0"/>
                <a:ea typeface="Calibri" panose="020F0502020204030204" pitchFamily="34" charset="0"/>
                <a:cs typeface="Calibri" panose="020F0502020204030204" pitchFamily="34" charset="0"/>
              </a:rPr>
              <a:t> (</a:t>
            </a:r>
            <a:r>
              <a:rPr lang="en-US" sz="1600" dirty="0" err="1">
                <a:latin typeface="Calibri" panose="020F0502020204030204" pitchFamily="34" charset="0"/>
                <a:ea typeface="Calibri" panose="020F0502020204030204" pitchFamily="34" charset="0"/>
                <a:cs typeface="Calibri" panose="020F0502020204030204" pitchFamily="34" charset="0"/>
              </a:rPr>
              <a:t>مثل</a:t>
            </a:r>
            <a:r>
              <a:rPr lang="en-US" sz="1600" dirty="0">
                <a:latin typeface="Calibri" panose="020F0502020204030204" pitchFamily="34" charset="0"/>
                <a:ea typeface="Calibri" panose="020F0502020204030204" pitchFamily="34" charset="0"/>
                <a:cs typeface="Calibri" panose="020F0502020204030204" pitchFamily="34" charset="0"/>
              </a:rPr>
              <a:t> </a:t>
            </a:r>
            <a:r>
              <a:rPr lang="en-US" sz="1600" dirty="0" err="1">
                <a:latin typeface="Calibri" panose="020F0502020204030204" pitchFamily="34" charset="0"/>
                <a:ea typeface="Calibri" panose="020F0502020204030204" pitchFamily="34" charset="0"/>
                <a:cs typeface="Calibri" panose="020F0502020204030204" pitchFamily="34" charset="0"/>
              </a:rPr>
              <a:t>استامینوفن</a:t>
            </a:r>
            <a:r>
              <a:rPr lang="en-US" sz="1600" dirty="0">
                <a:latin typeface="Calibri" panose="020F0502020204030204" pitchFamily="34" charset="0"/>
                <a:ea typeface="Calibri" panose="020F0502020204030204" pitchFamily="34" charset="0"/>
                <a:cs typeface="Calibri" panose="020F0502020204030204" pitchFamily="34" charset="0"/>
              </a:rPr>
              <a:t>) </a:t>
            </a:r>
            <a:r>
              <a:rPr lang="en-US" sz="1600" dirty="0" err="1">
                <a:latin typeface="Calibri" panose="020F0502020204030204" pitchFamily="34" charset="0"/>
                <a:ea typeface="Calibri" panose="020F0502020204030204" pitchFamily="34" charset="0"/>
                <a:cs typeface="Calibri" panose="020F0502020204030204" pitchFamily="34" charset="0"/>
              </a:rPr>
              <a:t>بهتر</a:t>
            </a:r>
            <a:r>
              <a:rPr lang="en-US" sz="1600" dirty="0">
                <a:latin typeface="Calibri" panose="020F0502020204030204" pitchFamily="34" charset="0"/>
                <a:ea typeface="Calibri" panose="020F0502020204030204" pitchFamily="34" charset="0"/>
                <a:cs typeface="Calibri" panose="020F0502020204030204" pitchFamily="34" charset="0"/>
              </a:rPr>
              <a:t> </a:t>
            </a:r>
            <a:r>
              <a:rPr lang="en-US" sz="1600" dirty="0" err="1">
                <a:latin typeface="Calibri" panose="020F0502020204030204" pitchFamily="34" charset="0"/>
                <a:ea typeface="Calibri" panose="020F0502020204030204" pitchFamily="34" charset="0"/>
                <a:cs typeface="Calibri" panose="020F0502020204030204" pitchFamily="34" charset="0"/>
              </a:rPr>
              <a:t>نمی‌شود</a:t>
            </a:r>
            <a:r>
              <a:rPr lang="en-US" sz="1600" dirty="0">
                <a:latin typeface="Calibri" panose="020F0502020204030204" pitchFamily="34" charset="0"/>
                <a:ea typeface="Calibri" panose="020F0502020204030204" pitchFamily="34" charset="0"/>
                <a:cs typeface="Calibri" panose="020F0502020204030204" pitchFamily="34" charset="0"/>
              </a:rPr>
              <a:t>.</a:t>
            </a:r>
          </a:p>
          <a:p>
            <a:pPr lvl="0" algn="r" rtl="1"/>
            <a:r>
              <a:rPr lang="en-US" sz="1600" b="1" dirty="0" err="1">
                <a:latin typeface="Calibri" panose="020F0502020204030204" pitchFamily="34" charset="0"/>
                <a:ea typeface="Calibri" panose="020F0502020204030204" pitchFamily="34" charset="0"/>
                <a:cs typeface="Calibri" panose="020F0502020204030204" pitchFamily="34" charset="0"/>
              </a:rPr>
              <a:t>تغییرات</a:t>
            </a:r>
            <a:r>
              <a:rPr lang="en-US" sz="1600" b="1" dirty="0">
                <a:latin typeface="Calibri" panose="020F0502020204030204" pitchFamily="34" charset="0"/>
                <a:ea typeface="Calibri" panose="020F0502020204030204" pitchFamily="34" charset="0"/>
                <a:cs typeface="Calibri" panose="020F0502020204030204" pitchFamily="34" charset="0"/>
              </a:rPr>
              <a:t> </a:t>
            </a:r>
            <a:r>
              <a:rPr lang="en-US" sz="1600" b="1" dirty="0" err="1">
                <a:latin typeface="Calibri" panose="020F0502020204030204" pitchFamily="34" charset="0"/>
                <a:ea typeface="Calibri" panose="020F0502020204030204" pitchFamily="34" charset="0"/>
                <a:cs typeface="Calibri" panose="020F0502020204030204" pitchFamily="34" charset="0"/>
              </a:rPr>
              <a:t>بینایی</a:t>
            </a:r>
            <a:r>
              <a:rPr lang="en-US" sz="1600" dirty="0">
                <a:latin typeface="Calibri" panose="020F0502020204030204" pitchFamily="34" charset="0"/>
                <a:ea typeface="Calibri" panose="020F0502020204030204" pitchFamily="34" charset="0"/>
                <a:cs typeface="Calibri" panose="020F0502020204030204" pitchFamily="34" charset="0"/>
              </a:rPr>
              <a:t>: </a:t>
            </a:r>
            <a:r>
              <a:rPr lang="en-US" sz="1600" dirty="0" err="1">
                <a:latin typeface="Calibri" panose="020F0502020204030204" pitchFamily="34" charset="0"/>
                <a:ea typeface="Calibri" panose="020F0502020204030204" pitchFamily="34" charset="0"/>
                <a:cs typeface="Calibri" panose="020F0502020204030204" pitchFamily="34" charset="0"/>
              </a:rPr>
              <a:t>تاری</a:t>
            </a:r>
            <a:r>
              <a:rPr lang="en-US" sz="1600" dirty="0">
                <a:latin typeface="Calibri" panose="020F0502020204030204" pitchFamily="34" charset="0"/>
                <a:ea typeface="Calibri" panose="020F0502020204030204" pitchFamily="34" charset="0"/>
                <a:cs typeface="Calibri" panose="020F0502020204030204" pitchFamily="34" charset="0"/>
              </a:rPr>
              <a:t> </a:t>
            </a:r>
            <a:r>
              <a:rPr lang="en-US" sz="1600" dirty="0" err="1">
                <a:latin typeface="Calibri" panose="020F0502020204030204" pitchFamily="34" charset="0"/>
                <a:ea typeface="Calibri" panose="020F0502020204030204" pitchFamily="34" charset="0"/>
                <a:cs typeface="Calibri" panose="020F0502020204030204" pitchFamily="34" charset="0"/>
              </a:rPr>
              <a:t>دید</a:t>
            </a:r>
            <a:r>
              <a:rPr lang="en-US" sz="1600" dirty="0">
                <a:latin typeface="Calibri" panose="020F0502020204030204" pitchFamily="34" charset="0"/>
                <a:ea typeface="Calibri" panose="020F0502020204030204" pitchFamily="34" charset="0"/>
                <a:cs typeface="Calibri" panose="020F0502020204030204" pitchFamily="34" charset="0"/>
              </a:rPr>
              <a:t>، </a:t>
            </a:r>
            <a:r>
              <a:rPr lang="en-US" sz="1600" dirty="0" err="1">
                <a:latin typeface="Calibri" panose="020F0502020204030204" pitchFamily="34" charset="0"/>
                <a:ea typeface="Calibri" panose="020F0502020204030204" pitchFamily="34" charset="0"/>
                <a:cs typeface="Calibri" panose="020F0502020204030204" pitchFamily="34" charset="0"/>
              </a:rPr>
              <a:t>دیدن</a:t>
            </a:r>
            <a:r>
              <a:rPr lang="en-US" sz="1600" dirty="0">
                <a:latin typeface="Calibri" panose="020F0502020204030204" pitchFamily="34" charset="0"/>
                <a:ea typeface="Calibri" panose="020F0502020204030204" pitchFamily="34" charset="0"/>
                <a:cs typeface="Calibri" panose="020F0502020204030204" pitchFamily="34" charset="0"/>
              </a:rPr>
              <a:t> </a:t>
            </a:r>
            <a:r>
              <a:rPr lang="en-US" sz="1600" dirty="0" err="1">
                <a:latin typeface="Calibri" panose="020F0502020204030204" pitchFamily="34" charset="0"/>
                <a:ea typeface="Calibri" panose="020F0502020204030204" pitchFamily="34" charset="0"/>
                <a:cs typeface="Calibri" panose="020F0502020204030204" pitchFamily="34" charset="0"/>
              </a:rPr>
              <a:t>لکه‌های</a:t>
            </a:r>
            <a:r>
              <a:rPr lang="en-US" sz="1600" dirty="0">
                <a:latin typeface="Calibri" panose="020F0502020204030204" pitchFamily="34" charset="0"/>
                <a:ea typeface="Calibri" panose="020F0502020204030204" pitchFamily="34" charset="0"/>
                <a:cs typeface="Calibri" panose="020F0502020204030204" pitchFamily="34" charset="0"/>
              </a:rPr>
              <a:t> </a:t>
            </a:r>
            <a:r>
              <a:rPr lang="en-US" sz="1600" dirty="0" err="1">
                <a:latin typeface="Calibri" panose="020F0502020204030204" pitchFamily="34" charset="0"/>
                <a:ea typeface="Calibri" panose="020F0502020204030204" pitchFamily="34" charset="0"/>
                <a:cs typeface="Calibri" panose="020F0502020204030204" pitchFamily="34" charset="0"/>
              </a:rPr>
              <a:t>نورانی</a:t>
            </a:r>
            <a:r>
              <a:rPr lang="en-US" sz="1600" dirty="0">
                <a:latin typeface="Calibri" panose="020F0502020204030204" pitchFamily="34" charset="0"/>
                <a:ea typeface="Calibri" panose="020F0502020204030204" pitchFamily="34" charset="0"/>
                <a:cs typeface="Calibri" panose="020F0502020204030204" pitchFamily="34" charset="0"/>
              </a:rPr>
              <a:t> </a:t>
            </a:r>
            <a:r>
              <a:rPr lang="en-US" sz="1600" dirty="0" err="1">
                <a:latin typeface="Calibri" panose="020F0502020204030204" pitchFamily="34" charset="0"/>
                <a:ea typeface="Calibri" panose="020F0502020204030204" pitchFamily="34" charset="0"/>
                <a:cs typeface="Calibri" panose="020F0502020204030204" pitchFamily="34" charset="0"/>
              </a:rPr>
              <a:t>یا</a:t>
            </a:r>
            <a:r>
              <a:rPr lang="en-US" sz="1600" dirty="0">
                <a:latin typeface="Calibri" panose="020F0502020204030204" pitchFamily="34" charset="0"/>
                <a:ea typeface="Calibri" panose="020F0502020204030204" pitchFamily="34" charset="0"/>
                <a:cs typeface="Calibri" panose="020F0502020204030204" pitchFamily="34" charset="0"/>
              </a:rPr>
              <a:t> </a:t>
            </a:r>
            <a:r>
              <a:rPr lang="en-US" sz="1600" dirty="0" err="1">
                <a:latin typeface="Calibri" panose="020F0502020204030204" pitchFamily="34" charset="0"/>
                <a:ea typeface="Calibri" panose="020F0502020204030204" pitchFamily="34" charset="0"/>
                <a:cs typeface="Calibri" panose="020F0502020204030204" pitchFamily="34" charset="0"/>
              </a:rPr>
              <a:t>حساسیت</a:t>
            </a:r>
            <a:r>
              <a:rPr lang="en-US" sz="1600" dirty="0">
                <a:latin typeface="Calibri" panose="020F0502020204030204" pitchFamily="34" charset="0"/>
                <a:ea typeface="Calibri" panose="020F0502020204030204" pitchFamily="34" charset="0"/>
                <a:cs typeface="Calibri" panose="020F0502020204030204" pitchFamily="34" charset="0"/>
              </a:rPr>
              <a:t> </a:t>
            </a:r>
            <a:r>
              <a:rPr lang="en-US" sz="1600" dirty="0" err="1">
                <a:latin typeface="Calibri" panose="020F0502020204030204" pitchFamily="34" charset="0"/>
                <a:ea typeface="Calibri" panose="020F0502020204030204" pitchFamily="34" charset="0"/>
                <a:cs typeface="Calibri" panose="020F0502020204030204" pitchFamily="34" charset="0"/>
              </a:rPr>
              <a:t>به</a:t>
            </a:r>
            <a:r>
              <a:rPr lang="en-US" sz="1600" dirty="0">
                <a:latin typeface="Calibri" panose="020F0502020204030204" pitchFamily="34" charset="0"/>
                <a:ea typeface="Calibri" panose="020F0502020204030204" pitchFamily="34" charset="0"/>
                <a:cs typeface="Calibri" panose="020F0502020204030204" pitchFamily="34" charset="0"/>
              </a:rPr>
              <a:t> </a:t>
            </a:r>
            <a:r>
              <a:rPr lang="en-US" sz="1600" dirty="0" err="1">
                <a:latin typeface="Calibri" panose="020F0502020204030204" pitchFamily="34" charset="0"/>
                <a:ea typeface="Calibri" panose="020F0502020204030204" pitchFamily="34" charset="0"/>
                <a:cs typeface="Calibri" panose="020F0502020204030204" pitchFamily="34" charset="0"/>
              </a:rPr>
              <a:t>نور</a:t>
            </a:r>
            <a:r>
              <a:rPr lang="en-US" sz="1600" dirty="0">
                <a:latin typeface="Calibri" panose="020F0502020204030204" pitchFamily="34" charset="0"/>
                <a:ea typeface="Calibri" panose="020F0502020204030204" pitchFamily="34" charset="0"/>
                <a:cs typeface="Calibri" panose="020F0502020204030204" pitchFamily="34" charset="0"/>
              </a:rPr>
              <a:t>.</a:t>
            </a:r>
          </a:p>
          <a:p>
            <a:pPr lvl="0" algn="r" rtl="1"/>
            <a:r>
              <a:rPr lang="en-US" sz="1600" b="1" dirty="0" err="1">
                <a:latin typeface="Calibri" panose="020F0502020204030204" pitchFamily="34" charset="0"/>
                <a:ea typeface="Calibri" panose="020F0502020204030204" pitchFamily="34" charset="0"/>
                <a:cs typeface="Calibri" panose="020F0502020204030204" pitchFamily="34" charset="0"/>
              </a:rPr>
              <a:t>درد</a:t>
            </a:r>
            <a:r>
              <a:rPr lang="en-US" sz="1600" b="1" dirty="0">
                <a:latin typeface="Calibri" panose="020F0502020204030204" pitchFamily="34" charset="0"/>
                <a:ea typeface="Calibri" panose="020F0502020204030204" pitchFamily="34" charset="0"/>
                <a:cs typeface="Calibri" panose="020F0502020204030204" pitchFamily="34" charset="0"/>
              </a:rPr>
              <a:t> </a:t>
            </a:r>
            <a:r>
              <a:rPr lang="en-US" sz="1600" b="1" dirty="0" err="1">
                <a:latin typeface="Calibri" panose="020F0502020204030204" pitchFamily="34" charset="0"/>
                <a:ea typeface="Calibri" panose="020F0502020204030204" pitchFamily="34" charset="0"/>
                <a:cs typeface="Calibri" panose="020F0502020204030204" pitchFamily="34" charset="0"/>
              </a:rPr>
              <a:t>شکم</a:t>
            </a:r>
            <a:r>
              <a:rPr lang="en-US" sz="1600" dirty="0">
                <a:latin typeface="Calibri" panose="020F0502020204030204" pitchFamily="34" charset="0"/>
                <a:ea typeface="Calibri" panose="020F0502020204030204" pitchFamily="34" charset="0"/>
                <a:cs typeface="Calibri" panose="020F0502020204030204" pitchFamily="34" charset="0"/>
              </a:rPr>
              <a:t>: </a:t>
            </a:r>
            <a:r>
              <a:rPr lang="en-US" sz="1600" dirty="0" err="1">
                <a:latin typeface="Calibri" panose="020F0502020204030204" pitchFamily="34" charset="0"/>
                <a:ea typeface="Calibri" panose="020F0502020204030204" pitchFamily="34" charset="0"/>
                <a:cs typeface="Calibri" panose="020F0502020204030204" pitchFamily="34" charset="0"/>
              </a:rPr>
              <a:t>به‌ویژه</a:t>
            </a:r>
            <a:r>
              <a:rPr lang="en-US" sz="1600" dirty="0">
                <a:latin typeface="Calibri" panose="020F0502020204030204" pitchFamily="34" charset="0"/>
                <a:ea typeface="Calibri" panose="020F0502020204030204" pitchFamily="34" charset="0"/>
                <a:cs typeface="Calibri" panose="020F0502020204030204" pitchFamily="34" charset="0"/>
              </a:rPr>
              <a:t> </a:t>
            </a:r>
            <a:r>
              <a:rPr lang="en-US" sz="1600" dirty="0" err="1">
                <a:latin typeface="Calibri" panose="020F0502020204030204" pitchFamily="34" charset="0"/>
                <a:ea typeface="Calibri" panose="020F0502020204030204" pitchFamily="34" charset="0"/>
                <a:cs typeface="Calibri" panose="020F0502020204030204" pitchFamily="34" charset="0"/>
              </a:rPr>
              <a:t>در</a:t>
            </a:r>
            <a:r>
              <a:rPr lang="en-US" sz="1600" dirty="0">
                <a:latin typeface="Calibri" panose="020F0502020204030204" pitchFamily="34" charset="0"/>
                <a:ea typeface="Calibri" panose="020F0502020204030204" pitchFamily="34" charset="0"/>
                <a:cs typeface="Calibri" panose="020F0502020204030204" pitchFamily="34" charset="0"/>
              </a:rPr>
              <a:t> </a:t>
            </a:r>
            <a:r>
              <a:rPr lang="en-US" sz="1600" dirty="0" err="1">
                <a:latin typeface="Calibri" panose="020F0502020204030204" pitchFamily="34" charset="0"/>
                <a:ea typeface="Calibri" panose="020F0502020204030204" pitchFamily="34" charset="0"/>
                <a:cs typeface="Calibri" panose="020F0502020204030204" pitchFamily="34" charset="0"/>
              </a:rPr>
              <a:t>ناحیه</a:t>
            </a:r>
            <a:r>
              <a:rPr lang="en-US" sz="1600" dirty="0">
                <a:latin typeface="Calibri" panose="020F0502020204030204" pitchFamily="34" charset="0"/>
                <a:ea typeface="Calibri" panose="020F0502020204030204" pitchFamily="34" charset="0"/>
                <a:cs typeface="Calibri" panose="020F0502020204030204" pitchFamily="34" charset="0"/>
              </a:rPr>
              <a:t> </a:t>
            </a:r>
            <a:r>
              <a:rPr lang="en-US" sz="1600" dirty="0" err="1">
                <a:latin typeface="Calibri" panose="020F0502020204030204" pitchFamily="34" charset="0"/>
                <a:ea typeface="Calibri" panose="020F0502020204030204" pitchFamily="34" charset="0"/>
                <a:cs typeface="Calibri" panose="020F0502020204030204" pitchFamily="34" charset="0"/>
              </a:rPr>
              <a:t>بالای</a:t>
            </a:r>
            <a:r>
              <a:rPr lang="en-US" sz="1600" dirty="0">
                <a:latin typeface="Calibri" panose="020F0502020204030204" pitchFamily="34" charset="0"/>
                <a:ea typeface="Calibri" panose="020F0502020204030204" pitchFamily="34" charset="0"/>
                <a:cs typeface="Calibri" panose="020F0502020204030204" pitchFamily="34" charset="0"/>
              </a:rPr>
              <a:t> </a:t>
            </a:r>
            <a:r>
              <a:rPr lang="en-US" sz="1600" dirty="0" err="1">
                <a:latin typeface="Calibri" panose="020F0502020204030204" pitchFamily="34" charset="0"/>
                <a:ea typeface="Calibri" panose="020F0502020204030204" pitchFamily="34" charset="0"/>
                <a:cs typeface="Calibri" panose="020F0502020204030204" pitchFamily="34" charset="0"/>
              </a:rPr>
              <a:t>شکم</a:t>
            </a:r>
            <a:r>
              <a:rPr lang="en-US" sz="1600" dirty="0">
                <a:latin typeface="Calibri" panose="020F0502020204030204" pitchFamily="34" charset="0"/>
                <a:ea typeface="Calibri" panose="020F0502020204030204" pitchFamily="34" charset="0"/>
                <a:cs typeface="Calibri" panose="020F0502020204030204" pitchFamily="34" charset="0"/>
              </a:rPr>
              <a:t> </a:t>
            </a:r>
            <a:r>
              <a:rPr lang="en-US" sz="1600" dirty="0" err="1">
                <a:latin typeface="Calibri" panose="020F0502020204030204" pitchFamily="34" charset="0"/>
                <a:ea typeface="Calibri" panose="020F0502020204030204" pitchFamily="34" charset="0"/>
                <a:cs typeface="Calibri" panose="020F0502020204030204" pitchFamily="34" charset="0"/>
              </a:rPr>
              <a:t>یا</a:t>
            </a:r>
            <a:r>
              <a:rPr lang="en-US" sz="1600" dirty="0">
                <a:latin typeface="Calibri" panose="020F0502020204030204" pitchFamily="34" charset="0"/>
                <a:ea typeface="Calibri" panose="020F0502020204030204" pitchFamily="34" charset="0"/>
                <a:cs typeface="Calibri" panose="020F0502020204030204" pitchFamily="34" charset="0"/>
              </a:rPr>
              <a:t> </a:t>
            </a:r>
            <a:r>
              <a:rPr lang="en-US" sz="1600" dirty="0" err="1">
                <a:latin typeface="Calibri" panose="020F0502020204030204" pitchFamily="34" charset="0"/>
                <a:ea typeface="Calibri" panose="020F0502020204030204" pitchFamily="34" charset="0"/>
                <a:cs typeface="Calibri" panose="020F0502020204030204" pitchFamily="34" charset="0"/>
              </a:rPr>
              <a:t>زیر</a:t>
            </a:r>
            <a:r>
              <a:rPr lang="en-US" sz="1600" dirty="0">
                <a:latin typeface="Calibri" panose="020F0502020204030204" pitchFamily="34" charset="0"/>
                <a:ea typeface="Calibri" panose="020F0502020204030204" pitchFamily="34" charset="0"/>
                <a:cs typeface="Calibri" panose="020F0502020204030204" pitchFamily="34" charset="0"/>
              </a:rPr>
              <a:t> </a:t>
            </a:r>
            <a:r>
              <a:rPr lang="en-US" sz="1600" dirty="0" err="1">
                <a:latin typeface="Calibri" panose="020F0502020204030204" pitchFamily="34" charset="0"/>
                <a:ea typeface="Calibri" panose="020F0502020204030204" pitchFamily="34" charset="0"/>
                <a:cs typeface="Calibri" panose="020F0502020204030204" pitchFamily="34" charset="0"/>
              </a:rPr>
              <a:t>دنده‌های</a:t>
            </a:r>
            <a:r>
              <a:rPr lang="en-US" sz="1600" dirty="0">
                <a:latin typeface="Calibri" panose="020F0502020204030204" pitchFamily="34" charset="0"/>
                <a:ea typeface="Calibri" panose="020F0502020204030204" pitchFamily="34" charset="0"/>
                <a:cs typeface="Calibri" panose="020F0502020204030204" pitchFamily="34" charset="0"/>
              </a:rPr>
              <a:t> </a:t>
            </a:r>
            <a:r>
              <a:rPr lang="en-US" sz="1600" dirty="0" err="1">
                <a:latin typeface="Calibri" panose="020F0502020204030204" pitchFamily="34" charset="0"/>
                <a:ea typeface="Calibri" panose="020F0502020204030204" pitchFamily="34" charset="0"/>
                <a:cs typeface="Calibri" panose="020F0502020204030204" pitchFamily="34" charset="0"/>
              </a:rPr>
              <a:t>راست</a:t>
            </a:r>
            <a:r>
              <a:rPr lang="en-US" sz="1600" dirty="0">
                <a:latin typeface="Calibri" panose="020F0502020204030204" pitchFamily="34" charset="0"/>
                <a:ea typeface="Calibri" panose="020F0502020204030204" pitchFamily="34" charset="0"/>
                <a:cs typeface="Calibri" panose="020F0502020204030204" pitchFamily="34" charset="0"/>
              </a:rPr>
              <a:t> (</a:t>
            </a:r>
            <a:r>
              <a:rPr lang="en-US" sz="1600" dirty="0" err="1">
                <a:latin typeface="Calibri" panose="020F0502020204030204" pitchFamily="34" charset="0"/>
                <a:ea typeface="Calibri" panose="020F0502020204030204" pitchFamily="34" charset="0"/>
                <a:cs typeface="Calibri" panose="020F0502020204030204" pitchFamily="34" charset="0"/>
              </a:rPr>
              <a:t>ناشی</a:t>
            </a:r>
            <a:r>
              <a:rPr lang="en-US" sz="1600" dirty="0">
                <a:latin typeface="Calibri" panose="020F0502020204030204" pitchFamily="34" charset="0"/>
                <a:ea typeface="Calibri" panose="020F0502020204030204" pitchFamily="34" charset="0"/>
                <a:cs typeface="Calibri" panose="020F0502020204030204" pitchFamily="34" charset="0"/>
              </a:rPr>
              <a:t> </a:t>
            </a:r>
            <a:r>
              <a:rPr lang="en-US" sz="1600" dirty="0" err="1">
                <a:latin typeface="Calibri" panose="020F0502020204030204" pitchFamily="34" charset="0"/>
                <a:ea typeface="Calibri" panose="020F0502020204030204" pitchFamily="34" charset="0"/>
                <a:cs typeface="Calibri" panose="020F0502020204030204" pitchFamily="34" charset="0"/>
              </a:rPr>
              <a:t>از</a:t>
            </a:r>
            <a:r>
              <a:rPr lang="en-US" sz="1600" dirty="0">
                <a:latin typeface="Calibri" panose="020F0502020204030204" pitchFamily="34" charset="0"/>
                <a:ea typeface="Calibri" panose="020F0502020204030204" pitchFamily="34" charset="0"/>
                <a:cs typeface="Calibri" panose="020F0502020204030204" pitchFamily="34" charset="0"/>
              </a:rPr>
              <a:t> </a:t>
            </a:r>
            <a:r>
              <a:rPr lang="en-US" sz="1600" dirty="0" err="1">
                <a:latin typeface="Calibri" panose="020F0502020204030204" pitchFamily="34" charset="0"/>
                <a:ea typeface="Calibri" panose="020F0502020204030204" pitchFamily="34" charset="0"/>
                <a:cs typeface="Calibri" panose="020F0502020204030204" pitchFamily="34" charset="0"/>
              </a:rPr>
              <a:t>آسیب</a:t>
            </a:r>
            <a:r>
              <a:rPr lang="en-US" sz="1600" dirty="0">
                <a:latin typeface="Calibri" panose="020F0502020204030204" pitchFamily="34" charset="0"/>
                <a:ea typeface="Calibri" panose="020F0502020204030204" pitchFamily="34" charset="0"/>
                <a:cs typeface="Calibri" panose="020F0502020204030204" pitchFamily="34" charset="0"/>
              </a:rPr>
              <a:t> </a:t>
            </a:r>
            <a:r>
              <a:rPr lang="en-US" sz="1600" dirty="0" err="1">
                <a:latin typeface="Calibri" panose="020F0502020204030204" pitchFamily="34" charset="0"/>
                <a:ea typeface="Calibri" panose="020F0502020204030204" pitchFamily="34" charset="0"/>
                <a:cs typeface="Calibri" panose="020F0502020204030204" pitchFamily="34" charset="0"/>
              </a:rPr>
              <a:t>کبد</a:t>
            </a:r>
            <a:endParaRPr lang="en-US" sz="1600" dirty="0">
              <a:latin typeface="Calibri" panose="020F0502020204030204" pitchFamily="34" charset="0"/>
              <a:ea typeface="Calibri" panose="020F0502020204030204" pitchFamily="34" charset="0"/>
              <a:cs typeface="Calibri" panose="020F0502020204030204" pitchFamily="34" charset="0"/>
            </a:endParaRPr>
          </a:p>
          <a:p>
            <a:pPr lvl="0" algn="r" rtl="1"/>
            <a:r>
              <a:rPr lang="en-US" sz="1600" b="1" dirty="0" err="1">
                <a:latin typeface="Calibri" panose="020F0502020204030204" pitchFamily="34" charset="0"/>
                <a:ea typeface="Calibri" panose="020F0502020204030204" pitchFamily="34" charset="0"/>
                <a:cs typeface="Calibri" panose="020F0502020204030204" pitchFamily="34" charset="0"/>
              </a:rPr>
              <a:t>تنگی</a:t>
            </a:r>
            <a:r>
              <a:rPr lang="en-US" sz="1600" b="1" dirty="0">
                <a:latin typeface="Calibri" panose="020F0502020204030204" pitchFamily="34" charset="0"/>
                <a:ea typeface="Calibri" panose="020F0502020204030204" pitchFamily="34" charset="0"/>
                <a:cs typeface="Calibri" panose="020F0502020204030204" pitchFamily="34" charset="0"/>
              </a:rPr>
              <a:t> </a:t>
            </a:r>
            <a:r>
              <a:rPr lang="en-US" sz="1600" b="1" dirty="0" err="1">
                <a:latin typeface="Calibri" panose="020F0502020204030204" pitchFamily="34" charset="0"/>
                <a:ea typeface="Calibri" panose="020F0502020204030204" pitchFamily="34" charset="0"/>
                <a:cs typeface="Calibri" panose="020F0502020204030204" pitchFamily="34" charset="0"/>
              </a:rPr>
              <a:t>نفس</a:t>
            </a:r>
            <a:r>
              <a:rPr lang="en-US" sz="1600" dirty="0">
                <a:latin typeface="Calibri" panose="020F0502020204030204" pitchFamily="34" charset="0"/>
                <a:ea typeface="Calibri" panose="020F0502020204030204" pitchFamily="34" charset="0"/>
                <a:cs typeface="Calibri" panose="020F0502020204030204" pitchFamily="34" charset="0"/>
              </a:rPr>
              <a:t> </a:t>
            </a:r>
            <a:r>
              <a:rPr lang="en-US" sz="1600" dirty="0" err="1">
                <a:latin typeface="Calibri" panose="020F0502020204030204" pitchFamily="34" charset="0"/>
                <a:ea typeface="Calibri" panose="020F0502020204030204" pitchFamily="34" charset="0"/>
                <a:cs typeface="Calibri" panose="020F0502020204030204" pitchFamily="34" charset="0"/>
              </a:rPr>
              <a:t>یا</a:t>
            </a:r>
            <a:r>
              <a:rPr lang="en-US" sz="1600" dirty="0">
                <a:latin typeface="Calibri" panose="020F0502020204030204" pitchFamily="34" charset="0"/>
                <a:ea typeface="Calibri" panose="020F0502020204030204" pitchFamily="34" charset="0"/>
                <a:cs typeface="Calibri" panose="020F0502020204030204" pitchFamily="34" charset="0"/>
              </a:rPr>
              <a:t> </a:t>
            </a:r>
            <a:r>
              <a:rPr lang="en-US" sz="1600" dirty="0" err="1">
                <a:latin typeface="Calibri" panose="020F0502020204030204" pitchFamily="34" charset="0"/>
                <a:ea typeface="Calibri" panose="020F0502020204030204" pitchFamily="34" charset="0"/>
                <a:cs typeface="Calibri" panose="020F0502020204030204" pitchFamily="34" charset="0"/>
              </a:rPr>
              <a:t>کاهش</a:t>
            </a:r>
            <a:r>
              <a:rPr lang="en-US" sz="1600" dirty="0">
                <a:latin typeface="Calibri" panose="020F0502020204030204" pitchFamily="34" charset="0"/>
                <a:ea typeface="Calibri" panose="020F0502020204030204" pitchFamily="34" charset="0"/>
                <a:cs typeface="Calibri" panose="020F0502020204030204" pitchFamily="34" charset="0"/>
              </a:rPr>
              <a:t> </a:t>
            </a:r>
            <a:r>
              <a:rPr lang="en-US" sz="1600" dirty="0" err="1">
                <a:latin typeface="Calibri" panose="020F0502020204030204" pitchFamily="34" charset="0"/>
                <a:ea typeface="Calibri" panose="020F0502020204030204" pitchFamily="34" charset="0"/>
                <a:cs typeface="Calibri" panose="020F0502020204030204" pitchFamily="34" charset="0"/>
              </a:rPr>
              <a:t>ادرار</a:t>
            </a:r>
            <a:r>
              <a:rPr lang="en-US" sz="1600" dirty="0">
                <a:latin typeface="Calibri" panose="020F0502020204030204" pitchFamily="34" charset="0"/>
                <a:ea typeface="Calibri" panose="020F0502020204030204" pitchFamily="34" charset="0"/>
                <a:cs typeface="Calibri" panose="020F0502020204030204" pitchFamily="34" charset="0"/>
              </a:rPr>
              <a:t>.</a:t>
            </a:r>
          </a:p>
        </p:txBody>
      </p:sp>
      <p:sp>
        <p:nvSpPr>
          <p:cNvPr id="4" name="Slide Number Placeholder 3">
            <a:extLst>
              <a:ext uri="{FF2B5EF4-FFF2-40B4-BE49-F238E27FC236}">
                <a16:creationId xmlns:a16="http://schemas.microsoft.com/office/drawing/2014/main" id="{B8128C9E-A737-03FD-50CC-E7563DF8FD48}"/>
              </a:ext>
            </a:extLst>
          </p:cNvPr>
          <p:cNvSpPr>
            <a:spLocks noGrp="1"/>
          </p:cNvSpPr>
          <p:nvPr>
            <p:ph type="sldNum" sz="quarter" idx="12"/>
          </p:nvPr>
        </p:nvSpPr>
        <p:spPr/>
        <p:txBody>
          <a:bodyPr/>
          <a:lstStyle/>
          <a:p>
            <a:fld id="{2D8CB573-7144-4842-A8FD-250830F20887}" type="slidenum">
              <a:rPr lang="en-US" smtClean="0"/>
              <a:t>37</a:t>
            </a:fld>
            <a:endParaRPr lang="en-US"/>
          </a:p>
        </p:txBody>
      </p:sp>
    </p:spTree>
    <p:extLst>
      <p:ext uri="{BB962C8B-B14F-4D97-AF65-F5344CB8AC3E}">
        <p14:creationId xmlns:p14="http://schemas.microsoft.com/office/powerpoint/2010/main" val="182454854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20091" y="1132315"/>
            <a:ext cx="9872871" cy="4932218"/>
          </a:xfrm>
        </p:spPr>
        <p:txBody>
          <a:bodyPr>
            <a:normAutofit/>
          </a:bodyPr>
          <a:lstStyle/>
          <a:p>
            <a:pPr marL="45720" indent="0" algn="r" rtl="1">
              <a:buNone/>
            </a:pPr>
            <a:r>
              <a:rPr lang="fa-IR" sz="2400" b="1" u="sng" dirty="0">
                <a:solidFill>
                  <a:srgbClr val="FF0000"/>
                </a:solidFill>
                <a:cs typeface="B Nazanin" panose="00000400000000000000" pitchFamily="2" charset="-78"/>
              </a:rPr>
              <a:t>مادران شیرده</a:t>
            </a:r>
          </a:p>
          <a:p>
            <a:pPr marL="45720" indent="0" algn="r" rtl="1">
              <a:buNone/>
            </a:pPr>
            <a:endParaRPr lang="en-US" sz="2400" b="1" u="sng" dirty="0">
              <a:solidFill>
                <a:srgbClr val="FF0000"/>
              </a:solidFill>
              <a:cs typeface="B Nazanin" panose="00000400000000000000" pitchFamily="2" charset="-78"/>
            </a:endParaRPr>
          </a:p>
        </p:txBody>
      </p:sp>
      <p:sp>
        <p:nvSpPr>
          <p:cNvPr id="4" name="Slide Number Placeholder 3"/>
          <p:cNvSpPr>
            <a:spLocks noGrp="1"/>
          </p:cNvSpPr>
          <p:nvPr>
            <p:ph type="sldNum" sz="quarter" idx="12"/>
          </p:nvPr>
        </p:nvSpPr>
        <p:spPr/>
        <p:txBody>
          <a:bodyPr/>
          <a:lstStyle/>
          <a:p>
            <a:fld id="{2D8CB573-7144-4842-A8FD-250830F20887}" type="slidenum">
              <a:rPr lang="en-US" smtClean="0"/>
              <a:t>38</a:t>
            </a:fld>
            <a:endParaRPr lang="en-US"/>
          </a:p>
        </p:txBody>
      </p:sp>
      <p:pic>
        <p:nvPicPr>
          <p:cNvPr id="5" name="Picture 4"/>
          <p:cNvPicPr>
            <a:picLocks noChangeAspect="1"/>
          </p:cNvPicPr>
          <p:nvPr/>
        </p:nvPicPr>
        <p:blipFill>
          <a:blip r:embed="rId2">
            <a:lum bright="-20000" contrast="40000"/>
          </a:blip>
          <a:stretch>
            <a:fillRect/>
          </a:stretch>
        </p:blipFill>
        <p:spPr>
          <a:xfrm>
            <a:off x="452582" y="1791855"/>
            <a:ext cx="10953240" cy="3613139"/>
          </a:xfrm>
          <a:prstGeom prst="rect">
            <a:avLst/>
          </a:prstGeom>
        </p:spPr>
      </p:pic>
    </p:spTree>
    <p:extLst>
      <p:ext uri="{BB962C8B-B14F-4D97-AF65-F5344CB8AC3E}">
        <p14:creationId xmlns:p14="http://schemas.microsoft.com/office/powerpoint/2010/main" val="117413555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10854" y="635630"/>
            <a:ext cx="9872871" cy="5515788"/>
          </a:xfrm>
        </p:spPr>
        <p:txBody>
          <a:bodyPr/>
          <a:lstStyle/>
          <a:p>
            <a:pPr marL="45720" lvl="0" indent="0" algn="r" rtl="1">
              <a:buClr>
                <a:srgbClr val="A6B727"/>
              </a:buClr>
              <a:buNone/>
            </a:pPr>
            <a:r>
              <a:rPr lang="fa-IR" sz="2400" b="1" u="sng" dirty="0">
                <a:solidFill>
                  <a:srgbClr val="FF0000"/>
                </a:solidFill>
                <a:cs typeface="B Nazanin" panose="00000400000000000000" pitchFamily="2" charset="-78"/>
              </a:rPr>
              <a:t>کودک زیر 2 سال</a:t>
            </a:r>
          </a:p>
          <a:p>
            <a:pPr marL="45720" lvl="0" indent="0" algn="r" rtl="1">
              <a:buClr>
                <a:srgbClr val="A6B727"/>
              </a:buClr>
              <a:buNone/>
            </a:pPr>
            <a:endParaRPr lang="fa-IR" sz="2400" b="1" u="sng" dirty="0">
              <a:solidFill>
                <a:srgbClr val="FF0000"/>
              </a:solidFill>
              <a:cs typeface="B Nazanin" panose="00000400000000000000" pitchFamily="2" charset="-78"/>
            </a:endParaRPr>
          </a:p>
          <a:p>
            <a:pPr marL="45720" lvl="0" indent="0" algn="r" rtl="1">
              <a:buClr>
                <a:srgbClr val="A6B727"/>
              </a:buClr>
              <a:buNone/>
            </a:pPr>
            <a:endParaRPr lang="fa-IR" sz="2400" b="1" u="sng" dirty="0">
              <a:solidFill>
                <a:srgbClr val="FF0000"/>
              </a:solidFill>
              <a:cs typeface="B Nazanin" panose="00000400000000000000" pitchFamily="2" charset="-78"/>
            </a:endParaRPr>
          </a:p>
          <a:p>
            <a:pPr marL="45720" lvl="0" indent="0" algn="r" rtl="1">
              <a:buClr>
                <a:srgbClr val="A6B727"/>
              </a:buClr>
              <a:buNone/>
            </a:pPr>
            <a:endParaRPr lang="fa-IR" sz="2400" b="1" u="sng" dirty="0">
              <a:solidFill>
                <a:srgbClr val="FF0000"/>
              </a:solidFill>
              <a:cs typeface="B Nazanin" panose="00000400000000000000" pitchFamily="2" charset="-78"/>
            </a:endParaRPr>
          </a:p>
          <a:p>
            <a:pPr marL="45720" indent="0" algn="r" rtl="1">
              <a:buNone/>
            </a:pPr>
            <a:endParaRPr lang="en-US" dirty="0"/>
          </a:p>
        </p:txBody>
      </p:sp>
      <p:sp>
        <p:nvSpPr>
          <p:cNvPr id="4" name="Slide Number Placeholder 3"/>
          <p:cNvSpPr>
            <a:spLocks noGrp="1"/>
          </p:cNvSpPr>
          <p:nvPr>
            <p:ph type="sldNum" sz="quarter" idx="12"/>
          </p:nvPr>
        </p:nvSpPr>
        <p:spPr/>
        <p:txBody>
          <a:bodyPr/>
          <a:lstStyle/>
          <a:p>
            <a:fld id="{2D8CB573-7144-4842-A8FD-250830F20887}" type="slidenum">
              <a:rPr lang="en-US" smtClean="0"/>
              <a:t>39</a:t>
            </a:fld>
            <a:endParaRPr lang="en-US"/>
          </a:p>
        </p:txBody>
      </p:sp>
      <p:pic>
        <p:nvPicPr>
          <p:cNvPr id="5" name="Picture 4"/>
          <p:cNvPicPr>
            <a:picLocks noChangeAspect="1"/>
          </p:cNvPicPr>
          <p:nvPr/>
        </p:nvPicPr>
        <p:blipFill>
          <a:blip r:embed="rId2">
            <a:lum bright="-20000" contrast="40000"/>
          </a:blip>
          <a:stretch>
            <a:fillRect/>
          </a:stretch>
        </p:blipFill>
        <p:spPr>
          <a:xfrm>
            <a:off x="4211782" y="1228437"/>
            <a:ext cx="7071943" cy="2831263"/>
          </a:xfrm>
          <a:prstGeom prst="rect">
            <a:avLst/>
          </a:prstGeom>
        </p:spPr>
      </p:pic>
      <p:pic>
        <p:nvPicPr>
          <p:cNvPr id="6" name="Picture 5"/>
          <p:cNvPicPr>
            <a:picLocks noChangeAspect="1"/>
          </p:cNvPicPr>
          <p:nvPr/>
        </p:nvPicPr>
        <p:blipFill>
          <a:blip r:embed="rId3">
            <a:lum bright="-20000" contrast="40000"/>
          </a:blip>
          <a:stretch>
            <a:fillRect/>
          </a:stretch>
        </p:blipFill>
        <p:spPr>
          <a:xfrm>
            <a:off x="480748" y="4253555"/>
            <a:ext cx="6335688" cy="2335398"/>
          </a:xfrm>
          <a:prstGeom prst="rect">
            <a:avLst/>
          </a:prstGeom>
        </p:spPr>
      </p:pic>
      <p:sp>
        <p:nvSpPr>
          <p:cNvPr id="7" name="Rectangle 6"/>
          <p:cNvSpPr/>
          <p:nvPr/>
        </p:nvSpPr>
        <p:spPr>
          <a:xfrm>
            <a:off x="4716181" y="3585187"/>
            <a:ext cx="2100255" cy="461665"/>
          </a:xfrm>
          <a:prstGeom prst="rect">
            <a:avLst/>
          </a:prstGeom>
        </p:spPr>
        <p:txBody>
          <a:bodyPr wrap="none">
            <a:spAutoFit/>
          </a:bodyPr>
          <a:lstStyle/>
          <a:p>
            <a:r>
              <a:rPr lang="fa-IR" sz="2400" b="1" dirty="0">
                <a:solidFill>
                  <a:srgbClr val="FF0000"/>
                </a:solidFill>
                <a:cs typeface="B Nazanin" panose="00000400000000000000" pitchFamily="2" charset="-78"/>
              </a:rPr>
              <a:t> </a:t>
            </a:r>
            <a:r>
              <a:rPr lang="fa-IR" sz="2400" b="1" u="sng" dirty="0">
                <a:solidFill>
                  <a:srgbClr val="FF0000"/>
                </a:solidFill>
                <a:cs typeface="B Nazanin" panose="00000400000000000000" pitchFamily="2" charset="-78"/>
              </a:rPr>
              <a:t>کودک 2 تا 5 سال</a:t>
            </a:r>
            <a:endParaRPr lang="en-US" dirty="0"/>
          </a:p>
        </p:txBody>
      </p:sp>
      <p:pic>
        <p:nvPicPr>
          <p:cNvPr id="8" name="Picture 7"/>
          <p:cNvPicPr>
            <a:picLocks noChangeAspect="1"/>
          </p:cNvPicPr>
          <p:nvPr/>
        </p:nvPicPr>
        <p:blipFill>
          <a:blip r:embed="rId4"/>
          <a:stretch>
            <a:fillRect/>
          </a:stretch>
        </p:blipFill>
        <p:spPr>
          <a:xfrm>
            <a:off x="755793" y="785090"/>
            <a:ext cx="3173123" cy="2115415"/>
          </a:xfrm>
          <a:prstGeom prst="rect">
            <a:avLst/>
          </a:prstGeom>
        </p:spPr>
      </p:pic>
      <p:pic>
        <p:nvPicPr>
          <p:cNvPr id="9" name="Picture 8"/>
          <p:cNvPicPr>
            <a:picLocks noChangeAspect="1"/>
          </p:cNvPicPr>
          <p:nvPr/>
        </p:nvPicPr>
        <p:blipFill>
          <a:blip r:embed="rId5"/>
          <a:stretch>
            <a:fillRect/>
          </a:stretch>
        </p:blipFill>
        <p:spPr>
          <a:xfrm>
            <a:off x="7867875" y="4401337"/>
            <a:ext cx="2923309" cy="1644361"/>
          </a:xfrm>
          <a:prstGeom prst="rect">
            <a:avLst/>
          </a:prstGeom>
        </p:spPr>
      </p:pic>
    </p:spTree>
    <p:extLst>
      <p:ext uri="{BB962C8B-B14F-4D97-AF65-F5344CB8AC3E}">
        <p14:creationId xmlns:p14="http://schemas.microsoft.com/office/powerpoint/2010/main" val="244931425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87697" y="986810"/>
            <a:ext cx="9872871" cy="5237018"/>
          </a:xfrm>
        </p:spPr>
        <p:txBody>
          <a:bodyPr>
            <a:normAutofit/>
          </a:bodyPr>
          <a:lstStyle/>
          <a:p>
            <a:pPr marL="45720" indent="0" algn="r" rtl="1">
              <a:buNone/>
            </a:pPr>
            <a:r>
              <a:rPr lang="fa-IR" sz="2400" b="1" u="sng" dirty="0">
                <a:solidFill>
                  <a:srgbClr val="FF0000"/>
                </a:solidFill>
                <a:cs typeface="B Nazanin" panose="00000400000000000000" pitchFamily="2" charset="-78"/>
              </a:rPr>
              <a:t>افراد میانسال</a:t>
            </a:r>
            <a:endParaRPr lang="en-US" sz="2400" b="1" u="sng" dirty="0">
              <a:solidFill>
                <a:srgbClr val="FF0000"/>
              </a:solidFill>
              <a:cs typeface="B Nazanin" panose="00000400000000000000" pitchFamily="2" charset="-78"/>
            </a:endParaRPr>
          </a:p>
        </p:txBody>
      </p:sp>
      <p:sp>
        <p:nvSpPr>
          <p:cNvPr id="4" name="Slide Number Placeholder 3"/>
          <p:cNvSpPr>
            <a:spLocks noGrp="1"/>
          </p:cNvSpPr>
          <p:nvPr>
            <p:ph type="sldNum" sz="quarter" idx="12"/>
          </p:nvPr>
        </p:nvSpPr>
        <p:spPr/>
        <p:txBody>
          <a:bodyPr/>
          <a:lstStyle/>
          <a:p>
            <a:fld id="{2D8CB573-7144-4842-A8FD-250830F20887}" type="slidenum">
              <a:rPr lang="en-US" smtClean="0"/>
              <a:t>40</a:t>
            </a:fld>
            <a:endParaRPr lang="en-US"/>
          </a:p>
        </p:txBody>
      </p:sp>
      <p:pic>
        <p:nvPicPr>
          <p:cNvPr id="6" name="Picture 5"/>
          <p:cNvPicPr>
            <a:picLocks noChangeAspect="1"/>
          </p:cNvPicPr>
          <p:nvPr/>
        </p:nvPicPr>
        <p:blipFill>
          <a:blip r:embed="rId2">
            <a:lum bright="-20000" contrast="40000"/>
          </a:blip>
          <a:stretch>
            <a:fillRect/>
          </a:stretch>
        </p:blipFill>
        <p:spPr>
          <a:xfrm>
            <a:off x="403382" y="1717963"/>
            <a:ext cx="10957186" cy="3391051"/>
          </a:xfrm>
          <a:prstGeom prst="rect">
            <a:avLst/>
          </a:prstGeom>
        </p:spPr>
      </p:pic>
      <p:pic>
        <p:nvPicPr>
          <p:cNvPr id="7" name="Picture 6"/>
          <p:cNvPicPr>
            <a:picLocks noChangeAspect="1"/>
          </p:cNvPicPr>
          <p:nvPr/>
        </p:nvPicPr>
        <p:blipFill>
          <a:blip r:embed="rId3"/>
          <a:stretch>
            <a:fillRect/>
          </a:stretch>
        </p:blipFill>
        <p:spPr>
          <a:xfrm>
            <a:off x="632691" y="603149"/>
            <a:ext cx="3061855" cy="2130541"/>
          </a:xfrm>
          <a:prstGeom prst="rect">
            <a:avLst/>
          </a:prstGeom>
        </p:spPr>
      </p:pic>
    </p:spTree>
    <p:extLst>
      <p:ext uri="{BB962C8B-B14F-4D97-AF65-F5344CB8AC3E}">
        <p14:creationId xmlns:p14="http://schemas.microsoft.com/office/powerpoint/2010/main" val="227783933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18011" y="935405"/>
            <a:ext cx="9872871" cy="5163127"/>
          </a:xfrm>
        </p:spPr>
        <p:txBody>
          <a:bodyPr>
            <a:normAutofit/>
          </a:bodyPr>
          <a:lstStyle/>
          <a:p>
            <a:pPr marL="45720" indent="0" algn="r" rtl="1">
              <a:buNone/>
            </a:pPr>
            <a:r>
              <a:rPr lang="fa-IR" sz="2400" b="1" u="sng" dirty="0">
                <a:solidFill>
                  <a:srgbClr val="FF0000"/>
                </a:solidFill>
                <a:cs typeface="B Nazanin" panose="00000400000000000000" pitchFamily="2" charset="-78"/>
              </a:rPr>
              <a:t>سالمندان</a:t>
            </a:r>
          </a:p>
          <a:p>
            <a:pPr algn="r" rtl="1"/>
            <a:endParaRPr lang="en-US" sz="2400" b="1" u="sng" dirty="0">
              <a:solidFill>
                <a:srgbClr val="FF0000"/>
              </a:solidFill>
              <a:cs typeface="B Nazanin" panose="00000400000000000000" pitchFamily="2" charset="-78"/>
            </a:endParaRPr>
          </a:p>
        </p:txBody>
      </p:sp>
      <p:sp>
        <p:nvSpPr>
          <p:cNvPr id="4" name="Slide Number Placeholder 3"/>
          <p:cNvSpPr>
            <a:spLocks noGrp="1"/>
          </p:cNvSpPr>
          <p:nvPr>
            <p:ph type="sldNum" sz="quarter" idx="12"/>
          </p:nvPr>
        </p:nvSpPr>
        <p:spPr/>
        <p:txBody>
          <a:bodyPr/>
          <a:lstStyle/>
          <a:p>
            <a:fld id="{2D8CB573-7144-4842-A8FD-250830F20887}" type="slidenum">
              <a:rPr lang="en-US" smtClean="0"/>
              <a:t>41</a:t>
            </a:fld>
            <a:endParaRPr lang="en-US"/>
          </a:p>
        </p:txBody>
      </p:sp>
      <p:pic>
        <p:nvPicPr>
          <p:cNvPr id="5" name="Picture 4"/>
          <p:cNvPicPr>
            <a:picLocks noChangeAspect="1"/>
          </p:cNvPicPr>
          <p:nvPr/>
        </p:nvPicPr>
        <p:blipFill>
          <a:blip r:embed="rId2">
            <a:lum bright="-20000" contrast="40000"/>
          </a:blip>
          <a:stretch>
            <a:fillRect/>
          </a:stretch>
        </p:blipFill>
        <p:spPr>
          <a:xfrm>
            <a:off x="464965" y="1828801"/>
            <a:ext cx="10925917" cy="3376336"/>
          </a:xfrm>
          <a:prstGeom prst="rect">
            <a:avLst/>
          </a:prstGeom>
        </p:spPr>
      </p:pic>
      <p:pic>
        <p:nvPicPr>
          <p:cNvPr id="6" name="Picture 5"/>
          <p:cNvPicPr>
            <a:picLocks noChangeAspect="1"/>
          </p:cNvPicPr>
          <p:nvPr/>
        </p:nvPicPr>
        <p:blipFill>
          <a:blip r:embed="rId3"/>
          <a:stretch>
            <a:fillRect/>
          </a:stretch>
        </p:blipFill>
        <p:spPr>
          <a:xfrm>
            <a:off x="760267" y="810109"/>
            <a:ext cx="3386860" cy="1896642"/>
          </a:xfrm>
          <a:prstGeom prst="rect">
            <a:avLst/>
          </a:prstGeom>
        </p:spPr>
      </p:pic>
    </p:spTree>
    <p:extLst>
      <p:ext uri="{BB962C8B-B14F-4D97-AF65-F5344CB8AC3E}">
        <p14:creationId xmlns:p14="http://schemas.microsoft.com/office/powerpoint/2010/main" val="412626186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r" rtl="1"/>
            <a:r>
              <a:rPr lang="fa-IR" sz="4000" dirty="0">
                <a:cs typeface="2  Titr" panose="00000700000000000000" pitchFamily="2" charset="-78"/>
              </a:rPr>
              <a:t>اندازه‌گیری وزن و قد</a:t>
            </a:r>
            <a:endParaRPr lang="en-US" sz="4000" dirty="0">
              <a:cs typeface="2  Titr" panose="00000700000000000000" pitchFamily="2" charset="-78"/>
            </a:endParaRPr>
          </a:p>
        </p:txBody>
      </p:sp>
      <p:sp>
        <p:nvSpPr>
          <p:cNvPr id="3" name="Content Placeholder 2"/>
          <p:cNvSpPr>
            <a:spLocks noGrp="1"/>
          </p:cNvSpPr>
          <p:nvPr>
            <p:ph idx="1"/>
          </p:nvPr>
        </p:nvSpPr>
        <p:spPr>
          <a:xfrm>
            <a:off x="1143000" y="1828800"/>
            <a:ext cx="9872871" cy="4267200"/>
          </a:xfrm>
        </p:spPr>
        <p:txBody>
          <a:bodyPr/>
          <a:lstStyle/>
          <a:p>
            <a:pPr algn="just" rtl="1">
              <a:lnSpc>
                <a:spcPct val="150000"/>
              </a:lnSpc>
            </a:pPr>
            <a:r>
              <a:rPr lang="fa-IR" sz="2400" b="1" dirty="0">
                <a:solidFill>
                  <a:schemeClr val="tx1"/>
                </a:solidFill>
                <a:latin typeface="Arial" pitchFamily="34" charset="0"/>
                <a:cs typeface="B Nazanin" panose="00000400000000000000" pitchFamily="2" charset="-78"/>
              </a:rPr>
              <a:t>وزن کودك يا نوجوان بايد در هنگام پذيرش اندازه‌گيري و بر حسب کيلوگرم ثبت شود. ابزار اندازه‌گيري بايد خصوصيات زير را داشته باشد:</a:t>
            </a:r>
          </a:p>
          <a:p>
            <a:pPr algn="just" rtl="1">
              <a:lnSpc>
                <a:spcPct val="150000"/>
              </a:lnSpc>
              <a:buFont typeface="Wingdings" panose="05000000000000000000" pitchFamily="2" charset="2"/>
              <a:buChar char="ü"/>
            </a:pPr>
            <a:r>
              <a:rPr lang="fa-IR" sz="2400" b="1" dirty="0">
                <a:solidFill>
                  <a:schemeClr val="tx1"/>
                </a:solidFill>
                <a:latin typeface="Arial" pitchFamily="34" charset="0"/>
                <a:cs typeface="B Nazanin" panose="00000400000000000000" pitchFamily="2" charset="-78"/>
              </a:rPr>
              <a:t> محكم و با دوام</a:t>
            </a:r>
          </a:p>
          <a:p>
            <a:pPr algn="just" rtl="1">
              <a:lnSpc>
                <a:spcPct val="150000"/>
              </a:lnSpc>
              <a:buFont typeface="Wingdings" panose="05000000000000000000" pitchFamily="2" charset="2"/>
              <a:buChar char="ü"/>
            </a:pPr>
            <a:r>
              <a:rPr lang="fa-IR" sz="2400" b="1" dirty="0">
                <a:solidFill>
                  <a:schemeClr val="tx1"/>
                </a:solidFill>
                <a:latin typeface="Arial" pitchFamily="34" charset="0"/>
                <a:cs typeface="B Nazanin" panose="00000400000000000000" pitchFamily="2" charset="-78"/>
              </a:rPr>
              <a:t> الكترونيكي داراي دقت اندازه گيري در حد 0/1 کيلو گرم (100 گرم)</a:t>
            </a:r>
            <a:endParaRPr lang="en-US" sz="2400" b="1" dirty="0">
              <a:solidFill>
                <a:schemeClr val="tx1"/>
              </a:solidFill>
              <a:latin typeface="Arial" pitchFamily="34" charset="0"/>
              <a:cs typeface="B Nazanin" panose="00000400000000000000" pitchFamily="2" charset="-78"/>
            </a:endParaRPr>
          </a:p>
        </p:txBody>
      </p:sp>
      <p:sp>
        <p:nvSpPr>
          <p:cNvPr id="4" name="Slide Number Placeholder 3"/>
          <p:cNvSpPr>
            <a:spLocks noGrp="1"/>
          </p:cNvSpPr>
          <p:nvPr>
            <p:ph type="sldNum" sz="quarter" idx="12"/>
          </p:nvPr>
        </p:nvSpPr>
        <p:spPr/>
        <p:txBody>
          <a:bodyPr/>
          <a:lstStyle/>
          <a:p>
            <a:fld id="{2D8CB573-7144-4842-A8FD-250830F20887}" type="slidenum">
              <a:rPr lang="en-US" smtClean="0"/>
              <a:t>42</a:t>
            </a:fld>
            <a:endParaRPr lang="en-US"/>
          </a:p>
        </p:txBody>
      </p:sp>
    </p:spTree>
    <p:extLst>
      <p:ext uri="{BB962C8B-B14F-4D97-AF65-F5344CB8AC3E}">
        <p14:creationId xmlns:p14="http://schemas.microsoft.com/office/powerpoint/2010/main" val="381482642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r" rtl="1"/>
            <a:r>
              <a:rPr lang="fa-IR" sz="4000" dirty="0">
                <a:cs typeface="2  Titr" panose="00000700000000000000" pitchFamily="2" charset="-78"/>
              </a:rPr>
              <a:t>آمادگی برای توزین</a:t>
            </a:r>
            <a:endParaRPr lang="en-US" sz="4000" dirty="0">
              <a:cs typeface="2  Titr" panose="00000700000000000000" pitchFamily="2" charset="-78"/>
            </a:endParaRPr>
          </a:p>
        </p:txBody>
      </p:sp>
      <p:sp>
        <p:nvSpPr>
          <p:cNvPr id="3" name="Content Placeholder 2"/>
          <p:cNvSpPr>
            <a:spLocks noGrp="1"/>
          </p:cNvSpPr>
          <p:nvPr>
            <p:ph idx="1"/>
          </p:nvPr>
        </p:nvSpPr>
        <p:spPr>
          <a:xfrm>
            <a:off x="1143000" y="1715589"/>
            <a:ext cx="9872871" cy="5033554"/>
          </a:xfrm>
        </p:spPr>
        <p:txBody>
          <a:bodyPr>
            <a:noAutofit/>
          </a:bodyPr>
          <a:lstStyle/>
          <a:p>
            <a:pPr algn="just" rtl="1">
              <a:lnSpc>
                <a:spcPct val="150000"/>
              </a:lnSpc>
            </a:pPr>
            <a:r>
              <a:rPr lang="fa-IR" sz="2000" b="1" dirty="0">
                <a:solidFill>
                  <a:schemeClr val="tx1"/>
                </a:solidFill>
                <a:latin typeface="Arial" pitchFamily="34" charset="0"/>
                <a:cs typeface="B Nazanin" panose="00000400000000000000" pitchFamily="2" charset="-78"/>
              </a:rPr>
              <a:t>از همكار/ مادر بخواهيد کفش و لباس‌هاي کودك يا پوشک او را درآورد. توضيح دهيد که براي به دست آوردن وزن دقيق کودك، لازم است تا لباس‌هاي کودك، به جز زيرپوش وي درآورده شود. شيرخواران، بايد برهنه وزن شوند و براي گرم نگهداشتن، تا زمان وزن کردن در پتو پيچيده شوند. براي کودکان بزرگتر، بايد تمام لباس‌ها به جز لباس‌هاي زير، درآورده شوند.</a:t>
            </a:r>
          </a:p>
          <a:p>
            <a:pPr algn="just" rtl="1">
              <a:lnSpc>
                <a:spcPct val="150000"/>
              </a:lnSpc>
            </a:pPr>
            <a:r>
              <a:rPr lang="fa-IR" sz="2000" b="1" dirty="0">
                <a:solidFill>
                  <a:schemeClr val="tx1"/>
                </a:solidFill>
                <a:latin typeface="Arial" pitchFamily="34" charset="0"/>
                <a:cs typeface="B Nazanin" panose="00000400000000000000" pitchFamily="2" charset="-78"/>
              </a:rPr>
              <a:t>حتي الامكان، اتاق گرم باشد و اگر هوا سرد است يا کودك در مقابل درآوردن لباس مقاومت مي‌کند، مي‌توان کودك را با لباس وزن کرد اما وزن آن‌ها بايد از وزن کودك کم شود.</a:t>
            </a:r>
          </a:p>
          <a:p>
            <a:pPr algn="just" rtl="1">
              <a:lnSpc>
                <a:spcPct val="150000"/>
              </a:lnSpc>
            </a:pPr>
            <a:r>
              <a:rPr lang="fa-IR" sz="2000" b="1" dirty="0">
                <a:solidFill>
                  <a:schemeClr val="tx1"/>
                </a:solidFill>
                <a:latin typeface="Arial" pitchFamily="34" charset="0"/>
                <a:cs typeface="B Nazanin" panose="00000400000000000000" pitchFamily="2" charset="-78"/>
              </a:rPr>
              <a:t>اگر کودك وسايل زينتي مثل تِل يا کليپس بر سر دارد که با اندازه‌گيري قد او به روش ايستاده يا خوابيده تداخل دارد، براي جلوگيري از تأخير در اندازه‌گيري‌ها، قبل از وزن کردن کودك، در آورده شوند.</a:t>
            </a:r>
            <a:endParaRPr lang="en-US" sz="2000" b="1" dirty="0">
              <a:solidFill>
                <a:schemeClr val="tx1"/>
              </a:solidFill>
              <a:latin typeface="Arial" pitchFamily="34" charset="0"/>
              <a:cs typeface="B Nazanin" panose="00000400000000000000" pitchFamily="2" charset="-78"/>
            </a:endParaRPr>
          </a:p>
        </p:txBody>
      </p:sp>
      <p:sp>
        <p:nvSpPr>
          <p:cNvPr id="4" name="Slide Number Placeholder 3"/>
          <p:cNvSpPr>
            <a:spLocks noGrp="1"/>
          </p:cNvSpPr>
          <p:nvPr>
            <p:ph type="sldNum" sz="quarter" idx="12"/>
          </p:nvPr>
        </p:nvSpPr>
        <p:spPr/>
        <p:txBody>
          <a:bodyPr/>
          <a:lstStyle/>
          <a:p>
            <a:fld id="{2D8CB573-7144-4842-A8FD-250830F20887}" type="slidenum">
              <a:rPr lang="en-US" smtClean="0"/>
              <a:t>43</a:t>
            </a:fld>
            <a:endParaRPr lang="en-US"/>
          </a:p>
        </p:txBody>
      </p:sp>
    </p:spTree>
    <p:extLst>
      <p:ext uri="{BB962C8B-B14F-4D97-AF65-F5344CB8AC3E}">
        <p14:creationId xmlns:p14="http://schemas.microsoft.com/office/powerpoint/2010/main" val="331386355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r" rtl="1"/>
            <a:r>
              <a:rPr lang="fa-IR" sz="4000" dirty="0">
                <a:cs typeface="2  Titr" panose="00000700000000000000" pitchFamily="2" charset="-78"/>
              </a:rPr>
              <a:t>توزين کودک کوچکتر از 2 سال</a:t>
            </a:r>
            <a:endParaRPr lang="en-US" sz="4000" dirty="0">
              <a:cs typeface="2  Titr" panose="00000700000000000000" pitchFamily="2" charset="-78"/>
            </a:endParaRPr>
          </a:p>
        </p:txBody>
      </p:sp>
      <p:sp>
        <p:nvSpPr>
          <p:cNvPr id="3" name="Content Placeholder 2"/>
          <p:cNvSpPr>
            <a:spLocks noGrp="1"/>
          </p:cNvSpPr>
          <p:nvPr>
            <p:ph idx="1"/>
          </p:nvPr>
        </p:nvSpPr>
        <p:spPr>
          <a:xfrm>
            <a:off x="1143000" y="1715588"/>
            <a:ext cx="9872871" cy="4284617"/>
          </a:xfrm>
        </p:spPr>
        <p:txBody>
          <a:bodyPr>
            <a:noAutofit/>
          </a:bodyPr>
          <a:lstStyle/>
          <a:p>
            <a:pPr algn="just" rtl="1">
              <a:lnSpc>
                <a:spcPct val="150000"/>
              </a:lnSpc>
            </a:pPr>
            <a:r>
              <a:rPr lang="fa-IR" sz="2000" b="1" dirty="0">
                <a:solidFill>
                  <a:schemeClr val="tx1"/>
                </a:solidFill>
                <a:latin typeface="Arial" pitchFamily="34" charset="0"/>
                <a:cs typeface="B Nazanin" panose="00000400000000000000" pitchFamily="2" charset="-78"/>
              </a:rPr>
              <a:t>اندازه گيري وزن کودکان زير 2 سال با ترازوي مخصوص کودکان که به آن ترازوي کفه اي گفته مي‌شود، انجام مي‌شود.</a:t>
            </a:r>
          </a:p>
          <a:p>
            <a:pPr algn="just" rtl="1">
              <a:lnSpc>
                <a:spcPct val="150000"/>
              </a:lnSpc>
            </a:pPr>
            <a:r>
              <a:rPr lang="fa-IR" sz="2000" b="1" dirty="0">
                <a:solidFill>
                  <a:schemeClr val="tx1"/>
                </a:solidFill>
                <a:latin typeface="Arial" pitchFamily="34" charset="0"/>
                <a:cs typeface="B Nazanin" panose="00000400000000000000" pitchFamily="2" charset="-78"/>
              </a:rPr>
              <a:t>معمولاً اين نوع ترازو روي ميز قرار داده مي‌شود و داراي کفه‌اي است که مخصوص گذاشتن کودك بر روي آن است و بسته به سن، کودك به حالت خوابيده و يا نشسته روي کفه قرار مي‌گيرد. در قسمت جلوي ترازو، ميله مدرجي است که وزنه روي آن قابل حرکت است. با حرکت دادن وزنه به طرف چپ و راست تعادل را بدست آورده و وزن کودك را بخوانيد.</a:t>
            </a:r>
          </a:p>
          <a:p>
            <a:pPr algn="just" rtl="1">
              <a:lnSpc>
                <a:spcPct val="150000"/>
              </a:lnSpc>
            </a:pPr>
            <a:r>
              <a:rPr lang="fa-IR" sz="2000" b="1" dirty="0">
                <a:solidFill>
                  <a:schemeClr val="tx1"/>
                </a:solidFill>
                <a:latin typeface="Arial" pitchFamily="34" charset="0"/>
                <a:cs typeface="B Nazanin" panose="00000400000000000000" pitchFamily="2" charset="-78"/>
              </a:rPr>
              <a:t>ترازويي که براي شيرخوار به کار مي‌بريم، بايد براي او راحت بوده و قبل از هر بار وزن کردن تنظيم شود.</a:t>
            </a:r>
          </a:p>
          <a:p>
            <a:pPr algn="just" rtl="1">
              <a:lnSpc>
                <a:spcPct val="150000"/>
              </a:lnSpc>
            </a:pPr>
            <a:r>
              <a:rPr lang="fa-IR" sz="2000" b="1" dirty="0">
                <a:solidFill>
                  <a:schemeClr val="tx1"/>
                </a:solidFill>
                <a:latin typeface="Arial" pitchFamily="34" charset="0"/>
                <a:cs typeface="B Nazanin" panose="00000400000000000000" pitchFamily="2" charset="-78"/>
              </a:rPr>
              <a:t>اطمينان حاصل شود که ترازو درست کار مي‌کند. حداقل در ابتداي هر شيفت و يكبار ديگر در طول روز ترازو با وزنه شاهد 500 گرمي کنترل شود. هميشه، قبل از توزين کودك ترازو صفر شود.</a:t>
            </a:r>
          </a:p>
        </p:txBody>
      </p:sp>
      <p:sp>
        <p:nvSpPr>
          <p:cNvPr id="4" name="Slide Number Placeholder 3"/>
          <p:cNvSpPr>
            <a:spLocks noGrp="1"/>
          </p:cNvSpPr>
          <p:nvPr>
            <p:ph type="sldNum" sz="quarter" idx="12"/>
          </p:nvPr>
        </p:nvSpPr>
        <p:spPr/>
        <p:txBody>
          <a:bodyPr/>
          <a:lstStyle/>
          <a:p>
            <a:fld id="{2D8CB573-7144-4842-A8FD-250830F20887}" type="slidenum">
              <a:rPr lang="en-US" smtClean="0"/>
              <a:t>44</a:t>
            </a:fld>
            <a:endParaRPr lang="en-US"/>
          </a:p>
        </p:txBody>
      </p:sp>
    </p:spTree>
    <p:extLst>
      <p:ext uri="{BB962C8B-B14F-4D97-AF65-F5344CB8AC3E}">
        <p14:creationId xmlns:p14="http://schemas.microsoft.com/office/powerpoint/2010/main" val="175840533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r" rtl="1"/>
            <a:r>
              <a:rPr lang="fa-IR" sz="4000" dirty="0">
                <a:cs typeface="2  Titr" panose="00000700000000000000" pitchFamily="2" charset="-78"/>
              </a:rPr>
              <a:t>ادامه‌ی</a:t>
            </a:r>
            <a:r>
              <a:rPr lang="fa-IR" sz="4000" dirty="0"/>
              <a:t> </a:t>
            </a:r>
            <a:r>
              <a:rPr lang="fa-IR" sz="4000" dirty="0">
                <a:cs typeface="2  Titr" panose="00000700000000000000" pitchFamily="2" charset="-78"/>
              </a:rPr>
              <a:t>توزين کودک کوچکتر از 2 سال...</a:t>
            </a:r>
            <a:endParaRPr lang="en-US" sz="4000" dirty="0"/>
          </a:p>
        </p:txBody>
      </p:sp>
      <p:sp>
        <p:nvSpPr>
          <p:cNvPr id="3" name="Content Placeholder 2"/>
          <p:cNvSpPr>
            <a:spLocks noGrp="1"/>
          </p:cNvSpPr>
          <p:nvPr>
            <p:ph idx="1"/>
          </p:nvPr>
        </p:nvSpPr>
        <p:spPr>
          <a:xfrm>
            <a:off x="1143000" y="1822268"/>
            <a:ext cx="9872871" cy="4401560"/>
          </a:xfrm>
        </p:spPr>
        <p:txBody>
          <a:bodyPr>
            <a:normAutofit fontScale="92500" lnSpcReduction="20000"/>
          </a:bodyPr>
          <a:lstStyle/>
          <a:p>
            <a:pPr algn="just" rtl="1">
              <a:lnSpc>
                <a:spcPct val="150000"/>
              </a:lnSpc>
            </a:pPr>
            <a:r>
              <a:rPr lang="fa-IR" sz="2000" b="1" dirty="0">
                <a:solidFill>
                  <a:schemeClr val="tx1"/>
                </a:solidFill>
                <a:latin typeface="Arial" pitchFamily="34" charset="0"/>
                <a:cs typeface="B Nazanin" panose="00000400000000000000" pitchFamily="2" charset="-78"/>
              </a:rPr>
              <a:t>روي ترازوي کفه‌اي، پارچه‌ي گرم انداخته شود تا از سرما، گريه و ناراحتي شيرخوار پيشگيري شود.</a:t>
            </a:r>
          </a:p>
          <a:p>
            <a:pPr algn="just" rtl="1">
              <a:lnSpc>
                <a:spcPct val="150000"/>
              </a:lnSpc>
            </a:pPr>
            <a:r>
              <a:rPr lang="fa-IR" sz="2000" b="1" dirty="0">
                <a:solidFill>
                  <a:schemeClr val="tx1"/>
                </a:solidFill>
                <a:latin typeface="Arial" pitchFamily="34" charset="0"/>
                <a:cs typeface="B Nazanin" panose="00000400000000000000" pitchFamily="2" charset="-78"/>
              </a:rPr>
              <a:t> از مادر بخواهيد تا کودك را به دقت و با ملايمت بر روي ترازو قرار دهد .</a:t>
            </a:r>
          </a:p>
          <a:p>
            <a:pPr algn="just" rtl="1">
              <a:lnSpc>
                <a:spcPct val="150000"/>
              </a:lnSpc>
            </a:pPr>
            <a:r>
              <a:rPr lang="fa-IR" sz="2000" b="1" dirty="0">
                <a:solidFill>
                  <a:schemeClr val="tx1"/>
                </a:solidFill>
                <a:latin typeface="Arial" pitchFamily="34" charset="0"/>
                <a:cs typeface="B Nazanin" panose="00000400000000000000" pitchFamily="2" charset="-78"/>
              </a:rPr>
              <a:t>شيرخوار بزرگتر از 7 - 8 ماه را مي‌توان در وضعيت نشسته وزن کرد.</a:t>
            </a:r>
          </a:p>
          <a:p>
            <a:pPr algn="just" rtl="1">
              <a:lnSpc>
                <a:spcPct val="150000"/>
              </a:lnSpc>
            </a:pPr>
            <a:r>
              <a:rPr lang="fa-IR" sz="2000" b="1" dirty="0">
                <a:solidFill>
                  <a:schemeClr val="tx1"/>
                </a:solidFill>
                <a:latin typeface="Arial" pitchFamily="34" charset="0"/>
                <a:cs typeface="B Nazanin" panose="00000400000000000000" pitchFamily="2" charset="-78"/>
              </a:rPr>
              <a:t>براي اطمينان از صحت توزين بايد در لحظه‌اي که شيرخوار آرام است وزن کودك خوانده شود. براي اينکار، مي‌توان با اسباب بازي يا بازي با وي توجه او را جلب کرد و يا به مادر اجازه داد که وقتي کودك بر روي ترازوي مخصوص توزين شيرخوار (ترازوي کفه اي) قرار دارد نزديک کودك باشد تا کودك آرام و ساکت باشد و شما آماده‌ي خواندن وزن کودك شويد.</a:t>
            </a:r>
          </a:p>
          <a:p>
            <a:pPr algn="just" rtl="1">
              <a:lnSpc>
                <a:spcPct val="150000"/>
              </a:lnSpc>
            </a:pPr>
            <a:r>
              <a:rPr lang="fa-IR" sz="2000" b="1" dirty="0">
                <a:solidFill>
                  <a:schemeClr val="tx1"/>
                </a:solidFill>
                <a:latin typeface="Arial" pitchFamily="34" charset="0"/>
                <a:cs typeface="B Nazanin" panose="00000400000000000000" pitchFamily="2" charset="-78"/>
              </a:rPr>
              <a:t>تكرار توزين، ضريب اعتماد را بالا مي‌برد.</a:t>
            </a:r>
          </a:p>
          <a:p>
            <a:pPr algn="just" rtl="1">
              <a:lnSpc>
                <a:spcPct val="150000"/>
              </a:lnSpc>
            </a:pPr>
            <a:r>
              <a:rPr lang="fa-IR" sz="2000" b="1" dirty="0">
                <a:solidFill>
                  <a:schemeClr val="tx1"/>
                </a:solidFill>
                <a:latin typeface="Arial" pitchFamily="34" charset="0"/>
                <a:cs typeface="B Nazanin" panose="00000400000000000000" pitchFamily="2" charset="-78"/>
              </a:rPr>
              <a:t>عدد درج شده را به درستي و با دقت بخوانيد و وزن کودك را ثبت کنيد.</a:t>
            </a:r>
            <a:endParaRPr lang="en-US" sz="2000" b="1" dirty="0">
              <a:solidFill>
                <a:schemeClr val="tx1"/>
              </a:solidFill>
              <a:latin typeface="Arial" pitchFamily="34" charset="0"/>
              <a:cs typeface="B Nazanin" panose="00000400000000000000" pitchFamily="2" charset="-78"/>
            </a:endParaRPr>
          </a:p>
        </p:txBody>
      </p:sp>
      <p:sp>
        <p:nvSpPr>
          <p:cNvPr id="4" name="Slide Number Placeholder 3"/>
          <p:cNvSpPr>
            <a:spLocks noGrp="1"/>
          </p:cNvSpPr>
          <p:nvPr>
            <p:ph type="sldNum" sz="quarter" idx="12"/>
          </p:nvPr>
        </p:nvSpPr>
        <p:spPr/>
        <p:txBody>
          <a:bodyPr/>
          <a:lstStyle/>
          <a:p>
            <a:fld id="{2D8CB573-7144-4842-A8FD-250830F20887}" type="slidenum">
              <a:rPr lang="en-US" smtClean="0"/>
              <a:t>45</a:t>
            </a:fld>
            <a:endParaRPr lang="en-US"/>
          </a:p>
        </p:txBody>
      </p:sp>
    </p:spTree>
    <p:extLst>
      <p:ext uri="{BB962C8B-B14F-4D97-AF65-F5344CB8AC3E}">
        <p14:creationId xmlns:p14="http://schemas.microsoft.com/office/powerpoint/2010/main" val="302277736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2D8CB573-7144-4842-A8FD-250830F20887}" type="slidenum">
              <a:rPr lang="en-US" smtClean="0"/>
              <a:t>46</a:t>
            </a:fld>
            <a:endParaRPr lang="en-US"/>
          </a:p>
        </p:txBody>
      </p:sp>
      <p:pic>
        <p:nvPicPr>
          <p:cNvPr id="5" name="Picture 4"/>
          <p:cNvPicPr>
            <a:picLocks noChangeAspect="1"/>
          </p:cNvPicPr>
          <p:nvPr/>
        </p:nvPicPr>
        <p:blipFill>
          <a:blip r:embed="rId2"/>
          <a:stretch>
            <a:fillRect/>
          </a:stretch>
        </p:blipFill>
        <p:spPr>
          <a:xfrm>
            <a:off x="689067" y="689935"/>
            <a:ext cx="4553494" cy="2276747"/>
          </a:xfrm>
          <a:prstGeom prst="rect">
            <a:avLst/>
          </a:prstGeom>
        </p:spPr>
      </p:pic>
      <p:pic>
        <p:nvPicPr>
          <p:cNvPr id="6" name="Picture 5"/>
          <p:cNvPicPr>
            <a:picLocks noChangeAspect="1"/>
          </p:cNvPicPr>
          <p:nvPr/>
        </p:nvPicPr>
        <p:blipFill>
          <a:blip r:embed="rId3"/>
          <a:stretch>
            <a:fillRect/>
          </a:stretch>
        </p:blipFill>
        <p:spPr>
          <a:xfrm>
            <a:off x="1296598" y="3067959"/>
            <a:ext cx="3338431" cy="3338431"/>
          </a:xfrm>
          <a:prstGeom prst="rect">
            <a:avLst/>
          </a:prstGeom>
        </p:spPr>
      </p:pic>
      <p:pic>
        <p:nvPicPr>
          <p:cNvPr id="7" name="Picture 6"/>
          <p:cNvPicPr>
            <a:picLocks noChangeAspect="1"/>
          </p:cNvPicPr>
          <p:nvPr/>
        </p:nvPicPr>
        <p:blipFill rotWithShape="1">
          <a:blip r:embed="rId4"/>
          <a:srcRect b="9973"/>
          <a:stretch/>
        </p:blipFill>
        <p:spPr>
          <a:xfrm>
            <a:off x="6344476" y="689935"/>
            <a:ext cx="4140643" cy="2795780"/>
          </a:xfrm>
          <a:prstGeom prst="rect">
            <a:avLst/>
          </a:prstGeom>
        </p:spPr>
      </p:pic>
      <p:pic>
        <p:nvPicPr>
          <p:cNvPr id="8" name="Picture 7"/>
          <p:cNvPicPr>
            <a:picLocks noChangeAspect="1"/>
          </p:cNvPicPr>
          <p:nvPr/>
        </p:nvPicPr>
        <p:blipFill>
          <a:blip r:embed="rId5"/>
          <a:stretch>
            <a:fillRect/>
          </a:stretch>
        </p:blipFill>
        <p:spPr>
          <a:xfrm>
            <a:off x="6179211" y="3752008"/>
            <a:ext cx="4471172" cy="2559257"/>
          </a:xfrm>
          <a:prstGeom prst="rect">
            <a:avLst/>
          </a:prstGeom>
        </p:spPr>
      </p:pic>
    </p:spTree>
    <p:extLst>
      <p:ext uri="{BB962C8B-B14F-4D97-AF65-F5344CB8AC3E}">
        <p14:creationId xmlns:p14="http://schemas.microsoft.com/office/powerpoint/2010/main" val="358770992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pPr algn="r" rtl="1"/>
            <a:r>
              <a:rPr lang="fa-IR" sz="4000" dirty="0">
                <a:cs typeface="2  Titr" panose="00000700000000000000" pitchFamily="2" charset="-78"/>
              </a:rPr>
              <a:t>توزين </a:t>
            </a:r>
            <a:r>
              <a:rPr lang="fa-IR" sz="4000">
                <a:cs typeface="2  Titr" panose="00000700000000000000" pitchFamily="2" charset="-78"/>
              </a:rPr>
              <a:t>کودک بزرگتر </a:t>
            </a:r>
            <a:r>
              <a:rPr lang="fa-IR" sz="4000" dirty="0">
                <a:cs typeface="2  Titr" panose="00000700000000000000" pitchFamily="2" charset="-78"/>
              </a:rPr>
              <a:t>از 2 سال</a:t>
            </a:r>
            <a:endParaRPr lang="en-US" sz="4000" dirty="0">
              <a:cs typeface="2  Titr" panose="00000700000000000000" pitchFamily="2" charset="-78"/>
            </a:endParaRPr>
          </a:p>
        </p:txBody>
      </p:sp>
      <p:sp>
        <p:nvSpPr>
          <p:cNvPr id="4" name="Content Placeholder 3"/>
          <p:cNvSpPr>
            <a:spLocks noGrp="1"/>
          </p:cNvSpPr>
          <p:nvPr>
            <p:ph idx="1"/>
          </p:nvPr>
        </p:nvSpPr>
        <p:spPr>
          <a:xfrm>
            <a:off x="1143000" y="1837509"/>
            <a:ext cx="9872871" cy="4386319"/>
          </a:xfrm>
        </p:spPr>
        <p:txBody>
          <a:bodyPr>
            <a:normAutofit lnSpcReduction="10000"/>
          </a:bodyPr>
          <a:lstStyle/>
          <a:p>
            <a:pPr algn="just" rtl="1">
              <a:lnSpc>
                <a:spcPct val="150000"/>
              </a:lnSpc>
            </a:pPr>
            <a:r>
              <a:rPr lang="fa-IR" sz="2100" b="1" dirty="0">
                <a:solidFill>
                  <a:schemeClr val="tx1"/>
                </a:solidFill>
                <a:latin typeface="Arial" pitchFamily="34" charset="0"/>
                <a:cs typeface="B Nazanin" panose="00000400000000000000" pitchFamily="2" charset="-78"/>
              </a:rPr>
              <a:t>اندازه‌گيري وزن کودکان بزرگتر از 2 سال با ترازوي سيار و يا ترازوي شاهين‌دار انجام مي‌شود که بايد بر روي سطح صاف گذاشته شود و کودك بدون کفش به حالت ايستاده روي ترازو قرار گيرد. اين کودکان مي‌توانند بايستند و شما مي‌توانيد آن‌ها را به تنهايي وزن کنيد.</a:t>
            </a:r>
          </a:p>
          <a:p>
            <a:pPr algn="just" rtl="1">
              <a:lnSpc>
                <a:spcPct val="150000"/>
              </a:lnSpc>
            </a:pPr>
            <a:r>
              <a:rPr lang="fa-IR" sz="2100" b="1" dirty="0">
                <a:solidFill>
                  <a:schemeClr val="tx1"/>
                </a:solidFill>
                <a:latin typeface="Arial" pitchFamily="34" charset="0"/>
                <a:cs typeface="B Nazanin" panose="00000400000000000000" pitchFamily="2" charset="-78"/>
              </a:rPr>
              <a:t>از مادر بخواهيد که در درآوردن کفش و لباس به کودك کمک کند.</a:t>
            </a:r>
          </a:p>
          <a:p>
            <a:pPr algn="just" rtl="1">
              <a:lnSpc>
                <a:spcPct val="150000"/>
              </a:lnSpc>
            </a:pPr>
            <a:r>
              <a:rPr lang="fa-IR" sz="2100" b="1" dirty="0">
                <a:solidFill>
                  <a:schemeClr val="tx1"/>
                </a:solidFill>
                <a:latin typeface="Arial" pitchFamily="34" charset="0"/>
                <a:cs typeface="B Nazanin" panose="00000400000000000000" pitchFamily="2" charset="-78"/>
              </a:rPr>
              <a:t>توجه به تنظيم بودن ترازو و دقيق بودن آن ضروري است. در طول روز چندين بار ترازو را با وزنه شاهد 2000 گرمي کنترل کنيد.</a:t>
            </a:r>
          </a:p>
          <a:p>
            <a:pPr algn="just" rtl="1">
              <a:lnSpc>
                <a:spcPct val="150000"/>
              </a:lnSpc>
            </a:pPr>
            <a:r>
              <a:rPr lang="fa-IR" sz="2100" b="1" dirty="0">
                <a:solidFill>
                  <a:schemeClr val="tx1"/>
                </a:solidFill>
                <a:latin typeface="Arial" pitchFamily="34" charset="0"/>
                <a:cs typeface="B Nazanin" panose="00000400000000000000" pitchFamily="2" charset="-78"/>
              </a:rPr>
              <a:t>از کودك بخواهيد در وسط ترازو بايستد.</a:t>
            </a:r>
          </a:p>
          <a:p>
            <a:pPr algn="just" rtl="1">
              <a:lnSpc>
                <a:spcPct val="150000"/>
              </a:lnSpc>
            </a:pPr>
            <a:r>
              <a:rPr lang="fa-IR" sz="2100" b="1" dirty="0">
                <a:solidFill>
                  <a:schemeClr val="tx1"/>
                </a:solidFill>
                <a:latin typeface="Arial" pitchFamily="34" charset="0"/>
                <a:cs typeface="B Nazanin" panose="00000400000000000000" pitchFamily="2" charset="-78"/>
              </a:rPr>
              <a:t>عدد درج شده وزن کودك را به درستي و با دقت و با صداي بلند بخوانيد و آن را ثبت کنيد.</a:t>
            </a:r>
            <a:endParaRPr lang="en-US" sz="2100" b="1" dirty="0">
              <a:solidFill>
                <a:schemeClr val="tx1"/>
              </a:solidFill>
              <a:latin typeface="Arial" pitchFamily="34" charset="0"/>
              <a:cs typeface="B Nazanin" panose="00000400000000000000" pitchFamily="2" charset="-78"/>
            </a:endParaRPr>
          </a:p>
        </p:txBody>
      </p:sp>
      <p:sp>
        <p:nvSpPr>
          <p:cNvPr id="2" name="Slide Number Placeholder 1"/>
          <p:cNvSpPr>
            <a:spLocks noGrp="1"/>
          </p:cNvSpPr>
          <p:nvPr>
            <p:ph type="sldNum" sz="quarter" idx="12"/>
          </p:nvPr>
        </p:nvSpPr>
        <p:spPr/>
        <p:txBody>
          <a:bodyPr/>
          <a:lstStyle/>
          <a:p>
            <a:fld id="{2D8CB573-7144-4842-A8FD-250830F20887}" type="slidenum">
              <a:rPr lang="en-US" smtClean="0"/>
              <a:t>47</a:t>
            </a:fld>
            <a:endParaRPr lang="en-US"/>
          </a:p>
        </p:txBody>
      </p:sp>
    </p:spTree>
    <p:extLst>
      <p:ext uri="{BB962C8B-B14F-4D97-AF65-F5344CB8AC3E}">
        <p14:creationId xmlns:p14="http://schemas.microsoft.com/office/powerpoint/2010/main" val="22581859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2D8CB573-7144-4842-A8FD-250830F20887}" type="slidenum">
              <a:rPr lang="en-US" smtClean="0"/>
              <a:t>48</a:t>
            </a:fld>
            <a:endParaRPr lang="en-US"/>
          </a:p>
        </p:txBody>
      </p:sp>
      <p:pic>
        <p:nvPicPr>
          <p:cNvPr id="5" name="Picture 4"/>
          <p:cNvPicPr>
            <a:picLocks noChangeAspect="1"/>
          </p:cNvPicPr>
          <p:nvPr/>
        </p:nvPicPr>
        <p:blipFill rotWithShape="1">
          <a:blip r:embed="rId2"/>
          <a:srcRect b="7648"/>
          <a:stretch/>
        </p:blipFill>
        <p:spPr>
          <a:xfrm>
            <a:off x="2584706" y="1368106"/>
            <a:ext cx="6576712" cy="3796076"/>
          </a:xfrm>
          <a:prstGeom prst="rect">
            <a:avLst/>
          </a:prstGeom>
        </p:spPr>
      </p:pic>
    </p:spTree>
    <p:extLst>
      <p:ext uri="{BB962C8B-B14F-4D97-AF65-F5344CB8AC3E}">
        <p14:creationId xmlns:p14="http://schemas.microsoft.com/office/powerpoint/2010/main" val="92330110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r" rtl="1"/>
            <a:r>
              <a:rPr lang="fa-IR" sz="4000" dirty="0">
                <a:cs typeface="2  Titr" panose="00000700000000000000" pitchFamily="2" charset="-78"/>
              </a:rPr>
              <a:t>روش توزين کودکان زير دو سال همراه با مادر</a:t>
            </a:r>
            <a:endParaRPr lang="en-US" sz="4000" dirty="0">
              <a:cs typeface="2  Titr" panose="00000700000000000000" pitchFamily="2" charset="-78"/>
            </a:endParaRPr>
          </a:p>
        </p:txBody>
      </p:sp>
      <p:sp>
        <p:nvSpPr>
          <p:cNvPr id="3" name="Content Placeholder 2"/>
          <p:cNvSpPr>
            <a:spLocks noGrp="1"/>
          </p:cNvSpPr>
          <p:nvPr>
            <p:ph idx="1"/>
          </p:nvPr>
        </p:nvSpPr>
        <p:spPr>
          <a:xfrm>
            <a:off x="1143000" y="1872343"/>
            <a:ext cx="9872871" cy="4415246"/>
          </a:xfrm>
        </p:spPr>
        <p:txBody>
          <a:bodyPr>
            <a:noAutofit/>
          </a:bodyPr>
          <a:lstStyle/>
          <a:p>
            <a:pPr algn="just" rtl="1"/>
            <a:r>
              <a:rPr lang="fa-IR" sz="1900" b="1" dirty="0">
                <a:solidFill>
                  <a:schemeClr val="tx1"/>
                </a:solidFill>
                <a:latin typeface="Arial" pitchFamily="34" charset="0"/>
                <a:cs typeface="B Nazanin" panose="00000400000000000000" pitchFamily="2" charset="-78"/>
              </a:rPr>
              <a:t>لباس هاي کودك به جز زير پوش او را درآورده تا وزن صحيح او به دست آيد.</a:t>
            </a:r>
          </a:p>
          <a:p>
            <a:pPr algn="just" rtl="1"/>
            <a:r>
              <a:rPr lang="fa-IR" sz="1900" b="1" dirty="0">
                <a:solidFill>
                  <a:schemeClr val="tx1"/>
                </a:solidFill>
                <a:latin typeface="Arial" pitchFamily="34" charset="0"/>
                <a:cs typeface="B Nazanin" panose="00000400000000000000" pitchFamily="2" charset="-78"/>
              </a:rPr>
              <a:t>شيرخواران بايد برهنه وزن شوند. براي گرم نگهداشتن، آنان را تا زمان وزن کردن در پتو بپيچيد.</a:t>
            </a:r>
          </a:p>
          <a:p>
            <a:pPr algn="just" rtl="1"/>
            <a:r>
              <a:rPr lang="fa-IR" sz="1900" b="1" dirty="0">
                <a:solidFill>
                  <a:schemeClr val="tx1"/>
                </a:solidFill>
                <a:latin typeface="Arial" pitchFamily="34" charset="0"/>
                <a:cs typeface="B Nazanin" panose="00000400000000000000" pitchFamily="2" charset="-78"/>
              </a:rPr>
              <a:t>براي کودکان بزرگ تر، بايد تمام لباس‌ها به جز لباس‌هاي زير درآورده شوند.</a:t>
            </a:r>
          </a:p>
          <a:p>
            <a:pPr algn="just" rtl="1"/>
            <a:r>
              <a:rPr lang="fa-IR" sz="1900" b="1" dirty="0">
                <a:solidFill>
                  <a:schemeClr val="tx1"/>
                </a:solidFill>
                <a:latin typeface="Arial" pitchFamily="34" charset="0"/>
                <a:cs typeface="B Nazanin" panose="00000400000000000000" pitchFamily="2" charset="-78"/>
              </a:rPr>
              <a:t>مطمئن شويد که ترازو بر سطح صافي قرار دارد.</a:t>
            </a:r>
          </a:p>
          <a:p>
            <a:pPr algn="just" rtl="1"/>
            <a:r>
              <a:rPr lang="fa-IR" sz="1900" b="1" dirty="0">
                <a:solidFill>
                  <a:schemeClr val="tx1"/>
                </a:solidFill>
                <a:latin typeface="Arial" pitchFamily="34" charset="0"/>
                <a:cs typeface="B Nazanin" panose="00000400000000000000" pitchFamily="2" charset="-78"/>
              </a:rPr>
              <a:t>در ترازو هاي نوري بايد نور کافي در محيط باشد.</a:t>
            </a:r>
          </a:p>
          <a:p>
            <a:pPr algn="just" rtl="1"/>
            <a:r>
              <a:rPr lang="fa-IR" sz="1900" b="1" dirty="0">
                <a:solidFill>
                  <a:schemeClr val="tx1"/>
                </a:solidFill>
                <a:latin typeface="Arial" pitchFamily="34" charset="0"/>
                <a:cs typeface="B Nazanin" panose="00000400000000000000" pitchFamily="2" charset="-78"/>
              </a:rPr>
              <a:t>براي به کار انداختن ترازوي نوري، صفحه نوري آن را براي يک ثانيه بپوشانيد. وقتي که اعداد 0.0 نمايان شد، ترازوآماده است.</a:t>
            </a:r>
          </a:p>
          <a:p>
            <a:pPr algn="just" rtl="1"/>
            <a:r>
              <a:rPr lang="fa-IR" sz="1900" b="1" dirty="0">
                <a:solidFill>
                  <a:schemeClr val="tx1"/>
                </a:solidFill>
                <a:latin typeface="Arial" pitchFamily="34" charset="0"/>
                <a:cs typeface="B Nazanin" panose="00000400000000000000" pitchFamily="2" charset="-78"/>
              </a:rPr>
              <a:t>مادر بايد کفش‌هاي خود را درآورد.</a:t>
            </a:r>
          </a:p>
          <a:p>
            <a:pPr algn="just" rtl="1"/>
            <a:r>
              <a:rPr lang="fa-IR" sz="1900" b="1" dirty="0">
                <a:solidFill>
                  <a:schemeClr val="tx1"/>
                </a:solidFill>
                <a:latin typeface="Arial" pitchFamily="34" charset="0"/>
                <a:cs typeface="B Nazanin" panose="00000400000000000000" pitchFamily="2" charset="-78"/>
              </a:rPr>
              <a:t>کودك برهنه پيچيده شده در پتو نگهداشته شود.</a:t>
            </a:r>
          </a:p>
          <a:p>
            <a:pPr algn="just" rtl="1"/>
            <a:r>
              <a:rPr lang="fa-IR" sz="1900" b="1" dirty="0">
                <a:solidFill>
                  <a:schemeClr val="tx1"/>
                </a:solidFill>
                <a:latin typeface="Arial" pitchFamily="34" charset="0"/>
                <a:cs typeface="B Nazanin" panose="00000400000000000000" pitchFamily="2" charset="-78"/>
              </a:rPr>
              <a:t>مادر در وسط ترازو و برجاي مشخص شده قرار گيرد.</a:t>
            </a:r>
            <a:endParaRPr lang="en-US" sz="1900" b="1" dirty="0">
              <a:solidFill>
                <a:schemeClr val="tx1"/>
              </a:solidFill>
              <a:latin typeface="Arial" pitchFamily="34" charset="0"/>
              <a:cs typeface="B Nazanin" panose="00000400000000000000" pitchFamily="2" charset="-78"/>
            </a:endParaRPr>
          </a:p>
        </p:txBody>
      </p:sp>
      <p:sp>
        <p:nvSpPr>
          <p:cNvPr id="4" name="Slide Number Placeholder 3"/>
          <p:cNvSpPr>
            <a:spLocks noGrp="1"/>
          </p:cNvSpPr>
          <p:nvPr>
            <p:ph type="sldNum" sz="quarter" idx="12"/>
          </p:nvPr>
        </p:nvSpPr>
        <p:spPr/>
        <p:txBody>
          <a:bodyPr/>
          <a:lstStyle/>
          <a:p>
            <a:fld id="{2D8CB573-7144-4842-A8FD-250830F20887}" type="slidenum">
              <a:rPr lang="en-US" smtClean="0"/>
              <a:t>49</a:t>
            </a:fld>
            <a:endParaRPr lang="en-US"/>
          </a:p>
        </p:txBody>
      </p:sp>
    </p:spTree>
    <p:extLst>
      <p:ext uri="{BB962C8B-B14F-4D97-AF65-F5344CB8AC3E}">
        <p14:creationId xmlns:p14="http://schemas.microsoft.com/office/powerpoint/2010/main" val="283486379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60227" y="452846"/>
            <a:ext cx="9875520" cy="1356360"/>
          </a:xfrm>
        </p:spPr>
        <p:txBody>
          <a:bodyPr/>
          <a:lstStyle/>
          <a:p>
            <a:pPr algn="r" rtl="1"/>
            <a:r>
              <a:rPr lang="fa-IR" sz="4000" dirty="0">
                <a:cs typeface="2  Titr" panose="00000700000000000000" pitchFamily="2" charset="-78"/>
              </a:rPr>
              <a:t>اندازه</a:t>
            </a:r>
            <a:r>
              <a:rPr lang="fa-IR" dirty="0"/>
              <a:t>‌</a:t>
            </a:r>
            <a:r>
              <a:rPr lang="fa-IR" sz="4000" dirty="0">
                <a:cs typeface="2  Titr" panose="00000700000000000000" pitchFamily="2" charset="-78"/>
              </a:rPr>
              <a:t>گیري قد کودکان و نوجوانان</a:t>
            </a:r>
            <a:endParaRPr lang="en-US" sz="4000" dirty="0">
              <a:cs typeface="2  Titr" panose="00000700000000000000" pitchFamily="2" charset="-78"/>
            </a:endParaRPr>
          </a:p>
        </p:txBody>
      </p:sp>
      <p:sp>
        <p:nvSpPr>
          <p:cNvPr id="3" name="Content Placeholder 2"/>
          <p:cNvSpPr>
            <a:spLocks noGrp="1"/>
          </p:cNvSpPr>
          <p:nvPr>
            <p:ph idx="1"/>
          </p:nvPr>
        </p:nvSpPr>
        <p:spPr>
          <a:xfrm>
            <a:off x="1143000" y="1809206"/>
            <a:ext cx="9872871" cy="4130040"/>
          </a:xfrm>
        </p:spPr>
        <p:txBody>
          <a:bodyPr>
            <a:noAutofit/>
          </a:bodyPr>
          <a:lstStyle/>
          <a:p>
            <a:pPr algn="just" rtl="1">
              <a:lnSpc>
                <a:spcPct val="150000"/>
              </a:lnSpc>
            </a:pPr>
            <a:r>
              <a:rPr lang="fa-IR" sz="1900" b="1" dirty="0">
                <a:solidFill>
                  <a:schemeClr val="tx1"/>
                </a:solidFill>
                <a:latin typeface="Arial" pitchFamily="34" charset="0"/>
                <a:cs typeface="B Nazanin" panose="00000400000000000000" pitchFamily="2" charset="-78"/>
              </a:rPr>
              <a:t>قد (سانتیمتر): قد کودك يا نوجوان بايد در هنگام پذيرش اندازه‌گيري و بر حسب سانتيمتر ثبت شود.</a:t>
            </a:r>
          </a:p>
          <a:p>
            <a:pPr algn="just" rtl="1">
              <a:lnSpc>
                <a:spcPct val="150000"/>
              </a:lnSpc>
            </a:pPr>
            <a:r>
              <a:rPr lang="fa-IR" sz="1900" b="1" dirty="0">
                <a:solidFill>
                  <a:schemeClr val="tx1"/>
                </a:solidFill>
                <a:latin typeface="Arial" pitchFamily="34" charset="0"/>
                <a:cs typeface="B Nazanin" panose="00000400000000000000" pitchFamily="2" charset="-78"/>
              </a:rPr>
              <a:t>بسته به سن و توانايي کودك در ايستادن، قد خوابيده</a:t>
            </a:r>
            <a:r>
              <a:rPr lang="en-US" sz="1900" b="1" dirty="0">
                <a:solidFill>
                  <a:schemeClr val="tx1"/>
                </a:solidFill>
                <a:latin typeface="Arial" pitchFamily="34" charset="0"/>
                <a:cs typeface="B Nazanin" panose="00000400000000000000" pitchFamily="2" charset="-78"/>
              </a:rPr>
              <a:t>Length </a:t>
            </a:r>
            <a:r>
              <a:rPr lang="fa-IR" sz="1900" b="1" dirty="0">
                <a:solidFill>
                  <a:schemeClr val="tx1"/>
                </a:solidFill>
                <a:latin typeface="Arial" pitchFamily="34" charset="0"/>
                <a:cs typeface="B Nazanin" panose="00000400000000000000" pitchFamily="2" charset="-78"/>
              </a:rPr>
              <a:t> يا قد ايستاده </a:t>
            </a:r>
            <a:r>
              <a:rPr lang="en-US" sz="1900" b="1" dirty="0">
                <a:solidFill>
                  <a:schemeClr val="tx1"/>
                </a:solidFill>
                <a:latin typeface="Arial" pitchFamily="34" charset="0"/>
                <a:cs typeface="B Nazanin" panose="00000400000000000000" pitchFamily="2" charset="-78"/>
              </a:rPr>
              <a:t>Height</a:t>
            </a:r>
            <a:r>
              <a:rPr lang="fa-IR" sz="1900" b="1" dirty="0">
                <a:solidFill>
                  <a:schemeClr val="tx1"/>
                </a:solidFill>
                <a:latin typeface="Arial" pitchFamily="34" charset="0"/>
                <a:cs typeface="B Nazanin" panose="00000400000000000000" pitchFamily="2" charset="-78"/>
              </a:rPr>
              <a:t> کودك را اندازه‌گيري کنيد.</a:t>
            </a:r>
          </a:p>
          <a:p>
            <a:pPr algn="just" rtl="1">
              <a:lnSpc>
                <a:spcPct val="150000"/>
              </a:lnSpc>
            </a:pPr>
            <a:r>
              <a:rPr lang="fa-IR" sz="1900" b="1" dirty="0">
                <a:solidFill>
                  <a:schemeClr val="tx1"/>
                </a:solidFill>
                <a:latin typeface="Arial" pitchFamily="34" charset="0"/>
                <a:cs typeface="B Nazanin" panose="00000400000000000000" pitchFamily="2" charset="-78"/>
              </a:rPr>
              <a:t>اگر کودك کمتر از 2 سال دارد، قد خوابيده و اگر 2 سال يا بيشتر دارد و قادر به ايستادن است، قد ايستاده‌اش را اندازه بگيريد.</a:t>
            </a:r>
          </a:p>
          <a:p>
            <a:pPr algn="just" rtl="1">
              <a:lnSpc>
                <a:spcPct val="150000"/>
              </a:lnSpc>
            </a:pPr>
            <a:r>
              <a:rPr lang="fa-IR" sz="1900" b="1" dirty="0">
                <a:solidFill>
                  <a:schemeClr val="tx1"/>
                </a:solidFill>
                <a:latin typeface="Arial" pitchFamily="34" charset="0"/>
                <a:cs typeface="B Nazanin" panose="00000400000000000000" pitchFamily="2" charset="-78"/>
              </a:rPr>
              <a:t>قد ايستاده، حدود 0.7 سانتيمتر کمتر از قد خوابيده است. اگر کودك کمتر از 2 سال، براي اندازه‌گيري قد خوابيده، دراز نميکشد، قد ايستاده‌ي او را اندازه گرفته و 0.7 سانتيمتر به آن اضافه کنيد تا قد خوابيده به دست آيد و اگر کودك 2 ساله يا بزر گتر نتوانست بايستد، قد خوابيده‌ي او را اندازه‌گيري نموده و براي تبديل آن به قد ايستاده، 0.7 سانتيمتر از آن کم کنيد.</a:t>
            </a:r>
          </a:p>
        </p:txBody>
      </p:sp>
      <p:sp>
        <p:nvSpPr>
          <p:cNvPr id="4" name="Slide Number Placeholder 3"/>
          <p:cNvSpPr>
            <a:spLocks noGrp="1"/>
          </p:cNvSpPr>
          <p:nvPr>
            <p:ph type="sldNum" sz="quarter" idx="12"/>
          </p:nvPr>
        </p:nvSpPr>
        <p:spPr/>
        <p:txBody>
          <a:bodyPr/>
          <a:lstStyle/>
          <a:p>
            <a:fld id="{2D8CB573-7144-4842-A8FD-250830F20887}" type="slidenum">
              <a:rPr lang="en-US" smtClean="0"/>
              <a:t>50</a:t>
            </a:fld>
            <a:endParaRPr lang="en-US"/>
          </a:p>
        </p:txBody>
      </p:sp>
    </p:spTree>
    <p:extLst>
      <p:ext uri="{BB962C8B-B14F-4D97-AF65-F5344CB8AC3E}">
        <p14:creationId xmlns:p14="http://schemas.microsoft.com/office/powerpoint/2010/main" val="266591690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r" rtl="1"/>
            <a:r>
              <a:rPr lang="fa-IR" sz="3600" dirty="0">
                <a:solidFill>
                  <a:srgbClr val="A6B727"/>
                </a:solidFill>
                <a:cs typeface="2  Titr" panose="00000700000000000000" pitchFamily="2" charset="-78"/>
              </a:rPr>
              <a:t>ادامه‌ی اندازه</a:t>
            </a:r>
            <a:r>
              <a:rPr lang="fa-IR" sz="4000" dirty="0">
                <a:solidFill>
                  <a:srgbClr val="A6B727"/>
                </a:solidFill>
              </a:rPr>
              <a:t>‌</a:t>
            </a:r>
            <a:r>
              <a:rPr lang="fa-IR" sz="3600" dirty="0">
                <a:solidFill>
                  <a:srgbClr val="A6B727"/>
                </a:solidFill>
                <a:cs typeface="2  Titr" panose="00000700000000000000" pitchFamily="2" charset="-78"/>
              </a:rPr>
              <a:t>گیري قد کودکان و نوجوانان...</a:t>
            </a:r>
            <a:endParaRPr lang="en-US" sz="4000" dirty="0"/>
          </a:p>
        </p:txBody>
      </p:sp>
      <p:sp>
        <p:nvSpPr>
          <p:cNvPr id="3" name="Content Placeholder 2"/>
          <p:cNvSpPr>
            <a:spLocks noGrp="1"/>
          </p:cNvSpPr>
          <p:nvPr>
            <p:ph idx="1"/>
          </p:nvPr>
        </p:nvSpPr>
        <p:spPr/>
        <p:txBody>
          <a:bodyPr/>
          <a:lstStyle/>
          <a:p>
            <a:pPr lvl="0" algn="just" rtl="1">
              <a:lnSpc>
                <a:spcPct val="150000"/>
              </a:lnSpc>
              <a:buClr>
                <a:srgbClr val="A6B727"/>
              </a:buClr>
            </a:pPr>
            <a:r>
              <a:rPr lang="fa-IR" sz="2000" b="1" dirty="0">
                <a:solidFill>
                  <a:srgbClr val="000000"/>
                </a:solidFill>
                <a:latin typeface="Arial" pitchFamily="34" charset="0"/>
                <a:cs typeface="B Nazanin" panose="00000400000000000000" pitchFamily="2" charset="-78"/>
              </a:rPr>
              <a:t>تخت قدسنج براي اندازه‌گيري قد خوابيده به کار مي‌رود. اين وسيله، بايد بر روي يک سطح صاف و محكم قرار گيرد.</a:t>
            </a:r>
          </a:p>
          <a:p>
            <a:pPr lvl="0" algn="just" rtl="1">
              <a:lnSpc>
                <a:spcPct val="150000"/>
              </a:lnSpc>
              <a:buClr>
                <a:srgbClr val="A6B727"/>
              </a:buClr>
            </a:pPr>
            <a:r>
              <a:rPr lang="fa-IR" sz="2000" b="1" dirty="0">
                <a:solidFill>
                  <a:srgbClr val="000000"/>
                </a:solidFill>
                <a:latin typeface="Arial" pitchFamily="34" charset="0"/>
                <a:cs typeface="B Nazanin" panose="00000400000000000000" pitchFamily="2" charset="-78"/>
              </a:rPr>
              <a:t>قدسنج براي اندازه‌گيري قد ايستاده به کار مي‌رود و به طور عمودي روي ديوار نصب مي‌شود.</a:t>
            </a:r>
          </a:p>
          <a:p>
            <a:pPr lvl="0" algn="just" rtl="1">
              <a:lnSpc>
                <a:spcPct val="150000"/>
              </a:lnSpc>
              <a:buClr>
                <a:srgbClr val="A6B727"/>
              </a:buClr>
            </a:pPr>
            <a:r>
              <a:rPr lang="fa-IR" sz="2000" b="1" dirty="0">
                <a:solidFill>
                  <a:srgbClr val="000000"/>
                </a:solidFill>
                <a:latin typeface="Arial" pitchFamily="34" charset="0"/>
                <a:cs typeface="B Nazanin" panose="00000400000000000000" pitchFamily="2" charset="-78"/>
              </a:rPr>
              <a:t>صفحات افقي و عمودي قدسنج‌ها بايد در زواياي صحيح به بدنه متصل شده باشند.</a:t>
            </a:r>
          </a:p>
          <a:p>
            <a:pPr lvl="0" algn="just" rtl="1">
              <a:lnSpc>
                <a:spcPct val="150000"/>
              </a:lnSpc>
              <a:buClr>
                <a:srgbClr val="A6B727"/>
              </a:buClr>
            </a:pPr>
            <a:r>
              <a:rPr lang="fa-IR" sz="2000" b="1" dirty="0">
                <a:solidFill>
                  <a:srgbClr val="000000"/>
                </a:solidFill>
                <a:latin typeface="Arial" pitchFamily="34" charset="0"/>
                <a:cs typeface="B Nazanin" panose="00000400000000000000" pitchFamily="2" charset="-78"/>
              </a:rPr>
              <a:t>قسمت متحرك در تخت قدسنج بخش پايي و در قدسنج ايستاده مربوط به قسمت سر است.</a:t>
            </a:r>
            <a:endParaRPr lang="en-US" sz="2000" b="1" dirty="0">
              <a:solidFill>
                <a:srgbClr val="000000"/>
              </a:solidFill>
              <a:latin typeface="Arial" pitchFamily="34" charset="0"/>
              <a:cs typeface="B Nazanin" panose="00000400000000000000" pitchFamily="2" charset="-78"/>
            </a:endParaRPr>
          </a:p>
          <a:p>
            <a:pPr algn="r" rtl="1"/>
            <a:endParaRPr lang="en-US" dirty="0"/>
          </a:p>
        </p:txBody>
      </p:sp>
      <p:sp>
        <p:nvSpPr>
          <p:cNvPr id="4" name="Slide Number Placeholder 3"/>
          <p:cNvSpPr>
            <a:spLocks noGrp="1"/>
          </p:cNvSpPr>
          <p:nvPr>
            <p:ph type="sldNum" sz="quarter" idx="12"/>
          </p:nvPr>
        </p:nvSpPr>
        <p:spPr/>
        <p:txBody>
          <a:bodyPr/>
          <a:lstStyle/>
          <a:p>
            <a:fld id="{2D8CB573-7144-4842-A8FD-250830F20887}" type="slidenum">
              <a:rPr lang="en-US" smtClean="0"/>
              <a:t>51</a:t>
            </a:fld>
            <a:endParaRPr lang="en-US"/>
          </a:p>
        </p:txBody>
      </p:sp>
    </p:spTree>
    <p:extLst>
      <p:ext uri="{BB962C8B-B14F-4D97-AF65-F5344CB8AC3E}">
        <p14:creationId xmlns:p14="http://schemas.microsoft.com/office/powerpoint/2010/main" val="195015414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2D8CB573-7144-4842-A8FD-250830F20887}" type="slidenum">
              <a:rPr lang="en-US" smtClean="0"/>
              <a:t>52</a:t>
            </a:fld>
            <a:endParaRPr lang="en-US"/>
          </a:p>
        </p:txBody>
      </p:sp>
      <p:pic>
        <p:nvPicPr>
          <p:cNvPr id="5" name="Picture 4"/>
          <p:cNvPicPr>
            <a:picLocks noChangeAspect="1"/>
          </p:cNvPicPr>
          <p:nvPr/>
        </p:nvPicPr>
        <p:blipFill>
          <a:blip r:embed="rId2"/>
          <a:stretch>
            <a:fillRect/>
          </a:stretch>
        </p:blipFill>
        <p:spPr>
          <a:xfrm>
            <a:off x="5767930" y="1486867"/>
            <a:ext cx="2191703" cy="3581214"/>
          </a:xfrm>
          <a:prstGeom prst="rect">
            <a:avLst/>
          </a:prstGeom>
        </p:spPr>
      </p:pic>
      <p:pic>
        <p:nvPicPr>
          <p:cNvPr id="6" name="Picture 5"/>
          <p:cNvPicPr>
            <a:picLocks noChangeAspect="1"/>
          </p:cNvPicPr>
          <p:nvPr/>
        </p:nvPicPr>
        <p:blipFill>
          <a:blip r:embed="rId3"/>
          <a:stretch>
            <a:fillRect/>
          </a:stretch>
        </p:blipFill>
        <p:spPr>
          <a:xfrm>
            <a:off x="8435749" y="331120"/>
            <a:ext cx="2946354" cy="5892708"/>
          </a:xfrm>
          <a:prstGeom prst="rect">
            <a:avLst/>
          </a:prstGeom>
        </p:spPr>
      </p:pic>
      <p:pic>
        <p:nvPicPr>
          <p:cNvPr id="7" name="Picture 6"/>
          <p:cNvPicPr>
            <a:picLocks noChangeAspect="1"/>
          </p:cNvPicPr>
          <p:nvPr/>
        </p:nvPicPr>
        <p:blipFill>
          <a:blip r:embed="rId4"/>
          <a:stretch>
            <a:fillRect/>
          </a:stretch>
        </p:blipFill>
        <p:spPr>
          <a:xfrm>
            <a:off x="785404" y="933247"/>
            <a:ext cx="4047853" cy="2052840"/>
          </a:xfrm>
          <a:prstGeom prst="rect">
            <a:avLst/>
          </a:prstGeom>
        </p:spPr>
      </p:pic>
      <p:pic>
        <p:nvPicPr>
          <p:cNvPr id="8" name="Picture 7"/>
          <p:cNvPicPr>
            <a:picLocks noChangeAspect="1"/>
          </p:cNvPicPr>
          <p:nvPr/>
        </p:nvPicPr>
        <p:blipFill rotWithShape="1">
          <a:blip r:embed="rId5"/>
          <a:srcRect b="7166"/>
          <a:stretch/>
        </p:blipFill>
        <p:spPr>
          <a:xfrm>
            <a:off x="666205" y="3668214"/>
            <a:ext cx="4286250" cy="2175237"/>
          </a:xfrm>
          <a:prstGeom prst="rect">
            <a:avLst/>
          </a:prstGeom>
        </p:spPr>
      </p:pic>
    </p:spTree>
    <p:extLst>
      <p:ext uri="{BB962C8B-B14F-4D97-AF65-F5344CB8AC3E}">
        <p14:creationId xmlns:p14="http://schemas.microsoft.com/office/powerpoint/2010/main" val="38752607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2D8CB573-7144-4842-A8FD-250830F20887}" type="slidenum">
              <a:rPr lang="en-US" smtClean="0"/>
              <a:t>53</a:t>
            </a:fld>
            <a:endParaRPr lang="en-US"/>
          </a:p>
        </p:txBody>
      </p:sp>
      <p:pic>
        <p:nvPicPr>
          <p:cNvPr id="5" name="Picture 4"/>
          <p:cNvPicPr>
            <a:picLocks noChangeAspect="1"/>
          </p:cNvPicPr>
          <p:nvPr/>
        </p:nvPicPr>
        <p:blipFill>
          <a:blip r:embed="rId2"/>
          <a:stretch>
            <a:fillRect/>
          </a:stretch>
        </p:blipFill>
        <p:spPr>
          <a:xfrm>
            <a:off x="2583588" y="435323"/>
            <a:ext cx="6133692" cy="5788505"/>
          </a:xfrm>
          <a:prstGeom prst="rect">
            <a:avLst/>
          </a:prstGeom>
        </p:spPr>
      </p:pic>
    </p:spTree>
    <p:extLst>
      <p:ext uri="{BB962C8B-B14F-4D97-AF65-F5344CB8AC3E}">
        <p14:creationId xmlns:p14="http://schemas.microsoft.com/office/powerpoint/2010/main" val="99887142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609600"/>
            <a:ext cx="10104120" cy="1356360"/>
          </a:xfrm>
        </p:spPr>
        <p:txBody>
          <a:bodyPr>
            <a:normAutofit/>
          </a:bodyPr>
          <a:lstStyle/>
          <a:p>
            <a:pPr algn="r" rtl="1"/>
            <a:r>
              <a:rPr lang="fa-IR" sz="4000" dirty="0">
                <a:cs typeface="2  Titr" panose="00000700000000000000" pitchFamily="2" charset="-78"/>
              </a:rPr>
              <a:t>برنامه‌های پیشگیری و کنترل کمبود ریزمغذی‌ها در ایران</a:t>
            </a:r>
            <a:endParaRPr lang="en-US" sz="4000" dirty="0">
              <a:cs typeface="2  Titr" panose="00000700000000000000" pitchFamily="2" charset="-78"/>
            </a:endParaRPr>
          </a:p>
        </p:txBody>
      </p:sp>
      <p:sp>
        <p:nvSpPr>
          <p:cNvPr id="3" name="Content Placeholder 2"/>
          <p:cNvSpPr>
            <a:spLocks noGrp="1"/>
          </p:cNvSpPr>
          <p:nvPr>
            <p:ph idx="1"/>
          </p:nvPr>
        </p:nvSpPr>
        <p:spPr>
          <a:xfrm>
            <a:off x="988292" y="2057400"/>
            <a:ext cx="10027580" cy="4038600"/>
          </a:xfrm>
        </p:spPr>
        <p:txBody>
          <a:bodyPr>
            <a:normAutofit/>
          </a:bodyPr>
          <a:lstStyle/>
          <a:p>
            <a:pPr marL="274320" lvl="0" indent="-274320" algn="just" rtl="1">
              <a:lnSpc>
                <a:spcPct val="150000"/>
              </a:lnSpc>
              <a:spcBef>
                <a:spcPct val="20000"/>
              </a:spcBef>
              <a:buClr>
                <a:srgbClr val="0BD0D9"/>
              </a:buClr>
              <a:buSzPct val="95000"/>
              <a:buFont typeface="Wingdings 2"/>
              <a:buChar char=""/>
            </a:pPr>
            <a:r>
              <a:rPr lang="fa-IR" sz="2400" b="1" dirty="0">
                <a:solidFill>
                  <a:schemeClr val="tx1"/>
                </a:solidFill>
                <a:latin typeface="Arial" pitchFamily="34" charset="0"/>
                <a:cs typeface="B Nazanin" panose="00000400000000000000" pitchFamily="2" charset="-78"/>
              </a:rPr>
              <a:t>کمبود ریز‌مغذی‌ها (</a:t>
            </a:r>
            <a:r>
              <a:rPr lang="fa-IR" sz="2400" b="1" dirty="0">
                <a:solidFill>
                  <a:srgbClr val="FF0000"/>
                </a:solidFill>
                <a:latin typeface="Arial" pitchFamily="34" charset="0"/>
                <a:cs typeface="B Nazanin" panose="00000400000000000000" pitchFamily="2" charset="-78"/>
              </a:rPr>
              <a:t>آهن، روی، ویتامین </a:t>
            </a:r>
            <a:r>
              <a:rPr lang="en-US" sz="2400" b="1" dirty="0">
                <a:solidFill>
                  <a:srgbClr val="FF0000"/>
                </a:solidFill>
                <a:latin typeface="Arial" pitchFamily="34" charset="0"/>
                <a:cs typeface="B Nazanin" panose="00000400000000000000" pitchFamily="2" charset="-78"/>
              </a:rPr>
              <a:t>A</a:t>
            </a:r>
            <a:r>
              <a:rPr lang="fa-IR" sz="2400" b="1" dirty="0">
                <a:solidFill>
                  <a:srgbClr val="FF0000"/>
                </a:solidFill>
                <a:latin typeface="Arial" pitchFamily="34" charset="0"/>
                <a:cs typeface="B Nazanin" panose="00000400000000000000" pitchFamily="2" charset="-78"/>
              </a:rPr>
              <a:t> و </a:t>
            </a:r>
            <a:r>
              <a:rPr lang="en-US" sz="2400" b="1" dirty="0">
                <a:solidFill>
                  <a:srgbClr val="FF0000"/>
                </a:solidFill>
                <a:latin typeface="Arial" pitchFamily="34" charset="0"/>
                <a:cs typeface="B Nazanin" panose="00000400000000000000" pitchFamily="2" charset="-78"/>
              </a:rPr>
              <a:t>D</a:t>
            </a:r>
            <a:r>
              <a:rPr lang="fa-IR" sz="2400" b="1" dirty="0">
                <a:solidFill>
                  <a:schemeClr val="tx1"/>
                </a:solidFill>
                <a:latin typeface="Arial" pitchFamily="34" charset="0"/>
                <a:cs typeface="B Nazanin" panose="00000400000000000000" pitchFamily="2" charset="-78"/>
              </a:rPr>
              <a:t>) از مشکلات تغذیه‌ای شایع در کشور است.</a:t>
            </a:r>
          </a:p>
          <a:p>
            <a:pPr marL="274320" lvl="0" indent="-274320" algn="just" rtl="1">
              <a:lnSpc>
                <a:spcPct val="150000"/>
              </a:lnSpc>
              <a:spcBef>
                <a:spcPct val="20000"/>
              </a:spcBef>
              <a:buClr>
                <a:srgbClr val="0BD0D9"/>
              </a:buClr>
              <a:buSzPct val="95000"/>
              <a:buFont typeface="Wingdings 2"/>
              <a:buChar char=""/>
            </a:pPr>
            <a:r>
              <a:rPr lang="fa-IR" sz="2400" b="1" dirty="0">
                <a:solidFill>
                  <a:schemeClr val="tx1"/>
                </a:solidFill>
                <a:latin typeface="Arial" pitchFamily="34" charset="0"/>
                <a:cs typeface="B Nazanin" panose="00000400000000000000" pitchFamily="2" charset="-78"/>
              </a:rPr>
              <a:t>در طی یک دهه گذشته، </a:t>
            </a:r>
            <a:r>
              <a:rPr lang="fa-IR" sz="2400" b="1" dirty="0">
                <a:solidFill>
                  <a:srgbClr val="FF0000"/>
                </a:solidFill>
                <a:latin typeface="Arial" pitchFamily="34" charset="0"/>
                <a:cs typeface="B Nazanin" panose="00000400000000000000" pitchFamily="2" charset="-78"/>
              </a:rPr>
              <a:t>شیوع کم خونی و کمبود آهن </a:t>
            </a:r>
            <a:r>
              <a:rPr lang="fa-IR" sz="2400" b="1" dirty="0">
                <a:solidFill>
                  <a:schemeClr val="tx1"/>
                </a:solidFill>
                <a:latin typeface="Arial" pitchFamily="34" charset="0"/>
                <a:cs typeface="B Nazanin" panose="00000400000000000000" pitchFamily="2" charset="-78"/>
              </a:rPr>
              <a:t>در همه گروه‌های سنی به طور قابل ملاحظه‌ای کاهش یافته است.</a:t>
            </a:r>
          </a:p>
          <a:p>
            <a:pPr marL="274320" lvl="0" indent="-274320" algn="just" rtl="1">
              <a:lnSpc>
                <a:spcPct val="150000"/>
              </a:lnSpc>
              <a:spcBef>
                <a:spcPct val="20000"/>
              </a:spcBef>
              <a:buClr>
                <a:srgbClr val="0BD0D9"/>
              </a:buClr>
              <a:buSzPct val="95000"/>
              <a:buFont typeface="Wingdings 2"/>
              <a:buChar char=""/>
            </a:pPr>
            <a:r>
              <a:rPr lang="fa-IR" sz="2400" b="1" dirty="0">
                <a:solidFill>
                  <a:schemeClr val="tx1"/>
                </a:solidFill>
                <a:latin typeface="Arial" pitchFamily="34" charset="0"/>
                <a:cs typeface="B Nazanin" panose="00000400000000000000" pitchFamily="2" charset="-78"/>
              </a:rPr>
              <a:t>کمبود ویتامین </a:t>
            </a:r>
            <a:r>
              <a:rPr lang="en-US" sz="2400" b="1" dirty="0">
                <a:solidFill>
                  <a:schemeClr val="tx1"/>
                </a:solidFill>
                <a:latin typeface="Arial" pitchFamily="34" charset="0"/>
                <a:cs typeface="B Nazanin" panose="00000400000000000000" pitchFamily="2" charset="-78"/>
              </a:rPr>
              <a:t>A</a:t>
            </a:r>
            <a:r>
              <a:rPr lang="fa-IR" sz="2400" b="1" dirty="0">
                <a:solidFill>
                  <a:schemeClr val="tx1"/>
                </a:solidFill>
                <a:latin typeface="Arial" pitchFamily="34" charset="0"/>
                <a:cs typeface="B Nazanin" panose="00000400000000000000" pitchFamily="2" charset="-78"/>
              </a:rPr>
              <a:t> و </a:t>
            </a:r>
            <a:r>
              <a:rPr lang="en-US" sz="2400" b="1" dirty="0">
                <a:solidFill>
                  <a:schemeClr val="tx1"/>
                </a:solidFill>
                <a:latin typeface="Arial" pitchFamily="34" charset="0"/>
                <a:cs typeface="B Nazanin" panose="00000400000000000000" pitchFamily="2" charset="-78"/>
              </a:rPr>
              <a:t>D</a:t>
            </a:r>
            <a:r>
              <a:rPr lang="fa-IR" sz="2400" b="1" dirty="0">
                <a:solidFill>
                  <a:schemeClr val="tx1"/>
                </a:solidFill>
                <a:latin typeface="Arial" pitchFamily="34" charset="0"/>
                <a:cs typeface="B Nazanin" panose="00000400000000000000" pitchFamily="2" charset="-78"/>
              </a:rPr>
              <a:t> در </a:t>
            </a:r>
            <a:r>
              <a:rPr lang="fa-IR" sz="2400" b="1" dirty="0">
                <a:solidFill>
                  <a:srgbClr val="FF0000"/>
                </a:solidFill>
                <a:latin typeface="Arial" pitchFamily="34" charset="0"/>
                <a:cs typeface="B Nazanin" panose="00000400000000000000" pitchFamily="2" charset="-78"/>
              </a:rPr>
              <a:t>زنان باردار و کودکان زیر دو سال </a:t>
            </a:r>
            <a:r>
              <a:rPr lang="fa-IR" sz="2400" b="1" dirty="0">
                <a:solidFill>
                  <a:schemeClr val="tx1"/>
                </a:solidFill>
                <a:latin typeface="Arial" pitchFamily="34" charset="0"/>
                <a:cs typeface="B Nazanin" panose="00000400000000000000" pitchFamily="2" charset="-78"/>
              </a:rPr>
              <a:t>افزایش یافته است.</a:t>
            </a:r>
          </a:p>
          <a:p>
            <a:pPr marL="274320" lvl="0" indent="-274320" algn="just" rtl="1">
              <a:lnSpc>
                <a:spcPct val="150000"/>
              </a:lnSpc>
              <a:spcBef>
                <a:spcPct val="20000"/>
              </a:spcBef>
              <a:buClr>
                <a:srgbClr val="0BD0D9"/>
              </a:buClr>
              <a:buSzPct val="95000"/>
              <a:buFont typeface="Wingdings 2"/>
              <a:buChar char=""/>
            </a:pPr>
            <a:r>
              <a:rPr lang="fa-IR" sz="2400" b="1" dirty="0">
                <a:solidFill>
                  <a:srgbClr val="FF0000"/>
                </a:solidFill>
                <a:latin typeface="Arial" pitchFamily="34" charset="0"/>
                <a:cs typeface="B Nazanin" panose="00000400000000000000" pitchFamily="2" charset="-78"/>
              </a:rPr>
              <a:t>یددار کردن نمک خوراکی مصرفی</a:t>
            </a:r>
            <a:endParaRPr lang="en-US" sz="2400" b="1" dirty="0">
              <a:solidFill>
                <a:schemeClr val="tx1"/>
              </a:solidFill>
              <a:latin typeface="Arial" pitchFamily="34" charset="0"/>
              <a:cs typeface="B Nazanin" panose="00000400000000000000" pitchFamily="2" charset="-78"/>
            </a:endParaRPr>
          </a:p>
        </p:txBody>
      </p:sp>
      <p:sp>
        <p:nvSpPr>
          <p:cNvPr id="4" name="Slide Number Placeholder 3"/>
          <p:cNvSpPr>
            <a:spLocks noGrp="1"/>
          </p:cNvSpPr>
          <p:nvPr>
            <p:ph type="sldNum" sz="quarter" idx="12"/>
          </p:nvPr>
        </p:nvSpPr>
        <p:spPr/>
        <p:txBody>
          <a:bodyPr/>
          <a:lstStyle/>
          <a:p>
            <a:fld id="{2D8CB573-7144-4842-A8FD-250830F20887}" type="slidenum">
              <a:rPr lang="en-US" smtClean="0"/>
              <a:t>54</a:t>
            </a:fld>
            <a:endParaRPr lang="en-US"/>
          </a:p>
        </p:txBody>
      </p:sp>
    </p:spTree>
    <p:extLst>
      <p:ext uri="{BB962C8B-B14F-4D97-AF65-F5344CB8AC3E}">
        <p14:creationId xmlns:p14="http://schemas.microsoft.com/office/powerpoint/2010/main" val="152391606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r" rtl="1"/>
            <a:r>
              <a:rPr lang="fa-IR" sz="4000" dirty="0">
                <a:cs typeface="2  Titr" panose="00000700000000000000" pitchFamily="2" charset="-78"/>
              </a:rPr>
              <a:t>برنامه‌ی پیشگیری و کنترل اختلالات ناشی از کمبود ید</a:t>
            </a:r>
            <a:endParaRPr lang="en-US" sz="4000" dirty="0">
              <a:cs typeface="2  Titr" panose="00000700000000000000" pitchFamily="2" charset="-78"/>
            </a:endParaRPr>
          </a:p>
        </p:txBody>
      </p:sp>
      <p:sp>
        <p:nvSpPr>
          <p:cNvPr id="3" name="Content Placeholder 2"/>
          <p:cNvSpPr>
            <a:spLocks noGrp="1"/>
          </p:cNvSpPr>
          <p:nvPr>
            <p:ph idx="1"/>
          </p:nvPr>
        </p:nvSpPr>
        <p:spPr/>
        <p:txBody>
          <a:bodyPr/>
          <a:lstStyle/>
          <a:p>
            <a:pPr marL="274320" lvl="0" indent="-274320" algn="r" rtl="1">
              <a:lnSpc>
                <a:spcPct val="150000"/>
              </a:lnSpc>
              <a:spcBef>
                <a:spcPct val="20000"/>
              </a:spcBef>
              <a:buClr>
                <a:srgbClr val="0BD0D9"/>
              </a:buClr>
              <a:buSzPct val="95000"/>
              <a:buFont typeface="Wingdings 2"/>
              <a:buChar char=""/>
            </a:pPr>
            <a:r>
              <a:rPr lang="fa-IR" sz="2400" b="1" dirty="0">
                <a:solidFill>
                  <a:srgbClr val="FF0000"/>
                </a:solidFill>
                <a:latin typeface="Arial" pitchFamily="34" charset="0"/>
                <a:cs typeface="B Nazanin" panose="00000400000000000000" pitchFamily="2" charset="-78"/>
              </a:rPr>
              <a:t>یددار کردن نمک های خوراکی</a:t>
            </a:r>
          </a:p>
          <a:p>
            <a:pPr marL="274320" lvl="0" indent="-274320" algn="r" rtl="1">
              <a:lnSpc>
                <a:spcPct val="150000"/>
              </a:lnSpc>
              <a:spcBef>
                <a:spcPct val="20000"/>
              </a:spcBef>
              <a:buClr>
                <a:srgbClr val="0BD0D9"/>
              </a:buClr>
              <a:buSzPct val="95000"/>
              <a:buFont typeface="Wingdings 2"/>
              <a:buChar char=""/>
            </a:pPr>
            <a:r>
              <a:rPr lang="fa-IR" sz="2400" b="1" dirty="0">
                <a:solidFill>
                  <a:schemeClr val="tx1"/>
                </a:solidFill>
                <a:latin typeface="Arial" pitchFamily="34" charset="0"/>
                <a:cs typeface="B Nazanin" panose="00000400000000000000" pitchFamily="2" charset="-78"/>
              </a:rPr>
              <a:t>سال 1370</a:t>
            </a:r>
          </a:p>
          <a:p>
            <a:pPr marL="274320" lvl="0" indent="-274320" algn="r" rtl="1">
              <a:lnSpc>
                <a:spcPct val="150000"/>
              </a:lnSpc>
              <a:spcBef>
                <a:spcPct val="20000"/>
              </a:spcBef>
              <a:buClr>
                <a:srgbClr val="0BD0D9"/>
              </a:buClr>
              <a:buSzPct val="95000"/>
              <a:buFont typeface="Wingdings 2"/>
              <a:buChar char=""/>
            </a:pPr>
            <a:r>
              <a:rPr lang="fa-IR" sz="2400" b="1" dirty="0">
                <a:solidFill>
                  <a:schemeClr val="tx1"/>
                </a:solidFill>
                <a:latin typeface="Arial" pitchFamily="34" charset="0"/>
                <a:cs typeface="B Nazanin" panose="00000400000000000000" pitchFamily="2" charset="-78"/>
              </a:rPr>
              <a:t>پایش نمک یددار در سه سطح </a:t>
            </a:r>
            <a:r>
              <a:rPr lang="fa-IR" sz="2400" b="1" dirty="0">
                <a:solidFill>
                  <a:srgbClr val="FF0000"/>
                </a:solidFill>
                <a:latin typeface="Arial" pitchFamily="34" charset="0"/>
                <a:cs typeface="B Nazanin" panose="00000400000000000000" pitchFamily="2" charset="-78"/>
              </a:rPr>
              <a:t>تولید، عرضه و مصرف </a:t>
            </a:r>
            <a:r>
              <a:rPr lang="fa-IR" sz="2400" b="1" dirty="0">
                <a:solidFill>
                  <a:schemeClr val="tx1"/>
                </a:solidFill>
                <a:latin typeface="Arial" pitchFamily="34" charset="0"/>
                <a:cs typeface="B Nazanin" panose="00000400000000000000" pitchFamily="2" charset="-78"/>
              </a:rPr>
              <a:t>انجام می‌شود.</a:t>
            </a:r>
          </a:p>
          <a:p>
            <a:pPr marL="274320" lvl="0" indent="-274320" algn="r" rtl="1">
              <a:lnSpc>
                <a:spcPct val="150000"/>
              </a:lnSpc>
              <a:spcBef>
                <a:spcPct val="20000"/>
              </a:spcBef>
              <a:buClr>
                <a:srgbClr val="0BD0D9"/>
              </a:buClr>
              <a:buSzPct val="95000"/>
              <a:buFont typeface="Wingdings 2"/>
              <a:buChar char=""/>
            </a:pPr>
            <a:r>
              <a:rPr lang="fa-IR" sz="2400" b="1" dirty="0">
                <a:solidFill>
                  <a:schemeClr val="tx1"/>
                </a:solidFill>
                <a:latin typeface="Arial" pitchFamily="34" charset="0"/>
                <a:cs typeface="B Nazanin" panose="00000400000000000000" pitchFamily="2" charset="-78"/>
              </a:rPr>
              <a:t>آموزش همگانی در خصوص عدم مصرف نمک غیر استاندارد از جمله نمک دریا که فاقد ید کافی است و ناخالصی های زیاد از جمله فلزات سنگین دارد.</a:t>
            </a:r>
          </a:p>
          <a:p>
            <a:pPr marL="274320" lvl="0" indent="-274320" algn="r" rtl="1">
              <a:lnSpc>
                <a:spcPct val="150000"/>
              </a:lnSpc>
              <a:spcBef>
                <a:spcPct val="20000"/>
              </a:spcBef>
              <a:buClr>
                <a:srgbClr val="0BD0D9"/>
              </a:buClr>
              <a:buSzPct val="95000"/>
              <a:buFont typeface="Wingdings 2"/>
              <a:buChar char=""/>
            </a:pPr>
            <a:r>
              <a:rPr lang="fa-IR" sz="2400" b="1" dirty="0">
                <a:solidFill>
                  <a:schemeClr val="tx1"/>
                </a:solidFill>
                <a:latin typeface="Arial" pitchFamily="34" charset="0"/>
                <a:cs typeface="B Nazanin" panose="00000400000000000000" pitchFamily="2" charset="-78"/>
              </a:rPr>
              <a:t>اهمیت مصرف نمک یددار توسط مادران در دوره‌ی قبل از بارداری</a:t>
            </a:r>
            <a:endParaRPr lang="en-US" sz="2400" b="1" dirty="0">
              <a:solidFill>
                <a:schemeClr val="tx1"/>
              </a:solidFill>
              <a:latin typeface="Arial" pitchFamily="34" charset="0"/>
              <a:cs typeface="B Nazanin" panose="00000400000000000000" pitchFamily="2" charset="-78"/>
            </a:endParaRPr>
          </a:p>
          <a:p>
            <a:pPr marL="45720" indent="0" algn="r" rtl="1">
              <a:buNone/>
            </a:pPr>
            <a:endParaRPr lang="en-US" dirty="0">
              <a:solidFill>
                <a:schemeClr val="tx1"/>
              </a:solidFill>
            </a:endParaRPr>
          </a:p>
        </p:txBody>
      </p:sp>
      <p:sp>
        <p:nvSpPr>
          <p:cNvPr id="4" name="Slide Number Placeholder 3"/>
          <p:cNvSpPr>
            <a:spLocks noGrp="1"/>
          </p:cNvSpPr>
          <p:nvPr>
            <p:ph type="sldNum" sz="quarter" idx="12"/>
          </p:nvPr>
        </p:nvSpPr>
        <p:spPr/>
        <p:txBody>
          <a:bodyPr/>
          <a:lstStyle/>
          <a:p>
            <a:fld id="{2D8CB573-7144-4842-A8FD-250830F20887}" type="slidenum">
              <a:rPr lang="en-US" smtClean="0"/>
              <a:t>55</a:t>
            </a:fld>
            <a:endParaRPr lang="en-US"/>
          </a:p>
        </p:txBody>
      </p:sp>
    </p:spTree>
    <p:extLst>
      <p:ext uri="{BB962C8B-B14F-4D97-AF65-F5344CB8AC3E}">
        <p14:creationId xmlns:p14="http://schemas.microsoft.com/office/powerpoint/2010/main" val="129076530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r" rtl="1"/>
            <a:r>
              <a:rPr lang="fa-IR" sz="4000" dirty="0">
                <a:cs typeface="2  Titr" panose="00000700000000000000" pitchFamily="2" charset="-78"/>
              </a:rPr>
              <a:t>برنامه‌ی پیشگیری و کنترل کمبود آهن</a:t>
            </a:r>
            <a:endParaRPr lang="en-US" sz="4000" dirty="0">
              <a:cs typeface="2  Titr" panose="00000700000000000000" pitchFamily="2" charset="-78"/>
            </a:endParaRPr>
          </a:p>
        </p:txBody>
      </p:sp>
      <p:sp>
        <p:nvSpPr>
          <p:cNvPr id="3" name="Content Placeholder 2"/>
          <p:cNvSpPr>
            <a:spLocks noGrp="1"/>
          </p:cNvSpPr>
          <p:nvPr>
            <p:ph idx="1"/>
          </p:nvPr>
        </p:nvSpPr>
        <p:spPr/>
        <p:txBody>
          <a:bodyPr/>
          <a:lstStyle/>
          <a:p>
            <a:pPr marL="274320" lvl="0" indent="-274320" algn="just" rtl="1">
              <a:lnSpc>
                <a:spcPct val="150000"/>
              </a:lnSpc>
              <a:spcBef>
                <a:spcPct val="20000"/>
              </a:spcBef>
              <a:buClr>
                <a:srgbClr val="0BD0D9"/>
              </a:buClr>
              <a:buSzPct val="95000"/>
              <a:buFont typeface="Wingdings 2"/>
              <a:buChar char=""/>
            </a:pPr>
            <a:r>
              <a:rPr lang="fa-IR" sz="2400" b="1" dirty="0">
                <a:solidFill>
                  <a:schemeClr val="tx1"/>
                </a:solidFill>
                <a:latin typeface="Arial" pitchFamily="34" charset="0"/>
                <a:cs typeface="B Nazanin" panose="00000400000000000000" pitchFamily="2" charset="-78"/>
              </a:rPr>
              <a:t>آموزش جامعه به ویژه مادران باردار و شیرده، دختران سنین بلوغ در خصوص:</a:t>
            </a:r>
          </a:p>
          <a:p>
            <a:pPr marL="274320" lvl="0" indent="-274320" algn="just" rtl="1">
              <a:lnSpc>
                <a:spcPct val="150000"/>
              </a:lnSpc>
              <a:spcBef>
                <a:spcPct val="20000"/>
              </a:spcBef>
              <a:buClr>
                <a:srgbClr val="0BD0D9"/>
              </a:buClr>
              <a:buSzPct val="95000"/>
              <a:buFont typeface="Wingdings 2"/>
              <a:buChar char=""/>
            </a:pPr>
            <a:r>
              <a:rPr lang="fa-IR" sz="2400" b="1" dirty="0">
                <a:solidFill>
                  <a:schemeClr val="tx1"/>
                </a:solidFill>
                <a:latin typeface="Arial" pitchFamily="34" charset="0"/>
                <a:cs typeface="B Nazanin" panose="00000400000000000000" pitchFamily="2" charset="-78"/>
              </a:rPr>
              <a:t>اهمیت مصرف مکمل آهن</a:t>
            </a:r>
          </a:p>
          <a:p>
            <a:pPr marL="274320" lvl="0" indent="-274320" algn="just" rtl="1">
              <a:lnSpc>
                <a:spcPct val="150000"/>
              </a:lnSpc>
              <a:spcBef>
                <a:spcPct val="20000"/>
              </a:spcBef>
              <a:buClr>
                <a:srgbClr val="0BD0D9"/>
              </a:buClr>
              <a:buSzPct val="95000"/>
              <a:buFont typeface="Wingdings 2"/>
              <a:buChar char=""/>
            </a:pPr>
            <a:r>
              <a:rPr lang="fa-IR" sz="2400" b="1" dirty="0">
                <a:solidFill>
                  <a:schemeClr val="tx1"/>
                </a:solidFill>
                <a:latin typeface="Arial" pitchFamily="34" charset="0"/>
                <a:cs typeface="B Nazanin" panose="00000400000000000000" pitchFamily="2" charset="-78"/>
              </a:rPr>
              <a:t>نحوه‌ی صحیح مصرف و مقدار مکمل</a:t>
            </a:r>
          </a:p>
          <a:p>
            <a:pPr marL="274320" lvl="0" indent="-274320" algn="just" rtl="1">
              <a:lnSpc>
                <a:spcPct val="150000"/>
              </a:lnSpc>
              <a:spcBef>
                <a:spcPct val="20000"/>
              </a:spcBef>
              <a:buClr>
                <a:srgbClr val="0BD0D9"/>
              </a:buClr>
              <a:buSzPct val="95000"/>
              <a:buFont typeface="Wingdings 2"/>
              <a:buChar char=""/>
            </a:pPr>
            <a:r>
              <a:rPr lang="fa-IR" sz="2400" b="1" dirty="0">
                <a:solidFill>
                  <a:schemeClr val="tx1"/>
                </a:solidFill>
                <a:latin typeface="Arial" pitchFamily="34" charset="0"/>
                <a:cs typeface="B Nazanin" panose="00000400000000000000" pitchFamily="2" charset="-78"/>
              </a:rPr>
              <a:t>آموزش تغذیه و معرفی منابع غذایی آهن دار، افزایش دهنده‌ها و کاهش دهنده‌های جذب آهن در برنامه‌ی غذایی</a:t>
            </a:r>
          </a:p>
          <a:p>
            <a:pPr marL="274320" lvl="0" indent="-274320" algn="just" rtl="1">
              <a:lnSpc>
                <a:spcPct val="150000"/>
              </a:lnSpc>
              <a:spcBef>
                <a:spcPct val="20000"/>
              </a:spcBef>
              <a:buClr>
                <a:srgbClr val="0BD0D9"/>
              </a:buClr>
              <a:buSzPct val="95000"/>
              <a:buFont typeface="Wingdings 2"/>
              <a:buChar char=""/>
            </a:pPr>
            <a:r>
              <a:rPr lang="fa-IR" sz="2400" b="1" dirty="0">
                <a:solidFill>
                  <a:schemeClr val="tx1"/>
                </a:solidFill>
                <a:latin typeface="Arial" pitchFamily="34" charset="0"/>
                <a:cs typeface="B Nazanin" panose="00000400000000000000" pitchFamily="2" charset="-78"/>
              </a:rPr>
              <a:t>اهمیت دادن قطره آهن به کودکان زیر 2 سال</a:t>
            </a:r>
          </a:p>
          <a:p>
            <a:pPr marL="274320" lvl="0" indent="-274320" algn="just" rtl="1">
              <a:lnSpc>
                <a:spcPct val="150000"/>
              </a:lnSpc>
              <a:spcBef>
                <a:spcPct val="20000"/>
              </a:spcBef>
              <a:buClr>
                <a:srgbClr val="0BD0D9"/>
              </a:buClr>
              <a:buSzPct val="95000"/>
              <a:buFont typeface="Wingdings 2"/>
              <a:buChar char=""/>
            </a:pPr>
            <a:endParaRPr lang="en-US" sz="2400" b="1" dirty="0">
              <a:solidFill>
                <a:schemeClr val="tx1"/>
              </a:solidFill>
              <a:latin typeface="Arial" pitchFamily="34" charset="0"/>
              <a:cs typeface="B Nazanin" panose="00000400000000000000" pitchFamily="2" charset="-78"/>
            </a:endParaRPr>
          </a:p>
          <a:p>
            <a:pPr algn="r" rtl="1"/>
            <a:endParaRPr lang="en-US" dirty="0">
              <a:solidFill>
                <a:schemeClr val="tx1"/>
              </a:solidFill>
            </a:endParaRPr>
          </a:p>
        </p:txBody>
      </p:sp>
      <p:sp>
        <p:nvSpPr>
          <p:cNvPr id="4" name="Slide Number Placeholder 3"/>
          <p:cNvSpPr>
            <a:spLocks noGrp="1"/>
          </p:cNvSpPr>
          <p:nvPr>
            <p:ph type="sldNum" sz="quarter" idx="12"/>
          </p:nvPr>
        </p:nvSpPr>
        <p:spPr/>
        <p:txBody>
          <a:bodyPr/>
          <a:lstStyle/>
          <a:p>
            <a:fld id="{2D8CB573-7144-4842-A8FD-250830F20887}" type="slidenum">
              <a:rPr lang="en-US" smtClean="0"/>
              <a:t>56</a:t>
            </a:fld>
            <a:endParaRPr lang="en-US"/>
          </a:p>
        </p:txBody>
      </p:sp>
    </p:spTree>
    <p:extLst>
      <p:ext uri="{BB962C8B-B14F-4D97-AF65-F5344CB8AC3E}">
        <p14:creationId xmlns:p14="http://schemas.microsoft.com/office/powerpoint/2010/main" val="358340343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r" rtl="1"/>
            <a:r>
              <a:rPr lang="fa-IR" sz="4000" dirty="0">
                <a:cs typeface="2  Titr" panose="00000700000000000000" pitchFamily="2" charset="-78"/>
              </a:rPr>
              <a:t>برنامه غنی‌سازي با آهن و اسید فولیک</a:t>
            </a:r>
            <a:endParaRPr lang="en-US" sz="4000" dirty="0">
              <a:cs typeface="2  Titr" panose="00000700000000000000" pitchFamily="2" charset="-78"/>
            </a:endParaRPr>
          </a:p>
        </p:txBody>
      </p:sp>
      <p:sp>
        <p:nvSpPr>
          <p:cNvPr id="3" name="Content Placeholder 2"/>
          <p:cNvSpPr>
            <a:spLocks noGrp="1"/>
          </p:cNvSpPr>
          <p:nvPr>
            <p:ph idx="1"/>
          </p:nvPr>
        </p:nvSpPr>
        <p:spPr/>
        <p:txBody>
          <a:bodyPr>
            <a:normAutofit lnSpcReduction="10000"/>
          </a:bodyPr>
          <a:lstStyle/>
          <a:p>
            <a:pPr marL="274320" lvl="0" indent="-274320" algn="just" rtl="1">
              <a:lnSpc>
                <a:spcPct val="150000"/>
              </a:lnSpc>
              <a:spcBef>
                <a:spcPct val="20000"/>
              </a:spcBef>
              <a:buClr>
                <a:srgbClr val="0BD0D9"/>
              </a:buClr>
              <a:buSzPct val="95000"/>
              <a:buFont typeface="Wingdings 2"/>
              <a:buChar char=""/>
            </a:pPr>
            <a:r>
              <a:rPr lang="fa-IR" sz="2400" b="1" dirty="0">
                <a:solidFill>
                  <a:schemeClr val="tx1"/>
                </a:solidFill>
                <a:latin typeface="Arial" pitchFamily="34" charset="0"/>
                <a:cs typeface="B Nazanin" panose="00000400000000000000" pitchFamily="2" charset="-78"/>
              </a:rPr>
              <a:t>غنی سازی آرد با آهن و اسید فولیک یک استراتژی ارزان</a:t>
            </a:r>
          </a:p>
          <a:p>
            <a:pPr marL="274320" lvl="0" indent="-274320" algn="just" rtl="1">
              <a:lnSpc>
                <a:spcPct val="150000"/>
              </a:lnSpc>
              <a:spcBef>
                <a:spcPct val="20000"/>
              </a:spcBef>
              <a:buClr>
                <a:srgbClr val="0BD0D9"/>
              </a:buClr>
              <a:buSzPct val="95000"/>
              <a:buFont typeface="Wingdings 2"/>
              <a:buChar char=""/>
            </a:pPr>
            <a:r>
              <a:rPr lang="fa-IR" sz="2400" b="1" dirty="0">
                <a:solidFill>
                  <a:schemeClr val="tx1"/>
                </a:solidFill>
                <a:latin typeface="Arial" pitchFamily="34" charset="0"/>
                <a:cs typeface="B Nazanin" panose="00000400000000000000" pitchFamily="2" charset="-78"/>
              </a:rPr>
              <a:t>سال 1380 در بوشهر آغاز و به تدریج در سایر استان ها اجرا شد.</a:t>
            </a:r>
          </a:p>
          <a:p>
            <a:pPr marL="274320" lvl="0" indent="-274320" algn="just" rtl="1">
              <a:lnSpc>
                <a:spcPct val="150000"/>
              </a:lnSpc>
              <a:spcBef>
                <a:spcPct val="20000"/>
              </a:spcBef>
              <a:buClr>
                <a:srgbClr val="0BD0D9"/>
              </a:buClr>
              <a:buSzPct val="95000"/>
              <a:buFont typeface="Wingdings 2"/>
              <a:buChar char=""/>
            </a:pPr>
            <a:r>
              <a:rPr lang="fa-IR" sz="2400" b="1" dirty="0">
                <a:solidFill>
                  <a:schemeClr val="tx1"/>
                </a:solidFill>
                <a:latin typeface="Arial" pitchFamily="34" charset="0"/>
                <a:cs typeface="B Nazanin" panose="00000400000000000000" pitchFamily="2" charset="-78"/>
              </a:rPr>
              <a:t>برنامه ملی غنی سازی آرد در سال 1386 تدوین و در سطح کشور به مورد اجرا گذاشته شده است.</a:t>
            </a:r>
          </a:p>
          <a:p>
            <a:pPr marL="274320" lvl="0" indent="-274320" algn="just" rtl="1">
              <a:lnSpc>
                <a:spcPct val="150000"/>
              </a:lnSpc>
              <a:spcBef>
                <a:spcPct val="20000"/>
              </a:spcBef>
              <a:buClr>
                <a:srgbClr val="0BD0D9"/>
              </a:buClr>
              <a:buSzPct val="95000"/>
              <a:buFont typeface="Wingdings 2"/>
              <a:buChar char=""/>
            </a:pPr>
            <a:r>
              <a:rPr lang="fa-IR" sz="2400" b="1" dirty="0">
                <a:solidFill>
                  <a:schemeClr val="tx1"/>
                </a:solidFill>
                <a:latin typeface="Arial" pitchFamily="34" charset="0"/>
                <a:cs typeface="B Nazanin" panose="00000400000000000000" pitchFamily="2" charset="-78"/>
              </a:rPr>
              <a:t>آموزش مردم در زمینه ی فواید مصرف نان غنی شده با آهن و اسید فولیک ، کمبود آهن و کم خونی ناشی از آن و پیشگیری از آن با مصرف نان غنی شده توسط کارکنان بهداشتی به طرق مختلف باید انجام شود.</a:t>
            </a:r>
          </a:p>
          <a:p>
            <a:pPr marL="274320" lvl="0" indent="-274320" algn="just" rtl="1">
              <a:lnSpc>
                <a:spcPct val="150000"/>
              </a:lnSpc>
              <a:spcBef>
                <a:spcPct val="20000"/>
              </a:spcBef>
              <a:buClr>
                <a:srgbClr val="0BD0D9"/>
              </a:buClr>
              <a:buSzPct val="95000"/>
              <a:buFont typeface="Wingdings 2"/>
              <a:buChar char=""/>
            </a:pPr>
            <a:endParaRPr lang="en-US" sz="2600" dirty="0">
              <a:solidFill>
                <a:schemeClr val="tx1"/>
              </a:solidFill>
              <a:latin typeface="Constantia"/>
            </a:endParaRPr>
          </a:p>
          <a:p>
            <a:pPr algn="just" rtl="1"/>
            <a:endParaRPr lang="en-US" dirty="0">
              <a:solidFill>
                <a:schemeClr val="tx1"/>
              </a:solidFill>
            </a:endParaRPr>
          </a:p>
        </p:txBody>
      </p:sp>
      <p:sp>
        <p:nvSpPr>
          <p:cNvPr id="4" name="Slide Number Placeholder 3"/>
          <p:cNvSpPr>
            <a:spLocks noGrp="1"/>
          </p:cNvSpPr>
          <p:nvPr>
            <p:ph type="sldNum" sz="quarter" idx="12"/>
          </p:nvPr>
        </p:nvSpPr>
        <p:spPr/>
        <p:txBody>
          <a:bodyPr/>
          <a:lstStyle/>
          <a:p>
            <a:fld id="{2D8CB573-7144-4842-A8FD-250830F20887}" type="slidenum">
              <a:rPr lang="en-US" smtClean="0"/>
              <a:t>57</a:t>
            </a:fld>
            <a:endParaRPr lang="en-US"/>
          </a:p>
        </p:txBody>
      </p:sp>
    </p:spTree>
    <p:extLst>
      <p:ext uri="{BB962C8B-B14F-4D97-AF65-F5344CB8AC3E}">
        <p14:creationId xmlns:p14="http://schemas.microsoft.com/office/powerpoint/2010/main" val="29136629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r" rtl="1"/>
            <a:r>
              <a:rPr lang="fa-IR" sz="4000" dirty="0">
                <a:cs typeface="2  Titr" panose="00000700000000000000" pitchFamily="2" charset="-78"/>
              </a:rPr>
              <a:t>پیشگیری و کنترل کمبود ویتامین</a:t>
            </a:r>
            <a:r>
              <a:rPr lang="en-US" sz="3600" b="1" dirty="0">
                <a:latin typeface="Times New Roman" panose="02020603050405020304" pitchFamily="18" charset="0"/>
                <a:cs typeface="Times New Roman" panose="02020603050405020304" pitchFamily="18" charset="0"/>
              </a:rPr>
              <a:t>A</a:t>
            </a:r>
            <a:r>
              <a:rPr lang="en-US" sz="4000" dirty="0">
                <a:cs typeface="2  Titr" panose="00000700000000000000" pitchFamily="2" charset="-78"/>
              </a:rPr>
              <a:t> </a:t>
            </a:r>
            <a:r>
              <a:rPr lang="fa-IR" sz="4000" dirty="0">
                <a:cs typeface="2  Titr" panose="00000700000000000000" pitchFamily="2" charset="-78"/>
              </a:rPr>
              <a:t> و </a:t>
            </a:r>
            <a:r>
              <a:rPr lang="en-US" sz="3600" b="1" dirty="0">
                <a:latin typeface="Times New Roman" panose="02020603050405020304" pitchFamily="18" charset="0"/>
                <a:cs typeface="Times New Roman" panose="02020603050405020304" pitchFamily="18" charset="0"/>
              </a:rPr>
              <a:t>D</a:t>
            </a:r>
          </a:p>
        </p:txBody>
      </p:sp>
      <p:sp>
        <p:nvSpPr>
          <p:cNvPr id="3" name="Content Placeholder 2"/>
          <p:cNvSpPr>
            <a:spLocks noGrp="1"/>
          </p:cNvSpPr>
          <p:nvPr>
            <p:ph idx="1"/>
          </p:nvPr>
        </p:nvSpPr>
        <p:spPr>
          <a:xfrm>
            <a:off x="1143000" y="1952299"/>
            <a:ext cx="9872871" cy="3949737"/>
          </a:xfrm>
        </p:spPr>
        <p:txBody>
          <a:bodyPr/>
          <a:lstStyle/>
          <a:p>
            <a:pPr marL="274320" lvl="0" indent="-274320" algn="just" rtl="1">
              <a:lnSpc>
                <a:spcPct val="100000"/>
              </a:lnSpc>
              <a:spcBef>
                <a:spcPct val="20000"/>
              </a:spcBef>
              <a:buClr>
                <a:srgbClr val="0BD0D9"/>
              </a:buClr>
              <a:buSzPct val="95000"/>
              <a:buFont typeface="Wingdings 2"/>
              <a:buChar char=""/>
            </a:pPr>
            <a:r>
              <a:rPr lang="fa-IR" sz="2400" b="1" dirty="0">
                <a:solidFill>
                  <a:schemeClr val="tx1"/>
                </a:solidFill>
                <a:latin typeface="Arial" pitchFamily="34" charset="0"/>
                <a:cs typeface="B Nazanin" panose="00000400000000000000" pitchFamily="2" charset="-78"/>
              </a:rPr>
              <a:t>اقدامات زیر باید برای پیشگیری و کنترل کمبود ویتامین </a:t>
            </a:r>
            <a:r>
              <a:rPr lang="en-US" sz="2400" b="1" dirty="0">
                <a:solidFill>
                  <a:schemeClr val="tx1"/>
                </a:solidFill>
                <a:latin typeface="Arial" pitchFamily="34" charset="0"/>
                <a:cs typeface="B Nazanin" panose="00000400000000000000" pitchFamily="2" charset="-78"/>
              </a:rPr>
              <a:t>A</a:t>
            </a:r>
            <a:r>
              <a:rPr lang="fa-IR" sz="2400" b="1" dirty="0">
                <a:solidFill>
                  <a:schemeClr val="tx1"/>
                </a:solidFill>
                <a:latin typeface="Arial" pitchFamily="34" charset="0"/>
                <a:cs typeface="B Nazanin" panose="00000400000000000000" pitchFamily="2" charset="-78"/>
              </a:rPr>
              <a:t> در کشور انجام شود:</a:t>
            </a:r>
          </a:p>
          <a:p>
            <a:pPr marL="274320" lvl="0" indent="-274320" algn="just" rtl="1">
              <a:lnSpc>
                <a:spcPct val="100000"/>
              </a:lnSpc>
              <a:spcBef>
                <a:spcPct val="20000"/>
              </a:spcBef>
              <a:buClr>
                <a:srgbClr val="0BD0D9"/>
              </a:buClr>
              <a:buSzPct val="95000"/>
              <a:buFont typeface="Wingdings 2"/>
              <a:buChar char=""/>
            </a:pPr>
            <a:r>
              <a:rPr lang="fa-IR" sz="2400" b="1" dirty="0">
                <a:solidFill>
                  <a:schemeClr val="tx1"/>
                </a:solidFill>
                <a:latin typeface="Arial" pitchFamily="34" charset="0"/>
                <a:cs typeface="B Nazanin" panose="00000400000000000000" pitchFamily="2" charset="-78"/>
              </a:rPr>
              <a:t>مکمل یاری برای کلیه‌ی کودکان، آموزش و مشاوره با مادر در زمینه‌ی منابع غذایی ویتامین </a:t>
            </a:r>
            <a:r>
              <a:rPr lang="en-US" sz="2400" b="1" dirty="0">
                <a:solidFill>
                  <a:schemeClr val="tx1"/>
                </a:solidFill>
                <a:latin typeface="Arial" pitchFamily="34" charset="0"/>
                <a:cs typeface="B Nazanin" panose="00000400000000000000" pitchFamily="2" charset="-78"/>
              </a:rPr>
              <a:t>A</a:t>
            </a:r>
            <a:r>
              <a:rPr lang="fa-IR" sz="2400" b="1" dirty="0">
                <a:solidFill>
                  <a:schemeClr val="tx1"/>
                </a:solidFill>
                <a:latin typeface="Arial" pitchFamily="34" charset="0"/>
                <a:cs typeface="B Nazanin" panose="00000400000000000000" pitchFamily="2" charset="-78"/>
              </a:rPr>
              <a:t> و مقدار و نحوه‌ی مصرف مکمل و زمان شروع و دوره‌ی استفاده‌ی آن</a:t>
            </a:r>
          </a:p>
          <a:p>
            <a:pPr marL="274320" lvl="0" indent="-274320" algn="just" rtl="1">
              <a:lnSpc>
                <a:spcPct val="100000"/>
              </a:lnSpc>
              <a:spcBef>
                <a:spcPct val="20000"/>
              </a:spcBef>
              <a:buClr>
                <a:srgbClr val="0BD0D9"/>
              </a:buClr>
              <a:buSzPct val="95000"/>
              <a:buFont typeface="Wingdings 2"/>
              <a:buChar char=""/>
            </a:pPr>
            <a:r>
              <a:rPr lang="fa-IR" sz="2400" b="1" dirty="0">
                <a:solidFill>
                  <a:schemeClr val="tx1"/>
                </a:solidFill>
                <a:latin typeface="Arial" pitchFamily="34" charset="0"/>
                <a:cs typeface="B Nazanin" panose="00000400000000000000" pitchFamily="2" charset="-78"/>
              </a:rPr>
              <a:t>پایش و نظارت بر اجرای برنامه مکمل‌یاری ویتامین </a:t>
            </a:r>
            <a:r>
              <a:rPr lang="en-US" sz="2400" b="1" dirty="0">
                <a:solidFill>
                  <a:schemeClr val="tx1"/>
                </a:solidFill>
                <a:latin typeface="Arial" pitchFamily="34" charset="0"/>
                <a:cs typeface="B Nazanin" panose="00000400000000000000" pitchFamily="2" charset="-78"/>
              </a:rPr>
              <a:t>D</a:t>
            </a:r>
            <a:r>
              <a:rPr lang="fa-IR" sz="2400" b="1" dirty="0">
                <a:solidFill>
                  <a:schemeClr val="tx1"/>
                </a:solidFill>
                <a:latin typeface="Arial" pitchFamily="34" charset="0"/>
                <a:cs typeface="B Nazanin" panose="00000400000000000000" pitchFamily="2" charset="-78"/>
              </a:rPr>
              <a:t> و آهن‌یاری هفتگی دختران دبیرستانی طبق دستورالعمل</a:t>
            </a:r>
          </a:p>
          <a:p>
            <a:pPr marL="274320" lvl="0" indent="-274320" algn="just" rtl="1">
              <a:lnSpc>
                <a:spcPct val="100000"/>
              </a:lnSpc>
              <a:spcBef>
                <a:spcPct val="20000"/>
              </a:spcBef>
              <a:buClr>
                <a:srgbClr val="0BD0D9"/>
              </a:buClr>
              <a:buSzPct val="95000"/>
              <a:buFont typeface="Wingdings 2"/>
              <a:buChar char=""/>
            </a:pPr>
            <a:r>
              <a:rPr lang="fa-IR" sz="2400" b="1" dirty="0">
                <a:solidFill>
                  <a:schemeClr val="tx1"/>
                </a:solidFill>
                <a:latin typeface="Arial" pitchFamily="34" charset="0"/>
                <a:cs typeface="B Nazanin" panose="00000400000000000000" pitchFamily="2" charset="-78"/>
              </a:rPr>
              <a:t>آموزش مدیران و معلمین، دانش آموزان و اولیا آن ها در زمینه ی کمبود ویتامین</a:t>
            </a:r>
            <a:r>
              <a:rPr lang="en-US" sz="2400" b="1" dirty="0">
                <a:solidFill>
                  <a:schemeClr val="tx1"/>
                </a:solidFill>
                <a:latin typeface="Arial" pitchFamily="34" charset="0"/>
                <a:cs typeface="B Nazanin" panose="00000400000000000000" pitchFamily="2" charset="-78"/>
              </a:rPr>
              <a:t>D </a:t>
            </a:r>
            <a:r>
              <a:rPr lang="fa-IR" sz="2400" b="1" dirty="0">
                <a:solidFill>
                  <a:schemeClr val="tx1"/>
                </a:solidFill>
                <a:latin typeface="Arial" pitchFamily="34" charset="0"/>
                <a:cs typeface="B Nazanin" panose="00000400000000000000" pitchFamily="2" charset="-78"/>
              </a:rPr>
              <a:t> و راه‌های پیشگیری از آن</a:t>
            </a:r>
          </a:p>
          <a:p>
            <a:pPr marL="274320" lvl="0" indent="-274320" algn="just" rtl="1">
              <a:lnSpc>
                <a:spcPct val="100000"/>
              </a:lnSpc>
              <a:spcBef>
                <a:spcPct val="20000"/>
              </a:spcBef>
              <a:buClr>
                <a:srgbClr val="0BD0D9"/>
              </a:buClr>
              <a:buSzPct val="95000"/>
              <a:buFont typeface="Wingdings 2"/>
              <a:buChar char=""/>
            </a:pPr>
            <a:r>
              <a:rPr lang="fa-IR" sz="2400" b="1" dirty="0">
                <a:solidFill>
                  <a:schemeClr val="tx1"/>
                </a:solidFill>
                <a:latin typeface="Arial" pitchFamily="34" charset="0"/>
                <a:cs typeface="B Nazanin" panose="00000400000000000000" pitchFamily="2" charset="-78"/>
              </a:rPr>
              <a:t>پایش و نظارت بر اجرای برنامه مکمل‌یاری ویتامین </a:t>
            </a:r>
            <a:r>
              <a:rPr lang="en-US" sz="2400" b="1" dirty="0">
                <a:solidFill>
                  <a:schemeClr val="tx1"/>
                </a:solidFill>
                <a:latin typeface="Arial" pitchFamily="34" charset="0"/>
                <a:cs typeface="B Nazanin" panose="00000400000000000000" pitchFamily="2" charset="-78"/>
              </a:rPr>
              <a:t>D</a:t>
            </a:r>
            <a:r>
              <a:rPr lang="fa-IR" sz="2400" b="1" dirty="0">
                <a:solidFill>
                  <a:schemeClr val="tx1"/>
                </a:solidFill>
                <a:latin typeface="Arial" pitchFamily="34" charset="0"/>
                <a:cs typeface="B Nazanin" panose="00000400000000000000" pitchFamily="2" charset="-78"/>
              </a:rPr>
              <a:t> مادران باردار، جوانان، میانسالان و سالمندان طبق دستورالعمل‌ها</a:t>
            </a:r>
          </a:p>
        </p:txBody>
      </p:sp>
      <p:sp>
        <p:nvSpPr>
          <p:cNvPr id="4" name="Slide Number Placeholder 3"/>
          <p:cNvSpPr>
            <a:spLocks noGrp="1"/>
          </p:cNvSpPr>
          <p:nvPr>
            <p:ph type="sldNum" sz="quarter" idx="12"/>
          </p:nvPr>
        </p:nvSpPr>
        <p:spPr/>
        <p:txBody>
          <a:bodyPr/>
          <a:lstStyle/>
          <a:p>
            <a:fld id="{2D8CB573-7144-4842-A8FD-250830F20887}" type="slidenum">
              <a:rPr lang="en-US" smtClean="0"/>
              <a:t>58</a:t>
            </a:fld>
            <a:endParaRPr lang="en-US"/>
          </a:p>
        </p:txBody>
      </p:sp>
    </p:spTree>
    <p:extLst>
      <p:ext uri="{BB962C8B-B14F-4D97-AF65-F5344CB8AC3E}">
        <p14:creationId xmlns:p14="http://schemas.microsoft.com/office/powerpoint/2010/main" val="358099214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43000" y="696687"/>
            <a:ext cx="9872871" cy="5399314"/>
          </a:xfrm>
        </p:spPr>
        <p:txBody>
          <a:bodyPr/>
          <a:lstStyle/>
          <a:p>
            <a:pPr algn="r" rtl="1">
              <a:lnSpc>
                <a:spcPct val="150000"/>
              </a:lnSpc>
            </a:pPr>
            <a:r>
              <a:rPr lang="fa-IR" dirty="0">
                <a:solidFill>
                  <a:schemeClr val="tx1"/>
                </a:solidFill>
                <a:cs typeface="2  Titr" panose="00000700000000000000" pitchFamily="2" charset="-78"/>
              </a:rPr>
              <a:t>برنامه کنترل و پیشگیری دیابت</a:t>
            </a:r>
          </a:p>
          <a:p>
            <a:pPr algn="r" rtl="1">
              <a:lnSpc>
                <a:spcPct val="150000"/>
              </a:lnSpc>
            </a:pPr>
            <a:r>
              <a:rPr lang="fa-IR" dirty="0">
                <a:solidFill>
                  <a:schemeClr val="tx1"/>
                </a:solidFill>
                <a:cs typeface="2  Titr" panose="00000700000000000000" pitchFamily="2" charset="-78"/>
              </a:rPr>
              <a:t>برنامه کنترل و پیشگیری از سرطان</a:t>
            </a:r>
          </a:p>
          <a:p>
            <a:pPr algn="r" rtl="1">
              <a:lnSpc>
                <a:spcPct val="150000"/>
              </a:lnSpc>
            </a:pPr>
            <a:r>
              <a:rPr lang="fa-IR" dirty="0">
                <a:solidFill>
                  <a:schemeClr val="tx1"/>
                </a:solidFill>
                <a:cs typeface="2  Titr" panose="00000700000000000000" pitchFamily="2" charset="-78"/>
              </a:rPr>
              <a:t>برنامه کنترل و پیشگیری از بیماری های قلبی و عروقی</a:t>
            </a:r>
          </a:p>
          <a:p>
            <a:pPr algn="r" rtl="1">
              <a:lnSpc>
                <a:spcPct val="150000"/>
              </a:lnSpc>
            </a:pPr>
            <a:r>
              <a:rPr lang="fa-IR" dirty="0">
                <a:solidFill>
                  <a:schemeClr val="tx1"/>
                </a:solidFill>
                <a:cs typeface="2  Titr" panose="00000700000000000000" pitchFamily="2" charset="-78"/>
              </a:rPr>
              <a:t>برنامه کنترل و پیشگیری از فشار خون</a:t>
            </a:r>
          </a:p>
          <a:p>
            <a:pPr algn="r" rtl="1">
              <a:lnSpc>
                <a:spcPct val="150000"/>
              </a:lnSpc>
            </a:pPr>
            <a:r>
              <a:rPr lang="fa-IR" dirty="0">
                <a:solidFill>
                  <a:schemeClr val="tx1"/>
                </a:solidFill>
                <a:cs typeface="2  Titr" panose="00000700000000000000" pitchFamily="2" charset="-78"/>
              </a:rPr>
              <a:t>برنامه ترویج تغذیه با شیر مادر</a:t>
            </a:r>
          </a:p>
          <a:p>
            <a:pPr algn="r" rtl="1">
              <a:lnSpc>
                <a:spcPct val="150000"/>
              </a:lnSpc>
            </a:pPr>
            <a:r>
              <a:rPr lang="fa-IR" dirty="0">
                <a:solidFill>
                  <a:schemeClr val="tx1"/>
                </a:solidFill>
                <a:cs typeface="2  Titr" panose="00000700000000000000" pitchFamily="2" charset="-78"/>
              </a:rPr>
              <a:t>برنامه تغذیه ای مراقبت از مادران شیرده</a:t>
            </a:r>
          </a:p>
          <a:p>
            <a:pPr algn="r" rtl="1">
              <a:lnSpc>
                <a:spcPct val="150000"/>
              </a:lnSpc>
            </a:pPr>
            <a:r>
              <a:rPr lang="fa-IR" dirty="0">
                <a:solidFill>
                  <a:schemeClr val="tx1"/>
                </a:solidFill>
                <a:cs typeface="2  Titr" panose="00000700000000000000" pitchFamily="2" charset="-78"/>
              </a:rPr>
              <a:t>برنامه تغذیه ای مراقبت از مادران باردار</a:t>
            </a:r>
          </a:p>
          <a:p>
            <a:pPr algn="r" rtl="1">
              <a:lnSpc>
                <a:spcPct val="150000"/>
              </a:lnSpc>
            </a:pPr>
            <a:r>
              <a:rPr lang="fa-IR" dirty="0">
                <a:solidFill>
                  <a:schemeClr val="tx1"/>
                </a:solidFill>
                <a:cs typeface="2  Titr" panose="00000700000000000000" pitchFamily="2" charset="-78"/>
              </a:rPr>
              <a:t>برنامه تغذیه ای مراقبت از کودکان زیر 6 سال</a:t>
            </a:r>
            <a:endParaRPr lang="en-US" dirty="0">
              <a:solidFill>
                <a:schemeClr val="tx1"/>
              </a:solidFill>
              <a:cs typeface="2  Titr" panose="00000700000000000000" pitchFamily="2" charset="-78"/>
            </a:endParaRPr>
          </a:p>
        </p:txBody>
      </p:sp>
      <p:sp>
        <p:nvSpPr>
          <p:cNvPr id="4" name="Slide Number Placeholder 3"/>
          <p:cNvSpPr>
            <a:spLocks noGrp="1"/>
          </p:cNvSpPr>
          <p:nvPr>
            <p:ph type="sldNum" sz="quarter" idx="12"/>
          </p:nvPr>
        </p:nvSpPr>
        <p:spPr/>
        <p:txBody>
          <a:bodyPr/>
          <a:lstStyle/>
          <a:p>
            <a:fld id="{2D8CB573-7144-4842-A8FD-250830F20887}" type="slidenum">
              <a:rPr lang="en-US" smtClean="0"/>
              <a:t>59</a:t>
            </a:fld>
            <a:endParaRPr lang="en-US"/>
          </a:p>
        </p:txBody>
      </p:sp>
    </p:spTree>
    <p:extLst>
      <p:ext uri="{BB962C8B-B14F-4D97-AF65-F5344CB8AC3E}">
        <p14:creationId xmlns:p14="http://schemas.microsoft.com/office/powerpoint/2010/main" val="1660215794"/>
      </p:ext>
    </p:extLst>
  </p:cSld>
  <p:clrMapOvr>
    <a:masterClrMapping/>
  </p:clrMapOvr>
</p:sld>
</file>

<file path=ppt/theme/theme1.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Basis">
      <a:maj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Basis">
      <a:fillStyleLst>
        <a:solidFill>
          <a:schemeClr val="phClr"/>
        </a:solidFill>
        <a:solidFill>
          <a:schemeClr val="phClr">
            <a:tint val="55000"/>
            <a:satMod val="130000"/>
          </a:schemeClr>
        </a:solidFill>
        <a:gradFill rotWithShape="1">
          <a:gsLst>
            <a:gs pos="0">
              <a:schemeClr val="phClr"/>
            </a:gs>
            <a:gs pos="90000">
              <a:schemeClr val="phClr">
                <a:shade val="100000"/>
                <a:satMod val="105000"/>
              </a:schemeClr>
            </a:gs>
            <a:gs pos="100000">
              <a:schemeClr val="phClr">
                <a:shade val="80000"/>
                <a:satMod val="120000"/>
              </a:schemeClr>
            </a:gs>
          </a:gsLst>
          <a:path path="circle">
            <a:fillToRect l="100000" t="100000" r="100000" b="100000"/>
          </a:path>
        </a:gradFill>
      </a:fillStyleLst>
      <a:lnStyleLst>
        <a:ln w="10000" cap="flat" cmpd="sng" algn="ctr">
          <a:solidFill>
            <a:schemeClr val="phClr"/>
          </a:solidFill>
          <a:prstDash val="solid"/>
        </a:ln>
        <a:ln w="19050" cap="flat" cmpd="sng" algn="ctr">
          <a:solidFill>
            <a:schemeClr val="phClr"/>
          </a:solidFill>
          <a:prstDash val="solid"/>
        </a:ln>
        <a:ln w="53975" cap="flat" cmpd="dbl"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hemeClr val="phClr">
                <a:shade val="27000"/>
                <a:satMod val="120000"/>
              </a:schemeClr>
            </a:contourClr>
          </a:sp3d>
        </a:effectStyle>
      </a:effectStyleLst>
      <a:bgFillStyleLst>
        <a:solidFill>
          <a:schemeClr val="phClr"/>
        </a:solidFill>
        <a:solidFill>
          <a:schemeClr val="phClr">
            <a:tint val="95000"/>
            <a:shade val="95000"/>
            <a:satMod val="140000"/>
          </a:schemeClr>
        </a:solidFill>
        <a:solidFill>
          <a:schemeClr val="phClr">
            <a:tint val="90000"/>
            <a:shade val="85000"/>
            <a:satMod val="160000"/>
            <a:lumMod val="110000"/>
          </a:schemeClr>
        </a:solidFill>
      </a:bgFillStyleLst>
    </a:fmtScheme>
  </a:themeElements>
  <a:objectDefaults/>
  <a:extraClrSchemeLst/>
  <a:extLst>
    <a:ext uri="{05A4C25C-085E-4340-85A3-A5531E510DB2}">
      <thm15:themeFamily xmlns:thm15="http://schemas.microsoft.com/office/thememl/2012/main" name="Basis" id="{5665723A-49BA-4B57-8411-A56F8F207965}" vid="{90E45F77-AEFC-46EF-A7C1-5B338C297B02}"/>
    </a:ext>
  </a:extLst>
</a:theme>
</file>

<file path=ppt/theme/theme2.xml><?xml version="1.0" encoding="utf-8"?>
<a:theme xmlns:a="http://schemas.openxmlformats.org/drawingml/2006/main" name="1_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Basis">
      <a:maj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Basis">
      <a:fillStyleLst>
        <a:solidFill>
          <a:schemeClr val="phClr"/>
        </a:solidFill>
        <a:solidFill>
          <a:schemeClr val="phClr">
            <a:tint val="55000"/>
            <a:satMod val="130000"/>
          </a:schemeClr>
        </a:solidFill>
        <a:gradFill rotWithShape="1">
          <a:gsLst>
            <a:gs pos="0">
              <a:schemeClr val="phClr"/>
            </a:gs>
            <a:gs pos="90000">
              <a:schemeClr val="phClr">
                <a:shade val="100000"/>
                <a:satMod val="105000"/>
              </a:schemeClr>
            </a:gs>
            <a:gs pos="100000">
              <a:schemeClr val="phClr">
                <a:shade val="80000"/>
                <a:satMod val="120000"/>
              </a:schemeClr>
            </a:gs>
          </a:gsLst>
          <a:path path="circle">
            <a:fillToRect l="100000" t="100000" r="100000" b="100000"/>
          </a:path>
        </a:gradFill>
      </a:fillStyleLst>
      <a:lnStyleLst>
        <a:ln w="10000" cap="flat" cmpd="sng" algn="ctr">
          <a:solidFill>
            <a:schemeClr val="phClr"/>
          </a:solidFill>
          <a:prstDash val="solid"/>
        </a:ln>
        <a:ln w="19050" cap="flat" cmpd="sng" algn="ctr">
          <a:solidFill>
            <a:schemeClr val="phClr"/>
          </a:solidFill>
          <a:prstDash val="solid"/>
        </a:ln>
        <a:ln w="53975" cap="flat" cmpd="dbl"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hemeClr val="phClr">
                <a:shade val="27000"/>
                <a:satMod val="120000"/>
              </a:schemeClr>
            </a:contourClr>
          </a:sp3d>
        </a:effectStyle>
      </a:effectStyleLst>
      <a:bgFillStyleLst>
        <a:solidFill>
          <a:schemeClr val="phClr"/>
        </a:solidFill>
        <a:solidFill>
          <a:schemeClr val="phClr">
            <a:tint val="95000"/>
            <a:shade val="95000"/>
            <a:satMod val="140000"/>
          </a:schemeClr>
        </a:solidFill>
        <a:solidFill>
          <a:schemeClr val="phClr">
            <a:tint val="90000"/>
            <a:shade val="85000"/>
            <a:satMod val="160000"/>
            <a:lumMod val="110000"/>
          </a:schemeClr>
        </a:solidFill>
      </a:bgFillStyleLst>
    </a:fmtScheme>
  </a:themeElements>
  <a:objectDefaults/>
  <a:extraClrSchemeLst/>
  <a:extLst>
    <a:ext uri="{05A4C25C-085E-4340-85A3-A5531E510DB2}">
      <thm15:themeFamily xmlns:thm15="http://schemas.microsoft.com/office/thememl/2012/main" name="Basis" id="{5665723A-49BA-4B57-8411-A56F8F207965}" vid="{ACC63D00-1EE0-4159-BF5A-6FF02000B710}"/>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Basis</Template>
  <TotalTime>2422</TotalTime>
  <Words>2888</Words>
  <Application>Microsoft Office PowerPoint</Application>
  <PresentationFormat>Widescreen</PresentationFormat>
  <Paragraphs>262</Paragraphs>
  <Slides>59</Slides>
  <Notes>1</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59</vt:i4>
      </vt:variant>
    </vt:vector>
  </HeadingPairs>
  <TitlesOfParts>
    <vt:vector size="71" baseType="lpstr">
      <vt:lpstr>2  Titr</vt:lpstr>
      <vt:lpstr>Arial</vt:lpstr>
      <vt:lpstr>B Nazanin</vt:lpstr>
      <vt:lpstr>Calibri</vt:lpstr>
      <vt:lpstr>Constantia</vt:lpstr>
      <vt:lpstr>Corbel</vt:lpstr>
      <vt:lpstr>Times New Roman</vt:lpstr>
      <vt:lpstr>Traditional Arabic</vt:lpstr>
      <vt:lpstr>Wingdings</vt:lpstr>
      <vt:lpstr>Wingdings 2</vt:lpstr>
      <vt:lpstr>Basis</vt:lpstr>
      <vt:lpstr>1_Basis</vt:lpstr>
      <vt:lpstr>تغذیه‌ در مراقبت‌های بهداشتی</vt:lpstr>
      <vt:lpstr>نظام سلامت</vt:lpstr>
      <vt:lpstr>اصول مراقبت‌های بهداشتی اولیه شامل:</vt:lpstr>
      <vt:lpstr>ادامه‌ی اصول مراقبت‌های بهداشتی اولیه...</vt:lpstr>
      <vt:lpstr>ادامه‌ی اصول مراقبت‌های بهداشتی اولیه...</vt:lpstr>
      <vt:lpstr>اجزای مراقبت‌های بهداشتی اولیه</vt:lpstr>
      <vt:lpstr>PowerPoint Presentation</vt:lpstr>
      <vt:lpstr>واحدهای ارائه خدمات سلامت در کشور</vt:lpstr>
      <vt:lpstr>ادامه‌ی واحدهای ارائه خدمات سلامت در کشور...</vt:lpstr>
      <vt:lpstr>سطوح ارائه خدمات شبکه بهداشتی درمانی دانشگاهی و نظام ارجاع</vt:lpstr>
      <vt:lpstr>PowerPoint Presentation</vt:lpstr>
      <vt:lpstr>ضرورت بکارگیری نظام ارجاع</vt:lpstr>
      <vt:lpstr>اهداف طرح تحول نظام سلامت در حوزه تغذیه</vt:lpstr>
      <vt:lpstr>مراقبت‌های تغذیه‌ای برنامه تحول سلامت</vt:lpstr>
      <vt:lpstr>PowerPoint Presentation</vt:lpstr>
      <vt:lpstr>PowerPoint Presentation</vt:lpstr>
      <vt:lpstr>PowerPoint Presentation</vt:lpstr>
      <vt:lpstr>PowerPoint Presentation</vt:lpstr>
      <vt:lpstr>افراد نیازمند به خدمات تغذیه‌ای:</vt:lpstr>
      <vt:lpstr>PowerPoint Presentation</vt:lpstr>
      <vt:lpstr>ابزار و ملزومات ارائه خدمات تغذیه‌ای در اتاق مراقبت سلامت</vt:lpstr>
      <vt:lpstr>مکمل‌های مورد نیاز گروه‌های سنی و فیزیولوژیک جهت ارائه توسط مراقبت سلامت</vt:lpstr>
      <vt:lpstr>PowerPoint Presentation</vt:lpstr>
      <vt:lpstr>PowerPoint Presentation</vt:lpstr>
      <vt:lpstr>RDA</vt:lpstr>
      <vt:lpstr>PowerPoint Presentation</vt:lpstr>
      <vt:lpstr>PowerPoint Presentation</vt:lpstr>
      <vt:lpstr>PowerPoint Presentation</vt:lpstr>
      <vt:lpstr>PowerPoint Presentation</vt:lpstr>
      <vt:lpstr>در خصوص مکمل‌ها به نکات زیر توجه گردد:</vt:lpstr>
      <vt:lpstr>PowerPoint Presentation</vt:lpstr>
      <vt:lpstr>PowerPoint Presentation</vt:lpstr>
      <vt:lpstr>خدمات و مراقبت‌های تغذیه‌ای طرح تحول نظام سلامت</vt:lpstr>
      <vt:lpstr>شرح وظایف مراقب سلامت</vt:lpstr>
      <vt:lpstr>برنامه‌‌های تغذیه‌ای جاری در نظام مراقبت‌های بهداشتی در ایران</vt:lpstr>
      <vt:lpstr>وظایف کارشناس تغذیه در انجام مشاوره‌های فردی برای گروه‌های سنی</vt:lpstr>
      <vt:lpstr>Preeclampsia</vt:lpstr>
      <vt:lpstr>PowerPoint Presentation</vt:lpstr>
      <vt:lpstr>PowerPoint Presentation</vt:lpstr>
      <vt:lpstr>PowerPoint Presentation</vt:lpstr>
      <vt:lpstr>PowerPoint Presentation</vt:lpstr>
      <vt:lpstr>اندازه‌گیری وزن و قد</vt:lpstr>
      <vt:lpstr>آمادگی برای توزین</vt:lpstr>
      <vt:lpstr>توزين کودک کوچکتر از 2 سال</vt:lpstr>
      <vt:lpstr>ادامه‌ی توزين کودک کوچکتر از 2 سال...</vt:lpstr>
      <vt:lpstr>PowerPoint Presentation</vt:lpstr>
      <vt:lpstr>توزين کودک بزرگتر از 2 سال</vt:lpstr>
      <vt:lpstr>PowerPoint Presentation</vt:lpstr>
      <vt:lpstr>روش توزين کودکان زير دو سال همراه با مادر</vt:lpstr>
      <vt:lpstr>اندازه‌گیري قد کودکان و نوجوانان</vt:lpstr>
      <vt:lpstr>ادامه‌ی اندازه‌گیري قد کودکان و نوجوانان...</vt:lpstr>
      <vt:lpstr>PowerPoint Presentation</vt:lpstr>
      <vt:lpstr>PowerPoint Presentation</vt:lpstr>
      <vt:lpstr>برنامه‌های پیشگیری و کنترل کمبود ریزمغذی‌ها در ایران</vt:lpstr>
      <vt:lpstr>برنامه‌ی پیشگیری و کنترل اختلالات ناشی از کمبود ید</vt:lpstr>
      <vt:lpstr>برنامه‌ی پیشگیری و کنترل کمبود آهن</vt:lpstr>
      <vt:lpstr>برنامه غنی‌سازي با آهن و اسید فولیک</vt:lpstr>
      <vt:lpstr>پیشگیری و کنترل کمبود ویتامینA  و D</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خدمات تغذیه‌ای در مراقبت‌های اولیه بهداشت</dc:title>
  <dc:creator>Faezeh Ghalichi</dc:creator>
  <cp:lastModifiedBy>Baharak Aghapour</cp:lastModifiedBy>
  <cp:revision>100</cp:revision>
  <dcterms:created xsi:type="dcterms:W3CDTF">2023-09-12T14:42:44Z</dcterms:created>
  <dcterms:modified xsi:type="dcterms:W3CDTF">2026-10-12T05:04:24Z</dcterms:modified>
</cp:coreProperties>
</file>