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65" r:id="rId3"/>
    <p:sldId id="258" r:id="rId4"/>
    <p:sldId id="310" r:id="rId5"/>
    <p:sldId id="311" r:id="rId6"/>
    <p:sldId id="312" r:id="rId7"/>
    <p:sldId id="313" r:id="rId8"/>
    <p:sldId id="314" r:id="rId9"/>
    <p:sldId id="315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1" r:id="rId20"/>
    <p:sldId id="332" r:id="rId21"/>
    <p:sldId id="333" r:id="rId22"/>
    <p:sldId id="334" r:id="rId23"/>
    <p:sldId id="335" r:id="rId24"/>
    <p:sldId id="339" r:id="rId25"/>
    <p:sldId id="344" r:id="rId26"/>
    <p:sldId id="309" r:id="rId27"/>
  </p:sldIdLst>
  <p:sldSz cx="12192000" cy="6858000"/>
  <p:notesSz cx="6858000" cy="9144000"/>
  <p:defaultTextStyle>
    <a:defPPr>
      <a:defRPr lang="fa-IR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BE1887"/>
    <a:srgbClr val="CC9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033383F-B40B-4541-801F-83D11B1DDCF0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4AB38093-69F0-493A-83A5-EF0E3199355E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130702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C248DFA-E872-4BD4-9D26-2656DEDA2C71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1908FB6D-4C5B-42CE-8853-32F523DEA35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5308007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08FB6D-4C5B-42CE-8853-32F523DEA353}" type="slidenum">
              <a:rPr lang="fa-IR" smtClean="0"/>
              <a:t>11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864516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173788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7966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613064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3232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75070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93251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97998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017602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a-I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35491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176982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549874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fa-I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5E8288-0A5A-411F-B58B-BF06AB871DBC}" type="datetimeFigureOut">
              <a:rPr lang="fa-IR" smtClean="0"/>
              <a:t>29/04/1448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9DEA9-7745-4FA4-AEE3-CDE9EE18A19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80022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a-IR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1450"/>
            <a:ext cx="9144000" cy="2387600"/>
          </a:xfrm>
        </p:spPr>
        <p:txBody>
          <a:bodyPr/>
          <a:lstStyle/>
          <a:p>
            <a:r>
              <a:rPr lang="fa-IR" dirty="0">
                <a:cs typeface="B Titr" panose="00000700000000000000" pitchFamily="2" charset="-78"/>
              </a:rPr>
              <a:t>هضم، جذب، متابولیسم و نقش مواد مغذی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8861986-5866-23D1-B200-3277C4F02B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7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001"/>
    </mc:Choice>
    <mc:Fallback xmlns="">
      <p:transition spd="slow" advTm="1900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انرژی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52" y="1825625"/>
            <a:ext cx="11990231" cy="4351338"/>
          </a:xfrm>
        </p:spPr>
        <p:txBody>
          <a:bodyPr>
            <a:normAutofit fontScale="92500"/>
          </a:bodyPr>
          <a:lstStyle/>
          <a:p>
            <a:r>
              <a:rPr lang="fa-IR" sz="3200" b="1" dirty="0">
                <a:solidFill>
                  <a:schemeClr val="accent5">
                    <a:lumMod val="50000"/>
                  </a:schemeClr>
                </a:solidFill>
                <a:cs typeface="B Nazanin" panose="00000400000000000000" pitchFamily="2" charset="-78"/>
              </a:rPr>
              <a:t>انرژی:</a:t>
            </a:r>
          </a:p>
          <a:p>
            <a:pPr marL="0" indent="0">
              <a:buNone/>
            </a:pP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توانایی انجام کار </a:t>
            </a:r>
            <a:r>
              <a:rPr lang="fa-IR" b="1" dirty="0">
                <a:cs typeface="B Nazanin" panose="00000400000000000000" pitchFamily="2" charset="-78"/>
              </a:rPr>
              <a:t>است.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بر پایه قوانین ترمودینامیک انرژی نه تولید می شود و نه از بین می رود بلکه از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شکلی به شکل دیگر تبدیل </a:t>
            </a:r>
            <a:r>
              <a:rPr lang="fa-IR" b="1" dirty="0">
                <a:cs typeface="B Nazanin" panose="00000400000000000000" pitchFamily="2" charset="-78"/>
              </a:rPr>
              <a:t>می شود.</a:t>
            </a:r>
            <a:endParaRPr lang="fa-IR" b="1" u="sng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انرژی موجود در باندهای شیمیایی موجود در غذا باید طی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متابولیسم</a:t>
            </a:r>
            <a:r>
              <a:rPr lang="fa-IR" b="1" dirty="0">
                <a:cs typeface="B Nazanin" panose="00000400000000000000" pitchFamily="2" charset="-78"/>
              </a:rPr>
              <a:t> آزاد شود و این انرژی جهت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ادامه بقا </a:t>
            </a:r>
            <a:r>
              <a:rPr lang="fa-IR" b="1" dirty="0">
                <a:cs typeface="B Nazanin" panose="00000400000000000000" pitchFamily="2" charset="-78"/>
              </a:rPr>
              <a:t>در انسان باید همواره فراهم گردد.</a:t>
            </a:r>
            <a:endParaRPr lang="fa-IR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تمام انرژی غذا بصورت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گرما</a:t>
            </a:r>
            <a:r>
              <a:rPr lang="fa-IR" b="1" dirty="0">
                <a:cs typeface="B Nazanin" panose="00000400000000000000" pitchFamily="2" charset="-78"/>
              </a:rPr>
              <a:t> یا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کار خارجی </a:t>
            </a:r>
            <a:r>
              <a:rPr lang="fa-IR" b="1" dirty="0">
                <a:cs typeface="B Nazanin" panose="00000400000000000000" pitchFamily="2" charset="-78"/>
              </a:rPr>
              <a:t>از بدن خارج می شود.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47792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98"/>
    </mc:Choice>
    <mc:Fallback xmlns="">
      <p:transition spd="slow" advTm="689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انرژی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003" y="1825625"/>
            <a:ext cx="11410682" cy="4351338"/>
          </a:xfrm>
        </p:spPr>
        <p:txBody>
          <a:bodyPr>
            <a:normAutofit/>
          </a:bodyPr>
          <a:lstStyle/>
          <a:p>
            <a:r>
              <a:rPr lang="fa-IR" sz="3200" b="1" dirty="0">
                <a:cs typeface="B Nazanin" panose="00000400000000000000" pitchFamily="2" charset="-78"/>
              </a:rPr>
              <a:t>انرژی غذا از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کربوهیدرات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پروتئین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چربی</a:t>
            </a:r>
            <a:r>
              <a:rPr lang="fa-IR" sz="3200" b="1" dirty="0">
                <a:cs typeface="B Nazanin" panose="00000400000000000000" pitchFamily="2" charset="-78"/>
              </a:rPr>
              <a:t> 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الکل</a:t>
            </a:r>
            <a:r>
              <a:rPr lang="fa-IR" sz="3200" b="1" dirty="0">
                <a:cs typeface="B Nazanin" panose="00000400000000000000" pitchFamily="2" charset="-78"/>
              </a:rPr>
              <a:t> موجود در رژیم کسب می شود.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انرژی بصورت اشکال زیر بیان می شود:</a:t>
            </a:r>
          </a:p>
          <a:p>
            <a:pPr marL="0" indent="0">
              <a:buNone/>
            </a:pPr>
            <a:r>
              <a:rPr lang="fa-IR" sz="3200" b="1" dirty="0">
                <a:cs typeface="B Nazanin" panose="00000400000000000000" pitchFamily="2" charset="-78"/>
              </a:rPr>
              <a:t>1) کالری: یک کالری مقدار گرمای مورد نیاز برای بالا بردن دمای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یک گرم آب </a:t>
            </a:r>
            <a:r>
              <a:rPr lang="fa-IR" sz="3200" b="1" dirty="0">
                <a:cs typeface="B Nazanin" panose="00000400000000000000" pitchFamily="2" charset="-78"/>
              </a:rPr>
              <a:t>به میزان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یک درجه سانتی گراد </a:t>
            </a:r>
            <a:r>
              <a:rPr lang="fa-IR" sz="3200" b="1" dirty="0">
                <a:cs typeface="B Nazanin" panose="00000400000000000000" pitchFamily="2" charset="-78"/>
              </a:rPr>
              <a:t>از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15</a:t>
            </a:r>
            <a:r>
              <a:rPr lang="fa-IR" sz="3200" b="1" dirty="0">
                <a:cs typeface="B Nazanin" panose="00000400000000000000" pitchFamily="2" charset="-78"/>
              </a:rPr>
              <a:t> درجه سانتی گراد به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16</a:t>
            </a:r>
            <a:r>
              <a:rPr lang="fa-IR" sz="3200" b="1" dirty="0">
                <a:cs typeface="B Nazanin" panose="00000400000000000000" pitchFamily="2" charset="-78"/>
              </a:rPr>
              <a:t> درجه سانتی گراد است.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00888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دریافت انرژی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003" y="1825625"/>
            <a:ext cx="11410682" cy="4351338"/>
          </a:xfrm>
        </p:spPr>
        <p:txBody>
          <a:bodyPr>
            <a:normAutofit/>
          </a:bodyPr>
          <a:lstStyle/>
          <a:p>
            <a:r>
              <a:rPr lang="fa-IR" sz="3200" b="1" dirty="0">
                <a:cs typeface="B Nazanin" panose="00000400000000000000" pitchFamily="2" charset="-78"/>
              </a:rPr>
              <a:t>کالری از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کربوهیدرات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پروتئین</a:t>
            </a:r>
            <a:r>
              <a:rPr lang="fa-IR" sz="3200" b="1" dirty="0">
                <a:cs typeface="B Nazanin" panose="00000400000000000000" pitchFamily="2" charset="-78"/>
              </a:rPr>
              <a:t>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چربی</a:t>
            </a:r>
            <a:r>
              <a:rPr lang="fa-IR" sz="3200" b="1" dirty="0">
                <a:cs typeface="B Nazanin" panose="00000400000000000000" pitchFamily="2" charset="-78"/>
              </a:rPr>
              <a:t> 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الکل</a:t>
            </a:r>
            <a:r>
              <a:rPr lang="fa-IR" sz="3200" b="1" dirty="0">
                <a:cs typeface="B Nazanin" panose="00000400000000000000" pitchFamily="2" charset="-78"/>
              </a:rPr>
              <a:t> بدست می آید.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کربوهیدرات: </a:t>
            </a:r>
            <a:r>
              <a:rPr lang="en-GB" sz="3200" b="1" dirty="0">
                <a:cs typeface="B Nazanin" panose="00000400000000000000" pitchFamily="2" charset="-78"/>
              </a:rPr>
              <a:t>gr/Kcal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4</a:t>
            </a:r>
          </a:p>
          <a:p>
            <a:r>
              <a:rPr lang="fa-IR" sz="3200" b="1" dirty="0">
                <a:cs typeface="B Nazanin" panose="00000400000000000000" pitchFamily="2" charset="-78"/>
              </a:rPr>
              <a:t>پروتئین: </a:t>
            </a:r>
            <a:r>
              <a:rPr lang="en-GB" sz="3200" b="1" dirty="0">
                <a:cs typeface="B Nazanin" panose="00000400000000000000" pitchFamily="2" charset="-78"/>
              </a:rPr>
              <a:t>gr/Kcal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4</a:t>
            </a:r>
          </a:p>
          <a:p>
            <a:r>
              <a:rPr lang="fa-IR" sz="3200" b="1" dirty="0">
                <a:cs typeface="B Nazanin" panose="00000400000000000000" pitchFamily="2" charset="-78"/>
              </a:rPr>
              <a:t>چربی: </a:t>
            </a:r>
            <a:r>
              <a:rPr lang="en-GB" sz="3200" b="1" dirty="0">
                <a:cs typeface="B Nazanin" panose="00000400000000000000" pitchFamily="2" charset="-78"/>
              </a:rPr>
              <a:t>gr/Kcal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9</a:t>
            </a:r>
          </a:p>
          <a:p>
            <a:r>
              <a:rPr lang="fa-IR" sz="3200" b="1" dirty="0">
                <a:cs typeface="B Nazanin" panose="00000400000000000000" pitchFamily="2" charset="-78"/>
              </a:rPr>
              <a:t>الکل: </a:t>
            </a:r>
            <a:r>
              <a:rPr lang="en-GB" sz="3200" b="1" dirty="0">
                <a:cs typeface="B Nazanin" panose="00000400000000000000" pitchFamily="2" charset="-78"/>
              </a:rPr>
              <a:t>gr/Kcal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7</a:t>
            </a: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  <a:p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53799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مصرف انرژی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003" y="1825625"/>
            <a:ext cx="11410682" cy="4351338"/>
          </a:xfrm>
        </p:spPr>
        <p:txBody>
          <a:bodyPr>
            <a:normAutofit/>
          </a:bodyPr>
          <a:lstStyle/>
          <a:p>
            <a:r>
              <a:rPr lang="fa-IR" sz="3200" b="1" dirty="0">
                <a:cs typeface="B Nazanin" panose="00000400000000000000" pitchFamily="2" charset="-78"/>
              </a:rPr>
              <a:t>بدن انرژی را برای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فعالیت های غیر ارادی </a:t>
            </a:r>
            <a:r>
              <a:rPr lang="fa-IR" sz="3200" b="1" dirty="0">
                <a:cs typeface="B Nazanin" panose="00000400000000000000" pitchFamily="2" charset="-78"/>
              </a:rPr>
              <a:t>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فعالیت های فیزیکی ارادی </a:t>
            </a:r>
            <a:r>
              <a:rPr lang="fa-IR" sz="3200" b="1" dirty="0">
                <a:cs typeface="B Nazanin" panose="00000400000000000000" pitchFamily="2" charset="-78"/>
              </a:rPr>
              <a:t>استفاده می کند.</a:t>
            </a:r>
          </a:p>
          <a:p>
            <a:pPr marL="0" indent="0">
              <a:buNone/>
            </a:pP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r>
              <a:rPr lang="fa-IR" sz="3200" b="1" dirty="0">
                <a:cs typeface="B Nazanin" panose="00000400000000000000" pitchFamily="2" charset="-78"/>
              </a:rPr>
              <a:t>شامل:</a:t>
            </a: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انرژی متابولیسم پایه</a:t>
            </a: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انرژی گرمازایی غذا</a:t>
            </a:r>
          </a:p>
          <a:p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انرژی فعالیت فیزیکی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02152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متابولیسم انرژی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003" y="1825625"/>
            <a:ext cx="11410682" cy="4351338"/>
          </a:xfrm>
        </p:spPr>
        <p:txBody>
          <a:bodyPr>
            <a:normAutofit/>
          </a:bodyPr>
          <a:lstStyle/>
          <a:p>
            <a:r>
              <a:rPr lang="fa-IR" sz="3200" b="1" dirty="0">
                <a:cs typeface="B Nazanin" panose="00000400000000000000" pitchFamily="2" charset="-78"/>
              </a:rPr>
              <a:t>متابولیسم انرژی از طریق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آنابولیسم</a:t>
            </a:r>
            <a:r>
              <a:rPr lang="fa-IR" sz="3200" b="1" dirty="0">
                <a:cs typeface="B Nazanin" panose="00000400000000000000" pitchFamily="2" charset="-78"/>
              </a:rPr>
              <a:t> 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کاتابولیسم</a:t>
            </a:r>
            <a:r>
              <a:rPr lang="fa-IR" sz="3200" b="1" dirty="0">
                <a:cs typeface="B Nazanin" panose="00000400000000000000" pitchFamily="2" charset="-78"/>
              </a:rPr>
              <a:t> دائمی انجام می شود.</a:t>
            </a:r>
            <a:endParaRPr lang="fa-IR" sz="3200" b="1" dirty="0">
              <a:solidFill>
                <a:srgbClr val="FF0000"/>
              </a:solidFill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3200" b="1" dirty="0">
                <a:cs typeface="B Nazanin" panose="00000400000000000000" pitchFamily="2" charset="-78"/>
              </a:rPr>
              <a:t>آنابولیسم:</a:t>
            </a:r>
          </a:p>
          <a:p>
            <a:pPr marL="0" indent="0">
              <a:buNone/>
            </a:pPr>
            <a:r>
              <a:rPr lang="fa-IR" sz="3200" b="1" dirty="0">
                <a:cs typeface="B Nazanin" panose="00000400000000000000" pitchFamily="2" charset="-78"/>
              </a:rPr>
              <a:t>آنابولیسم روندی دایمی است که در آن انرژی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استفاده</a:t>
            </a:r>
            <a:r>
              <a:rPr lang="fa-IR" sz="3200" b="1" dirty="0">
                <a:cs typeface="B Nazanin" panose="00000400000000000000" pitchFamily="2" charset="-78"/>
              </a:rPr>
              <a:t> می شود تا در صورت نیاز مواد بعد از فرسودگی سلول و ریزش آن دوباره جایگزین شوند.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3200" b="1" dirty="0">
                <a:cs typeface="B Nazanin" panose="00000400000000000000" pitchFamily="2" charset="-78"/>
              </a:rPr>
              <a:t>در آنابولیسم مواد مغذی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وارد ذخایر بدن </a:t>
            </a:r>
            <a:r>
              <a:rPr lang="fa-IR" sz="3200" b="1" dirty="0">
                <a:cs typeface="B Nazanin" panose="00000400000000000000" pitchFamily="2" charset="-78"/>
              </a:rPr>
              <a:t>می شوند.</a:t>
            </a:r>
          </a:p>
        </p:txBody>
      </p:sp>
    </p:spTree>
    <p:extLst>
      <p:ext uri="{BB962C8B-B14F-4D97-AF65-F5344CB8AC3E}">
        <p14:creationId xmlns:p14="http://schemas.microsoft.com/office/powerpoint/2010/main" val="3766261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متابولیسم انرژی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003" y="1825625"/>
            <a:ext cx="114106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a-IR" sz="3200" b="1" u="sng" dirty="0">
                <a:cs typeface="B Nazanin" panose="00000400000000000000" pitchFamily="2" charset="-78"/>
              </a:rPr>
              <a:t>باقی مانده گلوکز </a:t>
            </a:r>
            <a:r>
              <a:rPr lang="fa-IR" sz="3200" b="1" dirty="0">
                <a:cs typeface="B Nazanin" panose="00000400000000000000" pitchFamily="2" charset="-78"/>
              </a:rPr>
              <a:t>بعد از تامین نیاز بدن به انرژی بصورت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گلیکوژن</a:t>
            </a:r>
            <a:r>
              <a:rPr lang="fa-IR" sz="3200" b="1" dirty="0">
                <a:cs typeface="B Nazanin" panose="00000400000000000000" pitchFamily="2" charset="-78"/>
              </a:rPr>
              <a:t> در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کبد</a:t>
            </a:r>
            <a:r>
              <a:rPr lang="fa-IR" sz="3200" b="1" dirty="0">
                <a:cs typeface="B Nazanin" panose="00000400000000000000" pitchFamily="2" charset="-78"/>
              </a:rPr>
              <a:t> و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ماهیچه</a:t>
            </a:r>
            <a:r>
              <a:rPr lang="fa-IR" sz="3200" b="1" dirty="0">
                <a:cs typeface="B Nazanin" panose="00000400000000000000" pitchFamily="2" charset="-78"/>
              </a:rPr>
              <a:t> ذخیره می شود.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3200" b="1" dirty="0">
                <a:cs typeface="B Nazanin" panose="00000400000000000000" pitchFamily="2" charset="-78"/>
              </a:rPr>
              <a:t>در صورت پر شدن ذخایر گلیکوژنی، </a:t>
            </a:r>
            <a:r>
              <a:rPr lang="fa-IR" sz="3200" b="1" u="sng" dirty="0">
                <a:cs typeface="B Nazanin" panose="00000400000000000000" pitchFamily="2" charset="-78"/>
              </a:rPr>
              <a:t>گلوکز اضافی </a:t>
            </a:r>
            <a:r>
              <a:rPr lang="fa-IR" sz="3200" b="1" dirty="0">
                <a:cs typeface="B Nazanin" panose="00000400000000000000" pitchFamily="2" charset="-78"/>
              </a:rPr>
              <a:t>به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اسید چرب </a:t>
            </a:r>
            <a:r>
              <a:rPr lang="fa-IR" sz="3200" b="1" dirty="0">
                <a:cs typeface="B Nazanin" panose="00000400000000000000" pitchFamily="2" charset="-78"/>
              </a:rPr>
              <a:t>تبدیل و بصورت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چربی</a:t>
            </a:r>
            <a:r>
              <a:rPr lang="fa-IR" sz="3200" b="1" dirty="0">
                <a:cs typeface="B Nazanin" panose="00000400000000000000" pitchFamily="2" charset="-78"/>
              </a:rPr>
              <a:t> ذخیره می شود.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3200" b="1" u="sng" dirty="0">
                <a:cs typeface="B Nazanin" panose="00000400000000000000" pitchFamily="2" charset="-78"/>
              </a:rPr>
              <a:t>اسیدآمینه هایی </a:t>
            </a:r>
            <a:r>
              <a:rPr lang="fa-IR" sz="3200" b="1" dirty="0">
                <a:cs typeface="B Nazanin" panose="00000400000000000000" pitchFamily="2" charset="-78"/>
              </a:rPr>
              <a:t>که برای </a:t>
            </a:r>
            <a:r>
              <a:rPr lang="fa-IR" sz="3200" b="1" u="sng" dirty="0">
                <a:cs typeface="B Nazanin" panose="00000400000000000000" pitchFamily="2" charset="-78"/>
              </a:rPr>
              <a:t>تولید انرژی </a:t>
            </a:r>
            <a:r>
              <a:rPr lang="fa-IR" sz="3200" b="1" dirty="0">
                <a:cs typeface="B Nazanin" panose="00000400000000000000" pitchFamily="2" charset="-78"/>
              </a:rPr>
              <a:t>یا </a:t>
            </a:r>
            <a:r>
              <a:rPr lang="fa-IR" sz="3200" b="1" u="sng" dirty="0">
                <a:cs typeface="B Nazanin" panose="00000400000000000000" pitchFamily="2" charset="-78"/>
              </a:rPr>
              <a:t>جایگزینی بافت های پروتئینی </a:t>
            </a:r>
            <a:r>
              <a:rPr lang="fa-IR" sz="3200" b="1" dirty="0">
                <a:cs typeface="B Nazanin" panose="00000400000000000000" pitchFamily="2" charset="-78"/>
              </a:rPr>
              <a:t>لازم نیستند، به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اسید</a:t>
            </a:r>
            <a:r>
              <a:rPr lang="fa-IR" sz="3200" b="1" dirty="0">
                <a:cs typeface="B Nazanin" panose="00000400000000000000" pitchFamily="2" charset="-78"/>
              </a:rPr>
              <a:t>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چرب</a:t>
            </a:r>
            <a:r>
              <a:rPr lang="fa-IR" sz="3200" b="1" dirty="0">
                <a:cs typeface="B Nazanin" panose="00000400000000000000" pitchFamily="2" charset="-78"/>
              </a:rPr>
              <a:t> تبدیل و بصورت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چربی</a:t>
            </a:r>
            <a:r>
              <a:rPr lang="fa-IR" sz="3200" b="1" dirty="0">
                <a:cs typeface="B Nazanin" panose="00000400000000000000" pitchFamily="2" charset="-78"/>
              </a:rPr>
              <a:t> ذخیره می شود.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00907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متابولیسم انرژی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003" y="1825625"/>
            <a:ext cx="11410682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a-IR" sz="3200" b="1" u="sng" dirty="0">
                <a:cs typeface="B Nazanin" panose="00000400000000000000" pitchFamily="2" charset="-78"/>
              </a:rPr>
              <a:t>اسید چرب هایی که برای تولید انرژی لازم نیستند </a:t>
            </a:r>
            <a:r>
              <a:rPr lang="fa-IR" sz="3200" b="1" dirty="0">
                <a:cs typeface="B Nazanin" panose="00000400000000000000" pitchFamily="2" charset="-78"/>
              </a:rPr>
              <a:t>با گلیسرول ترکیب می شوند و بصورت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تری گلیسرید </a:t>
            </a:r>
            <a:r>
              <a:rPr lang="fa-IR" sz="3200" b="1" dirty="0">
                <a:cs typeface="B Nazanin" panose="00000400000000000000" pitchFamily="2" charset="-78"/>
              </a:rPr>
              <a:t>در بافت چربی ذخیره می شود.</a:t>
            </a:r>
          </a:p>
          <a:p>
            <a:pPr marL="0" indent="0">
              <a:buNone/>
            </a:pPr>
            <a:r>
              <a:rPr lang="fa-IR" sz="3200" b="1" dirty="0">
                <a:cs typeface="B Nazanin" panose="00000400000000000000" pitchFamily="2" charset="-78"/>
              </a:rPr>
              <a:t>کاتابولیسم:</a:t>
            </a:r>
          </a:p>
          <a:p>
            <a:pPr marL="0" indent="0">
              <a:buNone/>
            </a:pPr>
            <a:r>
              <a:rPr lang="fa-IR" sz="3200" b="1" dirty="0">
                <a:cs typeface="B Nazanin" panose="00000400000000000000" pitchFamily="2" charset="-78"/>
              </a:rPr>
              <a:t>به معنای تجزیه مولکول های 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بزرگ</a:t>
            </a:r>
            <a:r>
              <a:rPr lang="fa-IR" sz="3200" b="1" dirty="0">
                <a:cs typeface="B Nazanin" panose="00000400000000000000" pitchFamily="2" charset="-78"/>
              </a:rPr>
              <a:t> به مولکول های</a:t>
            </a:r>
            <a:r>
              <a:rPr lang="fa-IR" sz="3200" b="1" dirty="0">
                <a:solidFill>
                  <a:srgbClr val="FF0000"/>
                </a:solidFill>
                <a:cs typeface="B Nazanin" panose="00000400000000000000" pitchFamily="2" charset="-78"/>
              </a:rPr>
              <a:t> کوچک </a:t>
            </a:r>
            <a:r>
              <a:rPr lang="fa-IR" sz="3200" b="1" dirty="0">
                <a:cs typeface="B Nazanin" panose="00000400000000000000" pitchFamily="2" charset="-78"/>
              </a:rPr>
              <a:t>است.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3000" b="1" dirty="0">
                <a:cs typeface="B Nazanin" panose="00000400000000000000" pitchFamily="2" charset="-78"/>
              </a:rPr>
              <a:t>یعنی تبدیل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گلیکوژن به گلوکز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پروتئین به اسیدآمینه </a:t>
            </a:r>
            <a:r>
              <a:rPr lang="fa-IR" sz="3000" b="1" dirty="0">
                <a:cs typeface="B Nazanin" panose="00000400000000000000" pitchFamily="2" charset="-78"/>
              </a:rPr>
              <a:t>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تری گلیسرید به گلیسرول و اسید چرب</a:t>
            </a:r>
            <a:r>
              <a:rPr lang="fa-IR" sz="3000" b="1" dirty="0">
                <a:cs typeface="B Nazanin" panose="00000400000000000000" pitchFamily="2" charset="-78"/>
              </a:rPr>
              <a:t>.</a:t>
            </a:r>
          </a:p>
          <a:p>
            <a:pPr marL="0" indent="0">
              <a:buNone/>
            </a:pPr>
            <a:endParaRPr lang="fa-IR" sz="3000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sz="3200" b="1" dirty="0">
                <a:cs typeface="B Nazanin" panose="00000400000000000000" pitchFamily="2" charset="-78"/>
              </a:rPr>
              <a:t> 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171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a-IR" sz="6000" dirty="0">
                <a:cs typeface="B Titr" panose="00000700000000000000" pitchFamily="2" charset="-78"/>
              </a:rPr>
              <a:t>تعادل انرژی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5003" y="1825625"/>
            <a:ext cx="114106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a-IR" sz="3200" b="1" dirty="0">
                <a:cs typeface="B Nazanin" panose="00000400000000000000" pitchFamily="2" charset="-78"/>
              </a:rPr>
              <a:t> </a:t>
            </a:r>
          </a:p>
          <a:p>
            <a:pPr marL="0" indent="0">
              <a:buNone/>
            </a:pPr>
            <a:endParaRPr lang="fa-IR" sz="3200" b="1" dirty="0">
              <a:cs typeface="B Nazanin" panose="000004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5469" y="2250237"/>
            <a:ext cx="7791719" cy="299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انرژی مورد نیاز بدن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/>
          </a:bodyPr>
          <a:lstStyle/>
          <a:p>
            <a:r>
              <a:rPr lang="fa-IR" sz="3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متابولیسم پایه</a:t>
            </a: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r>
              <a:rPr lang="fa-IR" sz="3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فعالیت های فیزیکی</a:t>
            </a:r>
          </a:p>
          <a:p>
            <a:pPr marL="0" indent="0">
              <a:buNone/>
            </a:pPr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r>
              <a:rPr lang="fa-IR" sz="3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اثر حرارتی غذا</a:t>
            </a:r>
          </a:p>
        </p:txBody>
      </p:sp>
    </p:spTree>
    <p:extLst>
      <p:ext uri="{BB962C8B-B14F-4D97-AF65-F5344CB8AC3E}">
        <p14:creationId xmlns:p14="http://schemas.microsoft.com/office/powerpoint/2010/main" val="549675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متابولیسم پایه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/>
          </a:bodyPr>
          <a:lstStyle/>
          <a:p>
            <a:r>
              <a:rPr lang="fa-IR" sz="3000" b="1" dirty="0">
                <a:cs typeface="B Nazanin" panose="00000400000000000000" pitchFamily="2" charset="-78"/>
              </a:rPr>
              <a:t>مصرف انرژی پایه یا </a:t>
            </a:r>
            <a:r>
              <a:rPr lang="en-GB" sz="3000" b="1" dirty="0">
                <a:cs typeface="B Nazanin" panose="00000400000000000000" pitchFamily="2" charset="-78"/>
              </a:rPr>
              <a:t>BEE</a:t>
            </a:r>
            <a:r>
              <a:rPr lang="fa-IR" sz="3000" b="1" dirty="0">
                <a:cs typeface="B Nazanin" panose="00000400000000000000" pitchFamily="2" charset="-78"/>
              </a:rPr>
              <a:t>:</a:t>
            </a:r>
          </a:p>
          <a:p>
            <a:r>
              <a:rPr lang="fa-IR" sz="3000" b="1" dirty="0">
                <a:cs typeface="B Nazanin" panose="00000400000000000000" pitchFamily="2" charset="-78"/>
              </a:rPr>
              <a:t> مقدار انرژی مصرف شده در طول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 24 ساعت </a:t>
            </a:r>
            <a:r>
              <a:rPr lang="fa-IR" sz="3000" b="1" dirty="0">
                <a:cs typeface="B Nazanin" panose="00000400000000000000" pitchFamily="2" charset="-78"/>
              </a:rPr>
              <a:t>می باشد که افراد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بدون فعالیت فیزیکی </a:t>
            </a:r>
            <a:r>
              <a:rPr lang="fa-IR" sz="3000" b="1" dirty="0">
                <a:cs typeface="B Nazanin" panose="00000400000000000000" pitchFamily="2" charset="-78"/>
              </a:rPr>
              <a:t>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ذهنی</a:t>
            </a:r>
            <a:r>
              <a:rPr lang="fa-IR" sz="3000" b="1" dirty="0"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در یک محیط خنثی</a:t>
            </a:r>
            <a:r>
              <a:rPr lang="fa-IR" sz="3000" b="1" dirty="0">
                <a:cs typeface="B Nazanin" panose="00000400000000000000" pitchFamily="2" charset="-78"/>
              </a:rPr>
              <a:t> قرار داشته تا از فرآیند تولید گرما مثل: لرزیدن جلوگیری کند.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en-GB" sz="3000" b="1" dirty="0">
                <a:cs typeface="B Nazanin" panose="00000400000000000000" pitchFamily="2" charset="-78"/>
              </a:rPr>
              <a:t>BEE</a:t>
            </a:r>
            <a:r>
              <a:rPr lang="fa-IR" sz="3000" b="1" dirty="0">
                <a:cs typeface="B Nazanin" panose="00000400000000000000" pitchFamily="2" charset="-78"/>
              </a:rPr>
              <a:t> در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 ابتدای صبح قبل از هر نوع فعالیت جسمانی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12-10 ساعت </a:t>
            </a:r>
            <a:r>
              <a:rPr lang="fa-IR" sz="3000" b="1" dirty="0">
                <a:solidFill>
                  <a:srgbClr val="7030A0"/>
                </a:solidFill>
                <a:cs typeface="B Nazanin" panose="00000400000000000000" pitchFamily="2" charset="-78"/>
              </a:rPr>
              <a:t>بعد از دریافت غذا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7030A0"/>
                </a:solidFill>
                <a:cs typeface="B Nazanin" panose="00000400000000000000" pitchFamily="2" charset="-78"/>
              </a:rPr>
              <a:t>نوشیدنی</a:t>
            </a:r>
            <a:r>
              <a:rPr lang="fa-IR" sz="3000" b="1" dirty="0">
                <a:cs typeface="B Nazanin" panose="00000400000000000000" pitchFamily="2" charset="-78"/>
              </a:rPr>
              <a:t> یا </a:t>
            </a:r>
            <a:r>
              <a:rPr lang="fa-IR" sz="3000" b="1" dirty="0">
                <a:solidFill>
                  <a:srgbClr val="7030A0"/>
                </a:solidFill>
                <a:cs typeface="B Nazanin" panose="00000400000000000000" pitchFamily="2" charset="-78"/>
              </a:rPr>
              <a:t>نیکوتین</a:t>
            </a:r>
            <a:r>
              <a:rPr lang="fa-IR" sz="3000" b="1" dirty="0">
                <a:cs typeface="B Nazanin" panose="00000400000000000000" pitchFamily="2" charset="-78"/>
              </a:rPr>
              <a:t> اندازه گرفته می شود.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en-GB" sz="3000" b="1" dirty="0">
                <a:cs typeface="B Nazanin" panose="00000400000000000000" pitchFamily="2" charset="-78"/>
              </a:rPr>
              <a:t>BEE</a:t>
            </a:r>
            <a:r>
              <a:rPr lang="fa-IR" sz="3000" b="1" dirty="0">
                <a:cs typeface="B Nazanin" panose="00000400000000000000" pitchFamily="2" charset="-78"/>
              </a:rPr>
              <a:t> روزانه تقریبا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ثابت </a:t>
            </a:r>
            <a:r>
              <a:rPr lang="fa-IR" sz="3000" b="1" dirty="0">
                <a:cs typeface="B Nazanin" panose="00000400000000000000" pitchFamily="2" charset="-78"/>
              </a:rPr>
              <a:t>می ماند.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pPr algn="l" rtl="0"/>
            <a:endParaRPr lang="fa-IR" sz="3000" b="1" dirty="0"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6138327"/>
            <a:ext cx="43906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GB" dirty="0">
                <a:cs typeface="+mj-cs"/>
              </a:rPr>
              <a:t>BEE= Basal Energy Expenditure</a:t>
            </a:r>
            <a:endParaRPr lang="fa-I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58024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متابولیسم پایه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 lnSpcReduction="10000"/>
          </a:bodyPr>
          <a:lstStyle/>
          <a:p>
            <a:r>
              <a:rPr lang="fa-IR" sz="3000" b="1" dirty="0">
                <a:cs typeface="B Nazanin" panose="00000400000000000000" pitchFamily="2" charset="-78"/>
              </a:rPr>
              <a:t>میزان متابولیکی پایه یا </a:t>
            </a:r>
            <a:r>
              <a:rPr lang="en-GB" sz="3000" b="1" dirty="0">
                <a:cs typeface="B Nazanin" panose="00000400000000000000" pitchFamily="2" charset="-78"/>
              </a:rPr>
              <a:t>RMR</a:t>
            </a:r>
            <a:r>
              <a:rPr lang="fa-IR" sz="3000" b="1" dirty="0">
                <a:cs typeface="B Nazanin" panose="00000400000000000000" pitchFamily="2" charset="-78"/>
              </a:rPr>
              <a:t>:</a:t>
            </a:r>
          </a:p>
          <a:p>
            <a:r>
              <a:rPr lang="fa-IR" sz="3000" b="1" dirty="0">
                <a:cs typeface="B Nazanin" panose="00000400000000000000" pitchFamily="2" charset="-78"/>
              </a:rPr>
              <a:t> میزان انرژی مصرف شده در فعالیت های ضروری جهت حفظ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هموستاز</a:t>
            </a:r>
            <a:r>
              <a:rPr lang="fa-IR" sz="3000" b="1" dirty="0"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عملکرد طبیعی بدن </a:t>
            </a:r>
            <a:r>
              <a:rPr lang="fa-IR" sz="3000" b="1" dirty="0">
                <a:cs typeface="B Nazanin" panose="00000400000000000000" pitchFamily="2" charset="-78"/>
              </a:rPr>
              <a:t>است.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این فعالیت ها شامل: تنفس، گردش خون، حفظ دمای بدن، تون عضلات، پمپ یون ها از عرض غشا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به میزان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20-10% </a:t>
            </a:r>
            <a:r>
              <a:rPr lang="fa-IR" sz="3000" b="1" dirty="0">
                <a:cs typeface="B Nazanin" panose="00000400000000000000" pitchFamily="2" charset="-78"/>
              </a:rPr>
              <a:t>از </a:t>
            </a:r>
            <a:r>
              <a:rPr lang="en-GB" sz="3000" b="1" dirty="0">
                <a:cs typeface="B Nazanin" panose="00000400000000000000" pitchFamily="2" charset="-78"/>
              </a:rPr>
              <a:t>BEE</a:t>
            </a:r>
            <a:r>
              <a:rPr lang="fa-IR" sz="3000" b="1" dirty="0">
                <a:cs typeface="B Nazanin" panose="00000400000000000000" pitchFamily="2" charset="-78"/>
              </a:rPr>
              <a:t> بیشتر است.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4-3 ساعت ناشتایی </a:t>
            </a:r>
            <a:r>
              <a:rPr lang="fa-IR" sz="3000" b="1" dirty="0">
                <a:cs typeface="B Nazanin" panose="00000400000000000000" pitchFamily="2" charset="-78"/>
              </a:rPr>
              <a:t>نیاز است 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فعالیت فیزیکی قبل از آزمایش و اینکه چه ساعتی از روز باشد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کنترل نمی شود.</a:t>
            </a: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6138327"/>
            <a:ext cx="43906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GB" dirty="0">
                <a:cs typeface="+mj-cs"/>
              </a:rPr>
              <a:t>RMR= Resting Metabolic Rate</a:t>
            </a:r>
            <a:endParaRPr lang="fa-I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18429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عوامل موثر بر </a:t>
            </a:r>
            <a:r>
              <a:rPr lang="en-GB" dirty="0">
                <a:cs typeface="B Titr" panose="00000700000000000000" pitchFamily="2" charset="-78"/>
              </a:rPr>
              <a:t>REE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/>
          </a:bodyPr>
          <a:lstStyle/>
          <a:p>
            <a:r>
              <a:rPr lang="fa-IR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سن: </a:t>
            </a: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بیشترین مقدار مربوط به دوران سریع رشد یعنی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سال های اول و دوم زندگی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است.</a:t>
            </a: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6138327"/>
            <a:ext cx="43906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GB" dirty="0">
                <a:cs typeface="+mj-cs"/>
              </a:rPr>
              <a:t>REE= Resting Energy Expenditure</a:t>
            </a:r>
            <a:endParaRPr lang="fa-I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1651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عوامل موثر بر </a:t>
            </a:r>
            <a:r>
              <a:rPr lang="en-GB" dirty="0">
                <a:cs typeface="B Titr" panose="00000700000000000000" pitchFamily="2" charset="-78"/>
              </a:rPr>
              <a:t>REE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/>
          </a:bodyPr>
          <a:lstStyle/>
          <a:p>
            <a:r>
              <a:rPr lang="fa-IR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ترکیب بدن: </a:t>
            </a: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ورزشکارانی که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توده ماهیچه ای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بیشتر دارند، متابولیسم استراحت آن ها حدود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5%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بیشتر از افراد غیر ورزشکار است.</a:t>
            </a: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کاهش توده عضلانی با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افزایش سن </a:t>
            </a:r>
            <a:r>
              <a:rPr lang="en-GB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RMR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را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کاهش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می دهد.</a:t>
            </a: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075579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عوامل موثر بر </a:t>
            </a:r>
            <a:r>
              <a:rPr lang="en-GB" dirty="0">
                <a:cs typeface="B Titr" panose="00000700000000000000" pitchFamily="2" charset="-78"/>
              </a:rPr>
              <a:t>REE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/>
          </a:bodyPr>
          <a:lstStyle/>
          <a:p>
            <a:r>
              <a:rPr lang="fa-IR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اندازه یا جثه بدن: </a:t>
            </a: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میزان متابولیسم پایه در افرادیکه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جثه بدنی بزرگتری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دارند،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بالاتر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می باشد. زیرا مقدار توده عضلانی بدن با جثه بدن همبستگی زیادی دارد.</a:t>
            </a: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در دو فرد با وزن یکسان، فرد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بلندتر و باریک تر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به نسبت فرد کوتاه تر میزان متابولیسم پایه اش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بالاتر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است.</a:t>
            </a: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1714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عوامل موثر بر </a:t>
            </a:r>
            <a:r>
              <a:rPr lang="en-GB" dirty="0">
                <a:cs typeface="B Titr" panose="00000700000000000000" pitchFamily="2" charset="-78"/>
              </a:rPr>
              <a:t>REE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 lnSpcReduction="10000"/>
          </a:bodyPr>
          <a:lstStyle/>
          <a:p>
            <a:r>
              <a:rPr lang="fa-IR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آب و هوا: </a:t>
            </a:r>
          </a:p>
          <a:p>
            <a:r>
              <a:rPr lang="en-GB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REE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افرادیکه در نواحی گرمسیری زندگی می کنند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20-5%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بالاتر از افرادی است که در نواحی معتدل زندگی می کنند.</a:t>
            </a: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میزان افزایش متابولیسم انرژی در محیط های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بسیار سرد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بستگی به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عایق چربی بدن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لباس فرد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دارد.</a:t>
            </a: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از آنجا که افراد لباس خود را با دمای محیط تنظیم می کنند به همین جهت انرژی مصرفی ناشی از تنظیم دما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بسیار اندک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می باشد.</a:t>
            </a: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56844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عوامل موثر بر </a:t>
            </a:r>
            <a:r>
              <a:rPr lang="en-GB" dirty="0">
                <a:cs typeface="B Titr" panose="00000700000000000000" pitchFamily="2" charset="-78"/>
              </a:rPr>
              <a:t>REE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/>
          </a:bodyPr>
          <a:lstStyle/>
          <a:p>
            <a:r>
              <a:rPr lang="fa-IR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جنس: </a:t>
            </a: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تفاوت های جنسی در میزان متابولیسم به اختلاف در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اندازه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ترکیب بدن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بر می گردد.</a:t>
            </a: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در زنان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10-5%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کمتر از مردان با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همان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وزن و قد است.</a:t>
            </a: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582031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عوامل موثر بر </a:t>
            </a:r>
            <a:r>
              <a:rPr lang="en-GB" dirty="0">
                <a:cs typeface="B Titr" panose="00000700000000000000" pitchFamily="2" charset="-78"/>
              </a:rPr>
              <a:t>REE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/>
          </a:bodyPr>
          <a:lstStyle/>
          <a:p>
            <a:r>
              <a:rPr lang="fa-IR" sz="30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وضعیت هورمونی: </a:t>
            </a: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در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پرکاری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کم کاری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تیروئید انرژی مصرفی بترتیب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افزایش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کاهش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می یابد.</a:t>
            </a: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در فاز لوتئال میزان متابولیک پایه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15-6% 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بیشتر از فاز فولیکولار است.</a:t>
            </a: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24532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عوامل موثر بر </a:t>
            </a:r>
            <a:r>
              <a:rPr lang="en-GB" dirty="0">
                <a:cs typeface="B Titr" panose="00000700000000000000" pitchFamily="2" charset="-78"/>
              </a:rPr>
              <a:t>REE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/>
          </a:bodyPr>
          <a:lstStyle/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در خلال شرایطی همچون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گرسنگی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رژیم گرفتن های طولانی مدت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بی اشتهایی عصبی 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و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پرخوری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عصبی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</a:t>
            </a:r>
            <a:r>
              <a:rPr lang="en-GB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RMR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کاهش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می یابد.</a:t>
            </a: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داروهایی مثل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افدرین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آمفتامین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و </a:t>
            </a:r>
            <a:r>
              <a:rPr lang="fa-IR" sz="3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برخی داروهای ضد افسردگی</a:t>
            </a:r>
            <a:r>
              <a:rPr lang="fa-IR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Nazanin" panose="00000400000000000000" pitchFamily="2" charset="-78"/>
              </a:rPr>
              <a:t> با تحریک سیستم عصبی سمپاتیک سبب افزایش متابولیسم پایه می شوند.</a:t>
            </a: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187068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اثر گرمازایی غذا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/>
          </a:bodyPr>
          <a:lstStyle/>
          <a:p>
            <a:r>
              <a:rPr lang="fa-IR" sz="3000" b="1" dirty="0">
                <a:cs typeface="B Nazanin" panose="00000400000000000000" pitchFamily="2" charset="-78"/>
              </a:rPr>
              <a:t>به افزایش انرژی مصرفی که در اثر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هضم</a:t>
            </a:r>
            <a:r>
              <a:rPr lang="fa-IR" sz="3000" b="1" dirty="0">
                <a:cs typeface="B Nazanin" panose="00000400000000000000" pitchFamily="2" charset="-78"/>
              </a:rPr>
              <a:t>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جذب</a:t>
            </a:r>
            <a:r>
              <a:rPr lang="fa-IR" sz="3000" b="1" dirty="0">
                <a:cs typeface="B Nazanin" panose="00000400000000000000" pitchFamily="2" charset="-78"/>
              </a:rPr>
              <a:t>،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 فرآوری</a:t>
            </a:r>
            <a:r>
              <a:rPr lang="fa-IR" sz="3000" b="1" dirty="0">
                <a:cs typeface="B Nazanin" panose="00000400000000000000" pitchFamily="2" charset="-78"/>
              </a:rPr>
              <a:t>،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 سنتز </a:t>
            </a:r>
            <a:r>
              <a:rPr lang="fa-IR" sz="3000" b="1" dirty="0">
                <a:cs typeface="B Nazanin" panose="00000400000000000000" pitchFamily="2" charset="-78"/>
              </a:rPr>
              <a:t>و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 ذخیره</a:t>
            </a:r>
            <a:r>
              <a:rPr lang="fa-IR" sz="3000" b="1" dirty="0">
                <a:cs typeface="B Nazanin" panose="00000400000000000000" pitchFamily="2" charset="-78"/>
              </a:rPr>
              <a:t> درشت مغذی ها اتفاق می افتد،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اثر گرمازایی غذا </a:t>
            </a:r>
            <a:r>
              <a:rPr lang="fa-IR" sz="3000" b="1" dirty="0">
                <a:cs typeface="B Nazanin" panose="00000400000000000000" pitchFamily="2" charset="-78"/>
              </a:rPr>
              <a:t>یا </a:t>
            </a:r>
            <a:r>
              <a:rPr lang="en-GB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TEF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 </a:t>
            </a:r>
            <a:r>
              <a:rPr lang="fa-IR" sz="3000" b="1" dirty="0">
                <a:cs typeface="B Nazanin" panose="00000400000000000000" pitchFamily="2" charset="-78"/>
              </a:rPr>
              <a:t>می گویند.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en-GB" sz="3000" b="1" dirty="0">
                <a:cs typeface="B Nazanin" panose="00000400000000000000" pitchFamily="2" charset="-78"/>
              </a:rPr>
              <a:t>TEF</a:t>
            </a:r>
            <a:r>
              <a:rPr lang="en-US" sz="3000" b="1" dirty="0">
                <a:cs typeface="B Nazanin" panose="00000400000000000000" pitchFamily="2" charset="-78"/>
              </a:rPr>
              <a:t> </a:t>
            </a:r>
            <a:r>
              <a:rPr lang="fa-IR" sz="3000" b="1" dirty="0">
                <a:cs typeface="B Nazanin" panose="00000400000000000000" pitchFamily="2" charset="-78"/>
              </a:rPr>
              <a:t> تقریبا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 10 درصد </a:t>
            </a:r>
            <a:r>
              <a:rPr lang="fa-IR" sz="3000" b="1" dirty="0">
                <a:cs typeface="B Nazanin" panose="00000400000000000000" pitchFamily="2" charset="-78"/>
              </a:rPr>
              <a:t>کل انرژی مصرفی را تشکیل می دهد.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8200" y="6138327"/>
            <a:ext cx="439062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en-GB" dirty="0">
                <a:cs typeface="+mj-cs"/>
              </a:rPr>
              <a:t>TEF= </a:t>
            </a:r>
            <a:r>
              <a:rPr lang="en-GB">
                <a:cs typeface="+mj-cs"/>
              </a:rPr>
              <a:t>Thermic Effect of Food</a:t>
            </a:r>
            <a:endParaRPr lang="fa-IR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23523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اثر گرمازایی غذا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/>
          </a:bodyPr>
          <a:lstStyle/>
          <a:p>
            <a:r>
              <a:rPr lang="fa-IR" sz="3000" b="1" dirty="0">
                <a:cs typeface="B Nazanin" panose="00000400000000000000" pitchFamily="2" charset="-78"/>
              </a:rPr>
              <a:t>اگرچه </a:t>
            </a:r>
            <a:r>
              <a:rPr lang="en-GB" sz="3000" b="1" dirty="0">
                <a:cs typeface="B Nazanin" panose="00000400000000000000" pitchFamily="2" charset="-78"/>
              </a:rPr>
              <a:t>TEF</a:t>
            </a:r>
            <a:r>
              <a:rPr lang="fa-IR" sz="3000" b="1" dirty="0">
                <a:cs typeface="B Nazanin" panose="00000400000000000000" pitchFamily="2" charset="-78"/>
              </a:rPr>
              <a:t> به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حجم وعده غذایی </a:t>
            </a:r>
            <a:r>
              <a:rPr lang="fa-IR" sz="3000" b="1" dirty="0">
                <a:cs typeface="B Nazanin" panose="00000400000000000000" pitchFamily="2" charset="-78"/>
              </a:rPr>
              <a:t>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محتوای درشت مغذی آن</a:t>
            </a:r>
            <a:r>
              <a:rPr lang="fa-IR" sz="3000" b="1" dirty="0">
                <a:cs typeface="B Nazanin" panose="00000400000000000000" pitchFamily="2" charset="-78"/>
              </a:rPr>
              <a:t> بستگی دارد، اما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90-30 دقیقه </a:t>
            </a:r>
            <a:r>
              <a:rPr lang="fa-IR" sz="3000" b="1" dirty="0">
                <a:cs typeface="B Nazanin" panose="00000400000000000000" pitchFamily="2" charset="-78"/>
              </a:rPr>
              <a:t>بعد از هضم غذا کاهش می یابد. بنابراین تاثیرات عوامل مختلف روی </a:t>
            </a:r>
            <a:r>
              <a:rPr lang="en-GB" sz="3000" b="1" dirty="0">
                <a:cs typeface="B Nazanin" panose="00000400000000000000" pitchFamily="2" charset="-78"/>
              </a:rPr>
              <a:t>TEF</a:t>
            </a:r>
            <a:r>
              <a:rPr lang="fa-IR" sz="3000" b="1" dirty="0">
                <a:cs typeface="B Nazanin" panose="00000400000000000000" pitchFamily="2" charset="-78"/>
              </a:rPr>
              <a:t> کم است.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fa-IR" sz="3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غذاهای ادویه دار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3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کافئین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3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کاپسایسین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a-IR" sz="3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چای های مختلف</a:t>
            </a: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79023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>
                <a:cs typeface="B Titr" panose="00000700000000000000" pitchFamily="2" charset="-78"/>
              </a:rPr>
              <a:t>گرمازایی فعالیت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456" y="1786989"/>
            <a:ext cx="11732654" cy="4351338"/>
          </a:xfrm>
        </p:spPr>
        <p:txBody>
          <a:bodyPr>
            <a:normAutofit/>
          </a:bodyPr>
          <a:lstStyle/>
          <a:p>
            <a:r>
              <a:rPr lang="fa-IR" sz="3000" b="1" dirty="0">
                <a:cs typeface="B Nazanin" panose="00000400000000000000" pitchFamily="2" charset="-78"/>
              </a:rPr>
              <a:t>گرمازایی فعالیت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متغیرترین</a:t>
            </a:r>
            <a:r>
              <a:rPr lang="fa-IR" sz="3000" b="1" dirty="0">
                <a:cs typeface="B Nazanin" panose="00000400000000000000" pitchFamily="2" charset="-78"/>
              </a:rPr>
              <a:t> جز کل انرژی مصرفی است.</a:t>
            </a: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گرمازایی فعالیت شامل: </a:t>
            </a:r>
            <a:r>
              <a:rPr lang="fa-IR" sz="3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انرژی مصرفی در ورزش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(</a:t>
            </a:r>
            <a:r>
              <a:rPr lang="en-GB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AT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) </a:t>
            </a:r>
            <a:r>
              <a:rPr lang="fa-IR" sz="3000" b="1" dirty="0">
                <a:cs typeface="B Nazanin" panose="00000400000000000000" pitchFamily="2" charset="-78"/>
              </a:rPr>
              <a:t>و</a:t>
            </a:r>
            <a:r>
              <a:rPr lang="fa-IR" sz="3000" b="1" dirty="0">
                <a:solidFill>
                  <a:schemeClr val="accent1">
                    <a:lumMod val="75000"/>
                  </a:schemeClr>
                </a:solidFill>
                <a:cs typeface="B Nazanin" panose="00000400000000000000" pitchFamily="2" charset="-78"/>
              </a:rPr>
              <a:t> انرژی مصرفی برای فعالیت های روزمره غیر ورزشی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(</a:t>
            </a:r>
            <a:r>
              <a:rPr lang="en-GB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NEAT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) </a:t>
            </a:r>
            <a:r>
              <a:rPr lang="fa-IR" sz="3000" b="1" dirty="0">
                <a:cs typeface="B Nazanin" panose="00000400000000000000" pitchFamily="2" charset="-78"/>
              </a:rPr>
              <a:t>می باشد.</a:t>
            </a:r>
          </a:p>
          <a:p>
            <a:endParaRPr lang="fa-IR" sz="3000" b="1" dirty="0">
              <a:cs typeface="B Nazanin" panose="00000400000000000000" pitchFamily="2" charset="-78"/>
            </a:endParaRPr>
          </a:p>
          <a:p>
            <a:r>
              <a:rPr lang="fa-IR" sz="3000" b="1" dirty="0">
                <a:cs typeface="B Nazanin" panose="00000400000000000000" pitchFamily="2" charset="-78"/>
              </a:rPr>
              <a:t>افزایش سن بعلت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کاهش توده بدون چربی </a:t>
            </a:r>
            <a:r>
              <a:rPr lang="fa-IR" sz="3000" b="1" dirty="0">
                <a:cs typeface="B Nazanin" panose="00000400000000000000" pitchFamily="2" charset="-78"/>
              </a:rPr>
              <a:t>و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افزایش توده چربی </a:t>
            </a:r>
            <a:r>
              <a:rPr lang="fa-IR" sz="3000" b="1" dirty="0">
                <a:cs typeface="B Nazanin" panose="00000400000000000000" pitchFamily="2" charset="-78"/>
              </a:rPr>
              <a:t>منجر به </a:t>
            </a:r>
            <a:r>
              <a:rPr lang="fa-IR" sz="3000" b="1" dirty="0">
                <a:solidFill>
                  <a:srgbClr val="FF0000"/>
                </a:solidFill>
                <a:cs typeface="B Nazanin" panose="00000400000000000000" pitchFamily="2" charset="-78"/>
              </a:rPr>
              <a:t>کاهش</a:t>
            </a:r>
            <a:r>
              <a:rPr lang="fa-IR" sz="3000" b="1" dirty="0">
                <a:cs typeface="B Nazanin" panose="00000400000000000000" pitchFamily="2" charset="-78"/>
              </a:rPr>
              <a:t> گرمازایی فعالیت می گردد.</a:t>
            </a: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Nazanin" panose="00000400000000000000" pitchFamily="2" charset="-78"/>
            </a:endParaRPr>
          </a:p>
          <a:p>
            <a:endParaRPr lang="fa-IR" sz="3000" b="1" dirty="0">
              <a:solidFill>
                <a:schemeClr val="accent1">
                  <a:lumMod val="75000"/>
                </a:schemeClr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17386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01" y="193184"/>
            <a:ext cx="11281893" cy="6413678"/>
          </a:xfrm>
        </p:spPr>
      </p:pic>
    </p:spTree>
    <p:extLst>
      <p:ext uri="{BB962C8B-B14F-4D97-AF65-F5344CB8AC3E}">
        <p14:creationId xmlns:p14="http://schemas.microsoft.com/office/powerpoint/2010/main" val="21766017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72" y="257577"/>
            <a:ext cx="11449318" cy="6310648"/>
          </a:xfrm>
        </p:spPr>
      </p:pic>
    </p:spTree>
    <p:extLst>
      <p:ext uri="{BB962C8B-B14F-4D97-AF65-F5344CB8AC3E}">
        <p14:creationId xmlns:p14="http://schemas.microsoft.com/office/powerpoint/2010/main" val="10371039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86" y="90152"/>
            <a:ext cx="11204619" cy="6639059"/>
          </a:xfrm>
        </p:spPr>
      </p:pic>
    </p:spTree>
    <p:extLst>
      <p:ext uri="{BB962C8B-B14F-4D97-AF65-F5344CB8AC3E}">
        <p14:creationId xmlns:p14="http://schemas.microsoft.com/office/powerpoint/2010/main" val="3204657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A2475-2463-400B-9118-00CBCEA11836}" type="slidenum">
              <a:rPr lang="fa-IR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fa-IR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" name="Picture 2" descr="C:\Users\AREYANA\Desktop\44967025360251457057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1" y="0"/>
            <a:ext cx="12078929" cy="70939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0" y="4441833"/>
            <a:ext cx="7543800" cy="2097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endParaRPr lang="en-US" altLang="en-US" sz="4000" b="1" dirty="0">
              <a:solidFill>
                <a:srgbClr val="FFFF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algn="ctr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fa-IR" altLang="en-US" sz="5400" b="1" dirty="0">
                <a:solidFill>
                  <a:srgbClr val="FFFF00"/>
                </a:solidFill>
                <a:latin typeface="Calibri" panose="020F0502020204030204" pitchFamily="34" charset="0"/>
                <a:cs typeface="B Mitra" panose="00000400000000000000" pitchFamily="2" charset="-78"/>
              </a:rPr>
              <a:t>از توجه شما متشکرم</a:t>
            </a:r>
            <a:endParaRPr lang="en-US" altLang="en-US" sz="5400" b="1" dirty="0">
              <a:solidFill>
                <a:srgbClr val="FFFF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algn="ctr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endParaRPr lang="en-US" altLang="en-US" sz="4000" b="1" dirty="0">
              <a:solidFill>
                <a:srgbClr val="FFFF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algn="ctr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endParaRPr lang="en-US" altLang="en-US" sz="4000" b="1" dirty="0">
              <a:solidFill>
                <a:srgbClr val="FFFF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  <a:p>
            <a:pPr algn="ctr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endParaRPr lang="en-US" altLang="en-US" sz="4000" b="1" dirty="0">
              <a:solidFill>
                <a:srgbClr val="FFFF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946118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1261</TotalTime>
  <Words>1059</Words>
  <Application>Microsoft Office PowerPoint</Application>
  <PresentationFormat>Widescreen</PresentationFormat>
  <Paragraphs>164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B Nazanin</vt:lpstr>
      <vt:lpstr>B Titr</vt:lpstr>
      <vt:lpstr>Calibri</vt:lpstr>
      <vt:lpstr>Calibri Light</vt:lpstr>
      <vt:lpstr>Times New Roman</vt:lpstr>
      <vt:lpstr>Wingdings</vt:lpstr>
      <vt:lpstr>Office Theme</vt:lpstr>
      <vt:lpstr>هضم، جذب، متابولیسم و نقش مواد مغذی</vt:lpstr>
      <vt:lpstr>انرژی</vt:lpstr>
      <vt:lpstr>انرژی</vt:lpstr>
      <vt:lpstr>دریافت انرژی</vt:lpstr>
      <vt:lpstr>مصرف انرژی</vt:lpstr>
      <vt:lpstr>متابولیسم انرژی</vt:lpstr>
      <vt:lpstr>متابولیسم انرژی</vt:lpstr>
      <vt:lpstr>متابولیسم انرژی</vt:lpstr>
      <vt:lpstr>تعادل انرژی</vt:lpstr>
      <vt:lpstr>انرژی مورد نیاز بدن</vt:lpstr>
      <vt:lpstr>متابولیسم پایه</vt:lpstr>
      <vt:lpstr>متابولیسم پایه</vt:lpstr>
      <vt:lpstr>عوامل موثر بر REE</vt:lpstr>
      <vt:lpstr>عوامل موثر بر REE</vt:lpstr>
      <vt:lpstr>عوامل موثر بر REE</vt:lpstr>
      <vt:lpstr>عوامل موثر بر REE</vt:lpstr>
      <vt:lpstr>عوامل موثر بر REE</vt:lpstr>
      <vt:lpstr>عوامل موثر بر REE</vt:lpstr>
      <vt:lpstr>عوامل موثر بر REE</vt:lpstr>
      <vt:lpstr>اثر گرمازایی غذا</vt:lpstr>
      <vt:lpstr>اثر گرمازایی غذا</vt:lpstr>
      <vt:lpstr>گرمازایی فعالیت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اصول کلی تغذیه</dc:title>
  <dc:creator>mona</dc:creator>
  <cp:lastModifiedBy>Baharak Aghapour</cp:lastModifiedBy>
  <cp:revision>249</cp:revision>
  <dcterms:created xsi:type="dcterms:W3CDTF">2022-10-27T05:31:22Z</dcterms:created>
  <dcterms:modified xsi:type="dcterms:W3CDTF">2026-10-11T14:18:37Z</dcterms:modified>
</cp:coreProperties>
</file>