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35" r:id="rId2"/>
    <p:sldId id="336" r:id="rId3"/>
    <p:sldId id="337" r:id="rId4"/>
    <p:sldId id="338" r:id="rId5"/>
    <p:sldId id="339" r:id="rId6"/>
    <p:sldId id="340" r:id="rId7"/>
    <p:sldId id="341" r:id="rId8"/>
    <p:sldId id="343" r:id="rId9"/>
    <p:sldId id="344" r:id="rId10"/>
    <p:sldId id="342" r:id="rId11"/>
    <p:sldId id="345" r:id="rId12"/>
  </p:sldIdLst>
  <p:sldSz cx="12192000" cy="6858000"/>
  <p:notesSz cx="6858000" cy="9144000"/>
  <p:defaultTextStyle>
    <a:defPPr>
      <a:defRPr lang="fa-I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7" autoAdjust="0"/>
    <p:restoredTop sz="94660"/>
  </p:normalViewPr>
  <p:slideViewPr>
    <p:cSldViewPr snapToGrid="0">
      <p:cViewPr varScale="1">
        <p:scale>
          <a:sx n="91" d="100"/>
          <a:sy n="91" d="100"/>
        </p:scale>
        <p:origin x="53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FE14DD3-43B2-4F4B-868B-49253326D0D3}" type="datetimeFigureOut">
              <a:rPr lang="fa-IR" smtClean="0"/>
              <a:t>04/21/1448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1712132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E14DD3-43B2-4F4B-868B-49253326D0D3}" type="datetimeFigureOut">
              <a:rPr lang="fa-IR" smtClean="0"/>
              <a:t>04/21/1448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888539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E14DD3-43B2-4F4B-868B-49253326D0D3}" type="datetimeFigureOut">
              <a:rPr lang="fa-IR" smtClean="0"/>
              <a:t>04/21/1448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4009241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FE14DD3-43B2-4F4B-868B-49253326D0D3}" type="datetimeFigureOut">
              <a:rPr lang="fa-IR" smtClean="0"/>
              <a:t>04/21/1448</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2799359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FE14DD3-43B2-4F4B-868B-49253326D0D3}" type="datetimeFigureOut">
              <a:rPr lang="fa-IR" smtClean="0"/>
              <a:t>04/21/1448</a:t>
            </a:fld>
            <a:endParaRPr lang="fa-IR"/>
          </a:p>
        </p:txBody>
      </p:sp>
      <p:sp>
        <p:nvSpPr>
          <p:cNvPr id="8" name="Footer Placeholder 7"/>
          <p:cNvSpPr>
            <a:spLocks noGrp="1"/>
          </p:cNvSpPr>
          <p:nvPr>
            <p:ph type="ftr" sz="quarter" idx="11"/>
          </p:nvPr>
        </p:nvSpPr>
        <p:spPr/>
        <p:txBody>
          <a:bodyPr/>
          <a:lstStyle/>
          <a:p>
            <a:endParaRPr lang="fa-IR"/>
          </a:p>
        </p:txBody>
      </p:sp>
      <p:sp>
        <p:nvSpPr>
          <p:cNvPr id="9" name="Slide Number Placeholder 8"/>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3965539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FE14DD3-43B2-4F4B-868B-49253326D0D3}" type="datetimeFigureOut">
              <a:rPr lang="fa-IR" smtClean="0"/>
              <a:t>04/21/1448</a:t>
            </a:fld>
            <a:endParaRPr lang="fa-IR"/>
          </a:p>
        </p:txBody>
      </p:sp>
      <p:sp>
        <p:nvSpPr>
          <p:cNvPr id="4" name="Footer Placeholder 3"/>
          <p:cNvSpPr>
            <a:spLocks noGrp="1"/>
          </p:cNvSpPr>
          <p:nvPr>
            <p:ph type="ftr" sz="quarter" idx="11"/>
          </p:nvPr>
        </p:nvSpPr>
        <p:spPr/>
        <p:txBody>
          <a:bodyPr/>
          <a:lstStyle/>
          <a:p>
            <a:endParaRPr lang="fa-IR"/>
          </a:p>
        </p:txBody>
      </p:sp>
      <p:sp>
        <p:nvSpPr>
          <p:cNvPr id="5" name="Slide Number Placeholder 4"/>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2548888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E14DD3-43B2-4F4B-868B-49253326D0D3}" type="datetimeFigureOut">
              <a:rPr lang="fa-IR" smtClean="0"/>
              <a:t>04/21/1448</a:t>
            </a:fld>
            <a:endParaRPr lang="fa-IR"/>
          </a:p>
        </p:txBody>
      </p:sp>
      <p:sp>
        <p:nvSpPr>
          <p:cNvPr id="3" name="Footer Placeholder 2"/>
          <p:cNvSpPr>
            <a:spLocks noGrp="1"/>
          </p:cNvSpPr>
          <p:nvPr>
            <p:ph type="ftr" sz="quarter" idx="11"/>
          </p:nvPr>
        </p:nvSpPr>
        <p:spPr/>
        <p:txBody>
          <a:bodyPr/>
          <a:lstStyle/>
          <a:p>
            <a:endParaRPr lang="fa-IR"/>
          </a:p>
        </p:txBody>
      </p:sp>
      <p:sp>
        <p:nvSpPr>
          <p:cNvPr id="4" name="Slide Number Placeholder 3"/>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1812318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E14DD3-43B2-4F4B-868B-49253326D0D3}" type="datetimeFigureOut">
              <a:rPr lang="fa-IR" smtClean="0"/>
              <a:t>04/21/1448</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2997644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FE14DD3-43B2-4F4B-868B-49253326D0D3}" type="datetimeFigureOut">
              <a:rPr lang="fa-IR" smtClean="0"/>
              <a:t>04/21/1448</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565268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E14DD3-43B2-4F4B-868B-49253326D0D3}" type="datetimeFigureOut">
              <a:rPr lang="fa-IR" smtClean="0"/>
              <a:t>04/21/1448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4226459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E14DD3-43B2-4F4B-868B-49253326D0D3}" type="datetimeFigureOut">
              <a:rPr lang="fa-IR" smtClean="0"/>
              <a:t>04/21/1448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5C530F49-BA0F-4E01-8E8D-B9E2E1FD38E3}" type="slidenum">
              <a:rPr lang="fa-IR" smtClean="0"/>
              <a:t>‹#›</a:t>
            </a:fld>
            <a:endParaRPr lang="fa-I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8312789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E14DD3-43B2-4F4B-868B-49253326D0D3}" type="datetimeFigureOut">
              <a:rPr lang="fa-IR" smtClean="0"/>
              <a:t>04/21/1448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1060145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E14DD3-43B2-4F4B-868B-49253326D0D3}" type="datetimeFigureOut">
              <a:rPr lang="fa-IR" smtClean="0"/>
              <a:t>04/21/1448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5C530F49-BA0F-4E01-8E8D-B9E2E1FD38E3}" type="slidenum">
              <a:rPr lang="fa-IR" smtClean="0"/>
              <a:t>‹#›</a:t>
            </a:fld>
            <a:endParaRPr lang="fa-I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098387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E14DD3-43B2-4F4B-868B-49253326D0D3}" type="datetimeFigureOut">
              <a:rPr lang="fa-IR" smtClean="0"/>
              <a:t>04/21/1448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14894215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E14DD3-43B2-4F4B-868B-49253326D0D3}" type="datetimeFigureOut">
              <a:rPr lang="fa-IR" smtClean="0"/>
              <a:t>04/21/1448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24066133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E14DD3-43B2-4F4B-868B-49253326D0D3}" type="datetimeFigureOut">
              <a:rPr lang="fa-IR" smtClean="0"/>
              <a:t>04/21/1448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3095845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FE14DD3-43B2-4F4B-868B-49253326D0D3}" type="datetimeFigureOut">
              <a:rPr lang="fa-IR" smtClean="0"/>
              <a:t>04/21/1448</a:t>
            </a:fld>
            <a:endParaRPr lang="fa-I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a-I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C530F49-BA0F-4E01-8E8D-B9E2E1FD38E3}" type="slidenum">
              <a:rPr lang="fa-IR" smtClean="0"/>
              <a:t>‹#›</a:t>
            </a:fld>
            <a:endParaRPr lang="fa-IR"/>
          </a:p>
        </p:txBody>
      </p:sp>
    </p:spTree>
    <p:extLst>
      <p:ext uri="{BB962C8B-B14F-4D97-AF65-F5344CB8AC3E}">
        <p14:creationId xmlns:p14="http://schemas.microsoft.com/office/powerpoint/2010/main" val="4622730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1" eaLnBrk="1" latinLnBrk="0" hangingPunct="1">
        <a:spcBef>
          <a:spcPct val="0"/>
        </a:spcBef>
        <a:buNone/>
        <a:defRPr sz="3600" kern="1200">
          <a:solidFill>
            <a:schemeClr val="accent1"/>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342900" algn="r" defTabSz="457200" rtl="1"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r" defTabSz="457200" rtl="1"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r" defTabSz="457200" rtl="1"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r" defTabSz="457200" rtl="1"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r" defTabSz="457200" rtl="1"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r" defTabSz="457200" rtl="1"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r" defTabSz="457200" rtl="1"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r" defTabSz="457200" rtl="1"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r" defTabSz="457200" rtl="1"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مایع درمانی</a:t>
            </a:r>
            <a:endParaRPr lang="fa-IR" dirty="0"/>
          </a:p>
        </p:txBody>
      </p:sp>
      <p:sp>
        <p:nvSpPr>
          <p:cNvPr id="3" name="Content Placeholder 2"/>
          <p:cNvSpPr>
            <a:spLocks noGrp="1"/>
          </p:cNvSpPr>
          <p:nvPr>
            <p:ph idx="1"/>
          </p:nvPr>
        </p:nvSpPr>
        <p:spPr/>
        <p:txBody>
          <a:bodyPr>
            <a:normAutofit/>
          </a:bodyPr>
          <a:lstStyle/>
          <a:p>
            <a:r>
              <a:rPr lang="fa-IR" sz="2000" b="1" dirty="0" smtClean="0">
                <a:latin typeface="Arial" panose="020B0604020202020204" pitchFamily="34" charset="0"/>
                <a:cs typeface="Arial" panose="020B0604020202020204" pitchFamily="34" charset="0"/>
              </a:rPr>
              <a:t>برای اولین بار در سال 1861 توماس گراهام مایعات را براساس انتشار از غشا نیمه تراوا به دو گروه کریستالوئید (به راحتی از غشا انتشار می یابد) و کلوئید (اصلا از غشا رد نمی شد) تقسیم بندی کرد</a:t>
            </a:r>
          </a:p>
          <a:p>
            <a:r>
              <a:rPr lang="fa-IR" sz="2000" b="1" dirty="0" smtClean="0">
                <a:latin typeface="Arial" panose="020B0604020202020204" pitchFamily="34" charset="0"/>
                <a:cs typeface="Arial" panose="020B0604020202020204" pitchFamily="34" charset="0"/>
              </a:rPr>
              <a:t>محتوای اصلی مایعات کریستالوئید نمک کلرید سدیم غیر ارگانیک است.</a:t>
            </a:r>
          </a:p>
          <a:p>
            <a:r>
              <a:rPr lang="fa-IR" sz="2000" b="1" dirty="0" smtClean="0">
                <a:latin typeface="Arial" panose="020B0604020202020204" pitchFamily="34" charset="0"/>
                <a:cs typeface="Arial" panose="020B0604020202020204" pitchFamily="34" charset="0"/>
              </a:rPr>
              <a:t>محتوای اصلی مایعات کلوئیدی آلبومین است</a:t>
            </a:r>
          </a:p>
          <a:p>
            <a:r>
              <a:rPr lang="fa-IR" sz="2000" b="1" dirty="0" smtClean="0">
                <a:latin typeface="Arial" panose="020B0604020202020204" pitchFamily="34" charset="0"/>
                <a:cs typeface="Arial" panose="020B0604020202020204" pitchFamily="34" charset="0"/>
              </a:rPr>
              <a:t>همچنین مایعات وریدی را براساس اسمولالیته کلی  محتویات آنها به 3 گروه ایزوتونیک(250 تا 375میلی اسمول) و هیپوتونیک (کمتر از 250 میلی اسمول) و هیپرتونیک (بیشتر از 375 میلی اسمول) تقسیم بندی می کنند.</a:t>
            </a:r>
          </a:p>
        </p:txBody>
      </p:sp>
    </p:spTree>
    <p:extLst>
      <p:ext uri="{BB962C8B-B14F-4D97-AF65-F5344CB8AC3E}">
        <p14:creationId xmlns:p14="http://schemas.microsoft.com/office/powerpoint/2010/main" val="19352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سرم سدیم کلراید 9/.%</a:t>
            </a:r>
            <a:endParaRPr lang="fa-IR" dirty="0"/>
          </a:p>
        </p:txBody>
      </p:sp>
      <p:sp>
        <p:nvSpPr>
          <p:cNvPr id="3" name="Content Placeholder 2"/>
          <p:cNvSpPr>
            <a:spLocks noGrp="1"/>
          </p:cNvSpPr>
          <p:nvPr>
            <p:ph idx="1"/>
          </p:nvPr>
        </p:nvSpPr>
        <p:spPr/>
        <p:txBody>
          <a:bodyPr/>
          <a:lstStyle/>
          <a:p>
            <a:r>
              <a:rPr lang="fa-IR" dirty="0" smtClean="0"/>
              <a:t>ا</a:t>
            </a:r>
            <a:r>
              <a:rPr lang="fa-IR" sz="2000" b="1" dirty="0" smtClean="0">
                <a:latin typeface="Arial" panose="020B0604020202020204" pitchFamily="34" charset="0"/>
                <a:cs typeface="Arial" panose="020B0604020202020204" pitchFamily="34" charset="0"/>
              </a:rPr>
              <a:t>صلی ترین مایع کریستالوئید است.</a:t>
            </a:r>
          </a:p>
          <a:p>
            <a:r>
              <a:rPr lang="fa-IR" sz="2000" b="1" dirty="0" smtClean="0">
                <a:latin typeface="Arial" panose="020B0604020202020204" pitchFamily="34" charset="0"/>
                <a:cs typeface="Arial" panose="020B0604020202020204" pitchFamily="34" charset="0"/>
              </a:rPr>
              <a:t>چون یک محلول ایزوتونیک است بنابراین سالین ایزوتونیک نیز نامیده می شود.</a:t>
            </a:r>
          </a:p>
          <a:p>
            <a:r>
              <a:rPr lang="fa-IR" sz="2000" b="1" dirty="0" smtClean="0">
                <a:latin typeface="Arial" panose="020B0604020202020204" pitchFamily="34" charset="0"/>
                <a:cs typeface="Arial" panose="020B0604020202020204" pitchFamily="34" charset="0"/>
              </a:rPr>
              <a:t>واژه نرمال سالین نیز به این سرم گفته می شود که واژه درستی نیست چون یک محلول نمکی نرمال در هرلیتر 58 گرم نمک دارد در حالیکه این سرم فقط 9 گرم در هرلیتر نمک دارد.</a:t>
            </a:r>
          </a:p>
          <a:p>
            <a:r>
              <a:rPr lang="fa-IR" sz="2000" b="1" dirty="0" smtClean="0">
                <a:latin typeface="Arial" panose="020B0604020202020204" pitchFamily="34" charset="0"/>
                <a:cs typeface="Arial" panose="020B0604020202020204" pitchFamily="34" charset="0"/>
              </a:rPr>
              <a:t>با تزریق یک لیتر سدیم کلراید 9/.% حدود 275 میلی به حجم پلاسما و 725 میلی به حجم مایع بین بافتی افزوده می شود</a:t>
            </a:r>
          </a:p>
          <a:p>
            <a:r>
              <a:rPr lang="fa-IR" sz="2000" b="1" dirty="0" smtClean="0">
                <a:latin typeface="Arial" panose="020B0604020202020204" pitchFamily="34" charset="0"/>
                <a:cs typeface="Arial" panose="020B0604020202020204" pitchFamily="34" charset="0"/>
              </a:rPr>
              <a:t>این سرم دارای 154 میلی اکی والان سدیم (سدیم پلاسما140) و 154 میلی اکی والان کلر(کلر پلاسما 103) و</a:t>
            </a:r>
            <a:r>
              <a:rPr lang="en-US" sz="2000" b="1" dirty="0" smtClean="0">
                <a:latin typeface="Arial" panose="020B0604020202020204" pitchFamily="34" charset="0"/>
                <a:cs typeface="Arial" panose="020B0604020202020204" pitchFamily="34" charset="0"/>
              </a:rPr>
              <a:t>PH</a:t>
            </a:r>
            <a:r>
              <a:rPr lang="fa-IR" sz="2000" b="1" dirty="0" smtClean="0">
                <a:latin typeface="Arial" panose="020B0604020202020204" pitchFamily="34" charset="0"/>
                <a:cs typeface="Arial" panose="020B0604020202020204" pitchFamily="34" charset="0"/>
              </a:rPr>
              <a:t>پایین تر5/7در برابر 7/4 پلاسما  است.</a:t>
            </a:r>
          </a:p>
          <a:p>
            <a:r>
              <a:rPr lang="fa-IR" sz="2000" b="1" dirty="0" smtClean="0">
                <a:latin typeface="Arial" panose="020B0604020202020204" pitchFamily="34" charset="0"/>
                <a:cs typeface="Arial" panose="020B0604020202020204" pitchFamily="34" charset="0"/>
              </a:rPr>
              <a:t>تزریق  زیاد وسریع این سرم در حجمهای زیادباعث اسیدوز متابولیک از نوع هیپرکلرمیک می شود.</a:t>
            </a:r>
          </a:p>
          <a:p>
            <a:endParaRPr lang="fa-IR" sz="2000" b="1"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2783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سرم رینگر</a:t>
            </a:r>
            <a:endParaRPr lang="fa-IR" dirty="0"/>
          </a:p>
        </p:txBody>
      </p:sp>
      <p:sp>
        <p:nvSpPr>
          <p:cNvPr id="3" name="Content Placeholder 2"/>
          <p:cNvSpPr>
            <a:spLocks noGrp="1"/>
          </p:cNvSpPr>
          <p:nvPr>
            <p:ph idx="1"/>
          </p:nvPr>
        </p:nvSpPr>
        <p:spPr/>
        <p:txBody>
          <a:bodyPr>
            <a:normAutofit/>
          </a:bodyPr>
          <a:lstStyle/>
          <a:p>
            <a:r>
              <a:rPr lang="en-US" sz="2000" b="1" dirty="0" smtClean="0">
                <a:latin typeface="Arial" panose="020B0604020202020204" pitchFamily="34" charset="0"/>
                <a:cs typeface="Arial" panose="020B0604020202020204" pitchFamily="34" charset="0"/>
              </a:rPr>
              <a:t>Sydney ringer</a:t>
            </a:r>
            <a:r>
              <a:rPr lang="fa-IR" sz="2000" b="1" dirty="0" smtClean="0">
                <a:latin typeface="Arial" panose="020B0604020202020204" pitchFamily="34" charset="0"/>
                <a:cs typeface="Arial" panose="020B0604020202020204" pitchFamily="34" charset="0"/>
              </a:rPr>
              <a:t>پزشک انگلیسی بود که مکانیسم انقباض قلب در قورباغه را مطالعه می کرد اودر سال1880 برای انقباض عضله قلب قورباغه تشریح شده مقداری کلسیم وپتاسیم به سرم نمکی اضافه کرد از آن زمان این سرم بنام سرم رینگر شناخته شد</a:t>
            </a:r>
          </a:p>
          <a:p>
            <a:r>
              <a:rPr lang="fa-IR" sz="2000" b="1" dirty="0" smtClean="0">
                <a:latin typeface="Arial" panose="020B0604020202020204" pitchFamily="34" charset="0"/>
                <a:cs typeface="Arial" panose="020B0604020202020204" pitchFamily="34" charset="0"/>
              </a:rPr>
              <a:t>این سرم نیز یک محلول ایزوتونیک و جزء کریستالوئید ها است که ممکن است با تزریق زیاد آن اسیدوز متابولیک رخ دهد</a:t>
            </a:r>
          </a:p>
          <a:p>
            <a:r>
              <a:rPr lang="fa-IR" sz="2000" b="1" dirty="0" smtClean="0">
                <a:latin typeface="Arial" panose="020B0604020202020204" pitchFamily="34" charset="0"/>
                <a:cs typeface="Arial" panose="020B0604020202020204" pitchFamily="34" charset="0"/>
              </a:rPr>
              <a:t>در سال 1930 یک متخصص کودکان آمریکایی بنام </a:t>
            </a:r>
            <a:r>
              <a:rPr lang="en-US" sz="2000" b="1" dirty="0" smtClean="0">
                <a:latin typeface="Arial" panose="020B0604020202020204" pitchFamily="34" charset="0"/>
                <a:cs typeface="Arial" panose="020B0604020202020204" pitchFamily="34" charset="0"/>
              </a:rPr>
              <a:t>Alexis Hartman</a:t>
            </a:r>
            <a:r>
              <a:rPr lang="fa-IR" sz="2000" b="1" dirty="0" smtClean="0">
                <a:latin typeface="Arial" panose="020B0604020202020204" pitchFamily="34" charset="0"/>
                <a:cs typeface="Arial" panose="020B0604020202020204" pitchFamily="34" charset="0"/>
              </a:rPr>
              <a:t> با افزودن لاکتات (لاکتات در خون به بیکربنات تبدیل می شود)به سرم رینگر باعث خنثی شدن اثر اسیدوزی آن شد و سرم خود را رینگر لاکتات یا سرم هارتمن نامید</a:t>
            </a:r>
          </a:p>
          <a:p>
            <a:r>
              <a:rPr lang="fa-IR" sz="2000" b="1" dirty="0" smtClean="0">
                <a:latin typeface="Arial" panose="020B0604020202020204" pitchFamily="34" charset="0"/>
                <a:cs typeface="Arial" panose="020B0604020202020204" pitchFamily="34" charset="0"/>
              </a:rPr>
              <a:t>با افزودن پتاسیم و کلسیم ولاکتات میزان سدیم و کلر موجود در محلول به همان نسبت کاهش داده شد.ومیزان سدیم وکلر تقریبا هم اندازه سطح پلاسما گردید.</a:t>
            </a:r>
            <a:endParaRPr lang="fa-IR"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21326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fa-IR"/>
          </a:p>
        </p:txBody>
      </p:sp>
      <p:sp>
        <p:nvSpPr>
          <p:cNvPr id="3" name="Content Placeholder 2"/>
          <p:cNvSpPr>
            <a:spLocks noGrp="1"/>
          </p:cNvSpPr>
          <p:nvPr>
            <p:ph idx="1"/>
          </p:nvPr>
        </p:nvSpPr>
        <p:spPr/>
        <p:txBody>
          <a:bodyPr>
            <a:normAutofit/>
          </a:bodyPr>
          <a:lstStyle/>
          <a:p>
            <a:r>
              <a:rPr lang="fa-IR" sz="2000" b="1" dirty="0" smtClean="0">
                <a:latin typeface="Arial" panose="020B0604020202020204" pitchFamily="34" charset="0"/>
                <a:cs typeface="Arial" panose="020B0604020202020204" pitchFamily="34" charset="0"/>
              </a:rPr>
              <a:t>کلسیم موجود در  رینگر با بعضی داروها ترکیب شده و اثرات آنها را کاهش میدهد مثل آمفوتریسین و آمپی سیلین وتیو پنتال</a:t>
            </a:r>
          </a:p>
          <a:p>
            <a:r>
              <a:rPr lang="fa-IR" sz="2000" b="1" dirty="0" smtClean="0">
                <a:solidFill>
                  <a:srgbClr val="FF0000"/>
                </a:solidFill>
                <a:latin typeface="Arial" panose="020B0604020202020204" pitchFamily="34" charset="0"/>
                <a:cs typeface="Arial" panose="020B0604020202020204" pitchFamily="34" charset="0"/>
              </a:rPr>
              <a:t>کلسیم با سفتریاکسون ترکیب شده واین ترکیب با رسوب در مغز باعث اختلالات مغزی می شود</a:t>
            </a:r>
          </a:p>
          <a:p>
            <a:r>
              <a:rPr lang="fa-IR" sz="2000" b="1" dirty="0" smtClean="0">
                <a:solidFill>
                  <a:srgbClr val="FF0000"/>
                </a:solidFill>
                <a:latin typeface="Arial" panose="020B0604020202020204" pitchFamily="34" charset="0"/>
                <a:cs typeface="Arial" panose="020B0604020202020204" pitchFamily="34" charset="0"/>
              </a:rPr>
              <a:t>کلسیم با سیترات موجود در فرآورده های خونی هم ترکیب  و باعث لخته بستن آن می شود</a:t>
            </a:r>
          </a:p>
          <a:p>
            <a:r>
              <a:rPr lang="fa-IR" sz="2000" b="1" dirty="0" smtClean="0">
                <a:solidFill>
                  <a:srgbClr val="FF0000"/>
                </a:solidFill>
                <a:latin typeface="Arial" panose="020B0604020202020204" pitchFamily="34" charset="0"/>
                <a:cs typeface="Arial" panose="020B0604020202020204" pitchFamily="34" charset="0"/>
              </a:rPr>
              <a:t>بنابراین این داروها نباید بهمراه سرم رینگر تزریق شوند</a:t>
            </a:r>
          </a:p>
          <a:p>
            <a:r>
              <a:rPr lang="fa-IR" sz="2000" b="1" dirty="0" smtClean="0">
                <a:solidFill>
                  <a:srgbClr val="FF0000"/>
                </a:solidFill>
                <a:latin typeface="Arial" panose="020B0604020202020204" pitchFamily="34" charset="0"/>
                <a:cs typeface="Arial" panose="020B0604020202020204" pitchFamily="34" charset="0"/>
              </a:rPr>
              <a:t>برای رقیق کردن بعضی داروها مثل فنی توئین تنها سرم سدیم کلراید 9/.% است</a:t>
            </a:r>
          </a:p>
          <a:p>
            <a:r>
              <a:rPr lang="fa-IR" sz="2000" b="1" dirty="0" smtClean="0">
                <a:solidFill>
                  <a:srgbClr val="FF0000"/>
                </a:solidFill>
                <a:latin typeface="Arial" panose="020B0604020202020204" pitchFamily="34" charset="0"/>
                <a:cs typeface="Arial" panose="020B0604020202020204" pitchFamily="34" charset="0"/>
              </a:rPr>
              <a:t>فرآوردهای خونی نباید با هیچ محلولی مخلوط شوند در صورت ضرورت تنها محلولی که می شود استفاده کرد سرم سدیم کلراید 9/.% است</a:t>
            </a:r>
            <a:endParaRPr lang="fa-IR" sz="2000" b="1"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8557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سرم </a:t>
            </a:r>
            <a:r>
              <a:rPr lang="en-US" smtClean="0"/>
              <a:t>DW5%</a:t>
            </a:r>
            <a:endParaRPr lang="fa-IR" dirty="0"/>
          </a:p>
        </p:txBody>
      </p:sp>
      <p:sp>
        <p:nvSpPr>
          <p:cNvPr id="3" name="Content Placeholder 2"/>
          <p:cNvSpPr>
            <a:spLocks noGrp="1"/>
          </p:cNvSpPr>
          <p:nvPr>
            <p:ph idx="1"/>
          </p:nvPr>
        </p:nvSpPr>
        <p:spPr/>
        <p:txBody>
          <a:bodyPr>
            <a:normAutofit/>
          </a:bodyPr>
          <a:lstStyle/>
          <a:p>
            <a:r>
              <a:rPr lang="fa-IR" sz="2000" b="1" dirty="0" smtClean="0">
                <a:latin typeface="Arial" panose="020B0604020202020204" pitchFamily="34" charset="0"/>
                <a:cs typeface="Arial" panose="020B0604020202020204" pitchFamily="34" charset="0"/>
              </a:rPr>
              <a:t>یک محلول ایزوتونیک است ولی سریعا در بدن دکستروز آن متابولیزه شده وفقط آّب آن باقی مانده وهیپوتونیک می شود و به طریق اسمز وارد سلولها شده و تورم وادم سلولی رخ می دهد</a:t>
            </a:r>
          </a:p>
          <a:p>
            <a:r>
              <a:rPr lang="fa-IR" sz="2000" b="1" dirty="0" smtClean="0">
                <a:latin typeface="Arial" panose="020B0604020202020204" pitchFamily="34" charset="0"/>
                <a:cs typeface="Arial" panose="020B0604020202020204" pitchFamily="34" charset="0"/>
              </a:rPr>
              <a:t>بنابراین در بیماران با کاهش حجم پلاسما ویا در بیماران بدحال دادن این سرم کنتراندیکه است</a:t>
            </a:r>
          </a:p>
          <a:p>
            <a:r>
              <a:rPr lang="fa-IR" sz="2000" b="1" dirty="0" smtClean="0">
                <a:latin typeface="Arial" panose="020B0604020202020204" pitchFamily="34" charset="0"/>
                <a:cs typeface="Arial" panose="020B0604020202020204" pitchFamily="34" charset="0"/>
              </a:rPr>
              <a:t>همچنین در بیماران با افزایش فشار جمجمه  چون این سرم باعث ادم بیشتر سلولهای مغزی می شود ممنوع است</a:t>
            </a:r>
          </a:p>
          <a:p>
            <a:r>
              <a:rPr lang="fa-IR" sz="2000" b="1" dirty="0" smtClean="0">
                <a:latin typeface="Arial" panose="020B0604020202020204" pitchFamily="34" charset="0"/>
                <a:cs typeface="Arial" panose="020B0604020202020204" pitchFamily="34" charset="0"/>
              </a:rPr>
              <a:t>اساسا این سرم دربیمارانیکه اسمولالیتی سرم آنها خیلی بالا است ویا نیاز به آّب آزاد دارند برای کاهش اسمولالتی استفاده می شود</a:t>
            </a:r>
          </a:p>
          <a:p>
            <a:r>
              <a:rPr lang="fa-IR" sz="2000" b="1" dirty="0" smtClean="0">
                <a:latin typeface="Arial" panose="020B0604020202020204" pitchFamily="34" charset="0"/>
                <a:cs typeface="Arial" panose="020B0604020202020204" pitchFamily="34" charset="0"/>
              </a:rPr>
              <a:t>سرم دکستروز 10 درصد و 20 درصد و50 درصد هم موجود است که همه هایپرتونیک هستند و برای موارد تغذیه ای مصرف می شوند</a:t>
            </a:r>
            <a:endParaRPr lang="fa-IR"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80274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سرم سدیم کلراید45/.%</a:t>
            </a:r>
            <a:br>
              <a:rPr lang="fa-IR" dirty="0" smtClean="0"/>
            </a:br>
            <a:r>
              <a:rPr lang="fa-IR" dirty="0" smtClean="0"/>
              <a:t>هالف سالین</a:t>
            </a:r>
            <a:endParaRPr lang="fa-IR" dirty="0"/>
          </a:p>
        </p:txBody>
      </p:sp>
      <p:sp>
        <p:nvSpPr>
          <p:cNvPr id="3" name="Content Placeholder 2"/>
          <p:cNvSpPr>
            <a:spLocks noGrp="1"/>
          </p:cNvSpPr>
          <p:nvPr>
            <p:ph idx="1"/>
          </p:nvPr>
        </p:nvSpPr>
        <p:spPr/>
        <p:txBody>
          <a:bodyPr>
            <a:normAutofit/>
          </a:bodyPr>
          <a:lstStyle/>
          <a:p>
            <a:r>
              <a:rPr lang="fa-IR" sz="2000" b="1" dirty="0" smtClean="0">
                <a:latin typeface="Arial" panose="020B0604020202020204" pitchFamily="34" charset="0"/>
                <a:cs typeface="Arial" panose="020B0604020202020204" pitchFamily="34" charset="0"/>
              </a:rPr>
              <a:t>یک سرم هایپوتونیک است و در بیمارانیکه سدیم و کلر سرم آنها  و  یا اسمولالیتی سرم آنها بالا است استفاده می شود و عوارض کمتری نسبت به سرم دکستروز 5% دارد</a:t>
            </a:r>
          </a:p>
          <a:p>
            <a:endParaRPr lang="fa-IR" sz="2000" b="1" dirty="0" smtClean="0">
              <a:latin typeface="Arial" panose="020B0604020202020204" pitchFamily="34" charset="0"/>
              <a:cs typeface="Arial" panose="020B0604020202020204" pitchFamily="34" charset="0"/>
            </a:endParaRPr>
          </a:p>
          <a:p>
            <a:r>
              <a:rPr lang="fa-IR" sz="2000" b="1" dirty="0" smtClean="0">
                <a:latin typeface="Arial" panose="020B0604020202020204" pitchFamily="34" charset="0"/>
                <a:cs typeface="Arial" panose="020B0604020202020204" pitchFamily="34" charset="0"/>
              </a:rPr>
              <a:t>در بیمارن کتواسیدوز دیابتی که نیاز به تزریق سرم نمکی زیاد است برای پیشگیری از  اسیدوز وهایپرکلرمی از آن استفاده می شود</a:t>
            </a:r>
            <a:endParaRPr lang="fa-IR"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71254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کلوئید ها</a:t>
            </a:r>
            <a:endParaRPr lang="fa-IR" dirty="0"/>
          </a:p>
        </p:txBody>
      </p:sp>
      <p:sp>
        <p:nvSpPr>
          <p:cNvPr id="3" name="Content Placeholder 2"/>
          <p:cNvSpPr>
            <a:spLocks noGrp="1"/>
          </p:cNvSpPr>
          <p:nvPr>
            <p:ph idx="1"/>
          </p:nvPr>
        </p:nvSpPr>
        <p:spPr/>
        <p:txBody>
          <a:bodyPr/>
          <a:lstStyle/>
          <a:p>
            <a:r>
              <a:rPr lang="fa-IR" sz="2000" b="1" dirty="0" smtClean="0">
                <a:latin typeface="Arial" panose="020B0604020202020204" pitchFamily="34" charset="0"/>
                <a:cs typeface="Arial" panose="020B0604020202020204" pitchFamily="34" charset="0"/>
              </a:rPr>
              <a:t>حاوی مولکولهای غیر قابل انتشار هستند و در پلاسما مانده واسمولالیته پلاسما را بالا برده  وباعث افزایش حجم پلاسما می شوند </a:t>
            </a:r>
          </a:p>
          <a:p>
            <a:r>
              <a:rPr lang="fa-IR" sz="2000" b="1" dirty="0" smtClean="0">
                <a:latin typeface="Arial" panose="020B0604020202020204" pitchFamily="34" charset="0"/>
                <a:cs typeface="Arial" panose="020B0604020202020204" pitchFamily="34" charset="0"/>
              </a:rPr>
              <a:t>شایعترین آن آلبومین 5% است</a:t>
            </a:r>
          </a:p>
          <a:p>
            <a:r>
              <a:rPr lang="fa-IR" sz="2000" b="1" dirty="0" smtClean="0">
                <a:latin typeface="Arial" panose="020B0604020202020204" pitchFamily="34" charset="0"/>
                <a:cs typeface="Arial" panose="020B0604020202020204" pitchFamily="34" charset="0"/>
              </a:rPr>
              <a:t>انفوزیون یک لیتر مایع آلبومین 5% 700 میلی حجم پلاسما و300 میلی حجم بین بافتی را افزایش می دهد (درست برعکس کریستالوئید)بنابراین برای اتساع واحیا حجم پلاسما کلوئیدها بهتر از کریستالوئیدها هستند ولی بعلت گران بودن وکمیاب بودن کمتر استفاده می شوند</a:t>
            </a:r>
          </a:p>
          <a:p>
            <a:r>
              <a:rPr lang="fa-IR" sz="2000" b="1" dirty="0" smtClean="0">
                <a:latin typeface="Arial" panose="020B0604020202020204" pitchFamily="34" charset="0"/>
                <a:cs typeface="Arial" panose="020B0604020202020204" pitchFamily="34" charset="0"/>
              </a:rPr>
              <a:t>آلبومین 20% هم موجود است</a:t>
            </a:r>
          </a:p>
          <a:p>
            <a:r>
              <a:rPr lang="fa-IR" sz="2000" b="1" dirty="0" smtClean="0">
                <a:latin typeface="Arial" panose="020B0604020202020204" pitchFamily="34" charset="0"/>
                <a:cs typeface="Arial" panose="020B0604020202020204" pitchFamily="34" charset="0"/>
              </a:rPr>
              <a:t>محلولهای کلوئیدی مثل</a:t>
            </a:r>
            <a:r>
              <a:rPr lang="en-US" sz="2000" b="1" dirty="0" err="1" smtClean="0">
                <a:latin typeface="Arial" panose="020B0604020202020204" pitchFamily="34" charset="0"/>
                <a:cs typeface="Arial" panose="020B0604020202020204" pitchFamily="34" charset="0"/>
              </a:rPr>
              <a:t>Hetstarch</a:t>
            </a:r>
            <a:r>
              <a:rPr lang="fa-IR" sz="2000" b="1" dirty="0" smtClean="0">
                <a:latin typeface="Arial" panose="020B0604020202020204" pitchFamily="34" charset="0"/>
                <a:cs typeface="Arial" panose="020B0604020202020204" pitchFamily="34" charset="0"/>
              </a:rPr>
              <a:t>(یک پلیمر نشاسته ای ) ودکستران(پلیمر گلوکز) کمتر موجود هستند واستفاده چندانی ندارند.</a:t>
            </a:r>
          </a:p>
          <a:p>
            <a:endParaRPr lang="fa-IR" sz="2000" b="1" dirty="0" smtClean="0">
              <a:latin typeface="Arial" panose="020B0604020202020204" pitchFamily="34" charset="0"/>
              <a:cs typeface="Arial" panose="020B0604020202020204" pitchFamily="34" charset="0"/>
            </a:endParaRPr>
          </a:p>
          <a:p>
            <a:endParaRPr lang="fa-IR" dirty="0"/>
          </a:p>
        </p:txBody>
      </p:sp>
    </p:spTree>
    <p:extLst>
      <p:ext uri="{BB962C8B-B14F-4D97-AF65-F5344CB8AC3E}">
        <p14:creationId xmlns:p14="http://schemas.microsoft.com/office/powerpoint/2010/main" val="2037661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عوارض موضعی مایع درمانی یا دارو درمانی</a:t>
            </a:r>
            <a:endParaRPr lang="fa-IR" dirty="0"/>
          </a:p>
        </p:txBody>
      </p:sp>
      <p:sp>
        <p:nvSpPr>
          <p:cNvPr id="3" name="Content Placeholder 2"/>
          <p:cNvSpPr>
            <a:spLocks noGrp="1"/>
          </p:cNvSpPr>
          <p:nvPr>
            <p:ph idx="1"/>
          </p:nvPr>
        </p:nvSpPr>
        <p:spPr/>
        <p:txBody>
          <a:bodyPr>
            <a:normAutofit/>
          </a:bodyPr>
          <a:lstStyle/>
          <a:p>
            <a:r>
              <a:rPr lang="fa-IR" sz="2000" b="1" dirty="0" smtClean="0">
                <a:solidFill>
                  <a:srgbClr val="FF0000"/>
                </a:solidFill>
                <a:latin typeface="Arial" panose="020B0604020202020204" pitchFamily="34" charset="0"/>
                <a:cs typeface="Arial" panose="020B0604020202020204" pitchFamily="34" charset="0"/>
              </a:rPr>
              <a:t>1-فلبیت: </a:t>
            </a:r>
            <a:r>
              <a:rPr lang="fa-IR" sz="2000" b="1" dirty="0" smtClean="0">
                <a:latin typeface="Arial" panose="020B0604020202020204" pitchFamily="34" charset="0"/>
                <a:cs typeface="Arial" panose="020B0604020202020204" pitchFamily="34" charset="0"/>
              </a:rPr>
              <a:t>التهاب ورید در محل تزریق که با قرمزی و تورم ودرد درلمس  وگرمی مشخص می شود و ممکن است فلبیت شیمیایی در نتیجه داروهای با غلظت بالا و یا فلبیت مکانیکی در نتیجه زیاد ماندن کانولا در محل ورید(بیشتر از 72 ساعت ممنوع است) ویا باکتریایی درنتیجه عدم رعایت تکنیک آسپتیک وبهداشت دست باشد.باید سریعا کاتتر را خارج و کمپرس گرم روی محل گذاشت.</a:t>
            </a:r>
          </a:p>
          <a:p>
            <a:r>
              <a:rPr lang="fa-IR" sz="2000" b="1" dirty="0" smtClean="0">
                <a:solidFill>
                  <a:srgbClr val="FF0000"/>
                </a:solidFill>
                <a:latin typeface="Arial" panose="020B0604020202020204" pitchFamily="34" charset="0"/>
                <a:cs typeface="Arial" panose="020B0604020202020204" pitchFamily="34" charset="0"/>
              </a:rPr>
              <a:t>2-ترومبوز: </a:t>
            </a:r>
            <a:r>
              <a:rPr lang="fa-IR" sz="2000" b="1" dirty="0" smtClean="0">
                <a:latin typeface="Arial" panose="020B0604020202020204" pitchFamily="34" charset="0"/>
                <a:cs typeface="Arial" panose="020B0604020202020204" pitchFamily="34" charset="0"/>
              </a:rPr>
              <a:t>در اثر لخته بستن نوک کانولا یا کاتتر ایجاد می شود که با عدم جریان یافتن مایع مشخص می شود وباید ابتدا با سرنگ آسپیره کرد واگر باز نشد کاتتر خارج شود</a:t>
            </a:r>
          </a:p>
          <a:p>
            <a:r>
              <a:rPr lang="fa-IR" sz="2000" b="1" dirty="0" smtClean="0">
                <a:solidFill>
                  <a:srgbClr val="FF0000"/>
                </a:solidFill>
                <a:latin typeface="Arial" panose="020B0604020202020204" pitchFamily="34" charset="0"/>
                <a:cs typeface="Arial" panose="020B0604020202020204" pitchFamily="34" charset="0"/>
              </a:rPr>
              <a:t>3- هماتوم: </a:t>
            </a:r>
            <a:r>
              <a:rPr lang="fa-IR" sz="2000" b="1" dirty="0" smtClean="0">
                <a:latin typeface="Arial" panose="020B0604020202020204" pitchFamily="34" charset="0"/>
                <a:cs typeface="Arial" panose="020B0604020202020204" pitchFamily="34" charset="0"/>
              </a:rPr>
              <a:t>در اثر پارگی رگ در محل ورود آنژیوکت احتمال نشت خون وتجمع در آن ناحیه وجود دارد که با درد وتورم وگرمی و اکیموز مشخص می شود وباید سریعا کاتتر خارج وابتدا کمپرس سرد برای کنترل خونریزی و سپس بعد از 24 ساعت کمپرس گرم برای پخش هماتوم گذاشته شود</a:t>
            </a:r>
            <a:endParaRPr lang="fa-IR"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0683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fa-IR" dirty="0"/>
          </a:p>
        </p:txBody>
      </p:sp>
      <p:sp>
        <p:nvSpPr>
          <p:cNvPr id="3" name="Content Placeholder 2"/>
          <p:cNvSpPr>
            <a:spLocks noGrp="1"/>
          </p:cNvSpPr>
          <p:nvPr>
            <p:ph idx="1"/>
          </p:nvPr>
        </p:nvSpPr>
        <p:spPr/>
        <p:txBody>
          <a:bodyPr>
            <a:normAutofit/>
          </a:bodyPr>
          <a:lstStyle/>
          <a:p>
            <a:r>
              <a:rPr lang="fa-IR" sz="2000" b="1" dirty="0" smtClean="0">
                <a:solidFill>
                  <a:srgbClr val="FF0000"/>
                </a:solidFill>
                <a:latin typeface="Arial" panose="020B0604020202020204" pitchFamily="34" charset="0"/>
                <a:cs typeface="Arial" panose="020B0604020202020204" pitchFamily="34" charset="0"/>
              </a:rPr>
              <a:t>4-انفیلتراسیون یا ارتشاح:</a:t>
            </a:r>
          </a:p>
          <a:p>
            <a:r>
              <a:rPr lang="fa-IR" sz="2000" b="1" dirty="0" smtClean="0">
                <a:latin typeface="Arial" panose="020B0604020202020204" pitchFamily="34" charset="0"/>
                <a:cs typeface="Arial" panose="020B0604020202020204" pitchFamily="34" charset="0"/>
              </a:rPr>
              <a:t>خروج مایعات ایزوتونیک یا هیپوتونیک وغیر سوزاننده از رگ به بافت اطراف که با تورم وسردی و درد ناحیه مشخص است که باید سرم قطع و از محل دیگری رگ گیری شود ونیاز به اقدام خاصی </a:t>
            </a:r>
            <a:r>
              <a:rPr lang="fa-IR" sz="2000" b="1" smtClean="0">
                <a:latin typeface="Arial" panose="020B0604020202020204" pitchFamily="34" charset="0"/>
                <a:cs typeface="Arial" panose="020B0604020202020204" pitchFamily="34" charset="0"/>
              </a:rPr>
              <a:t>نیست وخودش </a:t>
            </a:r>
            <a:r>
              <a:rPr lang="fa-IR" sz="2000" b="1" dirty="0" smtClean="0">
                <a:latin typeface="Arial" panose="020B0604020202020204" pitchFamily="34" charset="0"/>
                <a:cs typeface="Arial" panose="020B0604020202020204" pitchFamily="34" charset="0"/>
              </a:rPr>
              <a:t>جذب خواهد شد</a:t>
            </a:r>
          </a:p>
          <a:p>
            <a:r>
              <a:rPr lang="fa-IR" sz="2000" b="1" dirty="0" smtClean="0">
                <a:solidFill>
                  <a:schemeClr val="tx1"/>
                </a:solidFill>
                <a:latin typeface="Arial" panose="020B0604020202020204" pitchFamily="34" charset="0"/>
                <a:cs typeface="Arial" panose="020B0604020202020204" pitchFamily="34" charset="0"/>
              </a:rPr>
              <a:t>5</a:t>
            </a:r>
            <a:r>
              <a:rPr lang="fa-IR" sz="2000" b="1" dirty="0" smtClean="0">
                <a:solidFill>
                  <a:srgbClr val="FF0000"/>
                </a:solidFill>
                <a:latin typeface="Arial" panose="020B0604020202020204" pitchFamily="34" charset="0"/>
                <a:cs typeface="Arial" panose="020B0604020202020204" pitchFamily="34" charset="0"/>
              </a:rPr>
              <a:t>-اکستراوازیشن</a:t>
            </a:r>
            <a:r>
              <a:rPr lang="fa-IR" sz="2000" b="1" dirty="0" smtClean="0">
                <a:solidFill>
                  <a:schemeClr val="tx1"/>
                </a:solidFill>
                <a:latin typeface="Arial" panose="020B0604020202020204" pitchFamily="34" charset="0"/>
                <a:cs typeface="Arial" panose="020B0604020202020204" pitchFamily="34" charset="0"/>
              </a:rPr>
              <a:t>: نشت یا خروج مایعات هیپرتونیک یا سوزاننده(</a:t>
            </a:r>
            <a:r>
              <a:rPr lang="en-US" sz="2000" b="1" dirty="0" smtClean="0">
                <a:solidFill>
                  <a:schemeClr val="tx1"/>
                </a:solidFill>
                <a:latin typeface="Arial" panose="020B0604020202020204" pitchFamily="34" charset="0"/>
                <a:cs typeface="Arial" panose="020B0604020202020204" pitchFamily="34" charset="0"/>
              </a:rPr>
              <a:t>vesicant</a:t>
            </a:r>
            <a:r>
              <a:rPr lang="fa-IR" sz="2000" b="1" dirty="0" smtClean="0">
                <a:solidFill>
                  <a:schemeClr val="tx1"/>
                </a:solidFill>
                <a:latin typeface="Arial" panose="020B0604020202020204" pitchFamily="34" charset="0"/>
                <a:cs typeface="Arial" panose="020B0604020202020204" pitchFamily="34" charset="0"/>
              </a:rPr>
              <a:t>) از رگ به اطراف که با تورم ودرد  وگاها تغییر رنگ پوست مشخص می شود وباید سریعا قطع و مطابق با دستورالعمل موسسه رفتار کرد</a:t>
            </a:r>
            <a:endParaRPr lang="fa-IR" sz="20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1965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عوارض سیستمیک مایع درمانی</a:t>
            </a:r>
            <a:endParaRPr lang="fa-IR" dirty="0"/>
          </a:p>
        </p:txBody>
      </p:sp>
      <p:sp>
        <p:nvSpPr>
          <p:cNvPr id="3" name="Content Placeholder 2"/>
          <p:cNvSpPr>
            <a:spLocks noGrp="1"/>
          </p:cNvSpPr>
          <p:nvPr>
            <p:ph idx="1"/>
          </p:nvPr>
        </p:nvSpPr>
        <p:spPr/>
        <p:txBody>
          <a:bodyPr>
            <a:normAutofit fontScale="92500" lnSpcReduction="10000"/>
          </a:bodyPr>
          <a:lstStyle/>
          <a:p>
            <a:r>
              <a:rPr lang="fa-IR" dirty="0" smtClean="0">
                <a:solidFill>
                  <a:srgbClr val="FF0000"/>
                </a:solidFill>
              </a:rPr>
              <a:t>1- </a:t>
            </a:r>
            <a:r>
              <a:rPr lang="fa-IR" sz="2000" b="1" dirty="0" smtClean="0">
                <a:solidFill>
                  <a:srgbClr val="FF0000"/>
                </a:solidFill>
                <a:latin typeface="Arial" panose="020B0604020202020204" pitchFamily="34" charset="0"/>
                <a:cs typeface="Arial" panose="020B0604020202020204" pitchFamily="34" charset="0"/>
              </a:rPr>
              <a:t>اورلد مایعات:</a:t>
            </a:r>
          </a:p>
          <a:p>
            <a:r>
              <a:rPr lang="fa-IR" sz="2000" b="1" dirty="0" smtClean="0">
                <a:solidFill>
                  <a:schemeClr val="tx1"/>
                </a:solidFill>
                <a:latin typeface="Arial" panose="020B0604020202020204" pitchFamily="34" charset="0"/>
                <a:cs typeface="Arial" panose="020B0604020202020204" pitchFamily="34" charset="0"/>
              </a:rPr>
              <a:t>در</a:t>
            </a:r>
            <a:r>
              <a:rPr lang="fa-IR" sz="2000" b="1" dirty="0" smtClean="0">
                <a:solidFill>
                  <a:srgbClr val="FF0000"/>
                </a:solidFill>
                <a:latin typeface="Arial" panose="020B0604020202020204" pitchFamily="34" charset="0"/>
                <a:cs typeface="Arial" panose="020B0604020202020204" pitchFamily="34" charset="0"/>
              </a:rPr>
              <a:t> </a:t>
            </a:r>
            <a:r>
              <a:rPr lang="fa-IR" sz="2000" b="1" dirty="0" smtClean="0">
                <a:latin typeface="Arial" panose="020B0604020202020204" pitchFamily="34" charset="0"/>
                <a:cs typeface="Arial" panose="020B0604020202020204" pitchFamily="34" charset="0"/>
              </a:rPr>
              <a:t>صورت تزریق سریع و زیاد مایعات بخصوص مایعات هیپرتونیک در صورت وجود نارسایی در قلب بیمار ،باعث پس زدن مایع به ریه ها و ادم ریوی خواهد شد که با علایم سرفه و تنگی نفس و اتساع ورید های گردن و بی قراری و تنفس تند همراه است</a:t>
            </a:r>
          </a:p>
          <a:p>
            <a:r>
              <a:rPr lang="fa-IR" sz="2000" b="1" dirty="0" smtClean="0">
                <a:solidFill>
                  <a:srgbClr val="FF0000"/>
                </a:solidFill>
                <a:latin typeface="Arial" panose="020B0604020202020204" pitchFamily="34" charset="0"/>
                <a:cs typeface="Arial" panose="020B0604020202020204" pitchFamily="34" charset="0"/>
              </a:rPr>
              <a:t>2-آمبولی هوا:</a:t>
            </a:r>
          </a:p>
          <a:p>
            <a:r>
              <a:rPr lang="fa-IR" sz="2000" b="1" dirty="0" smtClean="0">
                <a:latin typeface="Arial" panose="020B0604020202020204" pitchFamily="34" charset="0"/>
                <a:cs typeface="Arial" panose="020B0604020202020204" pitchFamily="34" charset="0"/>
              </a:rPr>
              <a:t>درموقع کارگذاری کاتتر وریدی بخصوص کاتتر ورید مرکزی ممکن است رخ دهد که اتفاق بسیار نادر ولی خطرناک می باشد که با طپش قلب و تنگی نفس و سرفه و افت فشار وضعف و تاکیکاردی بصورت ناگهانی دیده می شود وسریعا باید بیمار را در وضعیت خوابیده به پهلوی چپ وسر پایین تر از بدن قرار داد.</a:t>
            </a:r>
          </a:p>
          <a:p>
            <a:r>
              <a:rPr lang="fa-IR" sz="2000" b="1" dirty="0">
                <a:solidFill>
                  <a:srgbClr val="FF0000"/>
                </a:solidFill>
                <a:latin typeface="Arial" panose="020B0604020202020204" pitchFamily="34" charset="0"/>
                <a:cs typeface="Arial" panose="020B0604020202020204" pitchFamily="34" charset="0"/>
              </a:rPr>
              <a:t>3- عفونت</a:t>
            </a:r>
          </a:p>
          <a:p>
            <a:r>
              <a:rPr lang="fa-IR" sz="2000" b="1" dirty="0">
                <a:latin typeface="Arial" panose="020B0604020202020204" pitchFamily="34" charset="0"/>
                <a:cs typeface="Arial" panose="020B0604020202020204" pitchFamily="34" charset="0"/>
              </a:rPr>
              <a:t>در صورت رعایت نکردن تکنیک آسپتیک در موقع رگ گیری و عدم رعایت بهداشت دست ممکن است عفونت </a:t>
            </a:r>
            <a:r>
              <a:rPr lang="fa-IR" sz="2000" b="1" dirty="0" smtClean="0">
                <a:latin typeface="Arial" panose="020B0604020202020204" pitchFamily="34" charset="0"/>
                <a:cs typeface="Arial" panose="020B0604020202020204" pitchFamily="34" charset="0"/>
              </a:rPr>
              <a:t>وارد  </a:t>
            </a:r>
            <a:r>
              <a:rPr lang="fa-IR" sz="2000" b="1" dirty="0">
                <a:latin typeface="Arial" panose="020B0604020202020204" pitchFamily="34" charset="0"/>
                <a:cs typeface="Arial" panose="020B0604020202020204" pitchFamily="34" charset="0"/>
              </a:rPr>
              <a:t>بدن بشود که با تب و تاکیکاردی و بیحالی همراه است</a:t>
            </a:r>
          </a:p>
          <a:p>
            <a:endParaRPr lang="fa-IR" sz="2000" b="1" dirty="0" smtClean="0">
              <a:latin typeface="Arial" panose="020B0604020202020204" pitchFamily="34" charset="0"/>
              <a:cs typeface="Arial" panose="020B0604020202020204" pitchFamily="34" charset="0"/>
            </a:endParaRPr>
          </a:p>
          <a:p>
            <a:endParaRPr lang="fa-IR"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4127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fa-I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7972" y="0"/>
            <a:ext cx="13179971" cy="7010400"/>
          </a:xfrm>
        </p:spPr>
      </p:pic>
    </p:spTree>
    <p:extLst>
      <p:ext uri="{BB962C8B-B14F-4D97-AF65-F5344CB8AC3E}">
        <p14:creationId xmlns:p14="http://schemas.microsoft.com/office/powerpoint/2010/main" val="26645167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930</TotalTime>
  <Words>1139</Words>
  <Application>Microsoft Office PowerPoint</Application>
  <PresentationFormat>Widescreen</PresentationFormat>
  <Paragraphs>53</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Tahoma</vt:lpstr>
      <vt:lpstr>Trebuchet MS</vt:lpstr>
      <vt:lpstr>Wingdings 3</vt:lpstr>
      <vt:lpstr>Facet</vt:lpstr>
      <vt:lpstr>مایع درمانی</vt:lpstr>
      <vt:lpstr>سرم سدیم کلراید 9/.%</vt:lpstr>
      <vt:lpstr>سرم رینگر</vt:lpstr>
      <vt:lpstr>PowerPoint Presentation</vt:lpstr>
      <vt:lpstr>سرم DW5%</vt:lpstr>
      <vt:lpstr>سرم سدیم کلراید45/.% هالف سالین</vt:lpstr>
      <vt:lpstr>کلوئید ها</vt:lpstr>
      <vt:lpstr>عوارض موضعی مایع درمانی یا دارو درمانی</vt:lpstr>
      <vt:lpstr>PowerPoint Presentation</vt:lpstr>
      <vt:lpstr>عوارض سیستمیک مایع درمانی</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مایعات و الکترولیتها</dc:title>
  <dc:creator>Andisheh</dc:creator>
  <cp:lastModifiedBy>Andisheh</cp:lastModifiedBy>
  <cp:revision>151</cp:revision>
  <dcterms:created xsi:type="dcterms:W3CDTF">2022-10-29T20:37:20Z</dcterms:created>
  <dcterms:modified xsi:type="dcterms:W3CDTF">2026-10-03T17:47:51Z</dcterms:modified>
</cp:coreProperties>
</file>