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1213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8853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0924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9935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96553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4888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1231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9764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6526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264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278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60145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9838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8942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06613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9584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14DD3-43B2-4F4B-868B-49253326D0D3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530F49-BA0F-4E01-8E8D-B9E2E1FD38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6227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تستهای آزمایشگاهی  ارزیابی وضعیت مایع بدن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b="1" dirty="0" smtClean="0">
                <a:cs typeface="B Nazanin" panose="00000400000000000000" pitchFamily="2" charset="-78"/>
              </a:rPr>
              <a:t>اسمولالیتی یا اسمولاریتی :اسمولالیتی غلظت محلولی است که بر حرکت مایع بین فضاهای مختلف توسط اسمز اثر می گذارد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اسمولالیته: غلظت مواد حل شده در هر کیلوگرم خون و ادرار را اندازه گیری می کند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اسمولالیته: بصورت میلی اسمول در هر کیلو گرم آب  گزارش می شود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اسمولاریته: </a:t>
            </a:r>
            <a:r>
              <a:rPr lang="fa-IR" b="1" dirty="0">
                <a:cs typeface="B Nazanin" panose="00000400000000000000" pitchFamily="2" charset="-78"/>
              </a:rPr>
              <a:t>بصورت میلی اسمول در هر لیتر </a:t>
            </a:r>
            <a:r>
              <a:rPr lang="fa-IR" b="1" dirty="0" smtClean="0">
                <a:cs typeface="B Nazanin" panose="00000400000000000000" pitchFamily="2" charset="-78"/>
              </a:rPr>
              <a:t>آب  است</a:t>
            </a:r>
          </a:p>
          <a:p>
            <a:r>
              <a:rPr lang="fa-IR" b="1" dirty="0">
                <a:cs typeface="B Nazanin" panose="00000400000000000000" pitchFamily="2" charset="-78"/>
              </a:rPr>
              <a:t> </a:t>
            </a:r>
            <a:r>
              <a:rPr lang="fa-IR" b="1" dirty="0" smtClean="0">
                <a:cs typeface="B Nazanin" panose="00000400000000000000" pitchFamily="2" charset="-78"/>
              </a:rPr>
              <a:t>چون غلظت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سدیم</a:t>
            </a:r>
            <a:r>
              <a:rPr lang="fa-IR" b="1" dirty="0" smtClean="0">
                <a:cs typeface="B Nazanin" panose="00000400000000000000" pitchFamily="2" charset="-78"/>
              </a:rPr>
              <a:t> در خون خیلی زیاد است اسمولالیته سرم خون در واقع منعکس کننده غلظت سدیم است . </a:t>
            </a:r>
            <a:r>
              <a:rPr lang="en-US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BUN</a:t>
            </a:r>
            <a:r>
              <a:rPr lang="fa-IR" b="1" dirty="0" smtClean="0">
                <a:cs typeface="B Nazanin" panose="00000400000000000000" pitchFamily="2" charset="-78"/>
              </a:rPr>
              <a:t> و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b="1" dirty="0" smtClean="0">
                <a:cs typeface="B Nazanin" panose="00000400000000000000" pitchFamily="2" charset="-78"/>
              </a:rPr>
              <a:t> هم نقش بعدی را دارند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اسمولالیته ادرار توسط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 اوره</a:t>
            </a:r>
            <a:r>
              <a:rPr lang="fa-IR" b="1" dirty="0" smtClean="0">
                <a:cs typeface="B Nazanin" panose="00000400000000000000" pitchFamily="2" charset="-78"/>
              </a:rPr>
              <a:t>،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کراتینین</a:t>
            </a:r>
            <a:r>
              <a:rPr lang="fa-IR" b="1" dirty="0" smtClean="0">
                <a:cs typeface="B Nazanin" panose="00000400000000000000" pitchFamily="2" charset="-78"/>
              </a:rPr>
              <a:t> و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اسید اوریک </a:t>
            </a:r>
            <a:r>
              <a:rPr lang="fa-IR" b="1" dirty="0" smtClean="0">
                <a:cs typeface="B Nazanin" panose="00000400000000000000" pitchFamily="2" charset="-78"/>
              </a:rPr>
              <a:t>تعیین می شود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در بالغین سالم اسمولالیته سرم خون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275تا 290 </a:t>
            </a:r>
            <a:r>
              <a:rPr lang="fa-IR" b="1" dirty="0" smtClean="0">
                <a:cs typeface="B Nazanin" panose="00000400000000000000" pitchFamily="2" charset="-78"/>
              </a:rPr>
              <a:t>میلی اسمول به هر کیلو است و سدیم با اسمولالیته بالای خود باعث نگه داشتن مایع در فضای خارج سلولی می شود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925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Specific gravity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وزن مخصوص ادرار توانایی کلیه ها برای ترشح یا نگهداری آب را می سنجد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وزن مخصوص ادرار با وزن آب مقطر که 1/000 است مقایسه می شود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میزان نرمال وزن مخصوص ادرار  1/010 تا1/025 است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وزن مخصوص ادرار ارتباط معکوس با حجم ادرار دارد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افزایش گلوکز و پروتئین در ادرار بصورت کاذب وزن مخصوص را بالا می برند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688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540" y="609600"/>
            <a:ext cx="8596668" cy="693683"/>
          </a:xfrm>
        </p:spPr>
        <p:txBody>
          <a:bodyPr/>
          <a:lstStyle/>
          <a:p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07" y="0"/>
            <a:ext cx="11929241" cy="6737131"/>
          </a:xfrm>
        </p:spPr>
      </p:pic>
    </p:spTree>
    <p:extLst>
      <p:ext uri="{BB962C8B-B14F-4D97-AF65-F5344CB8AC3E}">
        <p14:creationId xmlns:p14="http://schemas.microsoft.com/office/powerpoint/2010/main" val="255360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b="1" dirty="0">
                <a:cs typeface="B Nazanin" panose="00000400000000000000" pitchFamily="2" charset="-78"/>
              </a:rPr>
              <a:t>با شکستن اسید آمینه و پروتئینها مقدار </a:t>
            </a:r>
            <a:r>
              <a:rPr lang="fa-IR" b="1" dirty="0" smtClean="0">
                <a:cs typeface="B Nazanin" panose="00000400000000000000" pitchFamily="2" charset="-78"/>
              </a:rPr>
              <a:t>زیادی </a:t>
            </a:r>
            <a:r>
              <a:rPr lang="fa-IR" b="1" dirty="0">
                <a:cs typeface="B Nazanin" panose="00000400000000000000" pitchFamily="2" charset="-78"/>
              </a:rPr>
              <a:t>آمونیاک تولید و وارد خون می شود آمونیاک در کبد به اوره تبدیل می شود و وارد خون می شود که به آن </a:t>
            </a:r>
            <a:r>
              <a:rPr lang="en-US" b="1" dirty="0">
                <a:cs typeface="B Nazanin" panose="00000400000000000000" pitchFamily="2" charset="-78"/>
              </a:rPr>
              <a:t>BUN </a:t>
            </a:r>
            <a:r>
              <a:rPr lang="fa-IR" b="1" dirty="0">
                <a:cs typeface="B Nazanin" panose="00000400000000000000" pitchFamily="2" charset="-78"/>
              </a:rPr>
              <a:t>(</a:t>
            </a:r>
            <a:r>
              <a:rPr lang="en-US" b="1" dirty="0">
                <a:cs typeface="B Nazanin" panose="00000400000000000000" pitchFamily="2" charset="-78"/>
              </a:rPr>
              <a:t>blood urea </a:t>
            </a:r>
            <a:r>
              <a:rPr lang="en-US" b="1" dirty="0" err="1">
                <a:cs typeface="B Nazanin" panose="00000400000000000000" pitchFamily="2" charset="-78"/>
              </a:rPr>
              <a:t>nitrigen</a:t>
            </a:r>
            <a:r>
              <a:rPr lang="fa-IR" b="1" dirty="0">
                <a:cs typeface="B Nazanin" panose="00000400000000000000" pitchFamily="2" charset="-78"/>
              </a:rPr>
              <a:t>) میگویند</a:t>
            </a:r>
          </a:p>
          <a:p>
            <a:r>
              <a:rPr lang="fa-IR" b="1" dirty="0">
                <a:cs typeface="B Nazanin" panose="00000400000000000000" pitchFamily="2" charset="-78"/>
              </a:rPr>
              <a:t>میزان طبیعی آن 10 تا20 </a:t>
            </a:r>
            <a:r>
              <a:rPr lang="en-US" b="1" dirty="0">
                <a:cs typeface="B Nazanin" panose="00000400000000000000" pitchFamily="2" charset="-78"/>
              </a:rPr>
              <a:t>mg/dl </a:t>
            </a:r>
            <a:r>
              <a:rPr lang="fa-IR" b="1" dirty="0">
                <a:cs typeface="B Nazanin" panose="00000400000000000000" pitchFamily="2" charset="-78"/>
              </a:rPr>
              <a:t>است</a:t>
            </a:r>
          </a:p>
          <a:p>
            <a:r>
              <a:rPr lang="fa-IR" b="1" dirty="0">
                <a:cs typeface="B Nazanin" panose="00000400000000000000" pitchFamily="2" charset="-78"/>
              </a:rPr>
              <a:t>کاهش عملکرد کلیه و کم </a:t>
            </a:r>
            <a:r>
              <a:rPr lang="fa-IR" b="1" dirty="0" smtClean="0">
                <a:cs typeface="B Nazanin" panose="00000400000000000000" pitchFamily="2" charset="-78"/>
              </a:rPr>
              <a:t>آبی و </a:t>
            </a:r>
            <a:r>
              <a:rPr lang="fa-IR" b="1" dirty="0">
                <a:cs typeface="B Nazanin" panose="00000400000000000000" pitchFamily="2" charset="-78"/>
              </a:rPr>
              <a:t>تب وعفونت و افزایش جذب </a:t>
            </a:r>
            <a:r>
              <a:rPr lang="fa-IR" b="1" dirty="0" smtClean="0">
                <a:cs typeface="B Nazanin" panose="00000400000000000000" pitchFamily="2" charset="-78"/>
              </a:rPr>
              <a:t>پروتئین،میزان </a:t>
            </a:r>
            <a:r>
              <a:rPr lang="en-US" b="1" dirty="0">
                <a:cs typeface="B Nazanin" panose="00000400000000000000" pitchFamily="2" charset="-78"/>
              </a:rPr>
              <a:t>BUN</a:t>
            </a:r>
            <a:r>
              <a:rPr lang="fa-IR" b="1" dirty="0">
                <a:cs typeface="B Nazanin" panose="00000400000000000000" pitchFamily="2" charset="-78"/>
              </a:rPr>
              <a:t>را افزایش می دهند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رژِیم </a:t>
            </a:r>
            <a:r>
              <a:rPr lang="fa-IR" b="1" dirty="0">
                <a:cs typeface="B Nazanin" panose="00000400000000000000" pitchFamily="2" charset="-78"/>
              </a:rPr>
              <a:t>کم پروتئین </a:t>
            </a:r>
            <a:r>
              <a:rPr lang="fa-IR" b="1" dirty="0" smtClean="0">
                <a:cs typeface="B Nazanin" panose="00000400000000000000" pitchFamily="2" charset="-78"/>
              </a:rPr>
              <a:t>وگرسنگی </a:t>
            </a:r>
            <a:r>
              <a:rPr lang="fa-IR" b="1" dirty="0">
                <a:cs typeface="B Nazanin" panose="00000400000000000000" pitchFamily="2" charset="-78"/>
              </a:rPr>
              <a:t>شدید و افزایش حجم مایع </a:t>
            </a:r>
            <a:r>
              <a:rPr lang="fa-IR" b="1" dirty="0" smtClean="0">
                <a:cs typeface="B Nazanin" panose="00000400000000000000" pitchFamily="2" charset="-78"/>
              </a:rPr>
              <a:t>مثل </a:t>
            </a:r>
            <a:r>
              <a:rPr lang="fa-IR" b="1" dirty="0">
                <a:cs typeface="B Nazanin" panose="00000400000000000000" pitchFamily="2" charset="-78"/>
              </a:rPr>
              <a:t>حاملگی و مراحل نهایی بیماری </a:t>
            </a:r>
            <a:r>
              <a:rPr lang="fa-IR" b="1" dirty="0" smtClean="0">
                <a:cs typeface="B Nazanin" panose="00000400000000000000" pitchFamily="2" charset="-78"/>
              </a:rPr>
              <a:t>کبد،میزان </a:t>
            </a:r>
            <a:r>
              <a:rPr lang="en-US" b="1" dirty="0">
                <a:cs typeface="B Nazanin" panose="00000400000000000000" pitchFamily="2" charset="-78"/>
              </a:rPr>
              <a:t>BUN</a:t>
            </a:r>
            <a:r>
              <a:rPr lang="fa-IR" b="1" dirty="0">
                <a:cs typeface="B Nazanin" panose="00000400000000000000" pitchFamily="2" charset="-78"/>
              </a:rPr>
              <a:t>را کاهش می دهند</a:t>
            </a:r>
          </a:p>
        </p:txBody>
      </p:sp>
    </p:spTree>
    <p:extLst>
      <p:ext uri="{BB962C8B-B14F-4D97-AF65-F5344CB8AC3E}">
        <p14:creationId xmlns:p14="http://schemas.microsoft.com/office/powerpoint/2010/main" val="305504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2160591"/>
            <a:ext cx="6347714" cy="2516513"/>
          </a:xfrm>
        </p:spPr>
        <p:txBody>
          <a:bodyPr>
            <a:normAutofit lnSpcReduction="10000"/>
          </a:bodyPr>
          <a:lstStyle/>
          <a:p>
            <a:r>
              <a:rPr lang="fa-IR" b="1" dirty="0">
                <a:cs typeface="B Nazanin" panose="00000400000000000000" pitchFamily="2" charset="-78"/>
              </a:rPr>
              <a:t>کراتینین </a:t>
            </a:r>
            <a:r>
              <a:rPr lang="en-US" b="1" dirty="0" err="1">
                <a:cs typeface="B Nazanin" panose="00000400000000000000" pitchFamily="2" charset="-78"/>
              </a:rPr>
              <a:t>creatinin</a:t>
            </a:r>
            <a:r>
              <a:rPr lang="fa-IR" b="1" dirty="0">
                <a:cs typeface="B Nazanin" panose="00000400000000000000" pitchFamily="2" charset="-78"/>
              </a:rPr>
              <a:t>محصول پایانی متابولیسم عضله است شاخص بهتری </a:t>
            </a:r>
            <a:r>
              <a:rPr lang="fa-IR" b="1" dirty="0" smtClean="0">
                <a:cs typeface="B Nazanin" panose="00000400000000000000" pitchFamily="2" charset="-78"/>
              </a:rPr>
              <a:t>برای </a:t>
            </a:r>
            <a:r>
              <a:rPr lang="fa-IR" b="1" dirty="0">
                <a:cs typeface="B Nazanin" panose="00000400000000000000" pitchFamily="2" charset="-78"/>
              </a:rPr>
              <a:t>عملکرد کلیه است زیرا با جذب پروتئین و وضعیت تغذیه ای تغییر نمی کند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میزان طبیعی آن7/. تا1/4 است 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فقط با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نارسایی کلیه </a:t>
            </a:r>
            <a:r>
              <a:rPr lang="fa-IR" b="1" dirty="0">
                <a:cs typeface="B Nazanin" panose="00000400000000000000" pitchFamily="2" charset="-78"/>
              </a:rPr>
              <a:t>میزان کراتینین افزایش می یابد</a:t>
            </a:r>
          </a:p>
          <a:p>
            <a:endParaRPr lang="fa-IR" sz="1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979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هماتوکریت</a:t>
            </a:r>
            <a:r>
              <a:rPr lang="en-US" dirty="0" smtClean="0"/>
              <a:t>HCT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sz="2000" b="1" dirty="0" smtClean="0">
                <a:cs typeface="B Nazanin" panose="00000400000000000000" pitchFamily="2" charset="-78"/>
              </a:rPr>
              <a:t>درصد حجمی گلبولهای قرمز به کل خون است </a:t>
            </a:r>
          </a:p>
          <a:p>
            <a:endParaRPr lang="fa-IR" sz="2000" b="1" dirty="0" smtClean="0">
              <a:cs typeface="B Nazanin" panose="00000400000000000000" pitchFamily="2" charset="-78"/>
            </a:endParaRPr>
          </a:p>
          <a:p>
            <a:r>
              <a:rPr lang="fa-IR" sz="2000" b="1" dirty="0" smtClean="0">
                <a:cs typeface="B Nazanin" panose="00000400000000000000" pitchFamily="2" charset="-78"/>
              </a:rPr>
              <a:t>میزان نرمال 42 تا 52 برای مردان و35 تا 47 برای زنان است</a:t>
            </a:r>
          </a:p>
          <a:p>
            <a:endParaRPr lang="fa-IR" sz="2000" b="1" dirty="0" smtClean="0">
              <a:cs typeface="B Nazanin" panose="00000400000000000000" pitchFamily="2" charset="-78"/>
            </a:endParaRPr>
          </a:p>
          <a:p>
            <a:r>
              <a:rPr lang="fa-IR" sz="2000" b="1" dirty="0" smtClean="0">
                <a:cs typeface="B Nazanin" panose="00000400000000000000" pitchFamily="2" charset="-78"/>
              </a:rPr>
              <a:t>کم آبی و پلی </a:t>
            </a:r>
            <a:r>
              <a:rPr lang="fa-IR" sz="2000" b="1" dirty="0" smtClean="0">
                <a:cs typeface="B Nazanin" panose="00000400000000000000" pitchFamily="2" charset="-78"/>
              </a:rPr>
              <a:t>سیتمی(افزایش تعدا گلبول قرمز) </a:t>
            </a:r>
            <a:r>
              <a:rPr lang="fa-IR" sz="2000" b="1" dirty="0" smtClean="0">
                <a:cs typeface="B Nazanin" panose="00000400000000000000" pitchFamily="2" charset="-78"/>
              </a:rPr>
              <a:t>میزان هماتوکریت را افزایش و پرآبی و </a:t>
            </a:r>
            <a:r>
              <a:rPr lang="fa-IR" sz="2000" b="1" dirty="0" smtClean="0">
                <a:cs typeface="B Nazanin" panose="00000400000000000000" pitchFamily="2" charset="-78"/>
              </a:rPr>
              <a:t>آنمی(کم خونی) </a:t>
            </a:r>
            <a:r>
              <a:rPr lang="fa-IR" sz="2000" b="1" dirty="0" smtClean="0">
                <a:cs typeface="B Nazanin" panose="00000400000000000000" pitchFamily="2" charset="-78"/>
              </a:rPr>
              <a:t>میزان هماتوکریت را کاهش می دهند</a:t>
            </a:r>
            <a:endParaRPr lang="fa-IR" sz="2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6148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مکانیسم های هموستاتیک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برای حفظ ترکیبات مایع وحجم مایع در محدوده طبیعی ، بدن انسان به مکانیسمهای </a:t>
            </a:r>
            <a:r>
              <a:rPr lang="fa-IR" b="1" dirty="0" smtClean="0">
                <a:cs typeface="B Nazanin" panose="00000400000000000000" pitchFamily="2" charset="-78"/>
              </a:rPr>
              <a:t>هموستاتیک(ایجاد تعادل) </a:t>
            </a:r>
            <a:r>
              <a:rPr lang="fa-IR" b="1" dirty="0" smtClean="0">
                <a:cs typeface="B Nazanin" panose="00000400000000000000" pitchFamily="2" charset="-78"/>
              </a:rPr>
              <a:t>خاصی تجهیز شده است 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کلیه ها و ریه ها ،قلب ،غدد آدرنال ، غدد پاراتیروئید و غده هیپوفیز در این هموستاز دخالت دارند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کلیه در بالغین بطور متوسط 180 لیتر مایع یا پلاسما را تصفیه کرده و از این 180 لیتر فقط 1تا2 لیتر آن را دفع می نماید که هم بصورت خودکار وهم در پاسخ به هورمونهای آلدوسترون و</a:t>
            </a:r>
            <a:r>
              <a:rPr lang="en-US" b="1" dirty="0" smtClean="0">
                <a:cs typeface="B Nazanin" panose="00000400000000000000" pitchFamily="2" charset="-78"/>
              </a:rPr>
              <a:t> ADH</a:t>
            </a:r>
            <a:r>
              <a:rPr lang="fa-IR" b="1" dirty="0" smtClean="0">
                <a:cs typeface="B Nazanin" panose="00000400000000000000" pitchFamily="2" charset="-78"/>
              </a:rPr>
              <a:t>عمل مینمایند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895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عملکرد هیپوفیز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هیپو تالاموس هورمون آنتـی دیورتیک را تولید و در بخش خلفی هیپوفیز ذخیره می کند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با افزایش غلظت یا اسمولالیتی سرم و یا کاهش حجم خون نورونها  ، گیرنده های اسمزی حساس به غلظت سدیم در هیپوتالاموس به طریق احساس کم آبی درون سلولی تحریک میشوند و فرد احساس تشنگی کرده و مایعات می نوشد و از طرفی هورمون َ</a:t>
            </a:r>
            <a:r>
              <a:rPr lang="en-US" b="1" dirty="0" smtClean="0">
                <a:cs typeface="B Nazanin" panose="00000400000000000000" pitchFamily="2" charset="-78"/>
              </a:rPr>
              <a:t> ADH </a:t>
            </a:r>
            <a:r>
              <a:rPr lang="fa-IR" b="1" dirty="0" smtClean="0">
                <a:cs typeface="B Nazanin" panose="00000400000000000000" pitchFamily="2" charset="-78"/>
              </a:rPr>
              <a:t>را از هیپوفیز آزاد کرده و دفع آب از کلیه ها محدود می شود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en-US" b="1" dirty="0" smtClean="0">
                <a:cs typeface="B Nazanin" panose="00000400000000000000" pitchFamily="2" charset="-78"/>
              </a:rPr>
              <a:t> ADH</a:t>
            </a:r>
            <a:r>
              <a:rPr lang="fa-IR" b="1" dirty="0" smtClean="0">
                <a:cs typeface="B Nazanin" panose="00000400000000000000" pitchFamily="2" charset="-78"/>
              </a:rPr>
              <a:t>مهمترین عامل در تعیین میزان غلظت ادرار است</a:t>
            </a:r>
          </a:p>
        </p:txBody>
      </p:sp>
    </p:spTree>
    <p:extLst>
      <p:ext uri="{BB962C8B-B14F-4D97-AF65-F5344CB8AC3E}">
        <p14:creationId xmlns:p14="http://schemas.microsoft.com/office/powerpoint/2010/main" val="404895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عملکرد آدرنال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آلدسترون که تاثیر مهمی بر تعادل مایع بدن دارد از قشر آدرنال ترشح می شود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افزایش ترشح آلدسترون موجب احتباس سدیم و بدنبال آن احتباس آب واز دست دادن پتاسیم می شود</a:t>
            </a: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r>
              <a:rPr lang="fa-IR" b="1" dirty="0" smtClean="0">
                <a:cs typeface="B Nazanin" panose="00000400000000000000" pitchFamily="2" charset="-78"/>
              </a:rPr>
              <a:t>برعکس کاهش آلدسترون موجب از دست دادن سدیم و آب و احتباس پتاسیم می شود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406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بارورسپتورها یا گیرنده های فشار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z="2400" b="1" dirty="0" smtClean="0">
                <a:cs typeface="B Nazanin" panose="00000400000000000000" pitchFamily="2" charset="-78"/>
              </a:rPr>
              <a:t>بارورسپتور ها در دهلیز چپ و کاروتید و قوس آئورت قرار دارند که به تغییرات حجم خون در گردش حساس هستند</a:t>
            </a:r>
          </a:p>
          <a:p>
            <a:r>
              <a:rPr lang="fa-IR" sz="2400" b="1" dirty="0" smtClean="0">
                <a:cs typeface="B Nazanin" panose="00000400000000000000" pitchFamily="2" charset="-78"/>
              </a:rPr>
              <a:t>با کاهش حجم مایع و بدنبال آن کاهش فشار شریانی ، بارورسپتورها  ایمپالس کمتری به مرکز وازو موتور منتقل می کنند </a:t>
            </a:r>
          </a:p>
          <a:p>
            <a:r>
              <a:rPr lang="fa-IR" sz="2400" b="1" dirty="0" smtClean="0">
                <a:cs typeface="B Nazanin" panose="00000400000000000000" pitchFamily="2" charset="-78"/>
              </a:rPr>
              <a:t>با کاهش ایمپالس ها سیستم سمپاتیک فعال و پاراسمپاتیک مهار می شود و ومنجر به افزایش ضربان قلب و افزایش قدرت انقباضی قلب می شود</a:t>
            </a:r>
          </a:p>
          <a:p>
            <a:r>
              <a:rPr lang="fa-IR" sz="2400" b="1" dirty="0" smtClean="0">
                <a:cs typeface="B Nazanin" panose="00000400000000000000" pitchFamily="2" charset="-78"/>
              </a:rPr>
              <a:t>همچنین با تحریک سمپاتیک ، شریانچه های کلیه تحریک و موجب احتباس سدیم و آب شده وحجم خون در گردش افزایش می یابد</a:t>
            </a:r>
          </a:p>
          <a:p>
            <a:endParaRPr lang="fa-IR" sz="2400" b="1" dirty="0" smtClean="0">
              <a:cs typeface="B Nazanin" panose="00000400000000000000" pitchFamily="2" charset="-78"/>
            </a:endParaRPr>
          </a:p>
          <a:p>
            <a:endParaRPr lang="fa-IR" sz="2400" b="1" dirty="0" smtClean="0">
              <a:cs typeface="B Nazanin" panose="00000400000000000000" pitchFamily="2" charset="-78"/>
            </a:endParaRPr>
          </a:p>
          <a:p>
            <a:endParaRPr lang="fa-IR" b="1" dirty="0" smtClean="0">
              <a:cs typeface="B Nazanin" panose="00000400000000000000" pitchFamily="2" charset="-78"/>
            </a:endParaRP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66964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سیستم رنین-آنژیوتانسین- آلدوسترون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در موقع کاهش حجم خون ، جریان خون کلیه هم کاهش می یابد و سلولهایی  بنام ژاکستا در گلومرول کلیه وقتی کم آب شدند هورمونی بنام رنین آزاد می کنند</a:t>
            </a:r>
          </a:p>
          <a:p>
            <a:r>
              <a:rPr lang="fa-IR" b="1" dirty="0" smtClean="0">
                <a:cs typeface="B Nazanin" panose="00000400000000000000" pitchFamily="2" charset="-78"/>
              </a:rPr>
              <a:t>رنین وارد جریان خون شده و از طریق جریان خون به کبد رفته و در آنجا ماده ای بنام آنژیوتانسین را که غیر فعال است وتوسط کبد ساخته شده به آنژیوتانسین 1 تبدیل می کند و وارد جریان خون می کند و در داخل خون آنژیو تانسین 1 توسط آنزیم </a:t>
            </a:r>
            <a:r>
              <a:rPr lang="en-US" b="1" dirty="0" smtClean="0">
                <a:cs typeface="B Nazanin" panose="00000400000000000000" pitchFamily="2" charset="-78"/>
              </a:rPr>
              <a:t>ACE</a:t>
            </a:r>
            <a:r>
              <a:rPr lang="fa-IR" b="1" dirty="0" smtClean="0">
                <a:cs typeface="B Nazanin" panose="00000400000000000000" pitchFamily="2" charset="-78"/>
              </a:rPr>
              <a:t>(</a:t>
            </a:r>
            <a:r>
              <a:rPr lang="en-US" b="1" dirty="0" err="1" smtClean="0">
                <a:cs typeface="B Nazanin" panose="00000400000000000000" pitchFamily="2" charset="-78"/>
              </a:rPr>
              <a:t>angiotension</a:t>
            </a:r>
            <a:r>
              <a:rPr lang="en-US" b="1" dirty="0" smtClean="0">
                <a:cs typeface="B Nazanin" panose="00000400000000000000" pitchFamily="2" charset="-78"/>
              </a:rPr>
              <a:t> convertase enzyme</a:t>
            </a:r>
            <a:r>
              <a:rPr lang="fa-IR" b="1" dirty="0" smtClean="0">
                <a:cs typeface="B Nazanin" panose="00000400000000000000" pitchFamily="2" charset="-78"/>
              </a:rPr>
              <a:t>)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به آنژیوتانسین 2 تبدیل می شود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آنژیوتانسین 2 دوتا کار را انجام می دهد: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1-منقبض کننده قوی عروقی است و عروق را منقبض کرده و فشارخون را بالا می برد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2-باتحریک تولید آلدوسترون موجب احتباس سدیم و آب ودر نتیجه بالا رفتن فشار خون می شود 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561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 smtClean="0">
                <a:cs typeface="B Nazanin" panose="00000400000000000000" pitchFamily="2" charset="-78"/>
              </a:rPr>
              <a:t>می دونی:</a:t>
            </a:r>
            <a:endParaRPr lang="fa-IR" b="1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a-IR" sz="4000" b="1" dirty="0" smtClean="0">
                <a:cs typeface="B Nazanin" panose="00000400000000000000" pitchFamily="2" charset="-78"/>
              </a:rPr>
              <a:t>من مجبورم موفق شوم و گرنه همه رنج هایی که تا بحال کشیده ام فقط رنج بوده اند</a:t>
            </a:r>
            <a:endParaRPr lang="fa-IR" sz="4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473993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970</TotalTime>
  <Words>839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 Nazanin</vt:lpstr>
      <vt:lpstr>Tahoma</vt:lpstr>
      <vt:lpstr>Trebuchet MS</vt:lpstr>
      <vt:lpstr>Wingdings 3</vt:lpstr>
      <vt:lpstr>Facet</vt:lpstr>
      <vt:lpstr>تستهای آزمایشگاهی  ارزیابی وضعیت مایع بدن</vt:lpstr>
      <vt:lpstr>Specific gravity</vt:lpstr>
      <vt:lpstr>PowerPoint Presentation</vt:lpstr>
      <vt:lpstr>PowerPoint Presentation</vt:lpstr>
      <vt:lpstr>PowerPoint Presentation</vt:lpstr>
      <vt:lpstr>هماتوکریتHCT</vt:lpstr>
      <vt:lpstr>مکانیسم های هموستاتیک</vt:lpstr>
      <vt:lpstr>عملکرد هیپوفیز</vt:lpstr>
      <vt:lpstr>عملکرد آدرنال</vt:lpstr>
      <vt:lpstr>بارورسپتورها یا گیرنده های فشار</vt:lpstr>
      <vt:lpstr>سیستم رنین-آنژیوتانسین- آلدوسترون</vt:lpstr>
      <vt:lpstr>می دونی: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مایعات و الکترولیتها</dc:title>
  <dc:creator>Andisheh</dc:creator>
  <cp:lastModifiedBy>Andisheh</cp:lastModifiedBy>
  <cp:revision>161</cp:revision>
  <dcterms:created xsi:type="dcterms:W3CDTF">2022-10-29T20:37:20Z</dcterms:created>
  <dcterms:modified xsi:type="dcterms:W3CDTF">2026-10-10T20:08:26Z</dcterms:modified>
</cp:coreProperties>
</file>