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85" r:id="rId4"/>
    <p:sldId id="276" r:id="rId5"/>
    <p:sldId id="258" r:id="rId6"/>
    <p:sldId id="259" r:id="rId7"/>
    <p:sldId id="279" r:id="rId8"/>
    <p:sldId id="260" r:id="rId9"/>
    <p:sldId id="261" r:id="rId10"/>
    <p:sldId id="262" r:id="rId11"/>
    <p:sldId id="277" r:id="rId12"/>
    <p:sldId id="278" r:id="rId13"/>
    <p:sldId id="263" r:id="rId14"/>
    <p:sldId id="264" r:id="rId15"/>
    <p:sldId id="280" r:id="rId16"/>
    <p:sldId id="265" r:id="rId17"/>
    <p:sldId id="266" r:id="rId18"/>
    <p:sldId id="281" r:id="rId19"/>
    <p:sldId id="267" r:id="rId20"/>
    <p:sldId id="268" r:id="rId21"/>
    <p:sldId id="269" r:id="rId22"/>
    <p:sldId id="282" r:id="rId23"/>
    <p:sldId id="270" r:id="rId24"/>
    <p:sldId id="283" r:id="rId25"/>
    <p:sldId id="271" r:id="rId26"/>
    <p:sldId id="286" r:id="rId27"/>
    <p:sldId id="272" r:id="rId28"/>
    <p:sldId id="284" r:id="rId29"/>
    <p:sldId id="273" r:id="rId30"/>
    <p:sldId id="274" r:id="rId31"/>
    <p:sldId id="275" r:id="rId32"/>
  </p:sldIdLst>
  <p:sldSz cx="12192000" cy="6858000"/>
  <p:notesSz cx="6858000" cy="9144000"/>
  <p:defaultTextStyle>
    <a:defPPr>
      <a:defRPr lang="fa-I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1" d="100"/>
          <a:sy n="91" d="100"/>
        </p:scale>
        <p:origin x="53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94B6194-AFC8-4984-A301-1CAAB6F0FCD8}" type="datetimeFigureOut">
              <a:rPr lang="fa-IR" smtClean="0"/>
              <a:t>05/13/1448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AC7CC21F-E5B2-47A7-8A75-092F43CB5755}" type="slidenum">
              <a:rPr lang="fa-IR" smtClean="0"/>
              <a:t>‹#›</a:t>
            </a:fld>
            <a:endParaRPr lang="fa-IR"/>
          </a:p>
        </p:txBody>
      </p:sp>
    </p:spTree>
    <p:extLst>
      <p:ext uri="{BB962C8B-B14F-4D97-AF65-F5344CB8AC3E}">
        <p14:creationId xmlns:p14="http://schemas.microsoft.com/office/powerpoint/2010/main" val="891175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94B6194-AFC8-4984-A301-1CAAB6F0FCD8}" type="datetimeFigureOut">
              <a:rPr lang="fa-IR" smtClean="0"/>
              <a:t>05/13/1448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AC7CC21F-E5B2-47A7-8A75-092F43CB5755}" type="slidenum">
              <a:rPr lang="fa-IR" smtClean="0"/>
              <a:t>‹#›</a:t>
            </a:fld>
            <a:endParaRPr lang="fa-IR"/>
          </a:p>
        </p:txBody>
      </p:sp>
    </p:spTree>
    <p:extLst>
      <p:ext uri="{BB962C8B-B14F-4D97-AF65-F5344CB8AC3E}">
        <p14:creationId xmlns:p14="http://schemas.microsoft.com/office/powerpoint/2010/main" val="24094578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94B6194-AFC8-4984-A301-1CAAB6F0FCD8}" type="datetimeFigureOut">
              <a:rPr lang="fa-IR" smtClean="0"/>
              <a:t>05/13/1448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AC7CC21F-E5B2-47A7-8A75-092F43CB5755}" type="slidenum">
              <a:rPr lang="fa-IR" smtClean="0"/>
              <a:t>‹#›</a:t>
            </a:fld>
            <a:endParaRPr lang="fa-IR"/>
          </a:p>
        </p:txBody>
      </p:sp>
    </p:spTree>
    <p:extLst>
      <p:ext uri="{BB962C8B-B14F-4D97-AF65-F5344CB8AC3E}">
        <p14:creationId xmlns:p14="http://schemas.microsoft.com/office/powerpoint/2010/main" val="1778508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94B6194-AFC8-4984-A301-1CAAB6F0FCD8}" type="datetimeFigureOut">
              <a:rPr lang="fa-IR" smtClean="0"/>
              <a:t>05/13/1448</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AC7CC21F-E5B2-47A7-8A75-092F43CB5755}" type="slidenum">
              <a:rPr lang="fa-IR" smtClean="0"/>
              <a:t>‹#›</a:t>
            </a:fld>
            <a:endParaRPr lang="fa-IR"/>
          </a:p>
        </p:txBody>
      </p:sp>
    </p:spTree>
    <p:extLst>
      <p:ext uri="{BB962C8B-B14F-4D97-AF65-F5344CB8AC3E}">
        <p14:creationId xmlns:p14="http://schemas.microsoft.com/office/powerpoint/2010/main" val="1722671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94B6194-AFC8-4984-A301-1CAAB6F0FCD8}" type="datetimeFigureOut">
              <a:rPr lang="fa-IR" smtClean="0"/>
              <a:t>05/13/1448</a:t>
            </a:fld>
            <a:endParaRPr lang="fa-IR"/>
          </a:p>
        </p:txBody>
      </p:sp>
      <p:sp>
        <p:nvSpPr>
          <p:cNvPr id="8" name="Footer Placeholder 7"/>
          <p:cNvSpPr>
            <a:spLocks noGrp="1"/>
          </p:cNvSpPr>
          <p:nvPr>
            <p:ph type="ftr" sz="quarter" idx="11"/>
          </p:nvPr>
        </p:nvSpPr>
        <p:spPr/>
        <p:txBody>
          <a:bodyPr/>
          <a:lstStyle/>
          <a:p>
            <a:endParaRPr lang="fa-IR"/>
          </a:p>
        </p:txBody>
      </p:sp>
      <p:sp>
        <p:nvSpPr>
          <p:cNvPr id="9" name="Slide Number Placeholder 8"/>
          <p:cNvSpPr>
            <a:spLocks noGrp="1"/>
          </p:cNvSpPr>
          <p:nvPr>
            <p:ph type="sldNum" sz="quarter" idx="12"/>
          </p:nvPr>
        </p:nvSpPr>
        <p:spPr/>
        <p:txBody>
          <a:bodyPr/>
          <a:lstStyle/>
          <a:p>
            <a:fld id="{AC7CC21F-E5B2-47A7-8A75-092F43CB5755}" type="slidenum">
              <a:rPr lang="fa-IR" smtClean="0"/>
              <a:t>‹#›</a:t>
            </a:fld>
            <a:endParaRPr lang="fa-IR"/>
          </a:p>
        </p:txBody>
      </p:sp>
    </p:spTree>
    <p:extLst>
      <p:ext uri="{BB962C8B-B14F-4D97-AF65-F5344CB8AC3E}">
        <p14:creationId xmlns:p14="http://schemas.microsoft.com/office/powerpoint/2010/main" val="20958183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94B6194-AFC8-4984-A301-1CAAB6F0FCD8}" type="datetimeFigureOut">
              <a:rPr lang="fa-IR" smtClean="0"/>
              <a:t>05/13/1448</a:t>
            </a:fld>
            <a:endParaRPr lang="fa-IR"/>
          </a:p>
        </p:txBody>
      </p:sp>
      <p:sp>
        <p:nvSpPr>
          <p:cNvPr id="4" name="Footer Placeholder 3"/>
          <p:cNvSpPr>
            <a:spLocks noGrp="1"/>
          </p:cNvSpPr>
          <p:nvPr>
            <p:ph type="ftr" sz="quarter" idx="11"/>
          </p:nvPr>
        </p:nvSpPr>
        <p:spPr/>
        <p:txBody>
          <a:bodyPr/>
          <a:lstStyle/>
          <a:p>
            <a:endParaRPr lang="fa-IR"/>
          </a:p>
        </p:txBody>
      </p:sp>
      <p:sp>
        <p:nvSpPr>
          <p:cNvPr id="5" name="Slide Number Placeholder 4"/>
          <p:cNvSpPr>
            <a:spLocks noGrp="1"/>
          </p:cNvSpPr>
          <p:nvPr>
            <p:ph type="sldNum" sz="quarter" idx="12"/>
          </p:nvPr>
        </p:nvSpPr>
        <p:spPr/>
        <p:txBody>
          <a:bodyPr/>
          <a:lstStyle/>
          <a:p>
            <a:fld id="{AC7CC21F-E5B2-47A7-8A75-092F43CB5755}" type="slidenum">
              <a:rPr lang="fa-IR" smtClean="0"/>
              <a:t>‹#›</a:t>
            </a:fld>
            <a:endParaRPr lang="fa-IR"/>
          </a:p>
        </p:txBody>
      </p:sp>
    </p:spTree>
    <p:extLst>
      <p:ext uri="{BB962C8B-B14F-4D97-AF65-F5344CB8AC3E}">
        <p14:creationId xmlns:p14="http://schemas.microsoft.com/office/powerpoint/2010/main" val="4006179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4B6194-AFC8-4984-A301-1CAAB6F0FCD8}" type="datetimeFigureOut">
              <a:rPr lang="fa-IR" smtClean="0"/>
              <a:t>05/13/1448</a:t>
            </a:fld>
            <a:endParaRPr lang="fa-IR"/>
          </a:p>
        </p:txBody>
      </p:sp>
      <p:sp>
        <p:nvSpPr>
          <p:cNvPr id="3" name="Footer Placeholder 2"/>
          <p:cNvSpPr>
            <a:spLocks noGrp="1"/>
          </p:cNvSpPr>
          <p:nvPr>
            <p:ph type="ftr" sz="quarter" idx="11"/>
          </p:nvPr>
        </p:nvSpPr>
        <p:spPr/>
        <p:txBody>
          <a:bodyPr/>
          <a:lstStyle/>
          <a:p>
            <a:endParaRPr lang="fa-IR"/>
          </a:p>
        </p:txBody>
      </p:sp>
      <p:sp>
        <p:nvSpPr>
          <p:cNvPr id="4" name="Slide Number Placeholder 3"/>
          <p:cNvSpPr>
            <a:spLocks noGrp="1"/>
          </p:cNvSpPr>
          <p:nvPr>
            <p:ph type="sldNum" sz="quarter" idx="12"/>
          </p:nvPr>
        </p:nvSpPr>
        <p:spPr/>
        <p:txBody>
          <a:bodyPr/>
          <a:lstStyle/>
          <a:p>
            <a:fld id="{AC7CC21F-E5B2-47A7-8A75-092F43CB5755}" type="slidenum">
              <a:rPr lang="fa-IR" smtClean="0"/>
              <a:t>‹#›</a:t>
            </a:fld>
            <a:endParaRPr lang="fa-IR"/>
          </a:p>
        </p:txBody>
      </p:sp>
    </p:spTree>
    <p:extLst>
      <p:ext uri="{BB962C8B-B14F-4D97-AF65-F5344CB8AC3E}">
        <p14:creationId xmlns:p14="http://schemas.microsoft.com/office/powerpoint/2010/main" val="2473670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94B6194-AFC8-4984-A301-1CAAB6F0FCD8}" type="datetimeFigureOut">
              <a:rPr lang="fa-IR" smtClean="0"/>
              <a:t>05/13/1448</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AC7CC21F-E5B2-47A7-8A75-092F43CB5755}" type="slidenum">
              <a:rPr lang="fa-IR" smtClean="0"/>
              <a:t>‹#›</a:t>
            </a:fld>
            <a:endParaRPr lang="fa-IR"/>
          </a:p>
        </p:txBody>
      </p:sp>
    </p:spTree>
    <p:extLst>
      <p:ext uri="{BB962C8B-B14F-4D97-AF65-F5344CB8AC3E}">
        <p14:creationId xmlns:p14="http://schemas.microsoft.com/office/powerpoint/2010/main" val="4039227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694B6194-AFC8-4984-A301-1CAAB6F0FCD8}" type="datetimeFigureOut">
              <a:rPr lang="fa-IR" smtClean="0"/>
              <a:t>05/13/1448</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AC7CC21F-E5B2-47A7-8A75-092F43CB5755}" type="slidenum">
              <a:rPr lang="fa-IR" smtClean="0"/>
              <a:t>‹#›</a:t>
            </a:fld>
            <a:endParaRPr lang="fa-IR"/>
          </a:p>
        </p:txBody>
      </p:sp>
    </p:spTree>
    <p:extLst>
      <p:ext uri="{BB962C8B-B14F-4D97-AF65-F5344CB8AC3E}">
        <p14:creationId xmlns:p14="http://schemas.microsoft.com/office/powerpoint/2010/main" val="25992051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94B6194-AFC8-4984-A301-1CAAB6F0FCD8}" type="datetimeFigureOut">
              <a:rPr lang="fa-IR" smtClean="0"/>
              <a:t>05/13/1448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AC7CC21F-E5B2-47A7-8A75-092F43CB5755}" type="slidenum">
              <a:rPr lang="fa-IR" smtClean="0"/>
              <a:t>‹#›</a:t>
            </a:fld>
            <a:endParaRPr lang="fa-IR"/>
          </a:p>
        </p:txBody>
      </p:sp>
    </p:spTree>
    <p:extLst>
      <p:ext uri="{BB962C8B-B14F-4D97-AF65-F5344CB8AC3E}">
        <p14:creationId xmlns:p14="http://schemas.microsoft.com/office/powerpoint/2010/main" val="2125403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94B6194-AFC8-4984-A301-1CAAB6F0FCD8}" type="datetimeFigureOut">
              <a:rPr lang="fa-IR" smtClean="0"/>
              <a:t>05/13/1448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AC7CC21F-E5B2-47A7-8A75-092F43CB5755}" type="slidenum">
              <a:rPr lang="fa-IR" smtClean="0"/>
              <a:t>‹#›</a:t>
            </a:fld>
            <a:endParaRPr lang="fa-I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1614455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94B6194-AFC8-4984-A301-1CAAB6F0FCD8}" type="datetimeFigureOut">
              <a:rPr lang="fa-IR" smtClean="0"/>
              <a:t>05/13/1448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AC7CC21F-E5B2-47A7-8A75-092F43CB5755}" type="slidenum">
              <a:rPr lang="fa-IR" smtClean="0"/>
              <a:t>‹#›</a:t>
            </a:fld>
            <a:endParaRPr lang="fa-IR"/>
          </a:p>
        </p:txBody>
      </p:sp>
    </p:spTree>
    <p:extLst>
      <p:ext uri="{BB962C8B-B14F-4D97-AF65-F5344CB8AC3E}">
        <p14:creationId xmlns:p14="http://schemas.microsoft.com/office/powerpoint/2010/main" val="455765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94B6194-AFC8-4984-A301-1CAAB6F0FCD8}" type="datetimeFigureOut">
              <a:rPr lang="fa-IR" smtClean="0"/>
              <a:t>05/13/1448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AC7CC21F-E5B2-47A7-8A75-092F43CB5755}" type="slidenum">
              <a:rPr lang="fa-IR" smtClean="0"/>
              <a:t>‹#›</a:t>
            </a:fld>
            <a:endParaRPr lang="fa-I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202392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94B6194-AFC8-4984-A301-1CAAB6F0FCD8}" type="datetimeFigureOut">
              <a:rPr lang="fa-IR" smtClean="0"/>
              <a:t>05/13/1448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AC7CC21F-E5B2-47A7-8A75-092F43CB5755}" type="slidenum">
              <a:rPr lang="fa-IR" smtClean="0"/>
              <a:t>‹#›</a:t>
            </a:fld>
            <a:endParaRPr lang="fa-IR"/>
          </a:p>
        </p:txBody>
      </p:sp>
    </p:spTree>
    <p:extLst>
      <p:ext uri="{BB962C8B-B14F-4D97-AF65-F5344CB8AC3E}">
        <p14:creationId xmlns:p14="http://schemas.microsoft.com/office/powerpoint/2010/main" val="5628950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94B6194-AFC8-4984-A301-1CAAB6F0FCD8}" type="datetimeFigureOut">
              <a:rPr lang="fa-IR" smtClean="0"/>
              <a:t>05/13/1448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AC7CC21F-E5B2-47A7-8A75-092F43CB5755}" type="slidenum">
              <a:rPr lang="fa-IR" smtClean="0"/>
              <a:t>‹#›</a:t>
            </a:fld>
            <a:endParaRPr lang="fa-IR"/>
          </a:p>
        </p:txBody>
      </p:sp>
    </p:spTree>
    <p:extLst>
      <p:ext uri="{BB962C8B-B14F-4D97-AF65-F5344CB8AC3E}">
        <p14:creationId xmlns:p14="http://schemas.microsoft.com/office/powerpoint/2010/main" val="17661615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94B6194-AFC8-4984-A301-1CAAB6F0FCD8}" type="datetimeFigureOut">
              <a:rPr lang="fa-IR" smtClean="0"/>
              <a:t>05/13/1448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AC7CC21F-E5B2-47A7-8A75-092F43CB5755}" type="slidenum">
              <a:rPr lang="fa-IR" smtClean="0"/>
              <a:t>‹#›</a:t>
            </a:fld>
            <a:endParaRPr lang="fa-IR"/>
          </a:p>
        </p:txBody>
      </p:sp>
    </p:spTree>
    <p:extLst>
      <p:ext uri="{BB962C8B-B14F-4D97-AF65-F5344CB8AC3E}">
        <p14:creationId xmlns:p14="http://schemas.microsoft.com/office/powerpoint/2010/main" val="1380121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94B6194-AFC8-4984-A301-1CAAB6F0FCD8}" type="datetimeFigureOut">
              <a:rPr lang="fa-IR" smtClean="0"/>
              <a:t>05/13/1448</a:t>
            </a:fld>
            <a:endParaRPr lang="fa-I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a-I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C7CC21F-E5B2-47A7-8A75-092F43CB5755}" type="slidenum">
              <a:rPr lang="fa-IR" smtClean="0"/>
              <a:t>‹#›</a:t>
            </a:fld>
            <a:endParaRPr lang="fa-IR"/>
          </a:p>
        </p:txBody>
      </p:sp>
    </p:spTree>
    <p:extLst>
      <p:ext uri="{BB962C8B-B14F-4D97-AF65-F5344CB8AC3E}">
        <p14:creationId xmlns:p14="http://schemas.microsoft.com/office/powerpoint/2010/main" val="30633341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1" eaLnBrk="1" latinLnBrk="0" hangingPunct="1">
        <a:spcBef>
          <a:spcPct val="0"/>
        </a:spcBef>
        <a:buNone/>
        <a:defRPr sz="3600" kern="1200">
          <a:solidFill>
            <a:schemeClr val="accent1"/>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342900" indent="-342900" algn="r" defTabSz="457200" rtl="1"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r" defTabSz="457200" rtl="1"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r" defTabSz="457200" rtl="1"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r" defTabSz="457200" rtl="1"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r" defTabSz="457200" rtl="1"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r" defTabSz="457200" rtl="1"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r" defTabSz="457200" rtl="1"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r" defTabSz="457200" rtl="1"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r" defTabSz="457200" rtl="1"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fa-IR" dirty="0" smtClean="0"/>
              <a:t>جلسه چهارم گوارش</a:t>
            </a:r>
            <a:endParaRPr lang="fa-IR" dirty="0"/>
          </a:p>
        </p:txBody>
      </p:sp>
      <p:sp>
        <p:nvSpPr>
          <p:cNvPr id="3" name="Subtitle 2"/>
          <p:cNvSpPr>
            <a:spLocks noGrp="1"/>
          </p:cNvSpPr>
          <p:nvPr>
            <p:ph type="subTitle" idx="1"/>
          </p:nvPr>
        </p:nvSpPr>
        <p:spPr/>
        <p:txBody>
          <a:bodyPr/>
          <a:lstStyle/>
          <a:p>
            <a:endParaRPr lang="fa-IR"/>
          </a:p>
        </p:txBody>
      </p:sp>
    </p:spTree>
    <p:extLst>
      <p:ext uri="{BB962C8B-B14F-4D97-AF65-F5344CB8AC3E}">
        <p14:creationId xmlns:p14="http://schemas.microsoft.com/office/powerpoint/2010/main" val="39194141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smtClean="0"/>
              <a:t>Barretts</a:t>
            </a:r>
            <a:r>
              <a:rPr lang="en-US" dirty="0" smtClean="0"/>
              <a:t> </a:t>
            </a:r>
            <a:r>
              <a:rPr lang="en-US" dirty="0" err="1" smtClean="0"/>
              <a:t>esophgus</a:t>
            </a:r>
            <a:endParaRPr lang="fa-IR" dirty="0"/>
          </a:p>
        </p:txBody>
      </p:sp>
      <p:sp>
        <p:nvSpPr>
          <p:cNvPr id="3" name="Content Placeholder 2"/>
          <p:cNvSpPr>
            <a:spLocks noGrp="1"/>
          </p:cNvSpPr>
          <p:nvPr>
            <p:ph idx="1"/>
          </p:nvPr>
        </p:nvSpPr>
        <p:spPr/>
        <p:txBody>
          <a:bodyPr>
            <a:normAutofit/>
          </a:bodyPr>
          <a:lstStyle/>
          <a:p>
            <a:pPr marL="0" indent="0">
              <a:buNone/>
            </a:pPr>
            <a:r>
              <a:rPr lang="fa-IR" b="1" dirty="0" smtClean="0">
                <a:cs typeface="B Nazanin" panose="00000400000000000000" pitchFamily="2" charset="-78"/>
              </a:rPr>
              <a:t>متاپلازی </a:t>
            </a:r>
            <a:r>
              <a:rPr lang="fa-IR" b="1" dirty="0">
                <a:cs typeface="B Nazanin" panose="00000400000000000000" pitchFamily="2" charset="-78"/>
              </a:rPr>
              <a:t>مخاط سنگفرشی مری می باشد</a:t>
            </a:r>
          </a:p>
          <a:p>
            <a:pPr marL="0" indent="0">
              <a:buNone/>
            </a:pPr>
            <a:r>
              <a:rPr lang="fa-IR" b="1" dirty="0">
                <a:cs typeface="B Nazanin" panose="00000400000000000000" pitchFamily="2" charset="-78"/>
              </a:rPr>
              <a:t>سلولهای پوششی شبیه به مخاط روده جایگزین اپی تلیوم طبیعی مری میشوند</a:t>
            </a:r>
          </a:p>
          <a:p>
            <a:pPr marL="0" indent="0">
              <a:buNone/>
            </a:pPr>
            <a:r>
              <a:rPr lang="fa-IR" b="1" dirty="0">
                <a:cs typeface="B Nazanin" panose="00000400000000000000" pitchFamily="2" charset="-78"/>
              </a:rPr>
              <a:t>بدلیل سالها تماس با اسید می باشد</a:t>
            </a:r>
          </a:p>
          <a:p>
            <a:pPr marL="0" indent="0">
              <a:buNone/>
            </a:pPr>
            <a:r>
              <a:rPr lang="fa-IR" b="1" dirty="0">
                <a:cs typeface="B Nazanin" panose="00000400000000000000" pitchFamily="2" charset="-78"/>
              </a:rPr>
              <a:t>احتمال تبدیل شدن مری بارت به </a:t>
            </a:r>
            <a:r>
              <a:rPr lang="fa-IR" b="1" dirty="0">
                <a:solidFill>
                  <a:srgbClr val="FF0000"/>
                </a:solidFill>
                <a:cs typeface="B Nazanin" panose="00000400000000000000" pitchFamily="2" charset="-78"/>
              </a:rPr>
              <a:t>آدنو کارسینوم مری 40 تا 100 برابر افراد </a:t>
            </a:r>
            <a:r>
              <a:rPr lang="fa-IR" b="1" dirty="0" smtClean="0">
                <a:solidFill>
                  <a:srgbClr val="FF0000"/>
                </a:solidFill>
                <a:cs typeface="B Nazanin" panose="00000400000000000000" pitchFamily="2" charset="-78"/>
              </a:rPr>
              <a:t>عادی است</a:t>
            </a:r>
          </a:p>
          <a:p>
            <a:pPr marL="0" indent="0">
              <a:buNone/>
            </a:pPr>
            <a:endParaRPr lang="fa-IR" b="1" dirty="0">
              <a:solidFill>
                <a:srgbClr val="FF0000"/>
              </a:solidFill>
              <a:cs typeface="B Nazanin" panose="00000400000000000000" pitchFamily="2" charset="-78"/>
            </a:endParaRPr>
          </a:p>
          <a:p>
            <a:pPr marL="0" indent="0">
              <a:buNone/>
            </a:pPr>
            <a:r>
              <a:rPr lang="fa-IR" b="1" dirty="0">
                <a:cs typeface="B Nazanin" panose="00000400000000000000" pitchFamily="2" charset="-78"/>
              </a:rPr>
              <a:t>مری بارت باید سالانه آندوسکوپی و از محل بیوپسی برداشته و زیر </a:t>
            </a:r>
            <a:r>
              <a:rPr lang="fa-IR" b="1" dirty="0" smtClean="0">
                <a:cs typeface="B Nazanin" panose="00000400000000000000" pitchFamily="2" charset="-78"/>
              </a:rPr>
              <a:t>میکروسکوپ بررسی </a:t>
            </a:r>
            <a:r>
              <a:rPr lang="fa-IR" b="1" dirty="0">
                <a:cs typeface="B Nazanin" panose="00000400000000000000" pitchFamily="2" charset="-78"/>
              </a:rPr>
              <a:t>شود</a:t>
            </a:r>
          </a:p>
          <a:p>
            <a:pPr marL="0" indent="0">
              <a:buNone/>
            </a:pPr>
            <a:r>
              <a:rPr lang="fa-IR" b="1" dirty="0">
                <a:cs typeface="B Nazanin" panose="00000400000000000000" pitchFamily="2" charset="-78"/>
              </a:rPr>
              <a:t>در صورت تبدیل شدن متاپلازی به دیس پلازی باید قبل از نئوپلازی </a:t>
            </a:r>
            <a:r>
              <a:rPr lang="fa-IR" b="1" dirty="0" smtClean="0">
                <a:cs typeface="B Nazanin" panose="00000400000000000000" pitchFamily="2" charset="-78"/>
              </a:rPr>
              <a:t>،مری </a:t>
            </a:r>
            <a:r>
              <a:rPr lang="fa-IR" b="1" dirty="0">
                <a:cs typeface="B Nazanin" panose="00000400000000000000" pitchFamily="2" charset="-78"/>
              </a:rPr>
              <a:t>به </a:t>
            </a:r>
            <a:r>
              <a:rPr lang="fa-IR" b="1" dirty="0" smtClean="0">
                <a:cs typeface="B Nazanin" panose="00000400000000000000" pitchFamily="2" charset="-78"/>
              </a:rPr>
              <a:t>روش جراحی </a:t>
            </a:r>
            <a:r>
              <a:rPr lang="fa-IR" b="1" dirty="0">
                <a:cs typeface="B Nazanin" panose="00000400000000000000" pitchFamily="2" charset="-78"/>
              </a:rPr>
              <a:t>برداشته بشود</a:t>
            </a:r>
          </a:p>
        </p:txBody>
      </p:sp>
    </p:spTree>
    <p:extLst>
      <p:ext uri="{BB962C8B-B14F-4D97-AF65-F5344CB8AC3E}">
        <p14:creationId xmlns:p14="http://schemas.microsoft.com/office/powerpoint/2010/main" val="3687203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smtClean="0"/>
              <a:t>مری بارت</a:t>
            </a:r>
            <a:endParaRPr lang="fa-IR"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18290" y="1930400"/>
            <a:ext cx="6947338" cy="4927600"/>
          </a:xfrm>
        </p:spPr>
      </p:pic>
    </p:spTree>
    <p:extLst>
      <p:ext uri="{BB962C8B-B14F-4D97-AF65-F5344CB8AC3E}">
        <p14:creationId xmlns:p14="http://schemas.microsoft.com/office/powerpoint/2010/main" val="922081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smtClean="0"/>
              <a:t>متاپلازی(تغییر شکل غیر عادی سلول یا بافت)</a:t>
            </a:r>
            <a:endParaRPr lang="fa-IR" dirty="0"/>
          </a:p>
        </p:txBody>
      </p:sp>
      <p:sp>
        <p:nvSpPr>
          <p:cNvPr id="3" name="Content Placeholder 2"/>
          <p:cNvSpPr>
            <a:spLocks noGrp="1"/>
          </p:cNvSpPr>
          <p:nvPr>
            <p:ph idx="1"/>
          </p:nvPr>
        </p:nvSpPr>
        <p:spPr/>
        <p:txBody>
          <a:bodyPr/>
          <a:lstStyle/>
          <a:p>
            <a:r>
              <a:rPr lang="fa-IR" dirty="0" smtClean="0">
                <a:cs typeface="B Nazanin" panose="00000400000000000000" pitchFamily="2" charset="-78"/>
              </a:rPr>
              <a:t>در اثر تماس مداوم با عوامل محرک و شیمیایی یا هورمونی ، بافت پوششی طبیعی مری برای اینکه در برابر این محرکها </a:t>
            </a:r>
            <a:r>
              <a:rPr lang="fa-IR" dirty="0" smtClean="0">
                <a:solidFill>
                  <a:srgbClr val="FF0000"/>
                </a:solidFill>
                <a:cs typeface="B Nazanin" panose="00000400000000000000" pitchFamily="2" charset="-78"/>
              </a:rPr>
              <a:t>مقاوم</a:t>
            </a:r>
            <a:r>
              <a:rPr lang="fa-IR" dirty="0" smtClean="0">
                <a:cs typeface="B Nazanin" panose="00000400000000000000" pitchFamily="2" charset="-78"/>
              </a:rPr>
              <a:t> شود تغییر شکل داده و تبدیل به سلولهای مقاوم شبیه به سلولهای روده می شود .</a:t>
            </a:r>
          </a:p>
          <a:p>
            <a:r>
              <a:rPr lang="fa-IR" dirty="0" smtClean="0">
                <a:cs typeface="B Nazanin" panose="00000400000000000000" pitchFamily="2" charset="-78"/>
              </a:rPr>
              <a:t>یا بافت مژک دار ریه ها که ترشحات را از ریه ها بیرون می راند در برابر تحریک مداوم با دود سیگار، تغییر شکل داده و به سلول مقاوم سنگفرشی تبدیل می شود.</a:t>
            </a:r>
          </a:p>
          <a:p>
            <a:r>
              <a:rPr lang="fa-IR" dirty="0" smtClean="0">
                <a:cs typeface="B Nazanin" panose="00000400000000000000" pitchFamily="2" charset="-78"/>
              </a:rPr>
              <a:t>دیس پلازی: تغییردر شکل و اندازه و تقسیم سلولها بصورت غیر عادی است</a:t>
            </a:r>
          </a:p>
          <a:p>
            <a:r>
              <a:rPr lang="fa-IR" dirty="0" smtClean="0">
                <a:cs typeface="B Nazanin" panose="00000400000000000000" pitchFamily="2" charset="-78"/>
              </a:rPr>
              <a:t>متاپلازی با حذف عامل محرک معمولا برطرف می شود ولی دیس پلازی معمولا رفع نمی شود</a:t>
            </a:r>
          </a:p>
          <a:p>
            <a:r>
              <a:rPr lang="fa-IR" dirty="0" smtClean="0">
                <a:cs typeface="B Nazanin" panose="00000400000000000000" pitchFamily="2" charset="-78"/>
              </a:rPr>
              <a:t>با تکثیر دیس پلازی، بافت و  توده غیر نرمال تشکیل می شود که به آن نئوپلازی یا نئوپلاسم یا توده می گویند.</a:t>
            </a:r>
            <a:endParaRPr lang="fa-IR" dirty="0">
              <a:cs typeface="B Nazanin" panose="00000400000000000000" pitchFamily="2" charset="-78"/>
            </a:endParaRPr>
          </a:p>
        </p:txBody>
      </p:sp>
    </p:spTree>
    <p:extLst>
      <p:ext uri="{BB962C8B-B14F-4D97-AF65-F5344CB8AC3E}">
        <p14:creationId xmlns:p14="http://schemas.microsoft.com/office/powerpoint/2010/main" val="155153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a:t>اختلالات حرکتی مری</a:t>
            </a:r>
            <a:br>
              <a:rPr lang="fa-IR" dirty="0"/>
            </a:br>
            <a:endParaRPr lang="fa-IR" dirty="0"/>
          </a:p>
        </p:txBody>
      </p:sp>
      <p:sp>
        <p:nvSpPr>
          <p:cNvPr id="3" name="Content Placeholder 2"/>
          <p:cNvSpPr>
            <a:spLocks noGrp="1"/>
          </p:cNvSpPr>
          <p:nvPr>
            <p:ph idx="1"/>
          </p:nvPr>
        </p:nvSpPr>
        <p:spPr/>
        <p:txBody>
          <a:bodyPr/>
          <a:lstStyle/>
          <a:p>
            <a:pPr marL="0" indent="0">
              <a:buNone/>
            </a:pPr>
            <a:r>
              <a:rPr lang="fa-IR" b="1" dirty="0" smtClean="0">
                <a:cs typeface="B Nazanin" panose="00000400000000000000" pitchFamily="2" charset="-78"/>
              </a:rPr>
              <a:t>1 </a:t>
            </a:r>
            <a:r>
              <a:rPr lang="fa-IR" b="1" dirty="0">
                <a:cs typeface="B Nazanin" panose="00000400000000000000" pitchFamily="2" charset="-78"/>
              </a:rPr>
              <a:t>- آشالازی </a:t>
            </a:r>
            <a:r>
              <a:rPr lang="en-US" b="1" dirty="0" smtClean="0">
                <a:cs typeface="B Nazanin" panose="00000400000000000000" pitchFamily="2" charset="-78"/>
              </a:rPr>
              <a:t>achalasia</a:t>
            </a:r>
            <a:endParaRPr lang="fa-IR" b="1" dirty="0" smtClean="0">
              <a:cs typeface="B Nazanin" panose="00000400000000000000" pitchFamily="2" charset="-78"/>
            </a:endParaRPr>
          </a:p>
          <a:p>
            <a:pPr marL="0" indent="0">
              <a:buNone/>
            </a:pPr>
            <a:endParaRPr lang="en-US" b="1" dirty="0">
              <a:cs typeface="B Nazanin" panose="00000400000000000000" pitchFamily="2" charset="-78"/>
            </a:endParaRPr>
          </a:p>
          <a:p>
            <a:pPr marL="0" indent="0">
              <a:buNone/>
            </a:pPr>
            <a:r>
              <a:rPr lang="fa-IR" b="1" dirty="0">
                <a:cs typeface="B Nazanin" panose="00000400000000000000" pitchFamily="2" charset="-78"/>
              </a:rPr>
              <a:t>2 -اسپاسم منتشر مری </a:t>
            </a:r>
            <a:r>
              <a:rPr lang="en-US" b="1" dirty="0">
                <a:cs typeface="B Nazanin" panose="00000400000000000000" pitchFamily="2" charset="-78"/>
              </a:rPr>
              <a:t>diffuse esophageal spasm</a:t>
            </a:r>
            <a:endParaRPr lang="fa-IR" b="1" dirty="0">
              <a:cs typeface="B Nazanin" panose="00000400000000000000" pitchFamily="2" charset="-78"/>
            </a:endParaRPr>
          </a:p>
        </p:txBody>
      </p:sp>
    </p:spTree>
    <p:extLst>
      <p:ext uri="{BB962C8B-B14F-4D97-AF65-F5344CB8AC3E}">
        <p14:creationId xmlns:p14="http://schemas.microsoft.com/office/powerpoint/2010/main" val="11678585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a:t>آشالازی</a:t>
            </a:r>
            <a:br>
              <a:rPr lang="fa-IR" dirty="0"/>
            </a:br>
            <a:endParaRPr lang="fa-IR" dirty="0"/>
          </a:p>
        </p:txBody>
      </p:sp>
      <p:sp>
        <p:nvSpPr>
          <p:cNvPr id="3" name="Content Placeholder 2"/>
          <p:cNvSpPr>
            <a:spLocks noGrp="1"/>
          </p:cNvSpPr>
          <p:nvPr>
            <p:ph idx="1"/>
          </p:nvPr>
        </p:nvSpPr>
        <p:spPr/>
        <p:txBody>
          <a:bodyPr/>
          <a:lstStyle/>
          <a:p>
            <a:pPr marL="0" indent="0">
              <a:buNone/>
            </a:pPr>
            <a:r>
              <a:rPr lang="fa-IR" b="1" dirty="0" smtClean="0">
                <a:cs typeface="B Nazanin" panose="00000400000000000000" pitchFamily="2" charset="-78"/>
              </a:rPr>
              <a:t>انقباض </a:t>
            </a:r>
            <a:r>
              <a:rPr lang="fa-IR" b="1" dirty="0">
                <a:cs typeface="B Nazanin" panose="00000400000000000000" pitchFamily="2" charset="-78"/>
              </a:rPr>
              <a:t>تونیک اسفنکتر تحتانی مری که مانع از شل شدن به موقع آن در هنگام </a:t>
            </a:r>
            <a:r>
              <a:rPr lang="fa-IR" b="1" dirty="0" smtClean="0">
                <a:cs typeface="B Nazanin" panose="00000400000000000000" pitchFamily="2" charset="-78"/>
              </a:rPr>
              <a:t>بلع می </a:t>
            </a:r>
            <a:r>
              <a:rPr lang="fa-IR" b="1" dirty="0">
                <a:cs typeface="B Nazanin" panose="00000400000000000000" pitchFamily="2" charset="-78"/>
              </a:rPr>
              <a:t>شود و باعث تجمع غذا </a:t>
            </a:r>
            <a:endParaRPr lang="fa-IR" b="1" dirty="0" smtClean="0">
              <a:cs typeface="B Nazanin" panose="00000400000000000000" pitchFamily="2" charset="-78"/>
            </a:endParaRPr>
          </a:p>
          <a:p>
            <a:pPr marL="0" indent="0">
              <a:buNone/>
            </a:pPr>
            <a:r>
              <a:rPr lang="fa-IR" b="1" dirty="0" smtClean="0">
                <a:cs typeface="B Nazanin" panose="00000400000000000000" pitchFamily="2" charset="-78"/>
              </a:rPr>
              <a:t>در </a:t>
            </a:r>
            <a:r>
              <a:rPr lang="fa-IR" b="1" dirty="0">
                <a:cs typeface="B Nazanin" panose="00000400000000000000" pitchFamily="2" charset="-78"/>
              </a:rPr>
              <a:t>مری وگشاد شدن و از بین رفتن حرکات دودی </a:t>
            </a:r>
            <a:r>
              <a:rPr lang="fa-IR" b="1" dirty="0" smtClean="0">
                <a:cs typeface="B Nazanin" panose="00000400000000000000" pitchFamily="2" charset="-78"/>
              </a:rPr>
              <a:t>می شود</a:t>
            </a:r>
          </a:p>
          <a:p>
            <a:pPr marL="0" indent="0">
              <a:buNone/>
            </a:pPr>
            <a:endParaRPr lang="fa-IR" b="1" dirty="0">
              <a:cs typeface="B Nazanin" panose="00000400000000000000" pitchFamily="2" charset="-78"/>
            </a:endParaRPr>
          </a:p>
          <a:p>
            <a:pPr marL="0" indent="0">
              <a:buNone/>
            </a:pPr>
            <a:r>
              <a:rPr lang="fa-IR" b="1" dirty="0">
                <a:cs typeface="B Nazanin" panose="00000400000000000000" pitchFamily="2" charset="-78"/>
              </a:rPr>
              <a:t>علت:از بین رفتن سلولهای عصبی شبکه میانتریک مری و هسته های عصب </a:t>
            </a:r>
            <a:r>
              <a:rPr lang="fa-IR" b="1" dirty="0" smtClean="0">
                <a:cs typeface="B Nazanin" panose="00000400000000000000" pitchFamily="2" charset="-78"/>
              </a:rPr>
              <a:t>واگ مربوط </a:t>
            </a:r>
            <a:r>
              <a:rPr lang="fa-IR" b="1" dirty="0">
                <a:cs typeface="B Nazanin" panose="00000400000000000000" pitchFamily="2" charset="-78"/>
              </a:rPr>
              <a:t>به </a:t>
            </a:r>
            <a:r>
              <a:rPr lang="fa-IR" b="1" dirty="0" smtClean="0">
                <a:cs typeface="B Nazanin" panose="00000400000000000000" pitchFamily="2" charset="-78"/>
              </a:rPr>
              <a:t>مری</a:t>
            </a:r>
          </a:p>
          <a:p>
            <a:pPr marL="0" indent="0">
              <a:buNone/>
            </a:pPr>
            <a:endParaRPr lang="fa-IR" b="1" dirty="0">
              <a:cs typeface="B Nazanin" panose="00000400000000000000" pitchFamily="2" charset="-78"/>
            </a:endParaRPr>
          </a:p>
          <a:p>
            <a:pPr marL="0" indent="0">
              <a:buNone/>
            </a:pPr>
            <a:r>
              <a:rPr lang="fa-IR" b="1" dirty="0">
                <a:cs typeface="B Nazanin" panose="00000400000000000000" pitchFamily="2" charset="-78"/>
              </a:rPr>
              <a:t>علایم:دیس فاژی پیشرونده،درد قفسه سینه،بالا آوردن غذای هضم نشده،و در </a:t>
            </a:r>
            <a:r>
              <a:rPr lang="fa-IR" b="1" dirty="0" smtClean="0">
                <a:cs typeface="B Nazanin" panose="00000400000000000000" pitchFamily="2" charset="-78"/>
              </a:rPr>
              <a:t>نهایت کاهش </a:t>
            </a:r>
            <a:r>
              <a:rPr lang="fa-IR" b="1" dirty="0">
                <a:cs typeface="B Nazanin" panose="00000400000000000000" pitchFamily="2" charset="-78"/>
              </a:rPr>
              <a:t>وزن</a:t>
            </a:r>
          </a:p>
        </p:txBody>
      </p:sp>
    </p:spTree>
    <p:extLst>
      <p:ext uri="{BB962C8B-B14F-4D97-AF65-F5344CB8AC3E}">
        <p14:creationId xmlns:p14="http://schemas.microsoft.com/office/powerpoint/2010/main" val="17378491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smtClean="0"/>
              <a:t>آشالازی</a:t>
            </a:r>
            <a:endParaRPr lang="fa-IR"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108018" y="2040979"/>
            <a:ext cx="7116298" cy="2583574"/>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200" y="4624552"/>
            <a:ext cx="7126013" cy="1797269"/>
          </a:xfrm>
          <a:prstGeom prst="rect">
            <a:avLst/>
          </a:prstGeom>
        </p:spPr>
      </p:pic>
    </p:spTree>
    <p:extLst>
      <p:ext uri="{BB962C8B-B14F-4D97-AF65-F5344CB8AC3E}">
        <p14:creationId xmlns:p14="http://schemas.microsoft.com/office/powerpoint/2010/main" val="4099968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a:t>تشخیص </a:t>
            </a:r>
            <a:r>
              <a:rPr lang="en-US" dirty="0"/>
              <a:t>diagnosis</a:t>
            </a:r>
            <a:br>
              <a:rPr lang="en-US" dirty="0"/>
            </a:br>
            <a:endParaRPr lang="fa-IR" dirty="0"/>
          </a:p>
        </p:txBody>
      </p:sp>
      <p:sp>
        <p:nvSpPr>
          <p:cNvPr id="3" name="Content Placeholder 2"/>
          <p:cNvSpPr>
            <a:spLocks noGrp="1"/>
          </p:cNvSpPr>
          <p:nvPr>
            <p:ph idx="1"/>
          </p:nvPr>
        </p:nvSpPr>
        <p:spPr/>
        <p:txBody>
          <a:bodyPr/>
          <a:lstStyle/>
          <a:p>
            <a:pPr marL="0" indent="0">
              <a:buNone/>
            </a:pPr>
            <a:r>
              <a:rPr lang="fa-IR" dirty="0" smtClean="0">
                <a:cs typeface="B Nazanin" panose="00000400000000000000" pitchFamily="2" charset="-78"/>
              </a:rPr>
              <a:t>1 </a:t>
            </a:r>
            <a:r>
              <a:rPr lang="fa-IR" dirty="0">
                <a:cs typeface="B Nazanin" panose="00000400000000000000" pitchFamily="2" charset="-78"/>
              </a:rPr>
              <a:t>- مانومتری اسفنکتر تحتانی مری:دقیق ترین روش تشخص است</a:t>
            </a:r>
          </a:p>
          <a:p>
            <a:pPr marL="0" indent="0">
              <a:buNone/>
            </a:pPr>
            <a:r>
              <a:rPr lang="fa-IR" dirty="0">
                <a:cs typeface="B Nazanin" panose="00000400000000000000" pitchFamily="2" charset="-78"/>
              </a:rPr>
              <a:t>فشار زیاد در مانومتر بدلیل انقباض محکم ودایمی – فقدان حرکات </a:t>
            </a:r>
            <a:r>
              <a:rPr lang="fa-IR" dirty="0" smtClean="0">
                <a:cs typeface="B Nazanin" panose="00000400000000000000" pitchFamily="2" charset="-78"/>
              </a:rPr>
              <a:t>دودی</a:t>
            </a:r>
          </a:p>
          <a:p>
            <a:pPr marL="0" indent="0">
              <a:buNone/>
            </a:pPr>
            <a:endParaRPr lang="fa-IR" dirty="0">
              <a:cs typeface="B Nazanin" panose="00000400000000000000" pitchFamily="2" charset="-78"/>
            </a:endParaRPr>
          </a:p>
          <a:p>
            <a:pPr marL="0" indent="0">
              <a:buNone/>
            </a:pPr>
            <a:r>
              <a:rPr lang="fa-IR" dirty="0">
                <a:cs typeface="B Nazanin" panose="00000400000000000000" pitchFamily="2" charset="-78"/>
              </a:rPr>
              <a:t>2 - آندوسکوپی:جهت رد ضایعات انسدادی در انتهای مری و </a:t>
            </a:r>
            <a:r>
              <a:rPr lang="fa-IR" dirty="0" smtClean="0">
                <a:cs typeface="B Nazanin" panose="00000400000000000000" pitchFamily="2" charset="-78"/>
              </a:rPr>
              <a:t>کاردیا</a:t>
            </a:r>
          </a:p>
          <a:p>
            <a:pPr marL="0" indent="0">
              <a:buNone/>
            </a:pPr>
            <a:endParaRPr lang="fa-IR" dirty="0">
              <a:cs typeface="B Nazanin" panose="00000400000000000000" pitchFamily="2" charset="-78"/>
            </a:endParaRPr>
          </a:p>
          <a:p>
            <a:pPr marL="0" indent="0">
              <a:buNone/>
            </a:pPr>
            <a:r>
              <a:rPr lang="fa-IR" dirty="0">
                <a:cs typeface="B Nazanin" panose="00000400000000000000" pitchFamily="2" charset="-78"/>
              </a:rPr>
              <a:t>3 -بلع باریوم:دیدن یک مری گشاد که در انتها باریک شده و شبیه نوک پرنده است</a:t>
            </a:r>
          </a:p>
        </p:txBody>
      </p:sp>
    </p:spTree>
    <p:extLst>
      <p:ext uri="{BB962C8B-B14F-4D97-AF65-F5344CB8AC3E}">
        <p14:creationId xmlns:p14="http://schemas.microsoft.com/office/powerpoint/2010/main" val="15249821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a:t>درمان</a:t>
            </a:r>
            <a:br>
              <a:rPr lang="fa-IR" dirty="0"/>
            </a:br>
            <a:endParaRPr lang="fa-IR" dirty="0"/>
          </a:p>
        </p:txBody>
      </p:sp>
      <p:sp>
        <p:nvSpPr>
          <p:cNvPr id="3" name="Content Placeholder 2"/>
          <p:cNvSpPr>
            <a:spLocks noGrp="1"/>
          </p:cNvSpPr>
          <p:nvPr>
            <p:ph idx="1"/>
          </p:nvPr>
        </p:nvSpPr>
        <p:spPr/>
        <p:txBody>
          <a:bodyPr/>
          <a:lstStyle/>
          <a:p>
            <a:pPr marL="0" indent="0">
              <a:buNone/>
            </a:pPr>
            <a:r>
              <a:rPr lang="fa-IR" b="1" dirty="0" smtClean="0">
                <a:cs typeface="B Nazanin" panose="00000400000000000000" pitchFamily="2" charset="-78"/>
              </a:rPr>
              <a:t>1 </a:t>
            </a:r>
            <a:r>
              <a:rPr lang="fa-IR" b="1" dirty="0">
                <a:cs typeface="B Nazanin" panose="00000400000000000000" pitchFamily="2" charset="-78"/>
              </a:rPr>
              <a:t>-دیلاتاسیون پنوماتیک : باز کردن اسفنکتر منقبض با </a:t>
            </a:r>
            <a:r>
              <a:rPr lang="fa-IR" b="1" dirty="0" smtClean="0">
                <a:cs typeface="B Nazanin" panose="00000400000000000000" pitchFamily="2" charset="-78"/>
              </a:rPr>
              <a:t>بالون</a:t>
            </a:r>
          </a:p>
          <a:p>
            <a:pPr marL="0" indent="0">
              <a:buNone/>
            </a:pPr>
            <a:endParaRPr lang="fa-IR" b="1" dirty="0">
              <a:cs typeface="B Nazanin" panose="00000400000000000000" pitchFamily="2" charset="-78"/>
            </a:endParaRPr>
          </a:p>
          <a:p>
            <a:pPr marL="0" indent="0">
              <a:buNone/>
            </a:pPr>
            <a:r>
              <a:rPr lang="fa-IR" b="1" dirty="0">
                <a:cs typeface="B Nazanin" panose="00000400000000000000" pitchFamily="2" charset="-78"/>
              </a:rPr>
              <a:t>2 -ازوفاگومیوتومی:برش جراحی عضلات اسپاسم </a:t>
            </a:r>
            <a:r>
              <a:rPr lang="fa-IR" b="1" dirty="0" smtClean="0">
                <a:cs typeface="B Nazanin" panose="00000400000000000000" pitchFamily="2" charset="-78"/>
              </a:rPr>
              <a:t>شده</a:t>
            </a:r>
          </a:p>
          <a:p>
            <a:pPr marL="0" indent="0">
              <a:buNone/>
            </a:pPr>
            <a:endParaRPr lang="fa-IR" b="1" dirty="0">
              <a:cs typeface="B Nazanin" panose="00000400000000000000" pitchFamily="2" charset="-78"/>
            </a:endParaRPr>
          </a:p>
          <a:p>
            <a:pPr marL="0" indent="0">
              <a:buNone/>
            </a:pPr>
            <a:r>
              <a:rPr lang="fa-IR" b="1" dirty="0">
                <a:cs typeface="B Nazanin" panose="00000400000000000000" pitchFamily="2" charset="-78"/>
              </a:rPr>
              <a:t>3 - فلج کردن عضله:تزریق سم بوتولینوم به اسفنکتر منقبض و فلج کردن آن</a:t>
            </a:r>
          </a:p>
          <a:p>
            <a:pPr marL="0" indent="0">
              <a:buNone/>
            </a:pPr>
            <a:r>
              <a:rPr lang="fa-IR" b="1" dirty="0">
                <a:cs typeface="B Nazanin" panose="00000400000000000000" pitchFamily="2" charset="-78"/>
              </a:rPr>
              <a:t>موقتی است </a:t>
            </a:r>
            <a:r>
              <a:rPr lang="fa-IR" b="1" dirty="0" smtClean="0">
                <a:cs typeface="B Nazanin" panose="00000400000000000000" pitchFamily="2" charset="-78"/>
              </a:rPr>
              <a:t>و نیاز </a:t>
            </a:r>
            <a:r>
              <a:rPr lang="fa-IR" b="1" dirty="0">
                <a:cs typeface="B Nazanin" panose="00000400000000000000" pitchFamily="2" charset="-78"/>
              </a:rPr>
              <a:t>به تکرار دارد</a:t>
            </a:r>
          </a:p>
        </p:txBody>
      </p:sp>
    </p:spTree>
    <p:extLst>
      <p:ext uri="{BB962C8B-B14F-4D97-AF65-F5344CB8AC3E}">
        <p14:creationId xmlns:p14="http://schemas.microsoft.com/office/powerpoint/2010/main" val="1634920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a:t>اسپاسم منتشر مری</a:t>
            </a:r>
            <a:br>
              <a:rPr lang="fa-IR" dirty="0"/>
            </a:br>
            <a:endParaRPr lang="fa-IR" dirty="0"/>
          </a:p>
        </p:txBody>
      </p:sp>
      <p:sp>
        <p:nvSpPr>
          <p:cNvPr id="3" name="Content Placeholder 2"/>
          <p:cNvSpPr>
            <a:spLocks noGrp="1"/>
          </p:cNvSpPr>
          <p:nvPr>
            <p:ph idx="1"/>
          </p:nvPr>
        </p:nvSpPr>
        <p:spPr>
          <a:xfrm>
            <a:off x="677334" y="2160589"/>
            <a:ext cx="8596668" cy="4303273"/>
          </a:xfrm>
        </p:spPr>
        <p:txBody>
          <a:bodyPr>
            <a:normAutofit/>
          </a:bodyPr>
          <a:lstStyle/>
          <a:p>
            <a:pPr marL="0" indent="0">
              <a:buNone/>
            </a:pPr>
            <a:endParaRPr lang="fa-IR" b="1" dirty="0" smtClean="0">
              <a:cs typeface="B Nazanin" panose="00000400000000000000" pitchFamily="2" charset="-78"/>
            </a:endParaRPr>
          </a:p>
          <a:p>
            <a:pPr marL="0" indent="0">
              <a:buNone/>
            </a:pPr>
            <a:r>
              <a:rPr lang="fa-IR" b="1" dirty="0">
                <a:cs typeface="B Nazanin" panose="00000400000000000000" pitchFamily="2" charset="-78"/>
              </a:rPr>
              <a:t>در حالت طبیعی عضلات مری با انقباضات منظم و پرستالتیک خود، باعث حرکت غذا به سمت معده می شوند</a:t>
            </a:r>
            <a:r>
              <a:rPr lang="fa-IR" b="1" dirty="0" smtClean="0">
                <a:cs typeface="B Nazanin" panose="00000400000000000000" pitchFamily="2" charset="-78"/>
              </a:rPr>
              <a:t>.</a:t>
            </a:r>
            <a:r>
              <a:rPr lang="fa-IR" b="1" dirty="0">
                <a:cs typeface="B Nazanin" panose="00000400000000000000" pitchFamily="2" charset="-78"/>
              </a:rPr>
              <a:t> در اسپاسم منتشر مری که به علت </a:t>
            </a:r>
            <a:r>
              <a:rPr lang="fa-IR" b="1" dirty="0">
                <a:solidFill>
                  <a:srgbClr val="FF0000"/>
                </a:solidFill>
                <a:cs typeface="B Nazanin" panose="00000400000000000000" pitchFamily="2" charset="-78"/>
              </a:rPr>
              <a:t>انقباضات غیرطبیعی مری </a:t>
            </a:r>
            <a:r>
              <a:rPr lang="fa-IR" b="1" dirty="0">
                <a:cs typeface="B Nazanin" panose="00000400000000000000" pitchFamily="2" charset="-78"/>
              </a:rPr>
              <a:t>همراه با شل شدن طبیعی اسفنکتر تحتانی مری (</a:t>
            </a:r>
            <a:r>
              <a:rPr lang="en-US" b="1" dirty="0">
                <a:cs typeface="B Nazanin" panose="00000400000000000000" pitchFamily="2" charset="-78"/>
              </a:rPr>
              <a:t>LES) </a:t>
            </a:r>
            <a:r>
              <a:rPr lang="fa-IR" b="1" dirty="0">
                <a:cs typeface="B Nazanin" panose="00000400000000000000" pitchFamily="2" charset="-78"/>
              </a:rPr>
              <a:t>روی می دهد، قسمت های مختلف مری بطور همزمان و با شدت بالایی منقبض می شوند و نه تنها غذا را به سمت معده نمی برند بلکه باعث گیر افتادن مواد غذایی، دشواری در بلع (دیسفاژی) و درد قفسه سینه می شوند </a:t>
            </a:r>
          </a:p>
          <a:p>
            <a:pPr marL="0" indent="0">
              <a:buNone/>
            </a:pPr>
            <a:r>
              <a:rPr lang="fa-IR" b="1" dirty="0" smtClean="0">
                <a:cs typeface="B Nazanin" panose="00000400000000000000" pitchFamily="2" charset="-78"/>
              </a:rPr>
              <a:t>علایم:دیس </a:t>
            </a:r>
            <a:r>
              <a:rPr lang="fa-IR" b="1" dirty="0">
                <a:cs typeface="B Nazanin" panose="00000400000000000000" pitchFamily="2" charset="-78"/>
              </a:rPr>
              <a:t>فاژی ودرد قفسه سینه متناوب یا گهگیر نسبت به هر دو غذای جامد </a:t>
            </a:r>
            <a:r>
              <a:rPr lang="fa-IR" b="1" dirty="0" smtClean="0">
                <a:cs typeface="B Nazanin" panose="00000400000000000000" pitchFamily="2" charset="-78"/>
              </a:rPr>
              <a:t>ومایع</a:t>
            </a:r>
            <a:endParaRPr lang="fa-IR" b="1" dirty="0">
              <a:cs typeface="B Nazanin" panose="00000400000000000000" pitchFamily="2" charset="-78"/>
            </a:endParaRPr>
          </a:p>
          <a:p>
            <a:pPr marL="0" indent="0">
              <a:buNone/>
            </a:pPr>
            <a:r>
              <a:rPr lang="fa-IR" b="1" dirty="0">
                <a:cs typeface="B Nazanin" panose="00000400000000000000" pitchFamily="2" charset="-78"/>
              </a:rPr>
              <a:t>علت: </a:t>
            </a:r>
            <a:r>
              <a:rPr lang="en-US" b="1" dirty="0" smtClean="0">
                <a:cs typeface="B Nazanin" panose="00000400000000000000" pitchFamily="2" charset="-78"/>
              </a:rPr>
              <a:t>Unknown</a:t>
            </a:r>
            <a:endParaRPr lang="en-US" b="1" dirty="0">
              <a:cs typeface="B Nazanin" panose="00000400000000000000" pitchFamily="2" charset="-78"/>
            </a:endParaRPr>
          </a:p>
          <a:p>
            <a:pPr marL="0" indent="0">
              <a:buNone/>
            </a:pPr>
            <a:r>
              <a:rPr lang="en-US" b="1" dirty="0" smtClean="0">
                <a:cs typeface="B Nazanin" panose="00000400000000000000" pitchFamily="2" charset="-78"/>
              </a:rPr>
              <a:t>diagnosis</a:t>
            </a:r>
            <a:endParaRPr lang="fa-IR" b="1" dirty="0" smtClean="0">
              <a:cs typeface="B Nazanin" panose="00000400000000000000" pitchFamily="2" charset="-78"/>
            </a:endParaRPr>
          </a:p>
          <a:p>
            <a:pPr marL="0" indent="0">
              <a:buNone/>
            </a:pPr>
            <a:r>
              <a:rPr lang="fa-IR" b="1" dirty="0" smtClean="0">
                <a:cs typeface="B Nazanin" panose="00000400000000000000" pitchFamily="2" charset="-78"/>
              </a:rPr>
              <a:t>1 </a:t>
            </a:r>
            <a:r>
              <a:rPr lang="fa-IR" b="1" dirty="0">
                <a:cs typeface="B Nazanin" panose="00000400000000000000" pitchFamily="2" charset="-78"/>
              </a:rPr>
              <a:t>-مانومتری مری:انقباضات غیردودی ونامنظم با دامنه بالا</a:t>
            </a:r>
          </a:p>
          <a:p>
            <a:pPr marL="0" indent="0">
              <a:buNone/>
            </a:pPr>
            <a:r>
              <a:rPr lang="fa-IR" b="1" dirty="0">
                <a:cs typeface="B Nazanin" panose="00000400000000000000" pitchFamily="2" charset="-78"/>
              </a:rPr>
              <a:t>2 -رادیوگرافی بلع باریوم:مناطق جداگانه اسپاسم</a:t>
            </a:r>
          </a:p>
        </p:txBody>
      </p:sp>
    </p:spTree>
    <p:extLst>
      <p:ext uri="{BB962C8B-B14F-4D97-AF65-F5344CB8AC3E}">
        <p14:creationId xmlns:p14="http://schemas.microsoft.com/office/powerpoint/2010/main" val="4293239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smtClean="0"/>
              <a:t>اسپاسم منتشر مری</a:t>
            </a:r>
            <a:endParaRPr lang="fa-IR"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11668" y="1930400"/>
            <a:ext cx="3920359" cy="4291724"/>
          </a:xfrm>
        </p:spPr>
      </p:pic>
    </p:spTree>
    <p:extLst>
      <p:ext uri="{BB962C8B-B14F-4D97-AF65-F5344CB8AC3E}">
        <p14:creationId xmlns:p14="http://schemas.microsoft.com/office/powerpoint/2010/main" val="28445577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smtClean="0"/>
              <a:t>اسپاسم منتشر مری</a:t>
            </a:r>
            <a:endParaRPr lang="fa-IR"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75338" y="2017986"/>
            <a:ext cx="5034455" cy="4981904"/>
          </a:xfrm>
        </p:spPr>
      </p:pic>
    </p:spTree>
    <p:extLst>
      <p:ext uri="{BB962C8B-B14F-4D97-AF65-F5344CB8AC3E}">
        <p14:creationId xmlns:p14="http://schemas.microsoft.com/office/powerpoint/2010/main" val="3829521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treatment</a:t>
            </a:r>
            <a:br>
              <a:rPr lang="en-US" dirty="0"/>
            </a:br>
            <a:endParaRPr lang="fa-IR" dirty="0"/>
          </a:p>
        </p:txBody>
      </p:sp>
      <p:sp>
        <p:nvSpPr>
          <p:cNvPr id="3" name="Content Placeholder 2"/>
          <p:cNvSpPr>
            <a:spLocks noGrp="1"/>
          </p:cNvSpPr>
          <p:nvPr>
            <p:ph idx="1"/>
          </p:nvPr>
        </p:nvSpPr>
        <p:spPr/>
        <p:txBody>
          <a:bodyPr/>
          <a:lstStyle/>
          <a:p>
            <a:pPr marL="0" indent="0" rtl="0">
              <a:buNone/>
            </a:pPr>
            <a:r>
              <a:rPr lang="fa-IR" b="1" dirty="0" smtClean="0">
                <a:cs typeface="B Nazanin" panose="00000400000000000000" pitchFamily="2" charset="-78"/>
              </a:rPr>
              <a:t>-1 غذاهای نرم با حجم کم و وعده های مکرر</a:t>
            </a:r>
          </a:p>
          <a:p>
            <a:pPr marL="0" indent="0" rtl="0">
              <a:buNone/>
            </a:pPr>
            <a:endParaRPr lang="fa-IR" b="1" dirty="0" smtClean="0">
              <a:cs typeface="B Nazanin" panose="00000400000000000000" pitchFamily="2" charset="-78"/>
            </a:endParaRPr>
          </a:p>
          <a:p>
            <a:pPr marL="0" indent="0" rtl="0">
              <a:buNone/>
            </a:pPr>
            <a:r>
              <a:rPr lang="fa-IR" b="1" dirty="0" smtClean="0">
                <a:cs typeface="B Nazanin" panose="00000400000000000000" pitchFamily="2" charset="-78"/>
              </a:rPr>
              <a:t>2 -نیتراتهای طویل الاثر –کلسیم بلاکر ها</a:t>
            </a:r>
          </a:p>
          <a:p>
            <a:pPr marL="0" indent="0" rtl="0">
              <a:buNone/>
            </a:pPr>
            <a:endParaRPr lang="fa-IR" b="1" dirty="0" smtClean="0">
              <a:cs typeface="B Nazanin" panose="00000400000000000000" pitchFamily="2" charset="-78"/>
            </a:endParaRPr>
          </a:p>
          <a:p>
            <a:pPr marL="0" indent="0">
              <a:buNone/>
            </a:pPr>
            <a:r>
              <a:rPr lang="fa-IR" b="1" dirty="0" smtClean="0">
                <a:cs typeface="B Nazanin" panose="00000400000000000000" pitchFamily="2" charset="-78"/>
              </a:rPr>
              <a:t>3-گشاد کردن مری با بالون</a:t>
            </a:r>
            <a:r>
              <a:rPr lang="en-US" b="1" dirty="0">
                <a:cs typeface="B Nazanin" panose="00000400000000000000" pitchFamily="2" charset="-78"/>
              </a:rPr>
              <a:t> </a:t>
            </a:r>
            <a:r>
              <a:rPr lang="en-US" b="1" dirty="0" smtClean="0">
                <a:cs typeface="B Nazanin" panose="00000400000000000000" pitchFamily="2" charset="-78"/>
              </a:rPr>
              <a:t>dilation</a:t>
            </a:r>
            <a:r>
              <a:rPr lang="fa-IR" b="1" dirty="0" smtClean="0">
                <a:cs typeface="B Nazanin" panose="00000400000000000000" pitchFamily="2" charset="-78"/>
              </a:rPr>
              <a:t> </a:t>
            </a:r>
            <a:endParaRPr lang="en-US" b="1" dirty="0" smtClean="0">
              <a:cs typeface="B Nazanin" panose="00000400000000000000" pitchFamily="2" charset="-78"/>
            </a:endParaRPr>
          </a:p>
          <a:p>
            <a:pPr marL="0" indent="0" rtl="0">
              <a:buNone/>
            </a:pPr>
            <a:r>
              <a:rPr lang="fa-IR" b="1" dirty="0" smtClean="0">
                <a:cs typeface="B Nazanin" panose="00000400000000000000" pitchFamily="2" charset="-78"/>
              </a:rPr>
              <a:t>4 -ازوفاگومیوتومی:برش جراحی عضله</a:t>
            </a:r>
          </a:p>
          <a:p>
            <a:pPr marL="0" indent="0" rtl="0">
              <a:buNone/>
            </a:pPr>
            <a:endParaRPr lang="fa-IR" b="1" dirty="0">
              <a:cs typeface="B Nazanin" panose="00000400000000000000" pitchFamily="2" charset="-78"/>
            </a:endParaRPr>
          </a:p>
        </p:txBody>
      </p:sp>
    </p:spTree>
    <p:extLst>
      <p:ext uri="{BB962C8B-B14F-4D97-AF65-F5344CB8AC3E}">
        <p14:creationId xmlns:p14="http://schemas.microsoft.com/office/powerpoint/2010/main" val="590663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Hiatal hernia</a:t>
            </a:r>
            <a:br>
              <a:rPr lang="en-US" dirty="0"/>
            </a:br>
            <a:endParaRPr lang="fa-IR" dirty="0"/>
          </a:p>
        </p:txBody>
      </p:sp>
      <p:sp>
        <p:nvSpPr>
          <p:cNvPr id="3" name="Content Placeholder 2"/>
          <p:cNvSpPr>
            <a:spLocks noGrp="1"/>
          </p:cNvSpPr>
          <p:nvPr>
            <p:ph idx="1"/>
          </p:nvPr>
        </p:nvSpPr>
        <p:spPr/>
        <p:txBody>
          <a:bodyPr>
            <a:normAutofit/>
          </a:bodyPr>
          <a:lstStyle/>
          <a:p>
            <a:pPr marL="0" indent="0">
              <a:buNone/>
            </a:pPr>
            <a:r>
              <a:rPr lang="fa-IR" b="1" dirty="0" smtClean="0">
                <a:cs typeface="B Nazanin" panose="00000400000000000000" pitchFamily="2" charset="-78"/>
              </a:rPr>
              <a:t>دریچه </a:t>
            </a:r>
            <a:r>
              <a:rPr lang="fa-IR" b="1" dirty="0">
                <a:cs typeface="B Nazanin" panose="00000400000000000000" pitchFamily="2" charset="-78"/>
              </a:rPr>
              <a:t>دیافراگم که مری از آن عبور میکند شل می شود و معده از آن قسمت </a:t>
            </a:r>
            <a:r>
              <a:rPr lang="fa-IR" b="1" dirty="0" smtClean="0">
                <a:cs typeface="B Nazanin" panose="00000400000000000000" pitchFamily="2" charset="-78"/>
              </a:rPr>
              <a:t>حرکت کرده </a:t>
            </a:r>
            <a:r>
              <a:rPr lang="fa-IR" b="1" dirty="0">
                <a:cs typeface="B Nazanin" panose="00000400000000000000" pitchFamily="2" charset="-78"/>
              </a:rPr>
              <a:t>و وارد فضای توراکس می </a:t>
            </a:r>
            <a:r>
              <a:rPr lang="fa-IR" b="1" dirty="0" smtClean="0">
                <a:cs typeface="B Nazanin" panose="00000400000000000000" pitchFamily="2" charset="-78"/>
              </a:rPr>
              <a:t>شود</a:t>
            </a:r>
          </a:p>
          <a:p>
            <a:pPr marL="0" indent="0">
              <a:buNone/>
            </a:pPr>
            <a:r>
              <a:rPr lang="fa-IR" b="1" dirty="0" smtClean="0">
                <a:cs typeface="B Nazanin" panose="00000400000000000000" pitchFamily="2" charset="-78"/>
              </a:rPr>
              <a:t>علل:ضعف عضله دیافراگم و چاقی زیاد شکم و بارداری و بلند کردن اجسام سنگین</a:t>
            </a:r>
            <a:endParaRPr lang="fa-IR" b="1" dirty="0">
              <a:cs typeface="B Nazanin" panose="00000400000000000000" pitchFamily="2" charset="-78"/>
            </a:endParaRPr>
          </a:p>
          <a:p>
            <a:pPr marL="0" indent="0">
              <a:buNone/>
            </a:pPr>
            <a:r>
              <a:rPr lang="fa-IR" b="1" dirty="0">
                <a:cs typeface="B Nazanin" panose="00000400000000000000" pitchFamily="2" charset="-78"/>
              </a:rPr>
              <a:t>نوع 1</a:t>
            </a:r>
            <a:r>
              <a:rPr lang="en-US" b="1" dirty="0">
                <a:cs typeface="B Nazanin" panose="00000400000000000000" pitchFamily="2" charset="-78"/>
              </a:rPr>
              <a:t>sliding </a:t>
            </a:r>
            <a:r>
              <a:rPr lang="en-US" b="1" dirty="0" smtClean="0">
                <a:cs typeface="B Nazanin" panose="00000400000000000000" pitchFamily="2" charset="-78"/>
              </a:rPr>
              <a:t>:</a:t>
            </a:r>
            <a:r>
              <a:rPr lang="fa-IR" b="1" dirty="0" smtClean="0">
                <a:cs typeface="B Nazanin" panose="00000400000000000000" pitchFamily="2" charset="-78"/>
              </a:rPr>
              <a:t> قسمت </a:t>
            </a:r>
            <a:r>
              <a:rPr lang="fa-IR" b="1" dirty="0">
                <a:cs typeface="B Nazanin" panose="00000400000000000000" pitchFamily="2" charset="-78"/>
              </a:rPr>
              <a:t>فوقانی معده در محل معده </a:t>
            </a:r>
            <a:r>
              <a:rPr lang="fa-IR" b="1" dirty="0" smtClean="0">
                <a:cs typeface="B Nazanin" panose="00000400000000000000" pitchFamily="2" charset="-78"/>
              </a:rPr>
              <a:t>و مری </a:t>
            </a:r>
            <a:r>
              <a:rPr lang="fa-IR" b="1" dirty="0">
                <a:cs typeface="B Nazanin" panose="00000400000000000000" pitchFamily="2" charset="-78"/>
              </a:rPr>
              <a:t>به بالا جابجا شده و </a:t>
            </a:r>
            <a:r>
              <a:rPr lang="fa-IR" b="1" dirty="0" smtClean="0">
                <a:cs typeface="B Nazanin" panose="00000400000000000000" pitchFamily="2" charset="-78"/>
              </a:rPr>
              <a:t>وارد توراکس </a:t>
            </a:r>
            <a:r>
              <a:rPr lang="fa-IR" b="1" dirty="0">
                <a:cs typeface="B Nazanin" panose="00000400000000000000" pitchFamily="2" charset="-78"/>
              </a:rPr>
              <a:t>می شود. 90 در صد فتق هیاتال از این نوع است.</a:t>
            </a:r>
          </a:p>
          <a:p>
            <a:pPr marL="0" indent="0">
              <a:buNone/>
            </a:pPr>
            <a:r>
              <a:rPr lang="fa-IR" b="1" dirty="0">
                <a:cs typeface="B Nazanin" panose="00000400000000000000" pitchFamily="2" charset="-78"/>
              </a:rPr>
              <a:t>نوع 2 : </a:t>
            </a:r>
            <a:r>
              <a:rPr lang="en-US" b="1" dirty="0" err="1">
                <a:cs typeface="B Nazanin" panose="00000400000000000000" pitchFamily="2" charset="-78"/>
              </a:rPr>
              <a:t>paraesophagial</a:t>
            </a:r>
            <a:r>
              <a:rPr lang="en-US" b="1" dirty="0">
                <a:cs typeface="B Nazanin" panose="00000400000000000000" pitchFamily="2" charset="-78"/>
              </a:rPr>
              <a:t> :</a:t>
            </a:r>
            <a:r>
              <a:rPr lang="fa-IR" b="1" dirty="0">
                <a:cs typeface="B Nazanin" panose="00000400000000000000" pitchFamily="2" charset="-78"/>
              </a:rPr>
              <a:t>تمام یا قسمتی از معده از قسمت ضعیف </a:t>
            </a:r>
            <a:r>
              <a:rPr lang="fa-IR" b="1" dirty="0" smtClean="0">
                <a:cs typeface="B Nazanin" panose="00000400000000000000" pitchFamily="2" charset="-78"/>
              </a:rPr>
              <a:t>دیافراگم بیرون </a:t>
            </a:r>
            <a:r>
              <a:rPr lang="fa-IR" b="1" dirty="0">
                <a:cs typeface="B Nazanin" panose="00000400000000000000" pitchFamily="2" charset="-78"/>
              </a:rPr>
              <a:t>می زند.</a:t>
            </a:r>
          </a:p>
          <a:p>
            <a:pPr marL="0" indent="0">
              <a:buNone/>
            </a:pPr>
            <a:r>
              <a:rPr lang="fa-IR" b="1" dirty="0">
                <a:cs typeface="B Nazanin" panose="00000400000000000000" pitchFamily="2" charset="-78"/>
              </a:rPr>
              <a:t>-هرنی نوع 1 با ریفلاکس همراه است</a:t>
            </a:r>
          </a:p>
          <a:p>
            <a:pPr marL="0" indent="0">
              <a:buNone/>
            </a:pPr>
            <a:r>
              <a:rPr lang="fa-IR" b="1" dirty="0">
                <a:cs typeface="B Nazanin" panose="00000400000000000000" pitchFamily="2" charset="-78"/>
              </a:rPr>
              <a:t>-هرنی نوع 2 چون اسفنکتر نرمال است وسر جایش قرار دارد ریفلاکس ندارد و </a:t>
            </a:r>
            <a:r>
              <a:rPr lang="fa-IR" b="1" dirty="0" smtClean="0">
                <a:cs typeface="B Nazanin" panose="00000400000000000000" pitchFamily="2" charset="-78"/>
              </a:rPr>
              <a:t>با احساس </a:t>
            </a:r>
            <a:r>
              <a:rPr lang="fa-IR" b="1" dirty="0">
                <a:cs typeface="B Nazanin" panose="00000400000000000000" pitchFamily="2" charset="-78"/>
              </a:rPr>
              <a:t>پری در معده همراه </a:t>
            </a:r>
            <a:r>
              <a:rPr lang="fa-IR" b="1" dirty="0" smtClean="0">
                <a:cs typeface="B Nazanin" panose="00000400000000000000" pitchFamily="2" charset="-78"/>
              </a:rPr>
              <a:t>است.</a:t>
            </a:r>
          </a:p>
          <a:p>
            <a:pPr marL="0" indent="0">
              <a:buNone/>
            </a:pPr>
            <a:r>
              <a:rPr lang="fa-IR" b="1" dirty="0" smtClean="0">
                <a:cs typeface="B Nazanin" panose="00000400000000000000" pitchFamily="2" charset="-78"/>
              </a:rPr>
              <a:t>این دو فتق بصورت ترکیبی هم می تواند ایجاد شود.</a:t>
            </a:r>
            <a:endParaRPr lang="fa-IR" b="1" dirty="0">
              <a:cs typeface="B Nazanin" panose="00000400000000000000" pitchFamily="2" charset="-78"/>
            </a:endParaRPr>
          </a:p>
        </p:txBody>
      </p:sp>
    </p:spTree>
    <p:extLst>
      <p:ext uri="{BB962C8B-B14F-4D97-AF65-F5344CB8AC3E}">
        <p14:creationId xmlns:p14="http://schemas.microsoft.com/office/powerpoint/2010/main" val="18745924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466178"/>
            <a:ext cx="8596668" cy="1320800"/>
          </a:xfrm>
        </p:spPr>
        <p:txBody>
          <a:bodyPr/>
          <a:lstStyle/>
          <a:p>
            <a:pPr algn="ctr"/>
            <a:r>
              <a:rPr lang="fa-IR" dirty="0" smtClean="0"/>
              <a:t>فتق هیاتال یا فتق معده</a:t>
            </a:r>
            <a:endParaRPr lang="fa-IR"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69270" y="1930400"/>
            <a:ext cx="3881437" cy="4239172"/>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634" y="1930400"/>
            <a:ext cx="6232636" cy="4382594"/>
          </a:xfrm>
          <a:prstGeom prst="rect">
            <a:avLst/>
          </a:prstGeom>
        </p:spPr>
      </p:pic>
    </p:spTree>
    <p:extLst>
      <p:ext uri="{BB962C8B-B14F-4D97-AF65-F5344CB8AC3E}">
        <p14:creationId xmlns:p14="http://schemas.microsoft.com/office/powerpoint/2010/main" val="17076316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smtClean="0"/>
              <a:t>علایم  و تشخیص و درمان فتق معده</a:t>
            </a:r>
            <a:endParaRPr lang="fa-IR" dirty="0"/>
          </a:p>
        </p:txBody>
      </p:sp>
      <p:sp>
        <p:nvSpPr>
          <p:cNvPr id="3" name="Content Placeholder 2"/>
          <p:cNvSpPr>
            <a:spLocks noGrp="1"/>
          </p:cNvSpPr>
          <p:nvPr>
            <p:ph idx="1"/>
          </p:nvPr>
        </p:nvSpPr>
        <p:spPr/>
        <p:txBody>
          <a:bodyPr>
            <a:normAutofit/>
          </a:bodyPr>
          <a:lstStyle/>
          <a:p>
            <a:pPr marL="0" indent="0">
              <a:buNone/>
            </a:pPr>
            <a:endParaRPr lang="fa-IR" b="1" dirty="0">
              <a:cs typeface="B Nazanin" panose="00000400000000000000" pitchFamily="2" charset="-78"/>
            </a:endParaRPr>
          </a:p>
          <a:p>
            <a:pPr marL="0" indent="0">
              <a:buNone/>
            </a:pPr>
            <a:r>
              <a:rPr lang="fa-IR" b="1" dirty="0">
                <a:cs typeface="B Nazanin" panose="00000400000000000000" pitchFamily="2" charset="-78"/>
              </a:rPr>
              <a:t>علایم: </a:t>
            </a:r>
            <a:r>
              <a:rPr lang="en-US" b="1" dirty="0" err="1" smtClean="0">
                <a:cs typeface="B Nazanin" panose="00000400000000000000" pitchFamily="2" charset="-78"/>
              </a:rPr>
              <a:t>pyrosis</a:t>
            </a:r>
            <a:r>
              <a:rPr lang="en-US" b="1" dirty="0" smtClean="0">
                <a:cs typeface="B Nazanin" panose="00000400000000000000" pitchFamily="2" charset="-78"/>
              </a:rPr>
              <a:t>- regurgitation- dysphagia</a:t>
            </a:r>
            <a:endParaRPr lang="fa-IR" b="1" dirty="0">
              <a:cs typeface="B Nazanin" panose="00000400000000000000" pitchFamily="2" charset="-78"/>
            </a:endParaRPr>
          </a:p>
          <a:p>
            <a:pPr marL="0" indent="0">
              <a:buNone/>
            </a:pPr>
            <a:r>
              <a:rPr lang="en-US" b="1" dirty="0" smtClean="0">
                <a:cs typeface="B Nazanin" panose="00000400000000000000" pitchFamily="2" charset="-78"/>
              </a:rPr>
              <a:t>diagnosis</a:t>
            </a:r>
            <a:endParaRPr lang="en-US" b="1" dirty="0">
              <a:cs typeface="B Nazanin" panose="00000400000000000000" pitchFamily="2" charset="-78"/>
            </a:endParaRPr>
          </a:p>
          <a:p>
            <a:pPr marL="0" indent="0">
              <a:buNone/>
            </a:pPr>
            <a:r>
              <a:rPr lang="fa-IR" b="1" dirty="0" smtClean="0">
                <a:cs typeface="B Nazanin" panose="00000400000000000000" pitchFamily="2" charset="-78"/>
              </a:rPr>
              <a:t>رادیو </a:t>
            </a:r>
            <a:r>
              <a:rPr lang="fa-IR" b="1" dirty="0">
                <a:cs typeface="B Nazanin" panose="00000400000000000000" pitchFamily="2" charset="-78"/>
              </a:rPr>
              <a:t>گرافی - رادیو گرافی بلع </a:t>
            </a:r>
            <a:r>
              <a:rPr lang="fa-IR" b="1" dirty="0" smtClean="0">
                <a:cs typeface="B Nazanin" panose="00000400000000000000" pitchFamily="2" charset="-78"/>
              </a:rPr>
              <a:t>باریوم</a:t>
            </a:r>
            <a:endParaRPr lang="fa-IR" b="1" dirty="0">
              <a:cs typeface="B Nazanin" panose="00000400000000000000" pitchFamily="2" charset="-78"/>
            </a:endParaRPr>
          </a:p>
          <a:p>
            <a:pPr marL="0" indent="0">
              <a:buNone/>
            </a:pPr>
            <a:r>
              <a:rPr lang="en-US" b="1" dirty="0" smtClean="0">
                <a:cs typeface="B Nazanin" panose="00000400000000000000" pitchFamily="2" charset="-78"/>
              </a:rPr>
              <a:t>treatment</a:t>
            </a:r>
            <a:endParaRPr lang="fa-IR" b="1" dirty="0">
              <a:cs typeface="B Nazanin" panose="00000400000000000000" pitchFamily="2" charset="-78"/>
            </a:endParaRPr>
          </a:p>
          <a:p>
            <a:pPr marL="0" indent="0">
              <a:buNone/>
            </a:pPr>
            <a:r>
              <a:rPr lang="fa-IR" b="1" dirty="0">
                <a:cs typeface="B Nazanin" panose="00000400000000000000" pitchFamily="2" charset="-78"/>
              </a:rPr>
              <a:t>وعدهای غذایی کم </a:t>
            </a:r>
            <a:r>
              <a:rPr lang="fa-IR" b="1" dirty="0" smtClean="0">
                <a:cs typeface="B Nazanin" panose="00000400000000000000" pitchFamily="2" charset="-78"/>
              </a:rPr>
              <a:t>و دفعات زیاد</a:t>
            </a:r>
            <a:endParaRPr lang="fa-IR" b="1" dirty="0">
              <a:cs typeface="B Nazanin" panose="00000400000000000000" pitchFamily="2" charset="-78"/>
            </a:endParaRPr>
          </a:p>
          <a:p>
            <a:pPr marL="0" indent="0">
              <a:buNone/>
            </a:pPr>
            <a:r>
              <a:rPr lang="fa-IR" b="1" dirty="0">
                <a:cs typeface="B Nazanin" panose="00000400000000000000" pitchFamily="2" charset="-78"/>
              </a:rPr>
              <a:t>یک ساعت بعد از غذا دراز نکشد و سر همیشه 15 تا 20 درجه بالا </a:t>
            </a:r>
            <a:r>
              <a:rPr lang="fa-IR" b="1" dirty="0" smtClean="0">
                <a:cs typeface="B Nazanin" panose="00000400000000000000" pitchFamily="2" charset="-78"/>
              </a:rPr>
              <a:t>باشد</a:t>
            </a:r>
            <a:endParaRPr lang="fa-IR" b="1" dirty="0">
              <a:cs typeface="B Nazanin" panose="00000400000000000000" pitchFamily="2" charset="-78"/>
            </a:endParaRPr>
          </a:p>
          <a:p>
            <a:pPr marL="0" indent="0">
              <a:buNone/>
            </a:pPr>
            <a:r>
              <a:rPr lang="fa-IR" b="1" dirty="0">
                <a:cs typeface="B Nazanin" panose="00000400000000000000" pitchFamily="2" charset="-78"/>
              </a:rPr>
              <a:t>در نهایت جراحی </a:t>
            </a:r>
            <a:r>
              <a:rPr lang="fa-IR" b="1" dirty="0" smtClean="0">
                <a:cs typeface="B Nazanin" panose="00000400000000000000" pitchFamily="2" charset="-78"/>
              </a:rPr>
              <a:t>و اصلاح فتق</a:t>
            </a:r>
            <a:endParaRPr lang="fa-IR" b="1" dirty="0">
              <a:cs typeface="B Nazanin" panose="00000400000000000000" pitchFamily="2" charset="-78"/>
            </a:endParaRPr>
          </a:p>
        </p:txBody>
      </p:sp>
    </p:spTree>
    <p:extLst>
      <p:ext uri="{BB962C8B-B14F-4D97-AF65-F5344CB8AC3E}">
        <p14:creationId xmlns:p14="http://schemas.microsoft.com/office/powerpoint/2010/main" val="3178668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a:t>دیورتیکول مری</a:t>
            </a:r>
            <a:br>
              <a:rPr lang="fa-IR" dirty="0"/>
            </a:br>
            <a:endParaRPr lang="fa-IR" dirty="0"/>
          </a:p>
        </p:txBody>
      </p:sp>
      <p:sp>
        <p:nvSpPr>
          <p:cNvPr id="3" name="Content Placeholder 2"/>
          <p:cNvSpPr>
            <a:spLocks noGrp="1"/>
          </p:cNvSpPr>
          <p:nvPr>
            <p:ph idx="1"/>
          </p:nvPr>
        </p:nvSpPr>
        <p:spPr/>
        <p:txBody>
          <a:bodyPr>
            <a:normAutofit/>
          </a:bodyPr>
          <a:lstStyle/>
          <a:p>
            <a:pPr marL="0" indent="0">
              <a:buNone/>
            </a:pPr>
            <a:r>
              <a:rPr lang="fa-IR" b="1" dirty="0" smtClean="0">
                <a:cs typeface="B Nazanin" panose="00000400000000000000" pitchFamily="2" charset="-78"/>
              </a:rPr>
              <a:t>کیسه </a:t>
            </a:r>
            <a:r>
              <a:rPr lang="fa-IR" b="1" dirty="0">
                <a:cs typeface="B Nazanin" panose="00000400000000000000" pitchFamily="2" charset="-78"/>
              </a:rPr>
              <a:t>ای شدن مخاط وگاها لایه زیر مخاطی از خلال بافت عضلانی ضعیف</a:t>
            </a:r>
          </a:p>
          <a:p>
            <a:pPr marL="0" indent="0">
              <a:buNone/>
            </a:pPr>
            <a:r>
              <a:rPr lang="fa-IR" b="1" dirty="0" smtClean="0">
                <a:cs typeface="B Nazanin" panose="00000400000000000000" pitchFamily="2" charset="-78"/>
              </a:rPr>
              <a:t>شایعترین </a:t>
            </a:r>
            <a:r>
              <a:rPr lang="fa-IR" b="1" dirty="0">
                <a:cs typeface="B Nazanin" panose="00000400000000000000" pitchFamily="2" charset="-78"/>
              </a:rPr>
              <a:t>نوع آن دیورتیکول </a:t>
            </a:r>
            <a:r>
              <a:rPr lang="en-US" b="1" dirty="0" smtClean="0">
                <a:cs typeface="B Nazanin" panose="00000400000000000000" pitchFamily="2" charset="-78"/>
              </a:rPr>
              <a:t> </a:t>
            </a:r>
            <a:r>
              <a:rPr lang="en-US" b="1" dirty="0" err="1" smtClean="0">
                <a:cs typeface="B Nazanin" panose="00000400000000000000" pitchFamily="2" charset="-78"/>
              </a:rPr>
              <a:t>zenker</a:t>
            </a:r>
            <a:r>
              <a:rPr lang="en-US" b="1" dirty="0" smtClean="0">
                <a:cs typeface="B Nazanin" panose="00000400000000000000" pitchFamily="2" charset="-78"/>
              </a:rPr>
              <a:t> </a:t>
            </a:r>
            <a:r>
              <a:rPr lang="fa-IR" b="1" dirty="0">
                <a:cs typeface="B Nazanin" panose="00000400000000000000" pitchFamily="2" charset="-78"/>
              </a:rPr>
              <a:t>است که محل آن قسمت حلقی مری است</a:t>
            </a:r>
          </a:p>
          <a:p>
            <a:pPr marL="0" indent="0">
              <a:buNone/>
            </a:pPr>
            <a:r>
              <a:rPr lang="fa-IR" b="1" dirty="0" smtClean="0">
                <a:cs typeface="B Nazanin" panose="00000400000000000000" pitchFamily="2" charset="-78"/>
              </a:rPr>
              <a:t>در </a:t>
            </a:r>
            <a:r>
              <a:rPr lang="fa-IR" b="1" dirty="0">
                <a:cs typeface="B Nazanin" panose="00000400000000000000" pitchFamily="2" charset="-78"/>
              </a:rPr>
              <a:t>مردان بیشتر از زنان است</a:t>
            </a:r>
          </a:p>
          <a:p>
            <a:pPr marL="0" indent="0">
              <a:buNone/>
            </a:pPr>
            <a:r>
              <a:rPr lang="fa-IR" b="1" dirty="0" smtClean="0">
                <a:cs typeface="B Nazanin" panose="00000400000000000000" pitchFamily="2" charset="-78"/>
              </a:rPr>
              <a:t>دیورتیکول </a:t>
            </a:r>
            <a:r>
              <a:rPr lang="fa-IR" b="1" dirty="0">
                <a:cs typeface="B Nazanin" panose="00000400000000000000" pitchFamily="2" charset="-78"/>
              </a:rPr>
              <a:t>قسمت تحتانی مری بزرگترین نوع است و </a:t>
            </a:r>
            <a:r>
              <a:rPr lang="en-US" b="1" dirty="0" smtClean="0">
                <a:cs typeface="B Nazanin" panose="00000400000000000000" pitchFamily="2" charset="-78"/>
              </a:rPr>
              <a:t>epi </a:t>
            </a:r>
            <a:r>
              <a:rPr lang="en-US" b="1" dirty="0" err="1" smtClean="0">
                <a:cs typeface="B Nazanin" panose="00000400000000000000" pitchFamily="2" charset="-78"/>
              </a:rPr>
              <a:t>pherenic</a:t>
            </a:r>
            <a:r>
              <a:rPr lang="en-US" b="1" dirty="0" smtClean="0">
                <a:cs typeface="B Nazanin" panose="00000400000000000000" pitchFamily="2" charset="-78"/>
              </a:rPr>
              <a:t> </a:t>
            </a:r>
            <a:r>
              <a:rPr lang="fa-IR" b="1" dirty="0" smtClean="0">
                <a:cs typeface="B Nazanin" panose="00000400000000000000" pitchFamily="2" charset="-78"/>
              </a:rPr>
              <a:t> نامیده می </a:t>
            </a:r>
            <a:r>
              <a:rPr lang="fa-IR" b="1" dirty="0">
                <a:cs typeface="B Nazanin" panose="00000400000000000000" pitchFamily="2" charset="-78"/>
              </a:rPr>
              <a:t>شود</a:t>
            </a:r>
          </a:p>
          <a:p>
            <a:pPr marL="0" indent="0">
              <a:buNone/>
            </a:pPr>
            <a:r>
              <a:rPr lang="fa-IR" b="1" dirty="0" smtClean="0">
                <a:cs typeface="B Nazanin" panose="00000400000000000000" pitchFamily="2" charset="-78"/>
              </a:rPr>
              <a:t>علایم:دیس </a:t>
            </a:r>
            <a:r>
              <a:rPr lang="fa-IR" b="1" dirty="0">
                <a:cs typeface="B Nazanin" panose="00000400000000000000" pitchFamily="2" charset="-78"/>
              </a:rPr>
              <a:t>فاژی-احساس پری در گردن-آروغ زدن -رگورژیتاسیون </a:t>
            </a:r>
            <a:r>
              <a:rPr lang="fa-IR" b="1" dirty="0" smtClean="0">
                <a:cs typeface="B Nazanin" panose="00000400000000000000" pitchFamily="2" charset="-78"/>
              </a:rPr>
              <a:t>غذای هضم </a:t>
            </a:r>
            <a:r>
              <a:rPr lang="fa-IR" b="1" dirty="0">
                <a:cs typeface="B Nazanin" panose="00000400000000000000" pitchFamily="2" charset="-78"/>
              </a:rPr>
              <a:t>نشده-صدای قل قل بعد از خوردن غذا</a:t>
            </a:r>
          </a:p>
          <a:p>
            <a:pPr marL="0" indent="0">
              <a:buNone/>
            </a:pPr>
            <a:r>
              <a:rPr lang="fa-IR" b="1" dirty="0" smtClean="0">
                <a:cs typeface="B Nazanin" panose="00000400000000000000" pitchFamily="2" charset="-78"/>
              </a:rPr>
              <a:t>دیوتیکول </a:t>
            </a:r>
            <a:r>
              <a:rPr lang="fa-IR" b="1" dirty="0">
                <a:cs typeface="B Nazanin" panose="00000400000000000000" pitchFamily="2" charset="-78"/>
              </a:rPr>
              <a:t>با غذا پر شده و وقتی فرد می خوابد برگشته و باعث سرفه و </a:t>
            </a:r>
            <a:r>
              <a:rPr lang="fa-IR" b="1" dirty="0" smtClean="0">
                <a:cs typeface="B Nazanin" panose="00000400000000000000" pitchFamily="2" charset="-78"/>
              </a:rPr>
              <a:t>مزه ترش </a:t>
            </a:r>
            <a:r>
              <a:rPr lang="fa-IR" b="1" dirty="0">
                <a:cs typeface="B Nazanin" panose="00000400000000000000" pitchFamily="2" charset="-78"/>
              </a:rPr>
              <a:t>در دهان و </a:t>
            </a:r>
            <a:r>
              <a:rPr lang="en-US" b="1" dirty="0">
                <a:cs typeface="B Nazanin" panose="00000400000000000000" pitchFamily="2" charset="-78"/>
              </a:rPr>
              <a:t>halitosis </a:t>
            </a:r>
            <a:r>
              <a:rPr lang="fa-IR" b="1" dirty="0">
                <a:cs typeface="B Nazanin" panose="00000400000000000000" pitchFamily="2" charset="-78"/>
              </a:rPr>
              <a:t>میشود.</a:t>
            </a:r>
          </a:p>
        </p:txBody>
      </p:sp>
    </p:spTree>
    <p:extLst>
      <p:ext uri="{BB962C8B-B14F-4D97-AF65-F5344CB8AC3E}">
        <p14:creationId xmlns:p14="http://schemas.microsoft.com/office/powerpoint/2010/main" val="1713126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smtClean="0"/>
              <a:t>دیورتیکول</a:t>
            </a:r>
            <a:endParaRPr lang="fa-IR"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334" y="2160588"/>
            <a:ext cx="8596668" cy="4387357"/>
          </a:xfrm>
        </p:spPr>
      </p:pic>
    </p:spTree>
    <p:extLst>
      <p:ext uri="{BB962C8B-B14F-4D97-AF65-F5344CB8AC3E}">
        <p14:creationId xmlns:p14="http://schemas.microsoft.com/office/powerpoint/2010/main" val="4876969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a:t>تشخیص و درمان</a:t>
            </a:r>
            <a:br>
              <a:rPr lang="fa-IR" dirty="0"/>
            </a:br>
            <a:endParaRPr lang="fa-IR" dirty="0"/>
          </a:p>
        </p:txBody>
      </p:sp>
      <p:sp>
        <p:nvSpPr>
          <p:cNvPr id="3" name="Content Placeholder 2"/>
          <p:cNvSpPr>
            <a:spLocks noGrp="1"/>
          </p:cNvSpPr>
          <p:nvPr>
            <p:ph idx="1"/>
          </p:nvPr>
        </p:nvSpPr>
        <p:spPr/>
        <p:txBody>
          <a:bodyPr/>
          <a:lstStyle/>
          <a:p>
            <a:pPr marL="0" indent="0">
              <a:buNone/>
            </a:pPr>
            <a:r>
              <a:rPr lang="fa-IR" b="1" dirty="0" smtClean="0">
                <a:cs typeface="B Nazanin" panose="00000400000000000000" pitchFamily="2" charset="-78"/>
              </a:rPr>
              <a:t>تشخیص</a:t>
            </a:r>
            <a:r>
              <a:rPr lang="fa-IR" b="1" dirty="0">
                <a:cs typeface="B Nazanin" panose="00000400000000000000" pitchFamily="2" charset="-78"/>
              </a:rPr>
              <a:t>: رادیوگرافی بلع </a:t>
            </a:r>
            <a:r>
              <a:rPr lang="fa-IR" b="1" dirty="0" smtClean="0">
                <a:cs typeface="B Nazanin" panose="00000400000000000000" pitchFamily="2" charset="-78"/>
              </a:rPr>
              <a:t>باریوم </a:t>
            </a:r>
          </a:p>
          <a:p>
            <a:pPr marL="0" indent="0">
              <a:buNone/>
            </a:pPr>
            <a:endParaRPr lang="fa-IR" b="1" dirty="0">
              <a:cs typeface="B Nazanin" panose="00000400000000000000" pitchFamily="2" charset="-78"/>
            </a:endParaRPr>
          </a:p>
          <a:p>
            <a:pPr marL="0" indent="0">
              <a:buNone/>
            </a:pPr>
            <a:r>
              <a:rPr lang="fa-IR" b="1" dirty="0" smtClean="0">
                <a:cs typeface="B Nazanin" panose="00000400000000000000" pitchFamily="2" charset="-78"/>
              </a:rPr>
              <a:t>درمان:تنها </a:t>
            </a:r>
            <a:r>
              <a:rPr lang="fa-IR" b="1" dirty="0">
                <a:cs typeface="B Nazanin" panose="00000400000000000000" pitchFamily="2" charset="-78"/>
              </a:rPr>
              <a:t>راه درمان جراحی </a:t>
            </a:r>
            <a:r>
              <a:rPr lang="fa-IR" b="1" dirty="0" smtClean="0">
                <a:cs typeface="B Nazanin" panose="00000400000000000000" pitchFamily="2" charset="-78"/>
              </a:rPr>
              <a:t>است</a:t>
            </a:r>
          </a:p>
          <a:p>
            <a:pPr marL="0" indent="0">
              <a:buNone/>
            </a:pPr>
            <a:endParaRPr lang="fa-IR" b="1" dirty="0">
              <a:cs typeface="B Nazanin" panose="00000400000000000000" pitchFamily="2" charset="-78"/>
            </a:endParaRPr>
          </a:p>
          <a:p>
            <a:pPr marL="0" indent="0">
              <a:buNone/>
            </a:pPr>
            <a:r>
              <a:rPr lang="fa-IR" b="1" dirty="0" smtClean="0">
                <a:cs typeface="B Nazanin" panose="00000400000000000000" pitchFamily="2" charset="-78"/>
              </a:rPr>
              <a:t>از </a:t>
            </a:r>
            <a:r>
              <a:rPr lang="fa-IR" b="1" dirty="0">
                <a:cs typeface="B Nazanin" panose="00000400000000000000" pitchFamily="2" charset="-78"/>
              </a:rPr>
              <a:t>گذاشتن سوند معده بصورت کورکورانه بعلت احتمال وارد شدن </a:t>
            </a:r>
            <a:r>
              <a:rPr lang="fa-IR" b="1" dirty="0" smtClean="0">
                <a:cs typeface="B Nazanin" panose="00000400000000000000" pitchFamily="2" charset="-78"/>
              </a:rPr>
              <a:t>به دیورتیکول </a:t>
            </a:r>
            <a:r>
              <a:rPr lang="fa-IR" b="1" dirty="0">
                <a:cs typeface="B Nazanin" panose="00000400000000000000" pitchFamily="2" charset="-78"/>
              </a:rPr>
              <a:t>و سوراخ کردن آن اجتناب شود</a:t>
            </a:r>
          </a:p>
        </p:txBody>
      </p:sp>
    </p:spTree>
    <p:extLst>
      <p:ext uri="{BB962C8B-B14F-4D97-AF65-F5344CB8AC3E}">
        <p14:creationId xmlns:p14="http://schemas.microsoft.com/office/powerpoint/2010/main" val="18026600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127" y="630621"/>
            <a:ext cx="8596668" cy="1320800"/>
          </a:xfrm>
        </p:spPr>
        <p:txBody>
          <a:bodyPr>
            <a:normAutofit fontScale="90000"/>
          </a:bodyPr>
          <a:lstStyle/>
          <a:p>
            <a:pPr algn="ctr"/>
            <a:r>
              <a:rPr lang="en-US" dirty="0" smtClean="0"/>
              <a:t>perforation</a:t>
            </a:r>
            <a:r>
              <a:rPr lang="fa-IR" dirty="0"/>
              <a:t/>
            </a:r>
            <a:br>
              <a:rPr lang="fa-IR" dirty="0"/>
            </a:br>
            <a:r>
              <a:rPr lang="fa-IR" dirty="0"/>
              <a:t>پرفوراسیون مری</a:t>
            </a:r>
            <a:r>
              <a:rPr lang="fa-IR" b="1" dirty="0"/>
              <a:t/>
            </a:r>
            <a:br>
              <a:rPr lang="fa-IR" b="1" dirty="0"/>
            </a:br>
            <a:endParaRPr lang="fa-IR" dirty="0"/>
          </a:p>
        </p:txBody>
      </p:sp>
      <p:sp>
        <p:nvSpPr>
          <p:cNvPr id="3" name="Content Placeholder 2"/>
          <p:cNvSpPr>
            <a:spLocks noGrp="1"/>
          </p:cNvSpPr>
          <p:nvPr>
            <p:ph idx="1"/>
          </p:nvPr>
        </p:nvSpPr>
        <p:spPr/>
        <p:txBody>
          <a:bodyPr>
            <a:normAutofit/>
          </a:bodyPr>
          <a:lstStyle/>
          <a:p>
            <a:pPr marL="0" indent="0">
              <a:buNone/>
            </a:pPr>
            <a:r>
              <a:rPr lang="fa-IR" b="1" dirty="0" smtClean="0">
                <a:cs typeface="B Nazanin" panose="00000400000000000000" pitchFamily="2" charset="-78"/>
              </a:rPr>
              <a:t>زخم </a:t>
            </a:r>
            <a:r>
              <a:rPr lang="fa-IR" b="1" dirty="0">
                <a:cs typeface="B Nazanin" panose="00000400000000000000" pitchFamily="2" charset="-78"/>
              </a:rPr>
              <a:t>چاقو- گلوله-ابزار جراحی حین کار یا معاینه یا </a:t>
            </a:r>
            <a:r>
              <a:rPr lang="fa-IR" b="1" dirty="0" smtClean="0">
                <a:cs typeface="B Nazanin" panose="00000400000000000000" pitchFamily="2" charset="-78"/>
              </a:rPr>
              <a:t>دیلاتاسیون-سوختگی با مواد شیمیایی</a:t>
            </a:r>
            <a:endParaRPr lang="fa-IR" b="1" dirty="0">
              <a:cs typeface="B Nazanin" panose="00000400000000000000" pitchFamily="2" charset="-78"/>
            </a:endParaRPr>
          </a:p>
          <a:p>
            <a:pPr marL="0" indent="0">
              <a:buNone/>
            </a:pPr>
            <a:r>
              <a:rPr lang="fa-IR" b="1" dirty="0" smtClean="0">
                <a:cs typeface="B Nazanin" panose="00000400000000000000" pitchFamily="2" charset="-78"/>
              </a:rPr>
              <a:t>گاها </a:t>
            </a:r>
            <a:r>
              <a:rPr lang="fa-IR" b="1" dirty="0">
                <a:cs typeface="B Nazanin" panose="00000400000000000000" pitchFamily="2" charset="-78"/>
              </a:rPr>
              <a:t>بصورت خودبخودی در استفراغهای شدید و مکرر رخ می دهد</a:t>
            </a:r>
          </a:p>
          <a:p>
            <a:pPr marL="0" indent="0">
              <a:buNone/>
            </a:pPr>
            <a:r>
              <a:rPr lang="fa-IR" b="1" dirty="0" smtClean="0">
                <a:cs typeface="B Nazanin" panose="00000400000000000000" pitchFamily="2" charset="-78"/>
              </a:rPr>
              <a:t>علایم</a:t>
            </a:r>
            <a:r>
              <a:rPr lang="fa-IR" b="1" dirty="0">
                <a:cs typeface="B Nazanin" panose="00000400000000000000" pitchFamily="2" charset="-78"/>
              </a:rPr>
              <a:t>: درد شدید مداوم-تب – لکوسیتوز- هیپوتانسیون شدید و گاها </a:t>
            </a:r>
            <a:r>
              <a:rPr lang="fa-IR" b="1" dirty="0" smtClean="0">
                <a:cs typeface="B Nazanin" panose="00000400000000000000" pitchFamily="2" charset="-78"/>
              </a:rPr>
              <a:t>علایم پنوموتوراکس</a:t>
            </a:r>
            <a:endParaRPr lang="fa-IR" b="1" dirty="0">
              <a:cs typeface="B Nazanin" panose="00000400000000000000" pitchFamily="2" charset="-78"/>
            </a:endParaRPr>
          </a:p>
          <a:p>
            <a:pPr marL="0" indent="0">
              <a:buNone/>
            </a:pPr>
            <a:r>
              <a:rPr lang="fa-IR" b="1" dirty="0" smtClean="0">
                <a:cs typeface="B Nazanin" panose="00000400000000000000" pitchFamily="2" charset="-78"/>
              </a:rPr>
              <a:t>تشخیص</a:t>
            </a:r>
            <a:r>
              <a:rPr lang="fa-IR" b="1" dirty="0">
                <a:cs typeface="B Nazanin" panose="00000400000000000000" pitchFamily="2" charset="-78"/>
              </a:rPr>
              <a:t>: رادیو گرافی</a:t>
            </a:r>
          </a:p>
          <a:p>
            <a:pPr marL="0" indent="0">
              <a:buNone/>
            </a:pPr>
            <a:r>
              <a:rPr lang="fa-IR" b="1" dirty="0" smtClean="0">
                <a:cs typeface="B Nazanin" panose="00000400000000000000" pitchFamily="2" charset="-78"/>
              </a:rPr>
              <a:t>درمان</a:t>
            </a:r>
            <a:r>
              <a:rPr lang="fa-IR" b="1" dirty="0">
                <a:cs typeface="B Nazanin" panose="00000400000000000000" pitchFamily="2" charset="-78"/>
              </a:rPr>
              <a:t>: </a:t>
            </a:r>
            <a:r>
              <a:rPr lang="en-US" b="1" dirty="0" err="1">
                <a:cs typeface="B Nazanin" panose="00000400000000000000" pitchFamily="2" charset="-78"/>
              </a:rPr>
              <a:t>npo</a:t>
            </a:r>
            <a:r>
              <a:rPr lang="en-US" b="1" dirty="0">
                <a:cs typeface="B Nazanin" panose="00000400000000000000" pitchFamily="2" charset="-78"/>
              </a:rPr>
              <a:t> </a:t>
            </a:r>
            <a:r>
              <a:rPr lang="fa-IR" b="1" dirty="0">
                <a:cs typeface="B Nazanin" panose="00000400000000000000" pitchFamily="2" charset="-78"/>
              </a:rPr>
              <a:t>نمودن-جهت تخلیه ترشحات معده </a:t>
            </a:r>
            <a:r>
              <a:rPr lang="fa-IR" b="1" dirty="0" smtClean="0">
                <a:cs typeface="B Nazanin" panose="00000400000000000000" pitchFamily="2" charset="-78"/>
              </a:rPr>
              <a:t>و جلوگیری </a:t>
            </a:r>
            <a:r>
              <a:rPr lang="fa-IR" b="1" dirty="0">
                <a:cs typeface="B Nazanin" panose="00000400000000000000" pitchFamily="2" charset="-78"/>
              </a:rPr>
              <a:t>از ریفلاکس </a:t>
            </a:r>
            <a:r>
              <a:rPr lang="fa-IR" b="1" dirty="0" smtClean="0">
                <a:cs typeface="B Nazanin" panose="00000400000000000000" pitchFamily="2" charset="-78"/>
              </a:rPr>
              <a:t>تعبیه سوند </a:t>
            </a:r>
            <a:r>
              <a:rPr lang="fa-IR" b="1" dirty="0">
                <a:cs typeface="B Nazanin" panose="00000400000000000000" pitchFamily="2" charset="-78"/>
              </a:rPr>
              <a:t>معده- آنتی </a:t>
            </a:r>
            <a:r>
              <a:rPr lang="fa-IR" b="1" dirty="0" smtClean="0">
                <a:cs typeface="B Nazanin" panose="00000400000000000000" pitchFamily="2" charset="-78"/>
              </a:rPr>
              <a:t>بیوتیک- تغذیه </a:t>
            </a:r>
            <a:r>
              <a:rPr lang="fa-IR" b="1" dirty="0">
                <a:cs typeface="B Nazanin" panose="00000400000000000000" pitchFamily="2" charset="-78"/>
              </a:rPr>
              <a:t>وریدی- مداخله جراحی</a:t>
            </a:r>
          </a:p>
        </p:txBody>
      </p:sp>
    </p:spTree>
    <p:extLst>
      <p:ext uri="{BB962C8B-B14F-4D97-AF65-F5344CB8AC3E}">
        <p14:creationId xmlns:p14="http://schemas.microsoft.com/office/powerpoint/2010/main" val="3440329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Foreign bodies</a:t>
            </a:r>
            <a:br>
              <a:rPr lang="en-US" dirty="0"/>
            </a:br>
            <a:endParaRPr lang="fa-IR" dirty="0"/>
          </a:p>
        </p:txBody>
      </p:sp>
      <p:sp>
        <p:nvSpPr>
          <p:cNvPr id="3" name="Content Placeholder 2"/>
          <p:cNvSpPr>
            <a:spLocks noGrp="1"/>
          </p:cNvSpPr>
          <p:nvPr>
            <p:ph idx="1"/>
          </p:nvPr>
        </p:nvSpPr>
        <p:spPr/>
        <p:txBody>
          <a:bodyPr>
            <a:normAutofit/>
          </a:bodyPr>
          <a:lstStyle/>
          <a:p>
            <a:pPr marL="0" indent="0">
              <a:buNone/>
            </a:pPr>
            <a:r>
              <a:rPr lang="fa-IR" b="1" dirty="0" smtClean="0">
                <a:cs typeface="B Nazanin" panose="00000400000000000000" pitchFamily="2" charset="-78"/>
              </a:rPr>
              <a:t>اکثر </a:t>
            </a:r>
            <a:r>
              <a:rPr lang="fa-IR" b="1" dirty="0">
                <a:cs typeface="B Nazanin" panose="00000400000000000000" pitchFamily="2" charset="-78"/>
              </a:rPr>
              <a:t>اجسام بلعیده شده از مری عبور می کنند ولی گاها گیر میکنند </a:t>
            </a:r>
            <a:r>
              <a:rPr lang="fa-IR" b="1" dirty="0" smtClean="0">
                <a:cs typeface="B Nazanin" panose="00000400000000000000" pitchFamily="2" charset="-78"/>
              </a:rPr>
              <a:t>( </a:t>
            </a:r>
            <a:r>
              <a:rPr lang="fa-IR" b="1" dirty="0">
                <a:cs typeface="B Nazanin" panose="00000400000000000000" pitchFamily="2" charset="-78"/>
              </a:rPr>
              <a:t>استخوان </a:t>
            </a:r>
            <a:r>
              <a:rPr lang="fa-IR" b="1" dirty="0" smtClean="0">
                <a:cs typeface="B Nazanin" panose="00000400000000000000" pitchFamily="2" charset="-78"/>
              </a:rPr>
              <a:t>و باطری </a:t>
            </a:r>
            <a:r>
              <a:rPr lang="fa-IR" b="1" dirty="0">
                <a:cs typeface="B Nazanin" panose="00000400000000000000" pitchFamily="2" charset="-78"/>
              </a:rPr>
              <a:t>و دندان مصنوعی و سنجاق </a:t>
            </a:r>
            <a:r>
              <a:rPr lang="fa-IR" b="1" dirty="0" smtClean="0">
                <a:cs typeface="B Nazanin" panose="00000400000000000000" pitchFamily="2" charset="-78"/>
              </a:rPr>
              <a:t>و غیره)</a:t>
            </a:r>
          </a:p>
          <a:p>
            <a:pPr marL="0" indent="0">
              <a:buNone/>
            </a:pPr>
            <a:endParaRPr lang="fa-IR" b="1" dirty="0">
              <a:cs typeface="B Nazanin" panose="00000400000000000000" pitchFamily="2" charset="-78"/>
            </a:endParaRPr>
          </a:p>
          <a:p>
            <a:pPr marL="0" indent="0">
              <a:buNone/>
            </a:pPr>
            <a:r>
              <a:rPr lang="fa-IR" b="1" dirty="0" smtClean="0">
                <a:cs typeface="B Nazanin" panose="00000400000000000000" pitchFamily="2" charset="-78"/>
              </a:rPr>
              <a:t>معمولا </a:t>
            </a:r>
            <a:r>
              <a:rPr lang="fa-IR" b="1" dirty="0">
                <a:cs typeface="B Nazanin" panose="00000400000000000000" pitchFamily="2" charset="-78"/>
              </a:rPr>
              <a:t>با درد و دیس فاژی همراه است و گاها به نای فشار آورده و </a:t>
            </a:r>
            <a:r>
              <a:rPr lang="fa-IR" b="1" dirty="0" smtClean="0">
                <a:cs typeface="B Nazanin" panose="00000400000000000000" pitchFamily="2" charset="-78"/>
              </a:rPr>
              <a:t>باعث تنگی </a:t>
            </a:r>
            <a:r>
              <a:rPr lang="fa-IR" b="1" dirty="0">
                <a:cs typeface="B Nazanin" panose="00000400000000000000" pitchFamily="2" charset="-78"/>
              </a:rPr>
              <a:t>نفس می </a:t>
            </a:r>
            <a:r>
              <a:rPr lang="fa-IR" b="1" dirty="0" smtClean="0">
                <a:cs typeface="B Nazanin" panose="00000400000000000000" pitchFamily="2" charset="-78"/>
              </a:rPr>
              <a:t>شود</a:t>
            </a:r>
          </a:p>
          <a:p>
            <a:pPr marL="0" indent="0">
              <a:buNone/>
            </a:pPr>
            <a:endParaRPr lang="fa-IR" b="1" dirty="0">
              <a:cs typeface="B Nazanin" panose="00000400000000000000" pitchFamily="2" charset="-78"/>
            </a:endParaRPr>
          </a:p>
          <a:p>
            <a:pPr marL="0" indent="0">
              <a:buNone/>
            </a:pPr>
            <a:r>
              <a:rPr lang="fa-IR" b="1" dirty="0" smtClean="0">
                <a:cs typeface="B Nazanin" panose="00000400000000000000" pitchFamily="2" charset="-78"/>
              </a:rPr>
              <a:t>تشخیص </a:t>
            </a:r>
            <a:r>
              <a:rPr lang="fa-IR" b="1" dirty="0">
                <a:cs typeface="B Nazanin" panose="00000400000000000000" pitchFamily="2" charset="-78"/>
              </a:rPr>
              <a:t>با رادیوگرافی </a:t>
            </a:r>
            <a:r>
              <a:rPr lang="fa-IR" b="1" dirty="0" smtClean="0">
                <a:cs typeface="B Nazanin" panose="00000400000000000000" pitchFamily="2" charset="-78"/>
              </a:rPr>
              <a:t>و آندوسکوپی است</a:t>
            </a:r>
          </a:p>
          <a:p>
            <a:pPr marL="0" indent="0">
              <a:buNone/>
            </a:pPr>
            <a:endParaRPr lang="fa-IR" b="1" dirty="0">
              <a:cs typeface="B Nazanin" panose="00000400000000000000" pitchFamily="2" charset="-78"/>
            </a:endParaRPr>
          </a:p>
          <a:p>
            <a:pPr marL="0" indent="0">
              <a:buNone/>
            </a:pPr>
            <a:r>
              <a:rPr lang="fa-IR" b="1" dirty="0" smtClean="0">
                <a:cs typeface="B Nazanin" panose="00000400000000000000" pitchFamily="2" charset="-78"/>
              </a:rPr>
              <a:t>درمان</a:t>
            </a:r>
            <a:r>
              <a:rPr lang="fa-IR" b="1" dirty="0">
                <a:cs typeface="B Nazanin" panose="00000400000000000000" pitchFamily="2" charset="-78"/>
              </a:rPr>
              <a:t>: در آوردن جسم خارجی از طریق آندوسکوپ</a:t>
            </a:r>
          </a:p>
        </p:txBody>
      </p:sp>
    </p:spTree>
    <p:extLst>
      <p:ext uri="{BB962C8B-B14F-4D97-AF65-F5344CB8AC3E}">
        <p14:creationId xmlns:p14="http://schemas.microsoft.com/office/powerpoint/2010/main" val="3980835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smtClean="0"/>
              <a:t>جسم خارجی</a:t>
            </a:r>
            <a:endParaRPr lang="fa-IR"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24302" y="2091559"/>
            <a:ext cx="7949699" cy="3438497"/>
          </a:xfrm>
        </p:spPr>
      </p:pic>
    </p:spTree>
    <p:extLst>
      <p:ext uri="{BB962C8B-B14F-4D97-AF65-F5344CB8AC3E}">
        <p14:creationId xmlns:p14="http://schemas.microsoft.com/office/powerpoint/2010/main" val="10135240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fa-IR" sz="2700" dirty="0"/>
              <a:t>سوختگی های </a:t>
            </a:r>
            <a:r>
              <a:rPr lang="fa-IR" sz="2700" dirty="0" smtClean="0"/>
              <a:t>شیمیایی </a:t>
            </a:r>
            <a:br>
              <a:rPr lang="fa-IR" sz="2700" dirty="0" smtClean="0"/>
            </a:br>
            <a:r>
              <a:rPr lang="en-US" sz="2700" dirty="0" smtClean="0"/>
              <a:t>burns</a:t>
            </a:r>
            <a:r>
              <a:rPr lang="fa-IR" sz="2700" dirty="0" smtClean="0"/>
              <a:t>  </a:t>
            </a:r>
            <a:r>
              <a:rPr lang="en-US" sz="2700" dirty="0" err="1"/>
              <a:t>chemichal</a:t>
            </a:r>
            <a:r>
              <a:rPr lang="en-US" sz="2700" dirty="0"/>
              <a:t/>
            </a:r>
            <a:br>
              <a:rPr lang="en-US" sz="2700" dirty="0"/>
            </a:br>
            <a:r>
              <a:rPr lang="en-US" dirty="0"/>
              <a:t/>
            </a:r>
            <a:br>
              <a:rPr lang="en-US" dirty="0"/>
            </a:br>
            <a:endParaRPr lang="fa-IR" dirty="0"/>
          </a:p>
        </p:txBody>
      </p:sp>
      <p:sp>
        <p:nvSpPr>
          <p:cNvPr id="3" name="Content Placeholder 2"/>
          <p:cNvSpPr>
            <a:spLocks noGrp="1"/>
          </p:cNvSpPr>
          <p:nvPr>
            <p:ph idx="1"/>
          </p:nvPr>
        </p:nvSpPr>
        <p:spPr/>
        <p:txBody>
          <a:bodyPr>
            <a:normAutofit/>
          </a:bodyPr>
          <a:lstStyle/>
          <a:p>
            <a:pPr marL="0" indent="0">
              <a:buNone/>
            </a:pPr>
            <a:endParaRPr lang="fa-IR" b="1" dirty="0">
              <a:cs typeface="B Nazanin" panose="00000400000000000000" pitchFamily="2" charset="-78"/>
            </a:endParaRPr>
          </a:p>
          <a:p>
            <a:pPr marL="0" indent="0">
              <a:buNone/>
            </a:pPr>
            <a:r>
              <a:rPr lang="fa-IR" b="1" dirty="0" smtClean="0">
                <a:cs typeface="B Nazanin" panose="00000400000000000000" pitchFamily="2" charset="-78"/>
              </a:rPr>
              <a:t>بلعیدن </a:t>
            </a:r>
            <a:r>
              <a:rPr lang="fa-IR" b="1" dirty="0">
                <a:cs typeface="B Nazanin" panose="00000400000000000000" pitchFamily="2" charset="-78"/>
              </a:rPr>
              <a:t>اتفاقی یا عمدی اسید یا </a:t>
            </a:r>
            <a:r>
              <a:rPr lang="fa-IR" b="1" dirty="0" smtClean="0">
                <a:cs typeface="B Nazanin" panose="00000400000000000000" pitchFamily="2" charset="-78"/>
              </a:rPr>
              <a:t>باز</a:t>
            </a:r>
          </a:p>
          <a:p>
            <a:pPr marL="0" indent="0">
              <a:buNone/>
            </a:pPr>
            <a:endParaRPr lang="fa-IR" b="1" dirty="0">
              <a:cs typeface="B Nazanin" panose="00000400000000000000" pitchFamily="2" charset="-78"/>
            </a:endParaRPr>
          </a:p>
          <a:p>
            <a:pPr marL="0" indent="0">
              <a:buNone/>
            </a:pPr>
            <a:r>
              <a:rPr lang="fa-IR" b="1" dirty="0" smtClean="0">
                <a:cs typeface="B Nazanin" panose="00000400000000000000" pitchFamily="2" charset="-78"/>
              </a:rPr>
              <a:t>سوختگی </a:t>
            </a:r>
            <a:r>
              <a:rPr lang="fa-IR" b="1" dirty="0">
                <a:cs typeface="B Nazanin" panose="00000400000000000000" pitchFamily="2" charset="-78"/>
              </a:rPr>
              <a:t>شدید لب ودهان حلق و مری وجود </a:t>
            </a:r>
            <a:r>
              <a:rPr lang="fa-IR" b="1" dirty="0" smtClean="0">
                <a:cs typeface="B Nazanin" panose="00000400000000000000" pitchFamily="2" charset="-78"/>
              </a:rPr>
              <a:t>دارد</a:t>
            </a:r>
          </a:p>
          <a:p>
            <a:pPr marL="0" indent="0">
              <a:buNone/>
            </a:pPr>
            <a:endParaRPr lang="fa-IR" b="1" dirty="0">
              <a:cs typeface="B Nazanin" panose="00000400000000000000" pitchFamily="2" charset="-78"/>
            </a:endParaRPr>
          </a:p>
          <a:p>
            <a:pPr marL="0" indent="0">
              <a:buNone/>
            </a:pPr>
            <a:r>
              <a:rPr lang="fa-IR" b="1" dirty="0" smtClean="0">
                <a:cs typeface="B Nazanin" panose="00000400000000000000" pitchFamily="2" charset="-78"/>
              </a:rPr>
              <a:t>بلع </a:t>
            </a:r>
            <a:r>
              <a:rPr lang="fa-IR" b="1" dirty="0">
                <a:cs typeface="B Nazanin" panose="00000400000000000000" pitchFamily="2" charset="-78"/>
              </a:rPr>
              <a:t>درد ناک </a:t>
            </a:r>
            <a:r>
              <a:rPr lang="fa-IR" b="1" dirty="0" smtClean="0">
                <a:cs typeface="B Nazanin" panose="00000400000000000000" pitchFamily="2" charset="-78"/>
              </a:rPr>
              <a:t>است</a:t>
            </a:r>
          </a:p>
          <a:p>
            <a:pPr marL="0" indent="0">
              <a:buNone/>
            </a:pPr>
            <a:endParaRPr lang="fa-IR" b="1" dirty="0">
              <a:cs typeface="B Nazanin" panose="00000400000000000000" pitchFamily="2" charset="-78"/>
            </a:endParaRPr>
          </a:p>
          <a:p>
            <a:pPr marL="0" indent="0">
              <a:buNone/>
            </a:pPr>
            <a:r>
              <a:rPr lang="fa-IR" b="1" dirty="0" smtClean="0">
                <a:cs typeface="B Nazanin" panose="00000400000000000000" pitchFamily="2" charset="-78"/>
              </a:rPr>
              <a:t>اشکال </a:t>
            </a:r>
            <a:r>
              <a:rPr lang="fa-IR" b="1" dirty="0">
                <a:cs typeface="B Nazanin" panose="00000400000000000000" pitchFamily="2" charset="-78"/>
              </a:rPr>
              <a:t>در نفس کشیدن بعلت ادم حلق و تجمع موکوس وجود دارد</a:t>
            </a:r>
          </a:p>
        </p:txBody>
      </p:sp>
    </p:spTree>
    <p:extLst>
      <p:ext uri="{BB962C8B-B14F-4D97-AF65-F5344CB8AC3E}">
        <p14:creationId xmlns:p14="http://schemas.microsoft.com/office/powerpoint/2010/main" val="16299409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smtClean="0"/>
              <a:t>التهاب سوختگی</a:t>
            </a:r>
            <a:endParaRPr lang="fa-IR"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34510" y="1930400"/>
            <a:ext cx="7739491" cy="4712138"/>
          </a:xfrm>
        </p:spPr>
      </p:pic>
    </p:spTree>
    <p:extLst>
      <p:ext uri="{BB962C8B-B14F-4D97-AF65-F5344CB8AC3E}">
        <p14:creationId xmlns:p14="http://schemas.microsoft.com/office/powerpoint/2010/main" val="31316923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a:t>درمان</a:t>
            </a:r>
            <a:br>
              <a:rPr lang="fa-IR" dirty="0"/>
            </a:br>
            <a:endParaRPr lang="fa-IR" dirty="0"/>
          </a:p>
        </p:txBody>
      </p:sp>
      <p:sp>
        <p:nvSpPr>
          <p:cNvPr id="3" name="Content Placeholder 2"/>
          <p:cNvSpPr>
            <a:spLocks noGrp="1"/>
          </p:cNvSpPr>
          <p:nvPr>
            <p:ph idx="1"/>
          </p:nvPr>
        </p:nvSpPr>
        <p:spPr/>
        <p:txBody>
          <a:bodyPr/>
          <a:lstStyle/>
          <a:p>
            <a:pPr marL="0" indent="0">
              <a:buNone/>
            </a:pPr>
            <a:r>
              <a:rPr lang="fa-IR" b="1" dirty="0" smtClean="0">
                <a:cs typeface="B Nazanin" panose="00000400000000000000" pitchFamily="2" charset="-78"/>
              </a:rPr>
              <a:t>1-         </a:t>
            </a:r>
            <a:r>
              <a:rPr lang="en-US" b="1" dirty="0" err="1" smtClean="0">
                <a:cs typeface="B Nazanin" panose="00000400000000000000" pitchFamily="2" charset="-78"/>
              </a:rPr>
              <a:t>npo</a:t>
            </a:r>
            <a:r>
              <a:rPr lang="fa-IR" b="1" dirty="0" smtClean="0">
                <a:cs typeface="B Nazanin" panose="00000400000000000000" pitchFamily="2" charset="-78"/>
              </a:rPr>
              <a:t>   نمودن </a:t>
            </a:r>
            <a:r>
              <a:rPr lang="fa-IR" b="1" dirty="0">
                <a:cs typeface="B Nazanin" panose="00000400000000000000" pitchFamily="2" charset="-78"/>
              </a:rPr>
              <a:t>بیمار</a:t>
            </a:r>
          </a:p>
          <a:p>
            <a:pPr marL="0" indent="0">
              <a:buNone/>
            </a:pPr>
            <a:r>
              <a:rPr lang="fa-IR" b="1" dirty="0">
                <a:cs typeface="B Nazanin" panose="00000400000000000000" pitchFamily="2" charset="-78"/>
              </a:rPr>
              <a:t>2 -اجتناب از گذاشتن سوند معده –خطر پرفوراسیون</a:t>
            </a:r>
          </a:p>
          <a:p>
            <a:pPr marL="0" indent="0">
              <a:buNone/>
            </a:pPr>
            <a:r>
              <a:rPr lang="fa-IR" b="1" dirty="0">
                <a:cs typeface="B Nazanin" panose="00000400000000000000" pitchFamily="2" charset="-78"/>
              </a:rPr>
              <a:t>3 -تزریق ضد استفراغ--پیشگیری از ریفلاکس ترشحات بدنبال استفراغ</a:t>
            </a:r>
          </a:p>
          <a:p>
            <a:pPr marL="0" indent="0">
              <a:buNone/>
            </a:pPr>
            <a:r>
              <a:rPr lang="fa-IR" b="1" dirty="0">
                <a:cs typeface="B Nazanin" panose="00000400000000000000" pitchFamily="2" charset="-78"/>
              </a:rPr>
              <a:t>4 - عدم شستشوی معده بعلت احتمال برگشت محتویات وآسپیراسیون</a:t>
            </a:r>
          </a:p>
          <a:p>
            <a:pPr marL="0" indent="0">
              <a:buNone/>
            </a:pPr>
            <a:r>
              <a:rPr lang="fa-IR" b="1" dirty="0">
                <a:cs typeface="B Nazanin" panose="00000400000000000000" pitchFamily="2" charset="-78"/>
              </a:rPr>
              <a:t>5 -در صورت تب دار شدن شروع آنتی بیوتیک –آسپیره کرده است</a:t>
            </a:r>
          </a:p>
          <a:p>
            <a:pPr marL="0" indent="0">
              <a:buNone/>
            </a:pPr>
            <a:r>
              <a:rPr lang="fa-IR" b="1" dirty="0">
                <a:cs typeface="B Nazanin" panose="00000400000000000000" pitchFamily="2" charset="-78"/>
              </a:rPr>
              <a:t>6 -شروع </a:t>
            </a:r>
            <a:r>
              <a:rPr lang="fa-IR" b="1" dirty="0" smtClean="0">
                <a:cs typeface="B Nazanin" panose="00000400000000000000" pitchFamily="2" charset="-78"/>
              </a:rPr>
              <a:t>تغذیه </a:t>
            </a:r>
            <a:r>
              <a:rPr lang="fa-IR" b="1" dirty="0">
                <a:cs typeface="B Nazanin" panose="00000400000000000000" pitchFamily="2" charset="-78"/>
              </a:rPr>
              <a:t>وریدی</a:t>
            </a:r>
          </a:p>
          <a:p>
            <a:pPr marL="0" indent="0">
              <a:buNone/>
            </a:pPr>
            <a:r>
              <a:rPr lang="fa-IR" b="1" dirty="0">
                <a:cs typeface="B Nazanin" panose="00000400000000000000" pitchFamily="2" charset="-78"/>
              </a:rPr>
              <a:t>7 -بعد از بهبودی در صورت وجود </a:t>
            </a:r>
            <a:r>
              <a:rPr lang="fa-IR" b="1" dirty="0" smtClean="0">
                <a:cs typeface="B Nazanin" panose="00000400000000000000" pitchFamily="2" charset="-78"/>
              </a:rPr>
              <a:t>استریکچر </a:t>
            </a:r>
            <a:r>
              <a:rPr lang="fa-IR" b="1" dirty="0">
                <a:cs typeface="B Nazanin" panose="00000400000000000000" pitchFamily="2" charset="-78"/>
              </a:rPr>
              <a:t>یا تنگی بالون زنی میشود و </a:t>
            </a:r>
            <a:r>
              <a:rPr lang="fa-IR" b="1" dirty="0" smtClean="0">
                <a:cs typeface="B Nazanin" panose="00000400000000000000" pitchFamily="2" charset="-78"/>
              </a:rPr>
              <a:t>در صورت </a:t>
            </a:r>
            <a:r>
              <a:rPr lang="fa-IR" b="1" dirty="0">
                <a:cs typeface="B Nazanin" panose="00000400000000000000" pitchFamily="2" charset="-78"/>
              </a:rPr>
              <a:t>اصلاح نشدن مداخله جراحی برای دیلاتاسیون انجام می شود</a:t>
            </a:r>
          </a:p>
        </p:txBody>
      </p:sp>
    </p:spTree>
    <p:extLst>
      <p:ext uri="{BB962C8B-B14F-4D97-AF65-F5344CB8AC3E}">
        <p14:creationId xmlns:p14="http://schemas.microsoft.com/office/powerpoint/2010/main" val="39512419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b="1" dirty="0"/>
              <a:t>سندروم مالوری ویس</a:t>
            </a:r>
            <a:br>
              <a:rPr lang="fa-IR" b="1" dirty="0"/>
            </a:br>
            <a:endParaRPr lang="fa-IR" dirty="0"/>
          </a:p>
        </p:txBody>
      </p:sp>
      <p:sp>
        <p:nvSpPr>
          <p:cNvPr id="3" name="Content Placeholder 2"/>
          <p:cNvSpPr>
            <a:spLocks noGrp="1"/>
          </p:cNvSpPr>
          <p:nvPr>
            <p:ph idx="1"/>
          </p:nvPr>
        </p:nvSpPr>
        <p:spPr/>
        <p:txBody>
          <a:bodyPr>
            <a:normAutofit/>
          </a:bodyPr>
          <a:lstStyle/>
          <a:p>
            <a:r>
              <a:rPr lang="fa-IR" sz="2400" dirty="0" smtClean="0">
                <a:cs typeface="B Nazanin" panose="00000400000000000000" pitchFamily="2" charset="-78"/>
              </a:rPr>
              <a:t>سندرم </a:t>
            </a:r>
            <a:r>
              <a:rPr lang="fa-IR" sz="2400" dirty="0">
                <a:cs typeface="B Nazanin" panose="00000400000000000000" pitchFamily="2" charset="-78"/>
              </a:rPr>
              <a:t>مالوری ویس در غشای مخاطی جایی که مری و معده با هم ارتباط برقرار کنند رخ می دهد. </a:t>
            </a:r>
            <a:r>
              <a:rPr lang="fa-IR" sz="2400" dirty="0">
                <a:solidFill>
                  <a:srgbClr val="FF0000"/>
                </a:solidFill>
                <a:cs typeface="B Nazanin" panose="00000400000000000000" pitchFamily="2" charset="-78"/>
              </a:rPr>
              <a:t>استفراغ یا سرفه </a:t>
            </a:r>
            <a:r>
              <a:rPr lang="fa-IR" sz="2400" dirty="0" smtClean="0">
                <a:solidFill>
                  <a:srgbClr val="FF0000"/>
                </a:solidFill>
                <a:cs typeface="B Nazanin" panose="00000400000000000000" pitchFamily="2" charset="-78"/>
              </a:rPr>
              <a:t>شدید </a:t>
            </a:r>
            <a:r>
              <a:rPr lang="fa-IR" sz="2400" dirty="0">
                <a:solidFill>
                  <a:srgbClr val="FF0000"/>
                </a:solidFill>
                <a:cs typeface="B Nazanin" panose="00000400000000000000" pitchFamily="2" charset="-78"/>
              </a:rPr>
              <a:t>برای یک دوره زمانی طولانی </a:t>
            </a:r>
            <a:r>
              <a:rPr lang="fa-IR" sz="2400" dirty="0">
                <a:cs typeface="B Nazanin" panose="00000400000000000000" pitchFamily="2" charset="-78"/>
              </a:rPr>
              <a:t>می تواند غشاء را پاره و احتمالا باعث خونریزی شود. </a:t>
            </a:r>
            <a:r>
              <a:rPr lang="fa-IR" sz="2400" dirty="0" smtClean="0">
                <a:cs typeface="B Nazanin" panose="00000400000000000000" pitchFamily="2" charset="-78"/>
              </a:rPr>
              <a:t>افراد </a:t>
            </a:r>
            <a:r>
              <a:rPr lang="fa-IR" sz="2400" dirty="0">
                <a:cs typeface="B Nazanin" panose="00000400000000000000" pitchFamily="2" charset="-78"/>
              </a:rPr>
              <a:t>در 40 تا 50 سالگی بیشترین احتمال ابتلا به سندرم مالوری ویس را دارند. البته شانس ابتلا در کودکان نیز زیاد است. زنان باردار نیز به دلیل استفراغ در سه ماهه اول در معرض خطر می باشند. مالوری ویس اغلب خود به خود در عرض چند روز زخم التیام می یابد</a:t>
            </a:r>
            <a:r>
              <a:rPr lang="fa-IR" sz="2400" dirty="0" smtClean="0">
                <a:cs typeface="B Nazanin" panose="00000400000000000000" pitchFamily="2" charset="-78"/>
              </a:rPr>
              <a:t>.</a:t>
            </a:r>
            <a:endParaRPr lang="fa-IR" sz="2400" dirty="0">
              <a:cs typeface="B Nazanin" panose="00000400000000000000" pitchFamily="2" charset="-78"/>
            </a:endParaRPr>
          </a:p>
        </p:txBody>
      </p:sp>
    </p:spTree>
    <p:extLst>
      <p:ext uri="{BB962C8B-B14F-4D97-AF65-F5344CB8AC3E}">
        <p14:creationId xmlns:p14="http://schemas.microsoft.com/office/powerpoint/2010/main" val="14231255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a:t>کانسر مری</a:t>
            </a:r>
            <a:br>
              <a:rPr lang="fa-IR" dirty="0"/>
            </a:br>
            <a:endParaRPr lang="fa-IR" dirty="0"/>
          </a:p>
        </p:txBody>
      </p:sp>
      <p:sp>
        <p:nvSpPr>
          <p:cNvPr id="3" name="Content Placeholder 2"/>
          <p:cNvSpPr>
            <a:spLocks noGrp="1"/>
          </p:cNvSpPr>
          <p:nvPr>
            <p:ph idx="1"/>
          </p:nvPr>
        </p:nvSpPr>
        <p:spPr/>
        <p:txBody>
          <a:bodyPr>
            <a:normAutofit/>
          </a:bodyPr>
          <a:lstStyle/>
          <a:p>
            <a:pPr marL="0" indent="0">
              <a:buNone/>
            </a:pPr>
            <a:r>
              <a:rPr lang="fa-IR" b="1" dirty="0" smtClean="0">
                <a:cs typeface="B Nazanin" panose="00000400000000000000" pitchFamily="2" charset="-78"/>
              </a:rPr>
              <a:t>1 </a:t>
            </a:r>
            <a:r>
              <a:rPr lang="fa-IR" b="1" dirty="0">
                <a:cs typeface="B Nazanin" panose="00000400000000000000" pitchFamily="2" charset="-78"/>
              </a:rPr>
              <a:t>-آدنوکارسینوم مری:در قسمت دیستال مری </a:t>
            </a:r>
            <a:r>
              <a:rPr lang="fa-IR" b="1" dirty="0" smtClean="0">
                <a:cs typeface="B Nazanin" panose="00000400000000000000" pitchFamily="2" charset="-78"/>
              </a:rPr>
              <a:t>و محل </a:t>
            </a:r>
            <a:r>
              <a:rPr lang="fa-IR" b="1" dirty="0">
                <a:cs typeface="B Nazanin" panose="00000400000000000000" pitchFamily="2" charset="-78"/>
              </a:rPr>
              <a:t>اتصال مری به معده</a:t>
            </a:r>
          </a:p>
          <a:p>
            <a:pPr marL="0" indent="0">
              <a:buNone/>
            </a:pPr>
            <a:r>
              <a:rPr lang="fa-IR" b="1" dirty="0">
                <a:cs typeface="B Nazanin" panose="00000400000000000000" pitchFamily="2" charset="-78"/>
              </a:rPr>
              <a:t>شایعترین علت آن تحریک مداوم مری با اسید در بیمار ریفلاکسی است</a:t>
            </a:r>
          </a:p>
          <a:p>
            <a:pPr marL="0" indent="0">
              <a:buNone/>
            </a:pPr>
            <a:r>
              <a:rPr lang="fa-IR" b="1" dirty="0">
                <a:cs typeface="B Nazanin" panose="00000400000000000000" pitchFamily="2" charset="-78"/>
              </a:rPr>
              <a:t>مصرف الکل و تنباکو در علتهای بعدی هستند</a:t>
            </a:r>
          </a:p>
          <a:p>
            <a:pPr marL="0" indent="0">
              <a:buNone/>
            </a:pPr>
            <a:r>
              <a:rPr lang="fa-IR" b="1" dirty="0">
                <a:cs typeface="B Nazanin" panose="00000400000000000000" pitchFamily="2" charset="-78"/>
              </a:rPr>
              <a:t>2 -اسکواموس سل کارسینوما:</a:t>
            </a:r>
          </a:p>
          <a:p>
            <a:pPr marL="0" indent="0">
              <a:buNone/>
            </a:pPr>
            <a:r>
              <a:rPr lang="fa-IR" b="1" dirty="0">
                <a:cs typeface="B Nazanin" panose="00000400000000000000" pitchFamily="2" charset="-78"/>
              </a:rPr>
              <a:t>ریسک فاکتور آن:مصرف مزمن مایعات داغ-کمبود های غذایی-بهداشت </a:t>
            </a:r>
            <a:r>
              <a:rPr lang="fa-IR" b="1" dirty="0" smtClean="0">
                <a:cs typeface="B Nazanin" panose="00000400000000000000" pitchFamily="2" charset="-78"/>
              </a:rPr>
              <a:t>ضعیف دهان-مواجهه </a:t>
            </a:r>
            <a:r>
              <a:rPr lang="fa-IR" b="1" dirty="0">
                <a:cs typeface="B Nazanin" panose="00000400000000000000" pitchFamily="2" charset="-78"/>
              </a:rPr>
              <a:t>با نیتروزامین ها وسیگارت </a:t>
            </a:r>
            <a:r>
              <a:rPr lang="fa-IR" b="1" dirty="0" smtClean="0">
                <a:cs typeface="B Nazanin" panose="00000400000000000000" pitchFamily="2" charset="-78"/>
              </a:rPr>
              <a:t>و الکل </a:t>
            </a:r>
            <a:r>
              <a:rPr lang="fa-IR" b="1" dirty="0">
                <a:cs typeface="B Nazanin" panose="00000400000000000000" pitchFamily="2" charset="-78"/>
              </a:rPr>
              <a:t>است</a:t>
            </a:r>
          </a:p>
          <a:p>
            <a:pPr marL="0" indent="0">
              <a:buNone/>
            </a:pPr>
            <a:r>
              <a:rPr lang="fa-IR" b="1" dirty="0">
                <a:cs typeface="B Nazanin" panose="00000400000000000000" pitchFamily="2" charset="-78"/>
              </a:rPr>
              <a:t>علایم:دیسفاژی در ابتدا </a:t>
            </a:r>
            <a:r>
              <a:rPr lang="fa-IR" b="1" dirty="0" smtClean="0">
                <a:cs typeface="B Nazanin" panose="00000400000000000000" pitchFamily="2" charset="-78"/>
              </a:rPr>
              <a:t>به مواد </a:t>
            </a:r>
            <a:r>
              <a:rPr lang="fa-IR" b="1" dirty="0">
                <a:cs typeface="B Nazanin" panose="00000400000000000000" pitchFamily="2" charset="-78"/>
              </a:rPr>
              <a:t>جامد </a:t>
            </a:r>
            <a:r>
              <a:rPr lang="fa-IR" b="1" dirty="0" smtClean="0">
                <a:cs typeface="B Nazanin" panose="00000400000000000000" pitchFamily="2" charset="-78"/>
              </a:rPr>
              <a:t>و سپس </a:t>
            </a:r>
            <a:r>
              <a:rPr lang="fa-IR" b="1" dirty="0">
                <a:cs typeface="B Nazanin" panose="00000400000000000000" pitchFamily="2" charset="-78"/>
              </a:rPr>
              <a:t>به </a:t>
            </a:r>
            <a:r>
              <a:rPr lang="fa-IR" b="1" dirty="0" smtClean="0">
                <a:cs typeface="B Nazanin" panose="00000400000000000000" pitchFamily="2" charset="-78"/>
              </a:rPr>
              <a:t>مایعات-احساس </a:t>
            </a:r>
            <a:r>
              <a:rPr lang="fa-IR" b="1" dirty="0">
                <a:cs typeface="B Nazanin" panose="00000400000000000000" pitchFamily="2" charset="-78"/>
              </a:rPr>
              <a:t>توده در گلو-بلع </a:t>
            </a:r>
            <a:r>
              <a:rPr lang="fa-IR" b="1" dirty="0" smtClean="0">
                <a:cs typeface="B Nazanin" panose="00000400000000000000" pitchFamily="2" charset="-78"/>
              </a:rPr>
              <a:t>دردناک-درد زیر </a:t>
            </a:r>
            <a:r>
              <a:rPr lang="fa-IR" b="1" dirty="0">
                <a:cs typeface="B Nazanin" panose="00000400000000000000" pitchFamily="2" charset="-78"/>
              </a:rPr>
              <a:t>جناغ-احساس پری و برگشت غذای مانده همراه با تنفس بدبو وسکسکه</a:t>
            </a:r>
          </a:p>
          <a:p>
            <a:pPr marL="0" indent="0">
              <a:buNone/>
            </a:pPr>
            <a:r>
              <a:rPr lang="fa-IR" b="1" dirty="0">
                <a:solidFill>
                  <a:srgbClr val="FF0000"/>
                </a:solidFill>
                <a:cs typeface="B Nazanin" panose="00000400000000000000" pitchFamily="2" charset="-78"/>
              </a:rPr>
              <a:t>کاهش وزن سریع معمولا نشان از کانسر </a:t>
            </a:r>
            <a:r>
              <a:rPr lang="fa-IR" b="1" dirty="0" smtClean="0">
                <a:solidFill>
                  <a:srgbClr val="FF0000"/>
                </a:solidFill>
                <a:cs typeface="B Nazanin" panose="00000400000000000000" pitchFamily="2" charset="-78"/>
              </a:rPr>
              <a:t>است</a:t>
            </a:r>
            <a:endParaRPr lang="fa-IR" b="1" dirty="0">
              <a:solidFill>
                <a:srgbClr val="FF0000"/>
              </a:solidFill>
              <a:cs typeface="B Nazanin" panose="00000400000000000000" pitchFamily="2" charset="-78"/>
            </a:endParaRPr>
          </a:p>
        </p:txBody>
      </p:sp>
    </p:spTree>
    <p:extLst>
      <p:ext uri="{BB962C8B-B14F-4D97-AF65-F5344CB8AC3E}">
        <p14:creationId xmlns:p14="http://schemas.microsoft.com/office/powerpoint/2010/main" val="25610435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smtClean="0"/>
              <a:t>کانسر مری</a:t>
            </a:r>
            <a:endParaRPr lang="fa-IR"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8428" y="2137021"/>
            <a:ext cx="4444508" cy="3881437"/>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5668" y="2087015"/>
            <a:ext cx="4552950" cy="3981450"/>
          </a:xfrm>
          <a:prstGeom prst="rect">
            <a:avLst/>
          </a:prstGeom>
        </p:spPr>
      </p:pic>
    </p:spTree>
    <p:extLst>
      <p:ext uri="{BB962C8B-B14F-4D97-AF65-F5344CB8AC3E}">
        <p14:creationId xmlns:p14="http://schemas.microsoft.com/office/powerpoint/2010/main" val="4020835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a:t>تشخیص و درمان</a:t>
            </a:r>
            <a:br>
              <a:rPr lang="fa-IR" dirty="0"/>
            </a:br>
            <a:endParaRPr lang="fa-IR" dirty="0"/>
          </a:p>
        </p:txBody>
      </p:sp>
      <p:sp>
        <p:nvSpPr>
          <p:cNvPr id="3" name="Content Placeholder 2"/>
          <p:cNvSpPr>
            <a:spLocks noGrp="1"/>
          </p:cNvSpPr>
          <p:nvPr>
            <p:ph idx="1"/>
          </p:nvPr>
        </p:nvSpPr>
        <p:spPr/>
        <p:txBody>
          <a:bodyPr>
            <a:normAutofit/>
          </a:bodyPr>
          <a:lstStyle/>
          <a:p>
            <a:pPr marL="0" indent="0">
              <a:buNone/>
            </a:pPr>
            <a:endParaRPr lang="fa-IR" b="1" dirty="0">
              <a:cs typeface="B Nazanin" panose="00000400000000000000" pitchFamily="2" charset="-78"/>
            </a:endParaRPr>
          </a:p>
          <a:p>
            <a:pPr marL="0" indent="0">
              <a:buNone/>
            </a:pPr>
            <a:r>
              <a:rPr lang="fa-IR" b="1" dirty="0">
                <a:cs typeface="B Nazanin" panose="00000400000000000000" pitchFamily="2" charset="-78"/>
              </a:rPr>
              <a:t>تشخیص:آندوسکوپی و برداشتن بیوپسی و اسکن جهت تعیین متاستاز</a:t>
            </a:r>
          </a:p>
          <a:p>
            <a:pPr marL="0" indent="0">
              <a:buNone/>
            </a:pPr>
            <a:endParaRPr lang="fa-IR" b="1" dirty="0">
              <a:cs typeface="B Nazanin" panose="00000400000000000000" pitchFamily="2" charset="-78"/>
            </a:endParaRPr>
          </a:p>
          <a:p>
            <a:pPr marL="0" indent="0">
              <a:buNone/>
            </a:pPr>
            <a:r>
              <a:rPr lang="fa-IR" b="1" dirty="0" smtClean="0">
                <a:cs typeface="B Nazanin" panose="00000400000000000000" pitchFamily="2" charset="-78"/>
              </a:rPr>
              <a:t>درمان:  اگر </a:t>
            </a:r>
            <a:r>
              <a:rPr lang="fa-IR" b="1" dirty="0">
                <a:cs typeface="B Nazanin" panose="00000400000000000000" pitchFamily="2" charset="-78"/>
              </a:rPr>
              <a:t>در مراحل اولیه تشخیص داده شود جراحی می شود </a:t>
            </a:r>
            <a:r>
              <a:rPr lang="fa-IR" b="1" dirty="0" smtClean="0">
                <a:cs typeface="B Nazanin" panose="00000400000000000000" pitchFamily="2" charset="-78"/>
              </a:rPr>
              <a:t>و میزان </a:t>
            </a:r>
            <a:r>
              <a:rPr lang="fa-IR" b="1" dirty="0">
                <a:cs typeface="B Nazanin" panose="00000400000000000000" pitchFamily="2" charset="-78"/>
              </a:rPr>
              <a:t>بقای 5 ساله </a:t>
            </a:r>
            <a:r>
              <a:rPr lang="fa-IR" b="1" dirty="0" smtClean="0">
                <a:cs typeface="B Nazanin" panose="00000400000000000000" pitchFamily="2" charset="-78"/>
              </a:rPr>
              <a:t>تا 90 </a:t>
            </a:r>
            <a:r>
              <a:rPr lang="fa-IR" b="1" dirty="0">
                <a:cs typeface="B Nazanin" panose="00000400000000000000" pitchFamily="2" charset="-78"/>
              </a:rPr>
              <a:t>درصد است</a:t>
            </a:r>
          </a:p>
          <a:p>
            <a:pPr marL="0" indent="0">
              <a:buNone/>
            </a:pPr>
            <a:r>
              <a:rPr lang="fa-IR" b="1" dirty="0" smtClean="0">
                <a:cs typeface="B Nazanin" panose="00000400000000000000" pitchFamily="2" charset="-78"/>
              </a:rPr>
              <a:t>قسمت </a:t>
            </a:r>
            <a:r>
              <a:rPr lang="fa-IR" b="1" dirty="0">
                <a:cs typeface="B Nazanin" panose="00000400000000000000" pitchFamily="2" charset="-78"/>
              </a:rPr>
              <a:t>درگیر و بخشی از مری را بر می دارند و به جایش بخشی از ژژنوم </a:t>
            </a:r>
            <a:r>
              <a:rPr lang="fa-IR" b="1" dirty="0" smtClean="0">
                <a:cs typeface="B Nazanin" panose="00000400000000000000" pitchFamily="2" charset="-78"/>
              </a:rPr>
              <a:t>را بریده </a:t>
            </a:r>
            <a:r>
              <a:rPr lang="fa-IR" b="1" dirty="0">
                <a:cs typeface="B Nazanin" panose="00000400000000000000" pitchFamily="2" charset="-78"/>
              </a:rPr>
              <a:t>و آناستوموز می کنند</a:t>
            </a:r>
          </a:p>
          <a:p>
            <a:pPr marL="0" indent="0">
              <a:buNone/>
            </a:pPr>
            <a:endParaRPr lang="fa-IR" b="1" dirty="0">
              <a:cs typeface="B Nazanin" panose="00000400000000000000" pitchFamily="2" charset="-78"/>
            </a:endParaRPr>
          </a:p>
          <a:p>
            <a:pPr marL="0" indent="0">
              <a:buNone/>
            </a:pPr>
            <a:r>
              <a:rPr lang="fa-IR" b="1" dirty="0">
                <a:cs typeface="B Nazanin" panose="00000400000000000000" pitchFamily="2" charset="-78"/>
              </a:rPr>
              <a:t>گاها در بیمارانیکه امکان جراحی وجود ندارد از استنت مری برای باز </a:t>
            </a:r>
            <a:r>
              <a:rPr lang="fa-IR" b="1" dirty="0" smtClean="0">
                <a:cs typeface="B Nazanin" panose="00000400000000000000" pitchFamily="2" charset="-78"/>
              </a:rPr>
              <a:t>کردن مسیر </a:t>
            </a:r>
            <a:r>
              <a:rPr lang="fa-IR" b="1" dirty="0">
                <a:cs typeface="B Nazanin" panose="00000400000000000000" pitchFamily="2" charset="-78"/>
              </a:rPr>
              <a:t>استفاده می کنند</a:t>
            </a:r>
          </a:p>
          <a:p>
            <a:pPr marL="0" indent="0">
              <a:buNone/>
            </a:pPr>
            <a:endParaRPr lang="fa-IR" b="1" dirty="0">
              <a:cs typeface="B Nazanin" panose="00000400000000000000" pitchFamily="2" charset="-78"/>
            </a:endParaRPr>
          </a:p>
          <a:p>
            <a:pPr marL="0" indent="0">
              <a:buNone/>
            </a:pPr>
            <a:r>
              <a:rPr lang="fa-IR" b="1" dirty="0">
                <a:cs typeface="B Nazanin" panose="00000400000000000000" pitchFamily="2" charset="-78"/>
              </a:rPr>
              <a:t>در مراحل پیشرفته و متاستاز از رادیوتراپی وکموتراپی استفاده می شود.</a:t>
            </a:r>
          </a:p>
        </p:txBody>
      </p:sp>
    </p:spTree>
    <p:extLst>
      <p:ext uri="{BB962C8B-B14F-4D97-AF65-F5344CB8AC3E}">
        <p14:creationId xmlns:p14="http://schemas.microsoft.com/office/powerpoint/2010/main" val="34009181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599"/>
            <a:ext cx="8596668" cy="1550989"/>
          </a:xfrm>
        </p:spPr>
        <p:txBody>
          <a:bodyPr>
            <a:normAutofit fontScale="90000"/>
          </a:bodyPr>
          <a:lstStyle/>
          <a:p>
            <a:pPr algn="ctr"/>
            <a:r>
              <a:rPr lang="fa-IR" dirty="0"/>
              <a:t>مداخلات </a:t>
            </a:r>
            <a:r>
              <a:rPr lang="fa-IR" dirty="0" smtClean="0"/>
              <a:t>پرستاری در بیمار با جراحی مری  </a:t>
            </a:r>
            <a:r>
              <a:rPr lang="en-US" dirty="0"/>
              <a:t>nursing</a:t>
            </a:r>
            <a:br>
              <a:rPr lang="en-US" dirty="0"/>
            </a:br>
            <a:r>
              <a:rPr lang="en-US" dirty="0"/>
              <a:t>intervention</a:t>
            </a:r>
            <a:br>
              <a:rPr lang="en-US" dirty="0"/>
            </a:br>
            <a:endParaRPr lang="fa-IR" dirty="0"/>
          </a:p>
        </p:txBody>
      </p:sp>
      <p:sp>
        <p:nvSpPr>
          <p:cNvPr id="3" name="Content Placeholder 2"/>
          <p:cNvSpPr>
            <a:spLocks noGrp="1"/>
          </p:cNvSpPr>
          <p:nvPr>
            <p:ph idx="1"/>
          </p:nvPr>
        </p:nvSpPr>
        <p:spPr/>
        <p:txBody>
          <a:bodyPr/>
          <a:lstStyle/>
          <a:p>
            <a:pPr marL="0" indent="0">
              <a:buNone/>
            </a:pPr>
            <a:r>
              <a:rPr lang="fa-IR" b="1" dirty="0" smtClean="0">
                <a:cs typeface="B Nazanin" panose="00000400000000000000" pitchFamily="2" charset="-78"/>
              </a:rPr>
              <a:t>1 </a:t>
            </a:r>
            <a:r>
              <a:rPr lang="fa-IR" b="1" dirty="0">
                <a:cs typeface="B Nazanin" panose="00000400000000000000" pitchFamily="2" charset="-78"/>
              </a:rPr>
              <a:t>- رژیم غذایی پر پروتئین و پر کالری از طریق لوله</a:t>
            </a:r>
          </a:p>
          <a:p>
            <a:pPr marL="0" indent="0">
              <a:buNone/>
            </a:pPr>
            <a:r>
              <a:rPr lang="fa-IR" b="1" dirty="0">
                <a:cs typeface="B Nazanin" panose="00000400000000000000" pitchFamily="2" charset="-78"/>
              </a:rPr>
              <a:t>2 -عدم دستکاری سوند جاگذاری شده تا 7 روز جهت پیشگیری از پرفوراسیون </a:t>
            </a:r>
            <a:r>
              <a:rPr lang="fa-IR" b="1" dirty="0" smtClean="0">
                <a:cs typeface="B Nazanin" panose="00000400000000000000" pitchFamily="2" charset="-78"/>
              </a:rPr>
              <a:t>و در </a:t>
            </a:r>
            <a:r>
              <a:rPr lang="fa-IR" b="1" dirty="0">
                <a:cs typeface="B Nazanin" panose="00000400000000000000" pitchFamily="2" charset="-78"/>
              </a:rPr>
              <a:t>صورت جابجا شدن اطلاع به جراح</a:t>
            </a:r>
          </a:p>
          <a:p>
            <a:pPr marL="0" indent="0">
              <a:buNone/>
            </a:pPr>
            <a:r>
              <a:rPr lang="fa-IR" b="1" dirty="0">
                <a:cs typeface="B Nazanin" panose="00000400000000000000" pitchFamily="2" charset="-78"/>
              </a:rPr>
              <a:t>3 -بعد از هر وعده غذا 2 ساعت نشسته باشد</a:t>
            </a:r>
          </a:p>
          <a:p>
            <a:pPr marL="0" indent="0">
              <a:buNone/>
            </a:pPr>
            <a:r>
              <a:rPr lang="fa-IR" b="1" dirty="0">
                <a:cs typeface="B Nazanin" panose="00000400000000000000" pitchFamily="2" charset="-78"/>
              </a:rPr>
              <a:t>4 -پیشگیری از آسپیراسیون بزاق اضافی</a:t>
            </a:r>
          </a:p>
        </p:txBody>
      </p:sp>
    </p:spTree>
    <p:extLst>
      <p:ext uri="{BB962C8B-B14F-4D97-AF65-F5344CB8AC3E}">
        <p14:creationId xmlns:p14="http://schemas.microsoft.com/office/powerpoint/2010/main" val="35494484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Nursing diagnosis</a:t>
            </a:r>
            <a:br>
              <a:rPr lang="en-US" dirty="0"/>
            </a:br>
            <a:endParaRPr lang="fa-IR" dirty="0"/>
          </a:p>
        </p:txBody>
      </p:sp>
      <p:sp>
        <p:nvSpPr>
          <p:cNvPr id="3" name="Content Placeholder 2"/>
          <p:cNvSpPr>
            <a:spLocks noGrp="1"/>
          </p:cNvSpPr>
          <p:nvPr>
            <p:ph idx="1"/>
          </p:nvPr>
        </p:nvSpPr>
        <p:spPr/>
        <p:txBody>
          <a:bodyPr/>
          <a:lstStyle/>
          <a:p>
            <a:pPr marL="0" indent="0">
              <a:buNone/>
            </a:pPr>
            <a:r>
              <a:rPr lang="fa-IR" b="1" dirty="0" smtClean="0">
                <a:cs typeface="B Nazanin" panose="00000400000000000000" pitchFamily="2" charset="-78"/>
              </a:rPr>
              <a:t>-</a:t>
            </a:r>
            <a:r>
              <a:rPr lang="fa-IR" b="1" dirty="0">
                <a:cs typeface="B Nazanin" panose="00000400000000000000" pitchFamily="2" charset="-78"/>
              </a:rPr>
              <a:t>1 اختلال در تغذیه کمتر از نیاز بدن</a:t>
            </a:r>
          </a:p>
          <a:p>
            <a:pPr marL="0" indent="0">
              <a:buNone/>
            </a:pPr>
            <a:r>
              <a:rPr lang="fa-IR" b="1" dirty="0">
                <a:cs typeface="B Nazanin" panose="00000400000000000000" pitchFamily="2" charset="-78"/>
              </a:rPr>
              <a:t>2 -درد در اثر بلع مشکل</a:t>
            </a:r>
          </a:p>
          <a:p>
            <a:pPr marL="0" indent="0">
              <a:buNone/>
            </a:pPr>
            <a:r>
              <a:rPr lang="fa-IR" b="1" dirty="0">
                <a:cs typeface="B Nazanin" panose="00000400000000000000" pitchFamily="2" charset="-78"/>
              </a:rPr>
              <a:t>3 - خطر بروز آسپیراسیون بعلت بلع مشکل</a:t>
            </a:r>
          </a:p>
          <a:p>
            <a:pPr marL="0" indent="0">
              <a:buNone/>
            </a:pPr>
            <a:r>
              <a:rPr lang="fa-IR" b="1" dirty="0">
                <a:cs typeface="B Nazanin" panose="00000400000000000000" pitchFamily="2" charset="-78"/>
              </a:rPr>
              <a:t>مداخلات بعد از بهبودی:</a:t>
            </a:r>
          </a:p>
          <a:p>
            <a:pPr marL="0" indent="0">
              <a:buNone/>
            </a:pPr>
            <a:r>
              <a:rPr lang="fa-IR" b="1" dirty="0">
                <a:cs typeface="B Nazanin" panose="00000400000000000000" pitchFamily="2" charset="-78"/>
              </a:rPr>
              <a:t>غذا را آهسته بجود و بخورد-وعده های غذایی زیاد و حجم کم-اجتناب از </a:t>
            </a:r>
            <a:r>
              <a:rPr lang="fa-IR" b="1" dirty="0" smtClean="0">
                <a:cs typeface="B Nazanin" panose="00000400000000000000" pitchFamily="2" charset="-78"/>
              </a:rPr>
              <a:t>غذاهای محرک </a:t>
            </a:r>
            <a:r>
              <a:rPr lang="fa-IR" b="1" dirty="0">
                <a:cs typeface="B Nazanin" panose="00000400000000000000" pitchFamily="2" charset="-78"/>
              </a:rPr>
              <a:t>وداغ و سرد-اجتناب از فشار به قفسه سینه- 2 ساعت بعد از غذا </a:t>
            </a:r>
            <a:r>
              <a:rPr lang="fa-IR" b="1">
                <a:cs typeface="B Nazanin" panose="00000400000000000000" pitchFamily="2" charset="-78"/>
              </a:rPr>
              <a:t>نشسته </a:t>
            </a:r>
            <a:r>
              <a:rPr lang="fa-IR" b="1" smtClean="0">
                <a:cs typeface="B Nazanin" panose="00000400000000000000" pitchFamily="2" charset="-78"/>
              </a:rPr>
              <a:t>باشد- سر </a:t>
            </a:r>
            <a:r>
              <a:rPr lang="fa-IR" b="1" dirty="0">
                <a:cs typeface="B Nazanin" panose="00000400000000000000" pitchFamily="2" charset="-78"/>
              </a:rPr>
              <a:t>تخت 10 تا 20 درجه بالا باشد- در صورت نیاز مصرف آنتی اسید.</a:t>
            </a:r>
          </a:p>
        </p:txBody>
      </p:sp>
    </p:spTree>
    <p:extLst>
      <p:ext uri="{BB962C8B-B14F-4D97-AF65-F5344CB8AC3E}">
        <p14:creationId xmlns:p14="http://schemas.microsoft.com/office/powerpoint/2010/main" val="115926335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176</TotalTime>
  <Words>1482</Words>
  <Application>Microsoft Office PowerPoint</Application>
  <PresentationFormat>Widescreen</PresentationFormat>
  <Paragraphs>156</Paragraphs>
  <Slides>31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B Nazanin</vt:lpstr>
      <vt:lpstr>Tahoma</vt:lpstr>
      <vt:lpstr>Trebuchet MS</vt:lpstr>
      <vt:lpstr>Wingdings 3</vt:lpstr>
      <vt:lpstr>Facet</vt:lpstr>
      <vt:lpstr>جلسه چهارم گوارش</vt:lpstr>
      <vt:lpstr>Barretts esophgus</vt:lpstr>
      <vt:lpstr>مری بارت</vt:lpstr>
      <vt:lpstr>متاپلازی(تغییر شکل غیر عادی سلول یا بافت)</vt:lpstr>
      <vt:lpstr>اختلالات حرکتی مری </vt:lpstr>
      <vt:lpstr>آشالازی </vt:lpstr>
      <vt:lpstr>آشالازی</vt:lpstr>
      <vt:lpstr>تشخیص diagnosis </vt:lpstr>
      <vt:lpstr>درمان </vt:lpstr>
      <vt:lpstr>اسپاسم منتشر مری </vt:lpstr>
      <vt:lpstr>اسپاسم منتشر مری</vt:lpstr>
      <vt:lpstr>اسپاسم منتشر مری</vt:lpstr>
      <vt:lpstr>treatment </vt:lpstr>
      <vt:lpstr>Hiatal hernia </vt:lpstr>
      <vt:lpstr>فتق هیاتال یا فتق معده</vt:lpstr>
      <vt:lpstr>علایم  و تشخیص و درمان فتق معده</vt:lpstr>
      <vt:lpstr>دیورتیکول مری </vt:lpstr>
      <vt:lpstr>دیورتیکول</vt:lpstr>
      <vt:lpstr>تشخیص و درمان </vt:lpstr>
      <vt:lpstr>perforation پرفوراسیون مری </vt:lpstr>
      <vt:lpstr>Foreign bodies </vt:lpstr>
      <vt:lpstr>جسم خارجی</vt:lpstr>
      <vt:lpstr>سوختگی های شیمیایی  burns  chemichal  </vt:lpstr>
      <vt:lpstr>التهاب سوختگی</vt:lpstr>
      <vt:lpstr>درمان </vt:lpstr>
      <vt:lpstr>سندروم مالوری ویس </vt:lpstr>
      <vt:lpstr>کانسر مری </vt:lpstr>
      <vt:lpstr>کانسر مری</vt:lpstr>
      <vt:lpstr>تشخیص و درمان </vt:lpstr>
      <vt:lpstr>مداخلات پرستاری در بیمار با جراحی مری  nursing intervention </vt:lpstr>
      <vt:lpstr>Nursing diagnosis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جلسه چهارم گوارش</dc:title>
  <dc:creator>Andisheh</dc:creator>
  <cp:lastModifiedBy>Andisheh</cp:lastModifiedBy>
  <cp:revision>45</cp:revision>
  <dcterms:created xsi:type="dcterms:W3CDTF">2024-10-22T18:49:01Z</dcterms:created>
  <dcterms:modified xsi:type="dcterms:W3CDTF">2026-10-24T19:19:40Z</dcterms:modified>
</cp:coreProperties>
</file>