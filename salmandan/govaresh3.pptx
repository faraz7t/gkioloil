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</p:sldIdLst>
  <p:sldSz cx="12192000" cy="6858000"/>
  <p:notesSz cx="6858000" cy="9144000"/>
  <p:defaultTextStyle>
    <a:defPPr>
      <a:defRPr lang="fa-I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6247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80213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404750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51954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91302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02433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93507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77880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74152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530746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35585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665712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531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055019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13993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61786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FDA394-BFBD-4A6F-BFDC-0C92975CC66B}" type="datetimeFigureOut">
              <a:rPr lang="fa-IR" smtClean="0"/>
              <a:t>05/06/1448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3114125-7EFE-4C86-BAF3-2C0F282B002A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301555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 smtClean="0"/>
              <a:t>جلسه سوم گوارش</a:t>
            </a:r>
            <a:endParaRPr lang="fa-I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4383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/>
            </a:r>
            <a:br>
              <a:rPr lang="en-US" dirty="0"/>
            </a:br>
            <a:r>
              <a:rPr lang="fa-IR" dirty="0" smtClean="0"/>
              <a:t>اختلالات </a:t>
            </a:r>
            <a:r>
              <a:rPr lang="fa-IR" dirty="0"/>
              <a:t>مری </a:t>
            </a:r>
            <a:r>
              <a:rPr lang="en-US" dirty="0" smtClean="0"/>
              <a:t>esophageal</a:t>
            </a:r>
            <a:r>
              <a:rPr lang="en-US" dirty="0"/>
              <a:t> disorders</a:t>
            </a: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مری </a:t>
            </a:r>
            <a:r>
              <a:rPr lang="fa-IR" b="1" dirty="0">
                <a:cs typeface="B Nazanin" panose="00000400000000000000" pitchFamily="2" charset="-78"/>
              </a:rPr>
              <a:t>لوله ای تو خالی است که برای انتقال مواد خورده شده از دهان به </a:t>
            </a:r>
            <a:r>
              <a:rPr lang="fa-IR" b="1" dirty="0" smtClean="0">
                <a:cs typeface="B Nazanin" panose="00000400000000000000" pitchFamily="2" charset="-78"/>
              </a:rPr>
              <a:t>معده طراحی </a:t>
            </a:r>
            <a:r>
              <a:rPr lang="fa-IR" b="1" dirty="0">
                <a:cs typeface="B Nazanin" panose="00000400000000000000" pitchFamily="2" charset="-78"/>
              </a:rPr>
              <a:t>شده است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از قاعده حلق شروع و در 4 سانتی متری زیر دیافراگم به پایان می رسد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یک سوم ابتدایی آن عضله مخطط و دو سوم انتهایی از عضله صاف است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در بین دو اسفنکتر فوقانی و اسفنکتر تحتانی قرار </a:t>
            </a:r>
            <a:r>
              <a:rPr lang="fa-IR" b="1" dirty="0" smtClean="0">
                <a:cs typeface="B Nazanin" panose="00000400000000000000" pitchFamily="2" charset="-78"/>
              </a:rPr>
              <a:t>دارد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UES</a:t>
            </a:r>
            <a:r>
              <a:rPr lang="fa-IR" b="1" dirty="0" smtClean="0">
                <a:cs typeface="B Nazanin" panose="00000400000000000000" pitchFamily="2" charset="-78"/>
              </a:rPr>
              <a:t> باز </a:t>
            </a:r>
            <a:r>
              <a:rPr lang="fa-IR" b="1" dirty="0">
                <a:cs typeface="B Nazanin" panose="00000400000000000000" pitchFamily="2" charset="-78"/>
              </a:rPr>
              <a:t>می شود تا لقمه وارد مری شود و بسرعت بسته میشود تا مانع از </a:t>
            </a:r>
            <a:r>
              <a:rPr lang="fa-IR" b="1" dirty="0" smtClean="0">
                <a:cs typeface="B Nazanin" panose="00000400000000000000" pitchFamily="2" charset="-78"/>
              </a:rPr>
              <a:t>برگشت وآسپیراسیون شود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LES</a:t>
            </a:r>
            <a:r>
              <a:rPr lang="fa-IR" b="1" dirty="0" smtClean="0">
                <a:cs typeface="B Nazanin" panose="00000400000000000000" pitchFamily="2" charset="-78"/>
              </a:rPr>
              <a:t> در </a:t>
            </a:r>
            <a:r>
              <a:rPr lang="fa-IR" b="1" dirty="0">
                <a:cs typeface="B Nazanin" panose="00000400000000000000" pitchFamily="2" charset="-78"/>
              </a:rPr>
              <a:t>آغاز بلع باز شده وتا زمانیکه لقمه غذا وارد معده نشده باز باقی </a:t>
            </a:r>
            <a:r>
              <a:rPr lang="fa-IR" b="1" dirty="0" smtClean="0">
                <a:cs typeface="B Nazanin" panose="00000400000000000000" pitchFamily="2" charset="-78"/>
              </a:rPr>
              <a:t>میماند وسپس </a:t>
            </a:r>
            <a:r>
              <a:rPr lang="fa-IR" b="1" dirty="0">
                <a:cs typeface="B Nazanin" panose="00000400000000000000" pitchFamily="2" charset="-78"/>
              </a:rPr>
              <a:t>بسته می شود تا مانع از ریفلاکس مواد معده به مری شود.</a:t>
            </a:r>
          </a:p>
        </p:txBody>
      </p:sp>
    </p:spTree>
    <p:extLst>
      <p:ext uri="{BB962C8B-B14F-4D97-AF65-F5344CB8AC3E}">
        <p14:creationId xmlns:p14="http://schemas.microsoft.com/office/powerpoint/2010/main" val="85583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علایم بیماریهای مری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 err="1" smtClean="0">
                <a:cs typeface="B Nazanin" panose="00000400000000000000" pitchFamily="2" charset="-78"/>
              </a:rPr>
              <a:t>pyrusis</a:t>
            </a:r>
            <a:r>
              <a:rPr lang="en-US" dirty="0" smtClean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or heart </a:t>
            </a:r>
            <a:r>
              <a:rPr lang="en-US" dirty="0" smtClean="0">
                <a:cs typeface="B Nazanin" panose="00000400000000000000" pitchFamily="2" charset="-78"/>
              </a:rPr>
              <a:t>burn</a:t>
            </a:r>
            <a:endParaRPr lang="fa-IR" dirty="0" smtClean="0">
              <a:cs typeface="B Nazanin" panose="00000400000000000000" pitchFamily="2" charset="-78"/>
            </a:endParaRPr>
          </a:p>
          <a:p>
            <a:pPr>
              <a:buFont typeface="+mj-lt"/>
              <a:buAutoNum type="arabicPeriod"/>
            </a:pPr>
            <a:endParaRPr lang="en-US" dirty="0">
              <a:cs typeface="B Nazanin" panose="00000400000000000000" pitchFamily="2" charset="-78"/>
            </a:endParaRPr>
          </a:p>
          <a:p>
            <a:pPr>
              <a:buFont typeface="+mj-lt"/>
              <a:buAutoNum type="arabicPeriod"/>
            </a:pPr>
            <a:r>
              <a:rPr lang="en-US" dirty="0" smtClean="0">
                <a:cs typeface="B Nazanin" panose="00000400000000000000" pitchFamily="2" charset="-78"/>
              </a:rPr>
              <a:t>Dysphagia</a:t>
            </a:r>
          </a:p>
          <a:p>
            <a:pPr>
              <a:buFont typeface="+mj-lt"/>
              <a:buAutoNum type="arabicPeriod"/>
            </a:pPr>
            <a:endParaRPr lang="en-US" dirty="0">
              <a:cs typeface="B Nazanin" panose="00000400000000000000" pitchFamily="2" charset="-78"/>
            </a:endParaRPr>
          </a:p>
          <a:p>
            <a:pPr>
              <a:buFont typeface="+mj-lt"/>
              <a:buAutoNum type="arabicPeriod"/>
            </a:pPr>
            <a:r>
              <a:rPr lang="en-US" dirty="0" smtClean="0">
                <a:cs typeface="B Nazanin" panose="00000400000000000000" pitchFamily="2" charset="-78"/>
              </a:rPr>
              <a:t>Odynophagia</a:t>
            </a:r>
          </a:p>
          <a:p>
            <a:pPr>
              <a:buFont typeface="+mj-lt"/>
              <a:buAutoNum type="arabicPeriod"/>
            </a:pPr>
            <a:endParaRPr lang="en-US" dirty="0">
              <a:cs typeface="B Nazanin" panose="00000400000000000000" pitchFamily="2" charset="-78"/>
            </a:endParaRPr>
          </a:p>
          <a:p>
            <a:pPr>
              <a:buFont typeface="+mj-lt"/>
              <a:buAutoNum type="arabicPeriod"/>
            </a:pPr>
            <a:r>
              <a:rPr lang="en-US" dirty="0" smtClean="0">
                <a:cs typeface="B Nazanin" panose="00000400000000000000" pitchFamily="2" charset="-78"/>
              </a:rPr>
              <a:t>chest </a:t>
            </a:r>
            <a:r>
              <a:rPr lang="en-US" dirty="0">
                <a:cs typeface="B Nazanin" panose="00000400000000000000" pitchFamily="2" charset="-78"/>
              </a:rPr>
              <a:t>pain</a:t>
            </a:r>
            <a:endParaRPr lang="fa-IR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01704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سوزش سر </a:t>
            </a:r>
            <a:r>
              <a:rPr lang="fa-IR" dirty="0" smtClean="0"/>
              <a:t>دل</a:t>
            </a:r>
            <a:r>
              <a:rPr lang="fa-IR" dirty="0"/>
              <a:t/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شایعترین</a:t>
            </a:r>
            <a:r>
              <a:rPr lang="fa-IR" b="1" dirty="0" smtClean="0">
                <a:cs typeface="B Nazanin" panose="00000400000000000000" pitchFamily="2" charset="-78"/>
              </a:rPr>
              <a:t> </a:t>
            </a:r>
            <a:r>
              <a:rPr lang="fa-IR" b="1" dirty="0">
                <a:cs typeface="B Nazanin" panose="00000400000000000000" pitchFamily="2" charset="-78"/>
              </a:rPr>
              <a:t>علامت بیماریهای مری است</a:t>
            </a:r>
          </a:p>
          <a:p>
            <a:r>
              <a:rPr lang="fa-IR" b="1" dirty="0">
                <a:cs typeface="B Nazanin" panose="00000400000000000000" pitchFamily="2" charset="-78"/>
              </a:rPr>
              <a:t>یک احساس سوزش در ناحیه اپی گاستر که به سمت قفسه سینه انتشار می یابد</a:t>
            </a:r>
          </a:p>
          <a:p>
            <a:r>
              <a:rPr lang="fa-IR" b="1" dirty="0">
                <a:cs typeface="B Nazanin" panose="00000400000000000000" pitchFamily="2" charset="-78"/>
              </a:rPr>
              <a:t>بیمار دستش را بین گزایفویید و زاویه استرنال بالا وپایین می کشد و نشان میدهد</a:t>
            </a:r>
          </a:p>
          <a:p>
            <a:r>
              <a:rPr lang="fa-IR" b="1" dirty="0">
                <a:cs typeface="B Nazanin" panose="00000400000000000000" pitchFamily="2" charset="-78"/>
              </a:rPr>
              <a:t>معمولا بعد از غذا خوردن و دراز کشیدن به پشت </a:t>
            </a:r>
            <a:r>
              <a:rPr lang="fa-IR" b="1" dirty="0" smtClean="0">
                <a:cs typeface="B Nazanin" panose="00000400000000000000" pitchFamily="2" charset="-78"/>
              </a:rPr>
              <a:t>و خم </a:t>
            </a:r>
            <a:r>
              <a:rPr lang="fa-IR" b="1" dirty="0">
                <a:cs typeface="B Nazanin" panose="00000400000000000000" pitchFamily="2" charset="-78"/>
              </a:rPr>
              <a:t>شدن و بلند </a:t>
            </a:r>
            <a:r>
              <a:rPr lang="fa-IR" b="1" dirty="0" smtClean="0">
                <a:cs typeface="B Nazanin" panose="00000400000000000000" pitchFamily="2" charset="-78"/>
              </a:rPr>
              <a:t>کردن اجسام (افزایش </a:t>
            </a:r>
            <a:r>
              <a:rPr lang="fa-IR" b="1" dirty="0">
                <a:cs typeface="B Nazanin" panose="00000400000000000000" pitchFamily="2" charset="-78"/>
              </a:rPr>
              <a:t>فشار در داخل </a:t>
            </a:r>
            <a:r>
              <a:rPr lang="fa-IR" b="1" dirty="0" smtClean="0">
                <a:cs typeface="B Nazanin" panose="00000400000000000000" pitchFamily="2" charset="-78"/>
              </a:rPr>
              <a:t>شکم) احساس </a:t>
            </a:r>
            <a:r>
              <a:rPr lang="fa-IR" b="1" dirty="0">
                <a:cs typeface="B Nazanin" panose="00000400000000000000" pitchFamily="2" charset="-78"/>
              </a:rPr>
              <a:t>می شود</a:t>
            </a:r>
          </a:p>
          <a:p>
            <a:r>
              <a:rPr lang="fa-IR" b="1" dirty="0">
                <a:cs typeface="B Nazanin" panose="00000400000000000000" pitchFamily="2" charset="-78"/>
              </a:rPr>
              <a:t>غذاهای تند و پر چرب و شکلات هم گاها باعث سوزش می شود</a:t>
            </a:r>
          </a:p>
          <a:p>
            <a:r>
              <a:rPr lang="fa-IR" b="1" dirty="0">
                <a:cs typeface="B Nazanin" panose="00000400000000000000" pitchFamily="2" charset="-78"/>
              </a:rPr>
              <a:t>معمولا سوزش سر دل با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آنتی اسید </a:t>
            </a:r>
            <a:r>
              <a:rPr lang="fa-IR" b="1" dirty="0">
                <a:cs typeface="B Nazanin" panose="00000400000000000000" pitchFamily="2" charset="-78"/>
              </a:rPr>
              <a:t>بر طرف می شود</a:t>
            </a:r>
          </a:p>
        </p:txBody>
      </p:sp>
    </p:spTree>
    <p:extLst>
      <p:ext uri="{BB962C8B-B14F-4D97-AF65-F5344CB8AC3E}">
        <p14:creationId xmlns:p14="http://schemas.microsoft.com/office/powerpoint/2010/main" val="269599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دیس </a:t>
            </a:r>
            <a:r>
              <a:rPr lang="fa-IR" dirty="0" smtClean="0"/>
              <a:t>فاژی</a:t>
            </a:r>
            <a:r>
              <a:rPr lang="fa-IR" dirty="0"/>
              <a:t/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بلع </a:t>
            </a:r>
            <a:r>
              <a:rPr lang="fa-IR" b="1" dirty="0">
                <a:cs typeface="B Nazanin" panose="00000400000000000000" pitchFamily="2" charset="-78"/>
              </a:rPr>
              <a:t>دشوار- اشکال در </a:t>
            </a:r>
            <a:r>
              <a:rPr lang="fa-IR" b="1" dirty="0" smtClean="0">
                <a:cs typeface="B Nazanin" panose="00000400000000000000" pitchFamily="2" charset="-78"/>
              </a:rPr>
              <a:t>بلع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بیمار اظهار می دارد که لقمه غذا گیر کرده و یا به آهستگی پایین می </a:t>
            </a:r>
            <a:r>
              <a:rPr lang="fa-IR" b="1" dirty="0" smtClean="0">
                <a:cs typeface="B Nazanin" panose="00000400000000000000" pitchFamily="2" charset="-78"/>
              </a:rPr>
              <a:t>رود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ممکن است بعلت: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انسداد مکانیکی مری ، التهاب مخاط مری ،اختلال در حرکات دودی مری </a:t>
            </a:r>
            <a:r>
              <a:rPr lang="fa-IR" b="1" dirty="0" smtClean="0">
                <a:cs typeface="B Nazanin" panose="00000400000000000000" pitchFamily="2" charset="-78"/>
              </a:rPr>
              <a:t>ایجاد شود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96925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/>
              <a:t>اودینو فاژی</a:t>
            </a:r>
            <a:br>
              <a:rPr lang="fa-IR" b="1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b="1" dirty="0" smtClean="0">
                <a:cs typeface="B Nazanin" panose="00000400000000000000" pitchFamily="2" charset="-78"/>
              </a:rPr>
              <a:t>بلع دردناک</a:t>
            </a:r>
          </a:p>
          <a:p>
            <a:endParaRPr lang="fa-IR" b="1" dirty="0">
              <a:cs typeface="B Nazanin" panose="00000400000000000000" pitchFamily="2" charset="-78"/>
            </a:endParaRPr>
          </a:p>
          <a:p>
            <a:r>
              <a:rPr lang="fa-IR" b="1" dirty="0">
                <a:cs typeface="B Nazanin" panose="00000400000000000000" pitchFamily="2" charset="-78"/>
              </a:rPr>
              <a:t>بلع دردناک ناشی از ازوفاژیت </a:t>
            </a:r>
            <a:r>
              <a:rPr lang="fa-IR" b="1" dirty="0" smtClean="0">
                <a:cs typeface="B Nazanin" panose="00000400000000000000" pitchFamily="2" charset="-78"/>
              </a:rPr>
              <a:t>عفونی(عفونت مونیلیایی) </a:t>
            </a:r>
            <a:r>
              <a:rPr lang="fa-IR" b="1" dirty="0">
                <a:cs typeface="B Nazanin" panose="00000400000000000000" pitchFamily="2" charset="-78"/>
              </a:rPr>
              <a:t>یا زخم مر </a:t>
            </a:r>
            <a:r>
              <a:rPr lang="fa-IR" b="1" dirty="0" smtClean="0">
                <a:cs typeface="B Nazanin" panose="00000400000000000000" pitchFamily="2" charset="-78"/>
              </a:rPr>
              <a:t>ی(بدنبال مصرف قرصهای مسکن) است</a:t>
            </a:r>
          </a:p>
          <a:p>
            <a:endParaRPr lang="fa-IR" b="1" dirty="0">
              <a:cs typeface="B Nazanin" panose="00000400000000000000" pitchFamily="2" charset="-78"/>
            </a:endParaRPr>
          </a:p>
          <a:p>
            <a:r>
              <a:rPr lang="fa-IR" b="1" dirty="0">
                <a:cs typeface="B Nazanin" panose="00000400000000000000" pitchFamily="2" charset="-78"/>
              </a:rPr>
              <a:t>بندرت در بیماریهای ناشی از اسید معده دیده می شود</a:t>
            </a:r>
          </a:p>
        </p:txBody>
      </p:sp>
    </p:spTree>
    <p:extLst>
      <p:ext uri="{BB962C8B-B14F-4D97-AF65-F5344CB8AC3E}">
        <p14:creationId xmlns:p14="http://schemas.microsoft.com/office/powerpoint/2010/main" val="4058037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/>
              <a:t>درد قفسه سینه</a:t>
            </a:r>
            <a:br>
              <a:rPr lang="fa-IR" b="1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b="1" dirty="0" smtClean="0">
                <a:cs typeface="B Nazanin" panose="00000400000000000000" pitchFamily="2" charset="-78"/>
              </a:rPr>
              <a:t>این </a:t>
            </a:r>
            <a:r>
              <a:rPr lang="fa-IR" b="1" dirty="0">
                <a:cs typeface="B Nazanin" panose="00000400000000000000" pitchFamily="2" charset="-78"/>
              </a:rPr>
              <a:t>علامت غالبا در اثر ریفلاکس معدی-مروی یا اختلالات حرکتی مری ایجاد </a:t>
            </a:r>
            <a:r>
              <a:rPr lang="fa-IR" b="1" dirty="0" smtClean="0">
                <a:cs typeface="B Nazanin" panose="00000400000000000000" pitchFamily="2" charset="-78"/>
              </a:rPr>
              <a:t>می شود</a:t>
            </a:r>
          </a:p>
          <a:p>
            <a:endParaRPr lang="fa-IR" b="1" dirty="0">
              <a:cs typeface="B Nazanin" panose="00000400000000000000" pitchFamily="2" charset="-78"/>
            </a:endParaRPr>
          </a:p>
          <a:p>
            <a:r>
              <a:rPr lang="fa-IR" b="1" dirty="0">
                <a:cs typeface="B Nazanin" panose="00000400000000000000" pitchFamily="2" charset="-78"/>
              </a:rPr>
              <a:t>ممکن است با درد قلبی اشتباه گرفته شود چون مسیرهای انتقال عصب در هر </a:t>
            </a:r>
            <a:r>
              <a:rPr lang="fa-IR" b="1" dirty="0" smtClean="0">
                <a:cs typeface="B Nazanin" panose="00000400000000000000" pitchFamily="2" charset="-78"/>
              </a:rPr>
              <a:t>دو عضو </a:t>
            </a:r>
            <a:r>
              <a:rPr lang="fa-IR" b="1" dirty="0">
                <a:cs typeface="B Nazanin" panose="00000400000000000000" pitchFamily="2" charset="-78"/>
              </a:rPr>
              <a:t>مشترک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</a:p>
          <a:p>
            <a:endParaRPr lang="fa-IR" b="1" dirty="0">
              <a:cs typeface="B Nazanin" panose="00000400000000000000" pitchFamily="2" charset="-78"/>
            </a:endParaRPr>
          </a:p>
          <a:p>
            <a:r>
              <a:rPr lang="fa-IR" b="1" dirty="0">
                <a:cs typeface="B Nazanin" panose="00000400000000000000" pitchFamily="2" charset="-78"/>
              </a:rPr>
              <a:t>انتشار درد به گردن و فک ، شروع در ضمن فعالیت و تسکین درد با نیتراتها </a:t>
            </a:r>
            <a:r>
              <a:rPr lang="fa-IR" b="1" dirty="0" smtClean="0">
                <a:cs typeface="B Nazanin" panose="00000400000000000000" pitchFamily="2" charset="-78"/>
              </a:rPr>
              <a:t>در هر </a:t>
            </a:r>
            <a:r>
              <a:rPr lang="fa-IR" b="1" dirty="0">
                <a:cs typeface="B Nazanin" panose="00000400000000000000" pitchFamily="2" charset="-78"/>
              </a:rPr>
              <a:t>دو عضو یکسان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</a:p>
          <a:p>
            <a:endParaRPr lang="fa-IR" b="1" dirty="0">
              <a:cs typeface="B Nazanin" panose="00000400000000000000" pitchFamily="2" charset="-78"/>
            </a:endParaRPr>
          </a:p>
          <a:p>
            <a:r>
              <a:rPr lang="fa-IR" b="1" dirty="0">
                <a:cs typeface="B Nazanin" panose="00000400000000000000" pitchFamily="2" charset="-78"/>
              </a:rPr>
              <a:t>درد سینه ای که بیمار را از خواب بیدار کند بیشتر به نفع اختلال مری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</a:p>
          <a:p>
            <a:endParaRPr lang="fa-IR" b="1" dirty="0">
              <a:cs typeface="B Nazanin" panose="00000400000000000000" pitchFamily="2" charset="-78"/>
            </a:endParaRPr>
          </a:p>
          <a:p>
            <a:r>
              <a:rPr lang="fa-IR" b="1" dirty="0">
                <a:cs typeface="B Nazanin" panose="00000400000000000000" pitchFamily="2" charset="-78"/>
              </a:rPr>
              <a:t>درد مری معمولا با آنتی اسید بهبود می یابد</a:t>
            </a:r>
          </a:p>
        </p:txBody>
      </p:sp>
    </p:spTree>
    <p:extLst>
      <p:ext uri="{BB962C8B-B14F-4D97-AF65-F5344CB8AC3E}">
        <p14:creationId xmlns:p14="http://schemas.microsoft.com/office/powerpoint/2010/main" val="3074452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ریفلاکس گاسترو ازوفاژیال </a:t>
            </a:r>
            <a:r>
              <a:rPr lang="en-US" dirty="0"/>
              <a:t>GERD</a:t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شایعترین بیماری مری است که در 50 % افراد جامعه باعث علایم گهگاه </a:t>
            </a:r>
            <a:r>
              <a:rPr lang="fa-IR" b="1" dirty="0" smtClean="0">
                <a:cs typeface="B Nazanin" panose="00000400000000000000" pitchFamily="2" charset="-78"/>
              </a:rPr>
              <a:t>می شود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مکانیسم بیماری:از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بین رفتن مکانیسمهای حفاظتی </a:t>
            </a:r>
            <a:r>
              <a:rPr lang="fa-IR" b="1" dirty="0">
                <a:cs typeface="B Nazanin" panose="00000400000000000000" pitchFamily="2" charset="-78"/>
              </a:rPr>
              <a:t>مری </a:t>
            </a:r>
            <a:r>
              <a:rPr lang="fa-IR" b="1" dirty="0" smtClean="0">
                <a:cs typeface="B Nazanin" panose="00000400000000000000" pitchFamily="2" charset="-78"/>
              </a:rPr>
              <a:t>است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1 </a:t>
            </a:r>
            <a:r>
              <a:rPr lang="fa-IR" b="1" dirty="0" smtClean="0">
                <a:cs typeface="B Nazanin" panose="00000400000000000000" pitchFamily="2" charset="-78"/>
              </a:rPr>
              <a:t>–کاهش ترشح </a:t>
            </a:r>
            <a:r>
              <a:rPr lang="fa-IR" b="1" dirty="0">
                <a:cs typeface="B Nazanin" panose="00000400000000000000" pitchFamily="2" charset="-78"/>
              </a:rPr>
              <a:t>بیکربنات در مخاط مری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2 -کمبود بزاق در بعضی بیماریها که بدنبال آن بیکربنات بزاق هم وجود نخواهد داشت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3 -فقدان حرکات دودی ثانویه مری در بیماریهای حرکتی مری که کار این حرکات </a:t>
            </a:r>
            <a:r>
              <a:rPr lang="fa-IR" b="1" dirty="0" smtClean="0">
                <a:cs typeface="B Nazanin" panose="00000400000000000000" pitchFamily="2" charset="-78"/>
              </a:rPr>
              <a:t>ثانویه، پاک کردن </a:t>
            </a:r>
            <a:r>
              <a:rPr lang="fa-IR" b="1" dirty="0">
                <a:cs typeface="B Nazanin" panose="00000400000000000000" pitchFamily="2" charset="-78"/>
              </a:rPr>
              <a:t>مدام مری از اسیدهای پس زده است</a:t>
            </a:r>
          </a:p>
        </p:txBody>
      </p:sp>
    </p:spTree>
    <p:extLst>
      <p:ext uri="{BB962C8B-B14F-4D97-AF65-F5344CB8AC3E}">
        <p14:creationId xmlns:p14="http://schemas.microsoft.com/office/powerpoint/2010/main" val="4043759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b="1" dirty="0"/>
              <a:t>علایم بیماری</a:t>
            </a:r>
            <a:br>
              <a:rPr lang="fa-IR" b="1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b="1" dirty="0"/>
              <a:t>1 -سوزش سر دل علامت اصلی است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b="1" dirty="0"/>
              <a:t>2 - ترش کردن یا احساس مزه ترش و تلخ که بالا آمده اند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b="1" dirty="0"/>
              <a:t>3 -سرفه های مزمن بخصوص شبانه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b="1" dirty="0"/>
              <a:t>4 -خشونت صدا</a:t>
            </a:r>
          </a:p>
          <a:p>
            <a:pPr marL="0" indent="0">
              <a:buNone/>
            </a:pPr>
            <a:endParaRPr lang="fa-IR" dirty="0"/>
          </a:p>
          <a:p>
            <a:pPr marL="0" indent="0">
              <a:buNone/>
            </a:pPr>
            <a:r>
              <a:rPr lang="fa-IR" b="1" dirty="0"/>
              <a:t>4 -گلو درد و احساس گرفتگی گلوی مداوم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22333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a-IR" dirty="0"/>
              <a:t>تشخیص</a:t>
            </a:r>
            <a:br>
              <a:rPr lang="fa-IR" dirty="0"/>
            </a:br>
            <a:r>
              <a:rPr lang="fa-IR" dirty="0"/>
              <a:t/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1 </a:t>
            </a:r>
            <a:r>
              <a:rPr lang="fa-IR" b="1" dirty="0">
                <a:cs typeface="B Nazanin" panose="00000400000000000000" pitchFamily="2" charset="-78"/>
              </a:rPr>
              <a:t>-رادیو گرافی بلع </a:t>
            </a:r>
            <a:r>
              <a:rPr lang="fa-IR" b="1" dirty="0" smtClean="0">
                <a:cs typeface="B Nazanin" panose="00000400000000000000" pitchFamily="2" charset="-78"/>
              </a:rPr>
              <a:t>باریوم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2 </a:t>
            </a:r>
            <a:r>
              <a:rPr lang="fa-IR" b="1" dirty="0">
                <a:cs typeface="B Nazanin" panose="00000400000000000000" pitchFamily="2" charset="-78"/>
              </a:rPr>
              <a:t>-آندوسکوپی که عوارض ریفلاکس مثل ازوفاژیت و زخم ناشی از اسید </a:t>
            </a:r>
            <a:r>
              <a:rPr lang="fa-IR" b="1" dirty="0" smtClean="0">
                <a:cs typeface="B Nazanin" panose="00000400000000000000" pitchFamily="2" charset="-78"/>
              </a:rPr>
              <a:t>را نشان میدهد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3 </a:t>
            </a:r>
            <a:r>
              <a:rPr lang="fa-IR" b="1" dirty="0">
                <a:cs typeface="B Nazanin" panose="00000400000000000000" pitchFamily="2" charset="-78"/>
              </a:rPr>
              <a:t>-تشخیص دقیق با پایش </a:t>
            </a:r>
            <a:r>
              <a:rPr lang="en-US" b="1" dirty="0">
                <a:cs typeface="B Nazanin" panose="00000400000000000000" pitchFamily="2" charset="-78"/>
              </a:rPr>
              <a:t>PH </a:t>
            </a:r>
            <a:r>
              <a:rPr lang="fa-IR" b="1" dirty="0">
                <a:cs typeface="B Nazanin" panose="00000400000000000000" pitchFamily="2" charset="-78"/>
              </a:rPr>
              <a:t>است ولی بعلت گران بودن و تهاجمی بودن </a:t>
            </a:r>
            <a:r>
              <a:rPr lang="fa-IR" b="1" dirty="0" smtClean="0">
                <a:cs typeface="B Nazanin" panose="00000400000000000000" pitchFamily="2" charset="-78"/>
              </a:rPr>
              <a:t>کمتر مورد </a:t>
            </a:r>
            <a:r>
              <a:rPr lang="fa-IR" b="1" dirty="0">
                <a:cs typeface="B Nazanin" panose="00000400000000000000" pitchFamily="2" charset="-78"/>
              </a:rPr>
              <a:t>استفاده قرار می </a:t>
            </a:r>
            <a:r>
              <a:rPr lang="fa-IR" b="1" dirty="0" smtClean="0">
                <a:cs typeface="B Nazanin" panose="00000400000000000000" pitchFamily="2" charset="-78"/>
              </a:rPr>
              <a:t>گیرد</a:t>
            </a:r>
          </a:p>
          <a:p>
            <a:pPr marL="0" indent="0">
              <a:buNone/>
            </a:pP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4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- در کل رفع علایم با آنتی اسید معیار تشخیصی خوب و راحتی است</a:t>
            </a:r>
          </a:p>
        </p:txBody>
      </p:sp>
    </p:spTree>
    <p:extLst>
      <p:ext uri="{BB962C8B-B14F-4D97-AF65-F5344CB8AC3E}">
        <p14:creationId xmlns:p14="http://schemas.microsoft.com/office/powerpoint/2010/main" val="360146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/>
              <a:t>درمان </a:t>
            </a:r>
            <a:r>
              <a:rPr lang="en-US" dirty="0"/>
              <a:t>treatment</a:t>
            </a:r>
            <a:br>
              <a:rPr lang="en-US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a-IR" b="1" dirty="0" smtClean="0">
                <a:cs typeface="B Nazanin" panose="00000400000000000000" pitchFamily="2" charset="-78"/>
              </a:rPr>
              <a:t>1</a:t>
            </a:r>
            <a:r>
              <a:rPr lang="fa-IR" b="1" dirty="0" smtClean="0">
                <a:solidFill>
                  <a:srgbClr val="FF0000"/>
                </a:solidFill>
                <a:cs typeface="B Nazanin" panose="00000400000000000000" pitchFamily="2" charset="-78"/>
              </a:rPr>
              <a:t>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- تغییر شیوه زندگی: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بالابردن سر 15 تا 20 درجه موقع خواب-اجتناب از خوردن غذا یا مایعات 2 </a:t>
            </a:r>
            <a:r>
              <a:rPr lang="fa-IR" b="1" dirty="0" smtClean="0">
                <a:cs typeface="B Nazanin" panose="00000400000000000000" pitchFamily="2" charset="-78"/>
              </a:rPr>
              <a:t>ساعت قبل </a:t>
            </a:r>
            <a:r>
              <a:rPr lang="fa-IR" b="1" dirty="0">
                <a:cs typeface="B Nazanin" panose="00000400000000000000" pitchFamily="2" charset="-78"/>
              </a:rPr>
              <a:t>از خواب-اجتناب از غذاهای پرچرب وادویه دار وسیگار والکل- کاهش وزن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2 - </a:t>
            </a:r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درمان دارویی: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الف-خط اول درمان دارویی </a:t>
            </a:r>
            <a:r>
              <a:rPr lang="fa-IR" b="1" dirty="0">
                <a:solidFill>
                  <a:srgbClr val="00B050"/>
                </a:solidFill>
                <a:cs typeface="B Nazanin" panose="00000400000000000000" pitchFamily="2" charset="-78"/>
              </a:rPr>
              <a:t>آنتی اسید های موضعی </a:t>
            </a:r>
            <a:r>
              <a:rPr lang="fa-IR" b="1" dirty="0">
                <a:cs typeface="B Nazanin" panose="00000400000000000000" pitchFamily="2" charset="-78"/>
              </a:rPr>
              <a:t>مثل هیدروکسید آلومینیوم </a:t>
            </a:r>
            <a:r>
              <a:rPr lang="fa-IR" b="1" dirty="0" smtClean="0">
                <a:cs typeface="B Nazanin" panose="00000400000000000000" pitchFamily="2" charset="-78"/>
              </a:rPr>
              <a:t>و هیدروکسید </a:t>
            </a:r>
            <a:r>
              <a:rPr lang="fa-IR" b="1" dirty="0">
                <a:cs typeface="B Nazanin" panose="00000400000000000000" pitchFamily="2" charset="-78"/>
              </a:rPr>
              <a:t>منیزیوم 30 دقیقه پس از غذا و پیش از خواب</a:t>
            </a: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ب- </a:t>
            </a:r>
            <a:r>
              <a:rPr lang="en-US" b="1" dirty="0">
                <a:solidFill>
                  <a:srgbClr val="00B050"/>
                </a:solidFill>
                <a:cs typeface="B Nazanin" panose="00000400000000000000" pitchFamily="2" charset="-78"/>
              </a:rPr>
              <a:t>H 2 </a:t>
            </a:r>
            <a:r>
              <a:rPr lang="fa-IR" b="1" dirty="0">
                <a:solidFill>
                  <a:srgbClr val="00B050"/>
                </a:solidFill>
                <a:cs typeface="B Nazanin" panose="00000400000000000000" pitchFamily="2" charset="-78"/>
              </a:rPr>
              <a:t>بلاکرها:سایمتیدین </a:t>
            </a:r>
            <a:r>
              <a:rPr lang="fa-IR" b="1" dirty="0">
                <a:cs typeface="B Nazanin" panose="00000400000000000000" pitchFamily="2" charset="-78"/>
              </a:rPr>
              <a:t>وفاموتیدین ونیزاتیدین 2 بار در روز</a:t>
            </a:r>
          </a:p>
          <a:p>
            <a:pPr marL="0" indent="0">
              <a:buNone/>
            </a:pPr>
            <a:r>
              <a:rPr lang="fa-IR" b="1" dirty="0">
                <a:solidFill>
                  <a:srgbClr val="00B050"/>
                </a:solidFill>
                <a:cs typeface="B Nazanin" panose="00000400000000000000" pitchFamily="2" charset="-78"/>
              </a:rPr>
              <a:t>ج-داروهای پیش برنده حرکات </a:t>
            </a:r>
            <a:r>
              <a:rPr lang="fa-IR" b="1" dirty="0">
                <a:cs typeface="B Nazanin" panose="00000400000000000000" pitchFamily="2" charset="-78"/>
              </a:rPr>
              <a:t>دودی:متوکلوپرامید-سیزاپراید 3تا 4 با در روز</a:t>
            </a:r>
          </a:p>
          <a:p>
            <a:pPr marL="0" indent="0">
              <a:buNone/>
            </a:pPr>
            <a:r>
              <a:rPr lang="fa-IR" b="1" dirty="0" smtClean="0">
                <a:solidFill>
                  <a:srgbClr val="00B050"/>
                </a:solidFill>
                <a:cs typeface="B Nazanin" panose="00000400000000000000" pitchFamily="2" charset="-78"/>
              </a:rPr>
              <a:t>د-مهار </a:t>
            </a:r>
            <a:r>
              <a:rPr lang="fa-IR" b="1" dirty="0">
                <a:solidFill>
                  <a:srgbClr val="00B050"/>
                </a:solidFill>
                <a:cs typeface="B Nazanin" panose="00000400000000000000" pitchFamily="2" charset="-78"/>
              </a:rPr>
              <a:t>کننده های پمپ </a:t>
            </a:r>
            <a:r>
              <a:rPr lang="fa-IR" b="1" dirty="0" smtClean="0">
                <a:solidFill>
                  <a:srgbClr val="00B050"/>
                </a:solidFill>
                <a:cs typeface="B Nazanin" panose="00000400000000000000" pitchFamily="2" charset="-78"/>
              </a:rPr>
              <a:t>پروتون </a:t>
            </a:r>
            <a:r>
              <a:rPr lang="en-US" b="1" dirty="0" smtClean="0">
                <a:solidFill>
                  <a:srgbClr val="00B050"/>
                </a:solidFill>
                <a:cs typeface="B Nazanin" panose="00000400000000000000" pitchFamily="2" charset="-78"/>
              </a:rPr>
              <a:t> : </a:t>
            </a:r>
            <a:r>
              <a:rPr lang="en-US" b="1" dirty="0" smtClean="0">
                <a:cs typeface="B Nazanin" panose="00000400000000000000" pitchFamily="2" charset="-78"/>
              </a:rPr>
              <a:t>PPI </a:t>
            </a:r>
            <a:r>
              <a:rPr lang="fa-IR" b="1" dirty="0" smtClean="0">
                <a:cs typeface="B Nazanin" panose="00000400000000000000" pitchFamily="2" charset="-78"/>
              </a:rPr>
              <a:t>امپرازول- </a:t>
            </a:r>
            <a:r>
              <a:rPr lang="fa-IR" b="1" dirty="0">
                <a:cs typeface="B Nazanin" panose="00000400000000000000" pitchFamily="2" charset="-78"/>
              </a:rPr>
              <a:t>لانزوپرازول </a:t>
            </a:r>
            <a:r>
              <a:rPr lang="fa-IR" b="1" dirty="0" smtClean="0">
                <a:cs typeface="B Nazanin" panose="00000400000000000000" pitchFamily="2" charset="-78"/>
              </a:rPr>
              <a:t>و پنتوپرازول</a:t>
            </a:r>
            <a:endParaRPr lang="fa-IR" b="1" dirty="0">
              <a:cs typeface="B Nazanin" panose="00000400000000000000" pitchFamily="2" charset="-78"/>
            </a:endParaRPr>
          </a:p>
          <a:p>
            <a:pPr marL="0" indent="0">
              <a:buNone/>
            </a:pPr>
            <a:r>
              <a:rPr lang="fa-IR" b="1" dirty="0">
                <a:cs typeface="B Nazanin" panose="00000400000000000000" pitchFamily="2" charset="-78"/>
              </a:rPr>
              <a:t>در صورت شکست تمام درمانها</a:t>
            </a:r>
            <a:r>
              <a:rPr lang="fa-IR" b="1" dirty="0" smtClean="0">
                <a:cs typeface="B Nazanin" panose="00000400000000000000" pitchFamily="2" charset="-78"/>
              </a:rPr>
              <a:t>: جراحی </a:t>
            </a:r>
            <a:r>
              <a:rPr lang="fa-IR" b="1" dirty="0">
                <a:cs typeface="B Nazanin" panose="00000400000000000000" pitchFamily="2" charset="-78"/>
              </a:rPr>
              <a:t>ضد ریفلاکس</a:t>
            </a:r>
          </a:p>
        </p:txBody>
      </p:sp>
    </p:spTree>
    <p:extLst>
      <p:ext uri="{BB962C8B-B14F-4D97-AF65-F5344CB8AC3E}">
        <p14:creationId xmlns:p14="http://schemas.microsoft.com/office/powerpoint/2010/main" val="221192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عوارض بیمار ی ریفلاکس</a:t>
            </a:r>
            <a:br>
              <a:rPr lang="fa-IR" dirty="0"/>
            </a:b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a-IR" b="1" dirty="0" smtClean="0"/>
              <a:t>1 – ازوفاژیت</a:t>
            </a:r>
          </a:p>
          <a:p>
            <a:pPr marL="0" indent="0">
              <a:buNone/>
            </a:pPr>
            <a:endParaRPr lang="fa-IR" b="1" dirty="0"/>
          </a:p>
          <a:p>
            <a:pPr marL="0" indent="0">
              <a:buNone/>
            </a:pPr>
            <a:r>
              <a:rPr lang="fa-IR" b="1" dirty="0"/>
              <a:t>2 -زخم </a:t>
            </a:r>
            <a:r>
              <a:rPr lang="en-US" dirty="0" smtClean="0"/>
              <a:t>ulcer</a:t>
            </a:r>
            <a:endParaRPr lang="fa-IR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fa-IR" b="1" dirty="0"/>
              <a:t>3 -ایجاد تنگی در مری </a:t>
            </a:r>
            <a:r>
              <a:rPr lang="en-US" dirty="0"/>
              <a:t>esophageal stenosis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504172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a-IR" dirty="0" smtClean="0"/>
              <a:t>بدان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a-IR" sz="3600" b="1" dirty="0" smtClean="0"/>
              <a:t>دنیا مثل مادرت نیست که ظهر سرش داد بزنی و شب برای شام صدایت کند.دنیا ولت می کند تا از گرسنگی بمیری</a:t>
            </a:r>
            <a:endParaRPr lang="fa-IR" sz="3600" b="1" dirty="0"/>
          </a:p>
        </p:txBody>
      </p:sp>
    </p:spTree>
    <p:extLst>
      <p:ext uri="{BB962C8B-B14F-4D97-AF65-F5344CB8AC3E}">
        <p14:creationId xmlns:p14="http://schemas.microsoft.com/office/powerpoint/2010/main" val="10396742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132</TotalTime>
  <Words>690</Words>
  <Application>Microsoft Office PowerPoint</Application>
  <PresentationFormat>Widescreen</PresentationFormat>
  <Paragraphs>92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 Nazanin</vt:lpstr>
      <vt:lpstr>Tahoma</vt:lpstr>
      <vt:lpstr>Trebuchet MS</vt:lpstr>
      <vt:lpstr>Wingdings 3</vt:lpstr>
      <vt:lpstr>Facet</vt:lpstr>
      <vt:lpstr>جلسه سوم گوارش</vt:lpstr>
      <vt:lpstr> اختلالات مری esophageal disorders  </vt:lpstr>
      <vt:lpstr>علایم بیماریهای مری </vt:lpstr>
      <vt:lpstr>سوزش سر دل </vt:lpstr>
      <vt:lpstr>دیس فاژی </vt:lpstr>
      <vt:lpstr>اودینو فاژی </vt:lpstr>
      <vt:lpstr>درد قفسه سینه </vt:lpstr>
      <vt:lpstr>ریفلاکس گاسترو ازوفاژیال GERD </vt:lpstr>
      <vt:lpstr>علایم بیماری </vt:lpstr>
      <vt:lpstr>تشخیص  </vt:lpstr>
      <vt:lpstr>درمان treatment </vt:lpstr>
      <vt:lpstr>عوارض بیمار ی ریفلاکس </vt:lpstr>
      <vt:lpstr>بدان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جلسه سوم گوارش</dc:title>
  <dc:creator>Andisheh</dc:creator>
  <cp:lastModifiedBy>Andisheh</cp:lastModifiedBy>
  <cp:revision>33</cp:revision>
  <dcterms:created xsi:type="dcterms:W3CDTF">2024-10-15T18:33:55Z</dcterms:created>
  <dcterms:modified xsi:type="dcterms:W3CDTF">2026-10-17T19:07:34Z</dcterms:modified>
</cp:coreProperties>
</file>