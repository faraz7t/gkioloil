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5" r:id="rId16"/>
    <p:sldId id="269" r:id="rId17"/>
    <p:sldId id="270" r:id="rId18"/>
    <p:sldId id="271" r:id="rId19"/>
    <p:sldId id="275" r:id="rId20"/>
    <p:sldId id="279" r:id="rId21"/>
    <p:sldId id="272" r:id="rId22"/>
    <p:sldId id="277" r:id="rId23"/>
    <p:sldId id="273" r:id="rId24"/>
    <p:sldId id="274" r:id="rId25"/>
    <p:sldId id="296" r:id="rId26"/>
    <p:sldId id="280" r:id="rId27"/>
    <p:sldId id="294" r:id="rId28"/>
    <p:sldId id="281" r:id="rId29"/>
    <p:sldId id="293" r:id="rId30"/>
    <p:sldId id="282" r:id="rId31"/>
    <p:sldId id="283" r:id="rId32"/>
    <p:sldId id="284" r:id="rId33"/>
    <p:sldId id="278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5257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5027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3692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8720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0641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7015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258817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2071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2711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16711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377176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719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810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353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986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016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007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825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273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334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515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0C226">
                  <a:lumMod val="60000"/>
                  <a:lumOff val="4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771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660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09271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1585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9694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75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BAF00-9C8F-479F-9D75-5466DFE9578A}" type="datetimeFigureOut">
              <a:rPr lang="fa-IR" smtClean="0"/>
              <a:t>04/28/1448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AAFFF-5D4A-4EFD-ABB3-EFD9F8DDA27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1830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FDA394-BFBD-4A6F-BFDC-0C92975CC66B}" type="datetimeFigureOut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04/28/1448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114125-7EFE-4C86-BAF3-2C0F282B002A}" type="slidenum">
              <a:rPr kumimoji="0" lang="fa-IR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a-IR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929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smtClean="0"/>
              <a:t>جلسه دوم گوارش</a:t>
            </a:r>
            <a:endParaRPr lang="fa-I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74293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بررسی فیزیکی </a:t>
            </a:r>
            <a:r>
              <a:rPr lang="en-US" smtClean="0"/>
              <a:t> physical </a:t>
            </a:r>
            <a:r>
              <a:rPr lang="en-US" dirty="0" smtClean="0"/>
              <a:t>exam</a:t>
            </a:r>
            <a:br>
              <a:rPr lang="en-US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معاینه شامل دهان و شکم و رکتوم می باشد</a:t>
            </a:r>
          </a:p>
          <a:p>
            <a:pPr marL="0" indent="0" algn="r" rtl="1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اول مشاهده صورت می گیرد دهان و زبان و قسمت </a:t>
            </a:r>
            <a:r>
              <a:rPr lang="fa-IR" dirty="0" smtClean="0">
                <a:cs typeface="B Nazanin" panose="00000400000000000000" pitchFamily="2" charset="-78"/>
              </a:rPr>
              <a:t>داخلی گونه </a:t>
            </a:r>
            <a:r>
              <a:rPr lang="fa-IR" dirty="0">
                <a:cs typeface="B Nazanin" panose="00000400000000000000" pitchFamily="2" charset="-78"/>
              </a:rPr>
              <a:t>و لثه از نظر زخم و ندول و تورم و تغییر رنگ </a:t>
            </a:r>
            <a:r>
              <a:rPr lang="fa-IR" dirty="0" smtClean="0">
                <a:cs typeface="B Nazanin" panose="00000400000000000000" pitchFamily="2" charset="-78"/>
              </a:rPr>
              <a:t>والتهاب </a:t>
            </a:r>
            <a:r>
              <a:rPr lang="fa-IR" dirty="0">
                <a:cs typeface="B Nazanin" panose="00000400000000000000" pitchFamily="2" charset="-78"/>
              </a:rPr>
              <a:t>مشاهده می شود</a:t>
            </a:r>
          </a:p>
          <a:p>
            <a:pPr marL="0" indent="0" algn="r" rtl="1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مشاهده پوست شکم از نظر تغییر رنگ و وجود </a:t>
            </a:r>
            <a:r>
              <a:rPr lang="fa-IR" dirty="0" smtClean="0">
                <a:cs typeface="B Nazanin" panose="00000400000000000000" pitchFamily="2" charset="-78"/>
              </a:rPr>
              <a:t>اسکارهای قبلی </a:t>
            </a:r>
            <a:r>
              <a:rPr lang="fa-IR" dirty="0">
                <a:cs typeface="B Nazanin" panose="00000400000000000000" pitchFamily="2" charset="-78"/>
              </a:rPr>
              <a:t>انجام می شود</a:t>
            </a:r>
          </a:p>
        </p:txBody>
      </p:sp>
    </p:spTree>
    <p:extLst>
      <p:ext uri="{BB962C8B-B14F-4D97-AF65-F5344CB8AC3E}">
        <p14:creationId xmlns:p14="http://schemas.microsoft.com/office/powerpoint/2010/main" val="109482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سمع </a:t>
            </a:r>
            <a:r>
              <a:rPr lang="en-US" dirty="0" smtClean="0"/>
              <a:t> auscultation</a:t>
            </a:r>
            <a:br>
              <a:rPr lang="en-US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fa-IR" dirty="0" smtClean="0"/>
              <a:t>قبل </a:t>
            </a:r>
            <a:r>
              <a:rPr lang="fa-IR" dirty="0"/>
              <a:t>از دق و لمس انجام شود</a:t>
            </a:r>
          </a:p>
          <a:p>
            <a:pPr marL="0" indent="0" algn="r" rtl="1">
              <a:buNone/>
            </a:pPr>
            <a:r>
              <a:rPr lang="fa-IR" dirty="0"/>
              <a:t>صدای آرام قدم گذاشتن روی برف شنیده می </a:t>
            </a:r>
            <a:r>
              <a:rPr lang="fa-IR" dirty="0" smtClean="0"/>
              <a:t>شود</a:t>
            </a:r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>
                <a:solidFill>
                  <a:srgbClr val="FF0000"/>
                </a:solidFill>
              </a:rPr>
              <a:t>نرمال: </a:t>
            </a:r>
            <a:r>
              <a:rPr lang="fa-IR" dirty="0" smtClean="0">
                <a:solidFill>
                  <a:srgbClr val="FF0000"/>
                </a:solidFill>
              </a:rPr>
              <a:t>     2 تا </a:t>
            </a:r>
            <a:r>
              <a:rPr lang="fa-IR" dirty="0">
                <a:solidFill>
                  <a:srgbClr val="FF0000"/>
                </a:solidFill>
              </a:rPr>
              <a:t>10 صدا در دقیقه</a:t>
            </a:r>
          </a:p>
          <a:p>
            <a:pPr marL="0" indent="0" algn="r" rtl="1">
              <a:buNone/>
            </a:pPr>
            <a:r>
              <a:rPr lang="fa-IR" dirty="0" smtClean="0">
                <a:solidFill>
                  <a:srgbClr val="FF0000"/>
                </a:solidFill>
              </a:rPr>
              <a:t>هیپراکتیو:   بیش </a:t>
            </a:r>
            <a:r>
              <a:rPr lang="fa-IR" dirty="0">
                <a:solidFill>
                  <a:srgbClr val="FF0000"/>
                </a:solidFill>
              </a:rPr>
              <a:t>از 10 تا 12 صدا در </a:t>
            </a:r>
            <a:r>
              <a:rPr lang="fa-IR" dirty="0" smtClean="0">
                <a:solidFill>
                  <a:srgbClr val="FF0000"/>
                </a:solidFill>
              </a:rPr>
              <a:t>دقیقه</a:t>
            </a:r>
          </a:p>
          <a:p>
            <a:pPr marL="0" indent="0" algn="r" rtl="1">
              <a:buNone/>
            </a:pPr>
            <a:r>
              <a:rPr lang="fa-IR" dirty="0">
                <a:solidFill>
                  <a:srgbClr val="FF0000"/>
                </a:solidFill>
              </a:rPr>
              <a:t>هیپواکتیو :  یک تا دو صدا در دو </a:t>
            </a:r>
            <a:r>
              <a:rPr lang="fa-IR" dirty="0" smtClean="0">
                <a:solidFill>
                  <a:srgbClr val="FF0000"/>
                </a:solidFill>
              </a:rPr>
              <a:t>دقیقه</a:t>
            </a:r>
            <a:endParaRPr lang="fa-IR" dirty="0">
              <a:solidFill>
                <a:srgbClr val="FF0000"/>
              </a:solidFill>
            </a:endParaRPr>
          </a:p>
          <a:p>
            <a:pPr marL="0" indent="0" algn="r" rtl="1">
              <a:buNone/>
            </a:pPr>
            <a:r>
              <a:rPr lang="fa-IR" dirty="0">
                <a:solidFill>
                  <a:srgbClr val="FF0000"/>
                </a:solidFill>
              </a:rPr>
              <a:t>عدم صدا</a:t>
            </a:r>
            <a:r>
              <a:rPr lang="fa-IR" dirty="0" smtClean="0">
                <a:solidFill>
                  <a:srgbClr val="FF0000"/>
                </a:solidFill>
              </a:rPr>
              <a:t>:   نشنیدن </a:t>
            </a:r>
            <a:r>
              <a:rPr lang="fa-IR" dirty="0">
                <a:solidFill>
                  <a:srgbClr val="FF0000"/>
                </a:solidFill>
              </a:rPr>
              <a:t>صدا در 3 دقیقه</a:t>
            </a:r>
          </a:p>
        </p:txBody>
      </p:sp>
    </p:spTree>
    <p:extLst>
      <p:ext uri="{BB962C8B-B14F-4D97-AF65-F5344CB8AC3E}">
        <p14:creationId xmlns:p14="http://schemas.microsoft.com/office/powerpoint/2010/main" val="1458846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لمس </a:t>
            </a:r>
            <a:r>
              <a:rPr lang="en-US" dirty="0" smtClean="0"/>
              <a:t>palpation</a:t>
            </a:r>
            <a:br>
              <a:rPr lang="en-US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/>
              <a:t>برای شناسایی </a:t>
            </a:r>
            <a:r>
              <a:rPr lang="fa-IR" dirty="0">
                <a:solidFill>
                  <a:srgbClr val="FF0000"/>
                </a:solidFill>
              </a:rPr>
              <a:t>حساسیت و </a:t>
            </a:r>
            <a:r>
              <a:rPr lang="fa-IR" dirty="0" smtClean="0">
                <a:solidFill>
                  <a:srgbClr val="FF0000"/>
                </a:solidFill>
              </a:rPr>
              <a:t>تورم </a:t>
            </a:r>
            <a:r>
              <a:rPr lang="fa-IR" dirty="0" smtClean="0"/>
              <a:t>، </a:t>
            </a:r>
            <a:r>
              <a:rPr lang="fa-IR" dirty="0"/>
              <a:t>لمس انجام </a:t>
            </a:r>
            <a:r>
              <a:rPr lang="fa-IR" dirty="0" smtClean="0"/>
              <a:t>میشود</a:t>
            </a:r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حساسیت</a:t>
            </a:r>
            <a:r>
              <a:rPr lang="fa-IR" dirty="0"/>
              <a:t> </a:t>
            </a:r>
            <a:r>
              <a:rPr lang="en-US" dirty="0" smtClean="0"/>
              <a:t> :</a:t>
            </a:r>
            <a:r>
              <a:rPr lang="en-US" b="1" dirty="0" smtClean="0"/>
              <a:t>tenderness </a:t>
            </a:r>
            <a:r>
              <a:rPr lang="fa-IR" dirty="0"/>
              <a:t>درد محل در </a:t>
            </a:r>
            <a:r>
              <a:rPr lang="fa-IR" dirty="0" smtClean="0"/>
              <a:t>موقع فشاردادن </a:t>
            </a:r>
            <a:r>
              <a:rPr lang="fa-IR" dirty="0"/>
              <a:t>است</a:t>
            </a:r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حساسیت برگشتی </a:t>
            </a:r>
            <a:r>
              <a:rPr lang="en-US" b="1" dirty="0" smtClean="0"/>
              <a:t> :rebound </a:t>
            </a:r>
            <a:r>
              <a:rPr lang="en-US" b="1" dirty="0"/>
              <a:t>tenderness </a:t>
            </a:r>
            <a:r>
              <a:rPr lang="fa-IR" dirty="0" smtClean="0"/>
              <a:t>درد شدید </a:t>
            </a:r>
            <a:r>
              <a:rPr lang="fa-IR" dirty="0"/>
              <a:t>موقع </a:t>
            </a:r>
            <a:r>
              <a:rPr lang="fa-IR" dirty="0" smtClean="0"/>
              <a:t>برداشتن </a:t>
            </a:r>
            <a:r>
              <a:rPr lang="fa-IR" dirty="0"/>
              <a:t>فشار است</a:t>
            </a:r>
          </a:p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en-US" b="1" dirty="0" err="1" smtClean="0"/>
              <a:t>Gourding</a:t>
            </a:r>
            <a:r>
              <a:rPr lang="fa-IR" b="1" dirty="0" smtClean="0"/>
              <a:t> گاردینگ </a:t>
            </a:r>
            <a:r>
              <a:rPr lang="fa-IR" dirty="0" smtClean="0"/>
              <a:t>:حالت </a:t>
            </a:r>
            <a:r>
              <a:rPr lang="fa-IR" dirty="0"/>
              <a:t>تخته مانند شدن </a:t>
            </a:r>
            <a:r>
              <a:rPr lang="fa-IR" dirty="0" smtClean="0"/>
              <a:t>شکم است.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33921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ارزیابی تشخیصی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fa-IR" b="1" dirty="0"/>
              <a:t>رادیوگرافی و سی تی اسکن</a:t>
            </a:r>
          </a:p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fa-IR" b="1" dirty="0"/>
              <a:t>اولترا سوند یا سونوگرافی</a:t>
            </a:r>
          </a:p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fa-IR" b="1" dirty="0"/>
              <a:t>اوسکوپی ها</a:t>
            </a:r>
          </a:p>
        </p:txBody>
      </p:sp>
    </p:spTree>
    <p:extLst>
      <p:ext uri="{BB962C8B-B14F-4D97-AF65-F5344CB8AC3E}">
        <p14:creationId xmlns:p14="http://schemas.microsoft.com/office/powerpoint/2010/main" val="337386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رادیو گرافی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r" rtl="1"/>
            <a:endParaRPr lang="fa-IR" dirty="0"/>
          </a:p>
          <a:p>
            <a:pPr marL="0" indent="0" algn="r" rtl="1">
              <a:buNone/>
            </a:pPr>
            <a:r>
              <a:rPr lang="fa-IR" dirty="0"/>
              <a:t>گاها رادیوگرافی ساده و گاها رادیو گرافی با بلع </a:t>
            </a:r>
            <a:r>
              <a:rPr lang="fa-IR" dirty="0" smtClean="0"/>
              <a:t>ماده رادیواوپک </a:t>
            </a:r>
            <a:r>
              <a:rPr lang="fa-IR" dirty="0"/>
              <a:t>مثل بلع </a:t>
            </a:r>
            <a:r>
              <a:rPr lang="fa-IR" dirty="0" smtClean="0"/>
              <a:t>سولفات باریوم (فلوروسکوپی)</a:t>
            </a:r>
          </a:p>
          <a:p>
            <a:pPr marL="0" indent="0" algn="r" rtl="1">
              <a:buNone/>
            </a:pPr>
            <a:r>
              <a:rPr lang="fa-IR" dirty="0" smtClean="0"/>
              <a:t> انجام میشودکه </a:t>
            </a:r>
            <a:r>
              <a:rPr lang="fa-IR" dirty="0"/>
              <a:t>به تشخیص اختلالات ساختاری مثل انسداد و زخم </a:t>
            </a:r>
            <a:r>
              <a:rPr lang="fa-IR" dirty="0" smtClean="0"/>
              <a:t>وتومور </a:t>
            </a:r>
            <a:r>
              <a:rPr lang="fa-IR" dirty="0"/>
              <a:t>و واریس کمک می کند</a:t>
            </a:r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/>
              <a:t>بیمار از چند روز قبل از پروسیچر غذای کم </a:t>
            </a:r>
            <a:r>
              <a:rPr lang="fa-IR" dirty="0" smtClean="0"/>
              <a:t>باقیمانده بخورد</a:t>
            </a:r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/>
              <a:t>برای تمیز کردن روده ملین داده می شود</a:t>
            </a:r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/>
              <a:t>از نیمه شب قبل از عمل </a:t>
            </a:r>
            <a:r>
              <a:rPr lang="en-US" dirty="0"/>
              <a:t>NPO </a:t>
            </a:r>
            <a:r>
              <a:rPr lang="fa-IR" dirty="0"/>
              <a:t>بماند و دخانیات </a:t>
            </a:r>
            <a:r>
              <a:rPr lang="fa-IR" dirty="0" smtClean="0"/>
              <a:t>مصرف نکند</a:t>
            </a:r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/>
              <a:t>بعد از انجام پروسیچر جهت دفع بهتر باریوم مایعات </a:t>
            </a:r>
            <a:r>
              <a:rPr lang="fa-IR" dirty="0" smtClean="0"/>
              <a:t>زیاد مصرف </a:t>
            </a:r>
            <a:r>
              <a:rPr lang="fa-IR" dirty="0"/>
              <a:t>کند</a:t>
            </a:r>
          </a:p>
        </p:txBody>
      </p:sp>
    </p:spTree>
    <p:extLst>
      <p:ext uri="{BB962C8B-B14F-4D97-AF65-F5344CB8AC3E}">
        <p14:creationId xmlns:p14="http://schemas.microsoft.com/office/powerpoint/2010/main" val="166132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a-IR" dirty="0" smtClean="0"/>
              <a:t>فیبروسکوپی یا آندوسکوپی یا ازوفاگوگاسترودئودنوسکوپی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fa-IR" b="1" dirty="0"/>
              <a:t>با یک اسکوپ ارتجاعی مجهز به دوربین در نوک آن انجام </a:t>
            </a:r>
            <a:r>
              <a:rPr lang="fa-IR" b="1" dirty="0" smtClean="0"/>
              <a:t>میشود</a:t>
            </a:r>
          </a:p>
          <a:p>
            <a:pPr marL="0" indent="0" algn="r" rtl="1">
              <a:buNone/>
            </a:pPr>
            <a:endParaRPr lang="fa-IR" b="1" dirty="0"/>
          </a:p>
          <a:p>
            <a:pPr marL="0" indent="0" algn="r" rtl="1">
              <a:buNone/>
            </a:pPr>
            <a:r>
              <a:rPr lang="fa-IR" b="1" dirty="0" smtClean="0"/>
              <a:t>1-آنرمالیهای </a:t>
            </a:r>
            <a:r>
              <a:rPr lang="fa-IR" b="1" dirty="0"/>
              <a:t>احتمالی در مری و معده و دئودنوم مثل التهاب و </a:t>
            </a:r>
            <a:r>
              <a:rPr lang="fa-IR" b="1" dirty="0" smtClean="0"/>
              <a:t>زخم وتومور </a:t>
            </a:r>
            <a:r>
              <a:rPr lang="fa-IR" b="1" dirty="0"/>
              <a:t>و واریس وحرکات گوارشی قابل مشاهده </a:t>
            </a:r>
            <a:r>
              <a:rPr lang="fa-IR" b="1" dirty="0" smtClean="0"/>
              <a:t>است</a:t>
            </a:r>
            <a:endParaRPr lang="fa-IR" b="1" dirty="0"/>
          </a:p>
          <a:p>
            <a:pPr marL="0" indent="0" algn="r" rtl="1">
              <a:buNone/>
            </a:pPr>
            <a:r>
              <a:rPr lang="fa-IR" b="1" dirty="0" smtClean="0"/>
              <a:t>2-برای </a:t>
            </a:r>
            <a:r>
              <a:rPr lang="fa-IR" b="1" dirty="0"/>
              <a:t>اسکلروتراپی و برداشتن نمونه و درآوردن جسم </a:t>
            </a:r>
            <a:r>
              <a:rPr lang="fa-IR" b="1" dirty="0" smtClean="0"/>
              <a:t>خارجی استفاده </a:t>
            </a:r>
            <a:r>
              <a:rPr lang="fa-IR" b="1" dirty="0"/>
              <a:t>می شود</a:t>
            </a:r>
          </a:p>
          <a:p>
            <a:pPr marL="0" indent="0" algn="r" rtl="1">
              <a:buNone/>
            </a:pPr>
            <a:endParaRPr lang="fa-IR" dirty="0">
              <a:solidFill>
                <a:srgbClr val="00B0F0"/>
              </a:solidFill>
            </a:endParaRPr>
          </a:p>
          <a:p>
            <a:pPr marL="0" indent="0" algn="r" rtl="1">
              <a:buNone/>
            </a:pPr>
            <a:r>
              <a:rPr lang="fa-IR" dirty="0">
                <a:solidFill>
                  <a:srgbClr val="00B0F0"/>
                </a:solidFill>
              </a:rPr>
              <a:t>بیمار 6 تا 12 ساعت قبل </a:t>
            </a:r>
            <a:r>
              <a:rPr lang="en-US" dirty="0" err="1">
                <a:solidFill>
                  <a:srgbClr val="00B0F0"/>
                </a:solidFill>
              </a:rPr>
              <a:t>npo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fa-IR" dirty="0" smtClean="0">
                <a:solidFill>
                  <a:srgbClr val="00B0F0"/>
                </a:solidFill>
              </a:rPr>
              <a:t> بماند.</a:t>
            </a:r>
            <a:endParaRPr lang="fa-IR" dirty="0">
              <a:solidFill>
                <a:srgbClr val="00B0F0"/>
              </a:solidFill>
            </a:endParaRPr>
          </a:p>
          <a:p>
            <a:pPr marL="0" indent="0" algn="r" rtl="1">
              <a:buNone/>
            </a:pPr>
            <a:r>
              <a:rPr lang="fa-IR" dirty="0">
                <a:solidFill>
                  <a:srgbClr val="00B0F0"/>
                </a:solidFill>
              </a:rPr>
              <a:t>در حین عمل بیمار به پهلوی چپ می </a:t>
            </a:r>
            <a:r>
              <a:rPr lang="fa-IR" dirty="0" smtClean="0">
                <a:solidFill>
                  <a:srgbClr val="00B0F0"/>
                </a:solidFill>
              </a:rPr>
              <a:t>خوابد</a:t>
            </a:r>
            <a:endParaRPr lang="fa-IR" dirty="0">
              <a:solidFill>
                <a:srgbClr val="00B0F0"/>
              </a:solidFill>
            </a:endParaRPr>
          </a:p>
          <a:p>
            <a:pPr marL="0" indent="0" algn="r" rtl="1">
              <a:buNone/>
            </a:pPr>
            <a:r>
              <a:rPr lang="fa-IR" dirty="0">
                <a:solidFill>
                  <a:srgbClr val="00B0F0"/>
                </a:solidFill>
              </a:rPr>
              <a:t>ممکن است آرام بخش تزریق </a:t>
            </a:r>
            <a:r>
              <a:rPr lang="fa-IR" dirty="0" smtClean="0">
                <a:solidFill>
                  <a:srgbClr val="00B0F0"/>
                </a:solidFill>
              </a:rPr>
              <a:t>شود</a:t>
            </a:r>
            <a:endParaRPr lang="fa-IR" dirty="0">
              <a:solidFill>
                <a:srgbClr val="00B0F0"/>
              </a:solidFill>
            </a:endParaRPr>
          </a:p>
          <a:p>
            <a:pPr marL="0" indent="0" algn="r" rtl="1">
              <a:buNone/>
            </a:pPr>
            <a:r>
              <a:rPr lang="fa-IR" dirty="0">
                <a:solidFill>
                  <a:srgbClr val="00B0F0"/>
                </a:solidFill>
              </a:rPr>
              <a:t>1 تا 2 ساعت بعد از پروسیچر هم چیزی نخورد تا رفلکس </a:t>
            </a:r>
            <a:r>
              <a:rPr lang="fa-IR" dirty="0" smtClean="0">
                <a:solidFill>
                  <a:srgbClr val="00B0F0"/>
                </a:solidFill>
              </a:rPr>
              <a:t>گاگ(اوغ زدن) برگردد.</a:t>
            </a:r>
            <a:endParaRPr lang="fa-I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08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کولونوسکوپی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fa-IR" sz="2000" b="1" dirty="0" smtClean="0"/>
              <a:t>از </a:t>
            </a:r>
            <a:r>
              <a:rPr lang="fa-IR" sz="2000" b="1" dirty="0"/>
              <a:t>رکتوم تا ابتدای کولون صعودی قابل بررسی است</a:t>
            </a:r>
          </a:p>
          <a:p>
            <a:pPr marL="0" indent="0" algn="r" rtl="1">
              <a:buNone/>
            </a:pPr>
            <a:endParaRPr lang="fa-IR" sz="2000" dirty="0"/>
          </a:p>
          <a:p>
            <a:pPr marL="0" indent="0" algn="r" rtl="1">
              <a:buNone/>
            </a:pPr>
            <a:r>
              <a:rPr lang="fa-IR" sz="2000" b="1" dirty="0" smtClean="0"/>
              <a:t>1-از </a:t>
            </a:r>
            <a:r>
              <a:rPr lang="fa-IR" sz="2000" b="1" dirty="0"/>
              <a:t>نظر پولیپ وزخم وخونریزی و توده و حرکات لوله بررسی میشود</a:t>
            </a:r>
          </a:p>
          <a:p>
            <a:pPr marL="0" indent="0" algn="r" rtl="1">
              <a:buNone/>
            </a:pPr>
            <a:r>
              <a:rPr lang="fa-IR" sz="2000" b="1" dirty="0" smtClean="0"/>
              <a:t>2-گاها </a:t>
            </a:r>
            <a:r>
              <a:rPr lang="fa-IR" sz="2000" b="1" dirty="0"/>
              <a:t>برای دکمپرس کردن انجام میشود</a:t>
            </a:r>
          </a:p>
          <a:p>
            <a:pPr marL="0" indent="0" algn="r" rtl="1">
              <a:buNone/>
            </a:pPr>
            <a:r>
              <a:rPr lang="fa-IR" sz="2000" b="1" dirty="0" smtClean="0"/>
              <a:t>3-گاها </a:t>
            </a:r>
            <a:r>
              <a:rPr lang="fa-IR" sz="2000" b="1" dirty="0"/>
              <a:t>برای نمونه برداری و برداشتن توده وپولیپ و </a:t>
            </a:r>
            <a:r>
              <a:rPr lang="fa-IR" sz="2000" b="1" dirty="0" smtClean="0"/>
              <a:t>گاها اسکلروتراپی انجام </a:t>
            </a:r>
            <a:r>
              <a:rPr lang="fa-IR" sz="2000" b="1" dirty="0"/>
              <a:t>میشود</a:t>
            </a:r>
          </a:p>
          <a:p>
            <a:pPr marL="0" indent="0" algn="r" rtl="1">
              <a:buNone/>
            </a:pPr>
            <a:endParaRPr lang="fa-IR" sz="2000" dirty="0"/>
          </a:p>
          <a:p>
            <a:pPr marL="0" indent="0" algn="r" rtl="1">
              <a:buNone/>
            </a:pPr>
            <a:r>
              <a:rPr lang="fa-IR" sz="2000" b="1" dirty="0"/>
              <a:t>برای دیدن بهتر باید روده کاملا تمیز </a:t>
            </a:r>
            <a:r>
              <a:rPr lang="fa-IR" sz="2000" b="1" dirty="0" smtClean="0"/>
              <a:t>شود</a:t>
            </a:r>
            <a:endParaRPr lang="fa-IR" sz="2000" dirty="0"/>
          </a:p>
          <a:p>
            <a:pPr marL="0" indent="0" algn="r" rtl="1">
              <a:buNone/>
            </a:pPr>
            <a:r>
              <a:rPr lang="fa-IR" sz="2000" b="1" dirty="0"/>
              <a:t>از روز قبل غیر از آبمیوه بدون تفاله وعسل چیزی </a:t>
            </a:r>
            <a:r>
              <a:rPr lang="fa-IR" sz="2000" b="1" dirty="0" smtClean="0"/>
              <a:t>نخورد و </a:t>
            </a:r>
            <a:r>
              <a:rPr lang="fa-IR" sz="2000" b="1" dirty="0"/>
              <a:t>برای </a:t>
            </a:r>
            <a:r>
              <a:rPr lang="fa-IR" sz="2000" b="1" dirty="0" smtClean="0"/>
              <a:t>تمیزکردن </a:t>
            </a:r>
            <a:r>
              <a:rPr lang="fa-IR" sz="2000" b="1" dirty="0"/>
              <a:t>روده ملین های خاص مثل پیدرولاکس وبیزاکودیل وشربت </a:t>
            </a:r>
            <a:r>
              <a:rPr lang="fa-IR" sz="2000" b="1" dirty="0" smtClean="0"/>
              <a:t>سنامصرف </a:t>
            </a:r>
            <a:r>
              <a:rPr lang="fa-IR" sz="2000" b="1" dirty="0"/>
              <a:t>می </a:t>
            </a:r>
            <a:r>
              <a:rPr lang="fa-IR" sz="2000" b="1" dirty="0" smtClean="0"/>
              <a:t>شو د و </a:t>
            </a:r>
            <a:r>
              <a:rPr lang="fa-IR" sz="2000" b="1" dirty="0"/>
              <a:t>از 12 ساعت قبل چیزی دریافت </a:t>
            </a:r>
            <a:r>
              <a:rPr lang="fa-IR" sz="2000" b="1" dirty="0" smtClean="0"/>
              <a:t>نکند.</a:t>
            </a:r>
          </a:p>
          <a:p>
            <a:pPr marL="0" indent="0" algn="r" rtl="1">
              <a:buNone/>
            </a:pPr>
            <a:r>
              <a:rPr lang="fa-IR" sz="2000" b="1" dirty="0" smtClean="0"/>
              <a:t>اخیرا دارویی بنام </a:t>
            </a:r>
            <a:r>
              <a:rPr lang="fa-IR" sz="2000" b="1" dirty="0" smtClean="0">
                <a:solidFill>
                  <a:srgbClr val="FF0000"/>
                </a:solidFill>
              </a:rPr>
              <a:t>نونا پیک </a:t>
            </a:r>
            <a:r>
              <a:rPr lang="fa-IR" sz="2000" b="1" dirty="0" smtClean="0"/>
              <a:t>که به شکل پودر است برای تمیز کردن روده استفاده می شود. </a:t>
            </a:r>
            <a:endParaRPr lang="fa-IR" sz="2000" dirty="0"/>
          </a:p>
        </p:txBody>
      </p:sp>
    </p:spTree>
    <p:extLst>
      <p:ext uri="{BB962C8B-B14F-4D97-AF65-F5344CB8AC3E}">
        <p14:creationId xmlns:p14="http://schemas.microsoft.com/office/powerpoint/2010/main" val="4038384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مراقبتهای موقع کولونوسکوپی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2400" b="1" dirty="0" smtClean="0"/>
              <a:t>از </a:t>
            </a:r>
            <a:r>
              <a:rPr lang="fa-IR" sz="2400" b="1" dirty="0"/>
              <a:t>بیمار رضایت آگاهانه گرفته میشود</a:t>
            </a:r>
          </a:p>
          <a:p>
            <a:pPr algn="r" rtl="1"/>
            <a:r>
              <a:rPr lang="fa-IR" sz="2400" b="1" dirty="0" smtClean="0"/>
              <a:t>بیماربه </a:t>
            </a:r>
            <a:r>
              <a:rPr lang="fa-IR" sz="2400" b="1" dirty="0"/>
              <a:t>پهلوی چپ می خوابد و زانوها به شکم خم میشود</a:t>
            </a:r>
          </a:p>
          <a:p>
            <a:pPr algn="r" rtl="1"/>
            <a:endParaRPr lang="fa-IR" sz="2400" b="1" dirty="0"/>
          </a:p>
          <a:p>
            <a:pPr algn="r" rtl="1"/>
            <a:r>
              <a:rPr lang="fa-IR" sz="2400" b="1" dirty="0"/>
              <a:t>جهت کنترل درد ناشی از دادن هوا مسکن </a:t>
            </a:r>
            <a:r>
              <a:rPr lang="fa-IR" sz="2400" b="1" dirty="0" smtClean="0"/>
              <a:t>وآرامبخش مناسب </a:t>
            </a:r>
            <a:r>
              <a:rPr lang="fa-IR" sz="2400" b="1" dirty="0"/>
              <a:t>تزریق </a:t>
            </a:r>
            <a:r>
              <a:rPr lang="fa-IR" sz="2400" b="1" dirty="0" smtClean="0"/>
              <a:t>میشود</a:t>
            </a:r>
          </a:p>
          <a:p>
            <a:pPr algn="r" rtl="1"/>
            <a:endParaRPr lang="fa-IR" sz="2400" b="1" dirty="0"/>
          </a:p>
          <a:p>
            <a:pPr algn="r" rtl="1"/>
            <a:r>
              <a:rPr lang="fa-IR" sz="2400" b="1" dirty="0">
                <a:solidFill>
                  <a:srgbClr val="FF0000"/>
                </a:solidFill>
              </a:rPr>
              <a:t>بیمار از نظر تحریک عصب واگ </a:t>
            </a:r>
            <a:r>
              <a:rPr lang="fa-IR" sz="2400" b="1" dirty="0" smtClean="0">
                <a:solidFill>
                  <a:srgbClr val="FF0000"/>
                </a:solidFill>
              </a:rPr>
              <a:t> و افت </a:t>
            </a:r>
            <a:r>
              <a:rPr lang="fa-IR" sz="2400" b="1" dirty="0">
                <a:solidFill>
                  <a:srgbClr val="FF0000"/>
                </a:solidFill>
              </a:rPr>
              <a:t>فشار </a:t>
            </a:r>
            <a:r>
              <a:rPr lang="fa-IR" sz="2400" b="1" dirty="0" smtClean="0">
                <a:solidFill>
                  <a:srgbClr val="FF0000"/>
                </a:solidFill>
              </a:rPr>
              <a:t>و آریتمی قلبی </a:t>
            </a:r>
            <a:r>
              <a:rPr lang="fa-IR" sz="2400" b="1" dirty="0">
                <a:solidFill>
                  <a:srgbClr val="FF0000"/>
                </a:solidFill>
              </a:rPr>
              <a:t>مدام پایش می شود</a:t>
            </a:r>
          </a:p>
          <a:p>
            <a:pPr algn="r" rtl="1"/>
            <a:endParaRPr lang="fa-IR" sz="2400" b="1" dirty="0"/>
          </a:p>
          <a:p>
            <a:pPr algn="r" rtl="1"/>
            <a:r>
              <a:rPr lang="fa-IR" sz="2400" b="1" dirty="0"/>
              <a:t>بعد از پروسیچر تا برگشت کامل هوشیاری واستیبل </a:t>
            </a:r>
            <a:r>
              <a:rPr lang="fa-IR" sz="2400" b="1" dirty="0" smtClean="0"/>
              <a:t>شدن باید </a:t>
            </a:r>
            <a:r>
              <a:rPr lang="fa-IR" sz="2400" b="1" dirty="0"/>
              <a:t>تحت نظر بماند</a:t>
            </a:r>
          </a:p>
        </p:txBody>
      </p:sp>
    </p:spTree>
    <p:extLst>
      <p:ext uri="{BB962C8B-B14F-4D97-AF65-F5344CB8AC3E}">
        <p14:creationId xmlns:p14="http://schemas.microsoft.com/office/powerpoint/2010/main" val="10248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/>
              <a:t>سونوگرافی شکم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روش غیر تهاجمی و بی ضرر است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از امواج صوتی با فرکانس بالا استفاده میشود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در تشخیص اختلالات کبد وکیسه صفرا </a:t>
            </a:r>
            <a:r>
              <a:rPr lang="fa-IR" sz="2400" b="1" dirty="0" smtClean="0"/>
              <a:t>وسنگهای صفرا </a:t>
            </a:r>
            <a:r>
              <a:rPr lang="fa-IR" sz="2400" b="1" dirty="0"/>
              <a:t>وکلیه وآپاندیسیت مفید است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برای سونوگرافی روده بهتر است </a:t>
            </a:r>
            <a:r>
              <a:rPr lang="fa-IR" sz="2400" b="1" dirty="0" smtClean="0"/>
              <a:t> بیماراز </a:t>
            </a:r>
            <a:r>
              <a:rPr lang="fa-IR" sz="2400" b="1" dirty="0"/>
              <a:t>8 ساعت </a:t>
            </a:r>
            <a:r>
              <a:rPr lang="fa-IR" sz="2400" b="1" dirty="0" smtClean="0"/>
              <a:t>قبل جهت </a:t>
            </a:r>
            <a:r>
              <a:rPr lang="fa-IR" sz="2400" b="1" dirty="0"/>
              <a:t>کاهش گاز روده </a:t>
            </a:r>
            <a:r>
              <a:rPr lang="en-US" sz="2400" b="1" dirty="0" err="1"/>
              <a:t>npo</a:t>
            </a:r>
            <a:r>
              <a:rPr lang="en-US" sz="2400" b="1" dirty="0"/>
              <a:t> </a:t>
            </a:r>
            <a:r>
              <a:rPr lang="fa-IR" sz="2400" b="1" dirty="0"/>
              <a:t>بماند</a:t>
            </a:r>
          </a:p>
        </p:txBody>
      </p:sp>
    </p:spTree>
    <p:extLst>
      <p:ext uri="{BB962C8B-B14F-4D97-AF65-F5344CB8AC3E}">
        <p14:creationId xmlns:p14="http://schemas.microsoft.com/office/powerpoint/2010/main" val="2752202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سی تی اسکن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sz="2400" b="1" dirty="0" smtClean="0"/>
              <a:t>تصاویر </a:t>
            </a:r>
            <a:r>
              <a:rPr lang="fa-IR" sz="2400" b="1" dirty="0"/>
              <a:t>عرضی از ارگانهای شکمی نشان میدهد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ممکن است ساده و یا با کنتراست خوراکی </a:t>
            </a:r>
            <a:r>
              <a:rPr lang="fa-IR" sz="2400" b="1" dirty="0" smtClean="0"/>
              <a:t>و یا </a:t>
            </a:r>
            <a:r>
              <a:rPr lang="fa-IR" sz="2400" b="1" dirty="0"/>
              <a:t>وریدی باشد</a:t>
            </a:r>
          </a:p>
          <a:p>
            <a:pPr marL="0" indent="0" algn="r" rtl="1">
              <a:buNone/>
            </a:pPr>
            <a:r>
              <a:rPr lang="fa-IR" sz="1800" b="1" dirty="0" smtClean="0"/>
              <a:t>کنتراست خوراکی داخل 1لیتر آب حل شده و بیمار از 6 ساعت قبل از اسکن هر ساعت یک لیوان را می خورد و آخرین لیوان را حین انجام اسکن می خورد تا کل دستگاه گوارش دیده بشود.</a:t>
            </a:r>
            <a:endParaRPr lang="fa-IR" sz="1800" b="1" dirty="0"/>
          </a:p>
          <a:p>
            <a:pPr marL="0" indent="0" algn="r" rtl="1">
              <a:buNone/>
            </a:pPr>
            <a:r>
              <a:rPr lang="fa-IR" sz="2400" b="1" dirty="0"/>
              <a:t>بیمار از 6 تا 8 ساعت قبل </a:t>
            </a:r>
            <a:r>
              <a:rPr lang="en-US" sz="2400" b="1" dirty="0" err="1"/>
              <a:t>npo</a:t>
            </a:r>
            <a:r>
              <a:rPr lang="en-US" sz="2400" b="1" dirty="0"/>
              <a:t> </a:t>
            </a:r>
            <a:r>
              <a:rPr lang="fa-IR" sz="2400" b="1" dirty="0" smtClean="0"/>
              <a:t>میماند</a:t>
            </a: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قبل از تزریق کنتراست وریدی اطلاع از </a:t>
            </a:r>
            <a:r>
              <a:rPr lang="fa-IR" sz="2400" b="1" dirty="0">
                <a:solidFill>
                  <a:srgbClr val="FF0000"/>
                </a:solidFill>
              </a:rPr>
              <a:t>عملکرد </a:t>
            </a:r>
            <a:r>
              <a:rPr lang="fa-IR" sz="2400" b="1" dirty="0" smtClean="0">
                <a:solidFill>
                  <a:srgbClr val="FF0000"/>
                </a:solidFill>
              </a:rPr>
              <a:t>کلیوی </a:t>
            </a:r>
            <a:r>
              <a:rPr lang="fa-IR" sz="2400" b="1" dirty="0" smtClean="0"/>
              <a:t>ضروری است</a:t>
            </a: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در </a:t>
            </a:r>
            <a:r>
              <a:rPr lang="fa-IR" sz="2400" b="1" dirty="0" smtClean="0"/>
              <a:t> خانمهای حامله ، رادیوگرافی و اسکن کنتراندیکه </a:t>
            </a:r>
            <a:r>
              <a:rPr lang="fa-IR" sz="2400" b="1" dirty="0"/>
              <a:t>است</a:t>
            </a:r>
          </a:p>
        </p:txBody>
      </p:sp>
    </p:spTree>
    <p:extLst>
      <p:ext uri="{BB962C8B-B14F-4D97-AF65-F5344CB8AC3E}">
        <p14:creationId xmlns:p14="http://schemas.microsoft.com/office/powerpoint/2010/main" val="4058171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تست مدفوع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/>
              <a:t>Stool </a:t>
            </a:r>
            <a:r>
              <a:rPr lang="en-US" sz="2400" b="1" dirty="0" smtClean="0"/>
              <a:t>exam</a:t>
            </a:r>
            <a:r>
              <a:rPr lang="fa-IR" sz="2400" b="1" dirty="0" smtClean="0"/>
              <a:t>:</a:t>
            </a:r>
            <a:r>
              <a:rPr lang="en-US" sz="2400" b="1" dirty="0" smtClean="0"/>
              <a:t>S/E</a:t>
            </a:r>
            <a:endParaRPr lang="en-US" sz="2400" b="1" dirty="0"/>
          </a:p>
          <a:p>
            <a:pPr marL="0" indent="0" algn="r" rtl="1">
              <a:buNone/>
            </a:pPr>
            <a:r>
              <a:rPr lang="fa-IR" sz="2400" b="1" dirty="0"/>
              <a:t>از نظر وجود انگل ها وپاتوژن ها </a:t>
            </a:r>
            <a:r>
              <a:rPr lang="fa-IR" sz="2400" b="1" dirty="0" smtClean="0"/>
              <a:t>وسایرمحتویات </a:t>
            </a:r>
            <a:r>
              <a:rPr lang="fa-IR" sz="2400" b="1" dirty="0"/>
              <a:t>مدفوع انجام می شود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تست </a:t>
            </a:r>
            <a:r>
              <a:rPr lang="en-US" sz="2400" b="1" dirty="0" smtClean="0"/>
              <a:t>:OB (occult </a:t>
            </a:r>
            <a:r>
              <a:rPr lang="en-US" sz="2400" b="1" dirty="0"/>
              <a:t>blood </a:t>
            </a:r>
            <a:r>
              <a:rPr lang="en-US" sz="2400" b="1" dirty="0" smtClean="0"/>
              <a:t>)</a:t>
            </a:r>
            <a:r>
              <a:rPr lang="fa-IR" sz="2400" b="1" dirty="0" smtClean="0"/>
              <a:t> برای </a:t>
            </a:r>
            <a:r>
              <a:rPr lang="fa-IR" sz="2400" b="1" dirty="0"/>
              <a:t>بررسی خون مخفی </a:t>
            </a:r>
            <a:r>
              <a:rPr lang="fa-IR" sz="2400" b="1" dirty="0" smtClean="0"/>
              <a:t>درمدفوع </a:t>
            </a:r>
            <a:r>
              <a:rPr lang="fa-IR" sz="2400" b="1" dirty="0"/>
              <a:t>انجام می شود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تست </a:t>
            </a:r>
            <a:r>
              <a:rPr lang="en-US" sz="2400" b="1" dirty="0" smtClean="0"/>
              <a:t> guaiac </a:t>
            </a:r>
            <a:r>
              <a:rPr lang="fa-IR" sz="2400" b="1" dirty="0"/>
              <a:t>گایاک هم برای بررسی خون در </a:t>
            </a:r>
            <a:r>
              <a:rPr lang="fa-IR" sz="2400" b="1" dirty="0" smtClean="0"/>
              <a:t>مدفوع استفاده </a:t>
            </a:r>
            <a:r>
              <a:rPr lang="fa-IR" sz="2400" b="1" dirty="0"/>
              <a:t>می شود</a:t>
            </a:r>
          </a:p>
        </p:txBody>
      </p:sp>
    </p:spTree>
    <p:extLst>
      <p:ext uri="{BB962C8B-B14F-4D97-AF65-F5344CB8AC3E}">
        <p14:creationId xmlns:p14="http://schemas.microsoft.com/office/powerpoint/2010/main" val="58636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smtClean="0"/>
              <a:t>ملاحظات سالمندی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دهان</a:t>
            </a:r>
            <a:r>
              <a:rPr lang="fa-IR" b="1" dirty="0" smtClean="0"/>
              <a:t>: ازدست </a:t>
            </a:r>
            <a:r>
              <a:rPr lang="fa-IR" b="1" dirty="0"/>
              <a:t>دادن دندانها-کاهش پرزهای چشایی-کاهش تولید </a:t>
            </a:r>
            <a:r>
              <a:rPr lang="fa-IR" b="1" dirty="0" smtClean="0"/>
              <a:t>بزاق وآتروفی </a:t>
            </a:r>
            <a:r>
              <a:rPr lang="fa-IR" b="1" dirty="0"/>
              <a:t>لثه ها که موجب </a:t>
            </a:r>
            <a:r>
              <a:rPr lang="fa-IR" b="1" dirty="0">
                <a:solidFill>
                  <a:srgbClr val="FF0000"/>
                </a:solidFill>
              </a:rPr>
              <a:t>اشکال در جویدن </a:t>
            </a:r>
            <a:r>
              <a:rPr lang="fa-IR" b="1" dirty="0" smtClean="0">
                <a:solidFill>
                  <a:srgbClr val="FF0000"/>
                </a:solidFill>
              </a:rPr>
              <a:t>و بلع </a:t>
            </a:r>
            <a:r>
              <a:rPr lang="fa-IR" b="1" dirty="0"/>
              <a:t>می شوند</a:t>
            </a:r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مری</a:t>
            </a:r>
            <a:r>
              <a:rPr lang="fa-IR" b="1" dirty="0" smtClean="0"/>
              <a:t>: کاهش </a:t>
            </a:r>
            <a:r>
              <a:rPr lang="fa-IR" b="1" dirty="0"/>
              <a:t>تون عضلانی و ضعف اسفنکتر تحتانی مری </a:t>
            </a:r>
            <a:r>
              <a:rPr lang="fa-IR" b="1" dirty="0" smtClean="0"/>
              <a:t>باعث </a:t>
            </a:r>
            <a:r>
              <a:rPr lang="fa-IR" b="1" dirty="0" smtClean="0">
                <a:solidFill>
                  <a:srgbClr val="FF0000"/>
                </a:solidFill>
              </a:rPr>
              <a:t>ریفلاکس</a:t>
            </a:r>
            <a:r>
              <a:rPr lang="fa-IR" b="1" dirty="0" smtClean="0"/>
              <a:t> </a:t>
            </a:r>
            <a:r>
              <a:rPr lang="fa-IR" b="1" dirty="0"/>
              <a:t>می شود</a:t>
            </a:r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معده</a:t>
            </a:r>
            <a:r>
              <a:rPr lang="fa-IR" b="1" dirty="0" smtClean="0"/>
              <a:t>: کاهش </a:t>
            </a:r>
            <a:r>
              <a:rPr lang="fa-IR" b="1" dirty="0"/>
              <a:t>حرکات معده و آتروفی مخاط معده باعث </a:t>
            </a:r>
            <a:r>
              <a:rPr lang="fa-IR" b="1" dirty="0">
                <a:solidFill>
                  <a:srgbClr val="FF0000"/>
                </a:solidFill>
              </a:rPr>
              <a:t>تاخیر تخلیه </a:t>
            </a:r>
            <a:r>
              <a:rPr lang="fa-IR" b="1" dirty="0" smtClean="0">
                <a:solidFill>
                  <a:srgbClr val="FF0000"/>
                </a:solidFill>
              </a:rPr>
              <a:t>معده </a:t>
            </a:r>
            <a:r>
              <a:rPr lang="fa-IR" b="1" dirty="0" smtClean="0"/>
              <a:t>وکاهش </a:t>
            </a:r>
            <a:r>
              <a:rPr lang="fa-IR" b="1" dirty="0"/>
              <a:t>تولید اسید وعدم تحمل غذا و کاهش جذب ویتامین </a:t>
            </a:r>
            <a:r>
              <a:rPr lang="en-US" dirty="0"/>
              <a:t>B 12 </a:t>
            </a:r>
            <a:r>
              <a:rPr lang="fa-IR" dirty="0" smtClean="0"/>
              <a:t> </a:t>
            </a:r>
            <a:r>
              <a:rPr lang="fa-IR" b="1" dirty="0" smtClean="0"/>
              <a:t>می شود</a:t>
            </a:r>
            <a:endParaRPr lang="fa-IR" b="1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روده</a:t>
            </a:r>
            <a:r>
              <a:rPr lang="fa-IR" b="1" dirty="0" smtClean="0"/>
              <a:t>: کاهش </a:t>
            </a:r>
            <a:r>
              <a:rPr lang="fa-IR" b="1" dirty="0"/>
              <a:t>حرکات روده </a:t>
            </a:r>
            <a:r>
              <a:rPr lang="fa-IR" b="1" dirty="0" smtClean="0"/>
              <a:t>وبنابراین </a:t>
            </a:r>
            <a:r>
              <a:rPr lang="fa-IR" b="1" dirty="0" smtClean="0">
                <a:solidFill>
                  <a:srgbClr val="FF0000"/>
                </a:solidFill>
              </a:rPr>
              <a:t>یبوست </a:t>
            </a:r>
            <a:r>
              <a:rPr lang="fa-IR" b="1" dirty="0"/>
              <a:t>وکاهش جذب کلسیم </a:t>
            </a:r>
            <a:r>
              <a:rPr lang="fa-IR" b="1" dirty="0" smtClean="0"/>
              <a:t>وآهن وغیره وجود خواهد داشت</a:t>
            </a:r>
            <a:endParaRPr lang="fa-IR" b="1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رکتوم</a:t>
            </a:r>
            <a:r>
              <a:rPr lang="fa-IR" b="1" dirty="0" smtClean="0"/>
              <a:t>: ضعف </a:t>
            </a:r>
            <a:r>
              <a:rPr lang="fa-IR" b="1" dirty="0"/>
              <a:t>اعصاب اسفنکتر تحتانی و </a:t>
            </a:r>
            <a:r>
              <a:rPr lang="fa-IR" b="1" dirty="0">
                <a:solidFill>
                  <a:srgbClr val="FF0000"/>
                </a:solidFill>
              </a:rPr>
              <a:t>بی اختیاری </a:t>
            </a:r>
            <a:r>
              <a:rPr lang="fa-IR" b="1" dirty="0" smtClean="0">
                <a:solidFill>
                  <a:srgbClr val="FF0000"/>
                </a:solidFill>
              </a:rPr>
              <a:t>مدفوع دارند</a:t>
            </a:r>
            <a:endParaRPr lang="fa-I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329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تجربه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a-IR" sz="6000" b="1" dirty="0" smtClean="0">
                <a:cs typeface="B Nazanin" panose="00000400000000000000" pitchFamily="2" charset="-78"/>
              </a:rPr>
              <a:t>نان بی منت فقط سر سفره پدر است</a:t>
            </a:r>
          </a:p>
          <a:p>
            <a:pPr marL="0" indent="0" algn="ctr">
              <a:buNone/>
            </a:pPr>
            <a:r>
              <a:rPr lang="fa-IR" sz="6000" b="1" dirty="0" smtClean="0">
                <a:cs typeface="B Nazanin" panose="00000400000000000000" pitchFamily="2" charset="-78"/>
              </a:rPr>
              <a:t> وگرنه هر لقمه نان بیرون از خانه تاوان دارد.</a:t>
            </a:r>
            <a:endParaRPr lang="fa-IR" sz="6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70897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اختلالات دهان و مری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sz="2000" b="1" dirty="0"/>
          </a:p>
          <a:p>
            <a:pPr marL="0" indent="0" algn="r" rtl="1">
              <a:buNone/>
            </a:pPr>
            <a:r>
              <a:rPr lang="en-US" sz="2000" b="1" dirty="0" smtClean="0"/>
              <a:t>achalasia</a:t>
            </a:r>
            <a:r>
              <a:rPr lang="fa-IR" sz="2000" b="1" dirty="0" smtClean="0"/>
              <a:t>آشالازی:عدم </a:t>
            </a:r>
            <a:r>
              <a:rPr lang="fa-IR" sz="2000" b="1" dirty="0"/>
              <a:t>پریستالتیسم یا پریستالتیسم غیر </a:t>
            </a:r>
            <a:r>
              <a:rPr lang="fa-IR" sz="2000" b="1" dirty="0" smtClean="0"/>
              <a:t>موثردرقسمت </a:t>
            </a:r>
            <a:r>
              <a:rPr lang="fa-IR" sz="2000" b="1" dirty="0"/>
              <a:t>دیستال مری که با ضعف اسفنکتر مری جهت شل شدن </a:t>
            </a:r>
            <a:r>
              <a:rPr lang="fa-IR" sz="2000" b="1" dirty="0" smtClean="0"/>
              <a:t>درهنگام </a:t>
            </a:r>
            <a:r>
              <a:rPr lang="fa-IR" sz="2000" b="1" dirty="0"/>
              <a:t>بلع توام </a:t>
            </a:r>
            <a:r>
              <a:rPr lang="fa-IR" sz="2000" b="1" dirty="0" smtClean="0"/>
              <a:t>است</a:t>
            </a:r>
            <a:endParaRPr lang="fa-IR" sz="2000" b="1" dirty="0"/>
          </a:p>
          <a:p>
            <a:pPr marL="0" indent="0" algn="r" rtl="1">
              <a:buNone/>
            </a:pPr>
            <a:r>
              <a:rPr lang="en-US" sz="2000" b="1" dirty="0" smtClean="0"/>
              <a:t>Dysphagia</a:t>
            </a:r>
            <a:r>
              <a:rPr lang="fa-IR" sz="2000" b="1" dirty="0" smtClean="0"/>
              <a:t>دیس </a:t>
            </a:r>
            <a:r>
              <a:rPr lang="fa-IR" sz="2000" b="1" dirty="0"/>
              <a:t>فاژی:اشکال در بلع یا بلع </a:t>
            </a:r>
            <a:r>
              <a:rPr lang="fa-IR" sz="2000" b="1" dirty="0" smtClean="0"/>
              <a:t>مشکل</a:t>
            </a:r>
            <a:endParaRPr lang="fa-IR" sz="2000" b="1" dirty="0"/>
          </a:p>
          <a:p>
            <a:pPr marL="0" indent="0" algn="r" rtl="1">
              <a:buNone/>
            </a:pPr>
            <a:r>
              <a:rPr lang="en-US" sz="2000" b="1" dirty="0" smtClean="0"/>
              <a:t>Odynophagia</a:t>
            </a:r>
            <a:r>
              <a:rPr lang="fa-IR" sz="2000" b="1" dirty="0" smtClean="0"/>
              <a:t>اودینوفاژی:بلع دردناک</a:t>
            </a:r>
            <a:endParaRPr lang="fa-IR" sz="2000" b="1" dirty="0"/>
          </a:p>
          <a:p>
            <a:pPr marL="0" indent="0" algn="r" rtl="1">
              <a:buNone/>
            </a:pPr>
            <a:r>
              <a:rPr lang="en-US" sz="2000" b="1" dirty="0"/>
              <a:t>Gastroesophageal </a:t>
            </a:r>
            <a:r>
              <a:rPr lang="en-US" sz="2000" b="1" dirty="0" smtClean="0"/>
              <a:t>reflux</a:t>
            </a:r>
            <a:r>
              <a:rPr lang="fa-IR" sz="2000" b="1" dirty="0" smtClean="0"/>
              <a:t>:برگشت </a:t>
            </a:r>
            <a:r>
              <a:rPr lang="fa-IR" sz="2000" b="1" dirty="0"/>
              <a:t>محتویات معده به </a:t>
            </a:r>
            <a:r>
              <a:rPr lang="fa-IR" sz="2000" b="1" dirty="0" smtClean="0"/>
              <a:t>مری</a:t>
            </a:r>
            <a:endParaRPr lang="fa-IR" sz="2000" b="1" dirty="0"/>
          </a:p>
          <a:p>
            <a:pPr marL="0" indent="0" algn="r" rtl="1">
              <a:buNone/>
            </a:pPr>
            <a:r>
              <a:rPr lang="en-US" sz="2000" b="1" dirty="0" smtClean="0"/>
              <a:t>Hernia</a:t>
            </a:r>
            <a:r>
              <a:rPr lang="fa-IR" sz="2000" b="1" dirty="0" smtClean="0"/>
              <a:t>:بیرون </a:t>
            </a:r>
            <a:r>
              <a:rPr lang="fa-IR" sz="2000" b="1" dirty="0"/>
              <a:t>زدگی یک ارگان یا قسمتی از آن از دیواره ای که </a:t>
            </a:r>
            <a:r>
              <a:rPr lang="fa-IR" sz="2000" b="1" dirty="0" smtClean="0"/>
              <a:t>آن را </a:t>
            </a:r>
            <a:r>
              <a:rPr lang="fa-IR" sz="2000" b="1" dirty="0"/>
              <a:t>در بر می </a:t>
            </a:r>
            <a:r>
              <a:rPr lang="fa-IR" sz="2000" b="1" dirty="0" smtClean="0"/>
              <a:t>گیرد</a:t>
            </a:r>
            <a:endParaRPr lang="fa-IR" sz="2000" b="1" dirty="0"/>
          </a:p>
          <a:p>
            <a:pPr marL="0" indent="0" algn="r" rtl="1">
              <a:buNone/>
            </a:pPr>
            <a:r>
              <a:rPr lang="en-US" sz="2000" b="1" dirty="0" smtClean="0"/>
              <a:t>Lithotripsy</a:t>
            </a:r>
            <a:r>
              <a:rPr lang="fa-IR" sz="2000" b="1" dirty="0" smtClean="0"/>
              <a:t>:استفاده </a:t>
            </a:r>
            <a:r>
              <a:rPr lang="fa-IR" sz="2000" b="1" dirty="0"/>
              <a:t>از امواج برای شکستن سنگ</a:t>
            </a:r>
          </a:p>
          <a:p>
            <a:pPr marL="0" indent="0" algn="r" rtl="1">
              <a:buNone/>
            </a:pPr>
            <a:endParaRPr lang="fa-IR" sz="2000" b="1" dirty="0"/>
          </a:p>
          <a:p>
            <a:pPr marL="0" indent="0" algn="r" rtl="1">
              <a:buNone/>
            </a:pPr>
            <a:r>
              <a:rPr lang="en-US" sz="2000" b="1" dirty="0" err="1" smtClean="0"/>
              <a:t>Parotitis</a:t>
            </a:r>
            <a:r>
              <a:rPr lang="fa-IR" sz="2000" b="1" dirty="0" smtClean="0"/>
              <a:t>:التهاب </a:t>
            </a:r>
            <a:r>
              <a:rPr lang="fa-IR" sz="2000" b="1" dirty="0"/>
              <a:t>غده پاروتید</a:t>
            </a:r>
          </a:p>
        </p:txBody>
      </p:sp>
    </p:spTree>
    <p:extLst>
      <p:ext uri="{BB962C8B-B14F-4D97-AF65-F5344CB8AC3E}">
        <p14:creationId xmlns:p14="http://schemas.microsoft.com/office/powerpoint/2010/main" val="3800833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/>
              <a:t>Periapical </a:t>
            </a:r>
            <a:r>
              <a:rPr lang="en-US" sz="2400" b="1" dirty="0" err="1" smtClean="0"/>
              <a:t>abscesis</a:t>
            </a:r>
            <a:r>
              <a:rPr lang="fa-IR" sz="2400" b="1" dirty="0" smtClean="0"/>
              <a:t> آبسه </a:t>
            </a:r>
            <a:r>
              <a:rPr lang="fa-IR" sz="2400" b="1" dirty="0"/>
              <a:t>دندان </a:t>
            </a:r>
          </a:p>
          <a:p>
            <a:pPr marL="0" indent="0" algn="r" rtl="1">
              <a:buNone/>
            </a:pPr>
            <a:r>
              <a:rPr lang="en-US" sz="2400" b="1" dirty="0" err="1" smtClean="0"/>
              <a:t>Sialadentitis</a:t>
            </a:r>
            <a:r>
              <a:rPr lang="fa-IR" sz="2400" b="1" dirty="0" smtClean="0"/>
              <a:t>:التهاب </a:t>
            </a:r>
            <a:r>
              <a:rPr lang="fa-IR" sz="2400" b="1" dirty="0"/>
              <a:t>غدد </a:t>
            </a:r>
            <a:r>
              <a:rPr lang="fa-IR" sz="2400" b="1" dirty="0" smtClean="0"/>
              <a:t>بزاقی</a:t>
            </a: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 smtClean="0"/>
              <a:t>Stoma</a:t>
            </a:r>
            <a:r>
              <a:rPr lang="fa-IR" sz="2400" b="1" dirty="0" smtClean="0"/>
              <a:t>حفره دهان</a:t>
            </a: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 smtClean="0"/>
              <a:t>Stomatitis</a:t>
            </a:r>
            <a:r>
              <a:rPr lang="fa-IR" sz="2400" b="1" dirty="0" smtClean="0"/>
              <a:t>:التهاب </a:t>
            </a:r>
            <a:r>
              <a:rPr lang="fa-IR" sz="2400" b="1" dirty="0"/>
              <a:t>مخاط </a:t>
            </a:r>
            <a:r>
              <a:rPr lang="fa-IR" sz="2400" b="1" dirty="0" smtClean="0"/>
              <a:t>دهان</a:t>
            </a: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 smtClean="0"/>
              <a:t>Xerostomia</a:t>
            </a:r>
            <a:r>
              <a:rPr lang="fa-IR" sz="2400" b="1" dirty="0" smtClean="0"/>
              <a:t>:خشکی دهان</a:t>
            </a: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 smtClean="0"/>
              <a:t>Halitosis</a:t>
            </a:r>
            <a:r>
              <a:rPr lang="fa-IR" sz="2400" b="1" dirty="0" smtClean="0"/>
              <a:t>:بوی </a:t>
            </a:r>
            <a:r>
              <a:rPr lang="fa-IR" sz="2400" b="1" dirty="0"/>
              <a:t>بد دهان یا تنفس </a:t>
            </a:r>
            <a:r>
              <a:rPr lang="fa-IR" sz="2400" b="1" dirty="0" smtClean="0"/>
              <a:t>بدبو</a:t>
            </a: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/>
              <a:t>Temporomandibular </a:t>
            </a:r>
            <a:r>
              <a:rPr lang="en-US" sz="2400" b="1" dirty="0" smtClean="0"/>
              <a:t>disorders</a:t>
            </a:r>
            <a:r>
              <a:rPr lang="fa-IR" sz="2400" b="1" dirty="0" smtClean="0"/>
              <a:t>:اختلالات </a:t>
            </a:r>
            <a:r>
              <a:rPr lang="fa-IR" sz="2400" b="1" dirty="0"/>
              <a:t>مفصل </a:t>
            </a:r>
            <a:r>
              <a:rPr lang="fa-IR" sz="2400" b="1" dirty="0" smtClean="0"/>
              <a:t>گیجگاهی-فکی که </a:t>
            </a:r>
            <a:r>
              <a:rPr lang="fa-IR" sz="2400" b="1" dirty="0"/>
              <a:t>سبب درد و اختلال عملکرد مفصل می شوند</a:t>
            </a:r>
          </a:p>
        </p:txBody>
      </p:sp>
    </p:spTree>
    <p:extLst>
      <p:ext uri="{BB962C8B-B14F-4D97-AF65-F5344CB8AC3E}">
        <p14:creationId xmlns:p14="http://schemas.microsoft.com/office/powerpoint/2010/main" val="2471908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اختلالات لب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شیلیت آکتنیک </a:t>
            </a:r>
            <a:r>
              <a:rPr lang="en-US" dirty="0" smtClean="0">
                <a:cs typeface="B Nazanin" panose="00000400000000000000" pitchFamily="2" charset="-78"/>
              </a:rPr>
              <a:t> :actinic </a:t>
            </a:r>
            <a:r>
              <a:rPr lang="en-US" dirty="0" err="1">
                <a:cs typeface="B Nazanin" panose="00000400000000000000" pitchFamily="2" charset="-78"/>
              </a:rPr>
              <a:t>chelitis</a:t>
            </a:r>
            <a:r>
              <a:rPr lang="en-US" dirty="0">
                <a:cs typeface="B Nazanin" panose="00000400000000000000" pitchFamily="2" charset="-78"/>
              </a:rPr>
              <a:t> :</a:t>
            </a:r>
            <a:r>
              <a:rPr lang="fa-IR" dirty="0">
                <a:cs typeface="B Nazanin" panose="00000400000000000000" pitchFamily="2" charset="-78"/>
              </a:rPr>
              <a:t>تحریک لبها همراه با پوسته </a:t>
            </a:r>
            <a:r>
              <a:rPr lang="fa-IR" dirty="0" smtClean="0">
                <a:cs typeface="B Nazanin" panose="00000400000000000000" pitchFamily="2" charset="-78"/>
              </a:rPr>
              <a:t>ریزی (هیپر کراتوزیس) </a:t>
            </a:r>
            <a:r>
              <a:rPr lang="fa-IR" dirty="0">
                <a:cs typeface="B Nazanin" panose="00000400000000000000" pitchFamily="2" charset="-78"/>
              </a:rPr>
              <a:t>و ترک خوردگی</a:t>
            </a:r>
          </a:p>
          <a:p>
            <a:pPr marL="0" indent="0" algn="r" rtl="1">
              <a:buNone/>
            </a:pPr>
            <a:r>
              <a:rPr lang="fa-IR" dirty="0" smtClean="0">
                <a:cs typeface="B Nazanin" panose="00000400000000000000" pitchFamily="2" charset="-78"/>
              </a:rPr>
              <a:t>علل:خشکی </a:t>
            </a:r>
            <a:r>
              <a:rPr lang="fa-IR" dirty="0">
                <a:cs typeface="B Nazanin" panose="00000400000000000000" pitchFamily="2" charset="-78"/>
              </a:rPr>
              <a:t>محیط و نور خورشید</a:t>
            </a:r>
          </a:p>
          <a:p>
            <a:pPr marL="0" indent="0" algn="r" rtl="1">
              <a:buNone/>
            </a:pPr>
            <a:r>
              <a:rPr lang="fa-IR" dirty="0" smtClean="0">
                <a:cs typeface="B Nazanin" panose="00000400000000000000" pitchFamily="2" charset="-78"/>
              </a:rPr>
              <a:t> درمان و پیشگیری : ضدآفتاب-مرطوب </a:t>
            </a:r>
            <a:r>
              <a:rPr lang="fa-IR" dirty="0">
                <a:cs typeface="B Nazanin" panose="00000400000000000000" pitchFamily="2" charset="-78"/>
              </a:rPr>
              <a:t>نگهداشتن</a:t>
            </a:r>
          </a:p>
          <a:p>
            <a:pPr marL="0" indent="0" algn="r" rtl="1">
              <a:buNone/>
            </a:pPr>
            <a:endParaRPr lang="fa-IR" dirty="0">
              <a:cs typeface="B Nazanin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796" y="4208345"/>
            <a:ext cx="2857500" cy="160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046" y="4084520"/>
            <a:ext cx="2466975" cy="1847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771" y="4208345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8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تبخال</a:t>
            </a:r>
            <a:endParaRPr lang="fa-IR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798" y="3531870"/>
            <a:ext cx="6527004" cy="2903220"/>
          </a:xfrm>
        </p:spPr>
      </p:pic>
      <p:sp>
        <p:nvSpPr>
          <p:cNvPr id="4" name="Rectangle 3"/>
          <p:cNvSpPr/>
          <p:nvPr/>
        </p:nvSpPr>
        <p:spPr>
          <a:xfrm>
            <a:off x="838200" y="2413338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cs typeface="B Nazanin" panose="00000400000000000000" pitchFamily="2" charset="-78"/>
              </a:rPr>
              <a:t>تبخال </a:t>
            </a:r>
            <a:r>
              <a:rPr lang="en-US" sz="2400" dirty="0">
                <a:cs typeface="B Nazanin" panose="00000400000000000000" pitchFamily="2" charset="-78"/>
              </a:rPr>
              <a:t>herpes simplex virus </a:t>
            </a:r>
            <a:r>
              <a:rPr lang="fa-IR" sz="2400" dirty="0">
                <a:cs typeface="B Nazanin" panose="00000400000000000000" pitchFamily="2" charset="-78"/>
              </a:rPr>
              <a:t>یا زخم سرما: وزیکولهای دردناک</a:t>
            </a:r>
          </a:p>
          <a:p>
            <a:pPr algn="r" rtl="1"/>
            <a:r>
              <a:rPr lang="fa-IR" sz="2400" dirty="0">
                <a:cs typeface="B Nazanin" panose="00000400000000000000" pitchFamily="2" charset="-78"/>
              </a:rPr>
              <a:t>علل:ویروس-ضعف سیستم ایمنی-تب-نور خورشید</a:t>
            </a:r>
          </a:p>
          <a:p>
            <a:pPr algn="r" rtl="1"/>
            <a:r>
              <a:rPr lang="fa-IR" sz="2400" dirty="0">
                <a:cs typeface="B Nazanin" panose="00000400000000000000" pitchFamily="2" charset="-78"/>
              </a:rPr>
              <a:t>درمان :پماد </a:t>
            </a:r>
            <a:r>
              <a:rPr lang="fa-IR" sz="2400" dirty="0" smtClean="0">
                <a:cs typeface="B Nazanin" panose="00000400000000000000" pitchFamily="2" charset="-78"/>
              </a:rPr>
              <a:t>آسیکلوویر و قرص آسیکلوویر</a:t>
            </a:r>
            <a:endParaRPr lang="fa-IR" sz="2400" dirty="0">
              <a:cs typeface="B Nazanin" panose="00000400000000000000" pitchFamily="2" charset="-78"/>
            </a:endParaRP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48" y="3529012"/>
            <a:ext cx="5086350" cy="290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20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 rtl="1">
              <a:spcBef>
                <a:spcPts val="1000"/>
              </a:spcBef>
            </a:pPr>
            <a:r>
              <a:rPr lang="fa-IR" sz="2800" dirty="0">
                <a:solidFill>
                  <a:prstClr val="black"/>
                </a:solidFill>
                <a:latin typeface="Calibri" panose="020F0502020204030204"/>
                <a:ea typeface="+mn-ea"/>
                <a:cs typeface="Arial" panose="020B0604020202020204" pitchFamily="34" charset="0"/>
              </a:rPr>
              <a:t/>
            </a:r>
            <a:br>
              <a:rPr lang="fa-IR" sz="2800" dirty="0">
                <a:solidFill>
                  <a:prstClr val="black"/>
                </a:solidFill>
                <a:latin typeface="Calibri" panose="020F0502020204030204"/>
                <a:ea typeface="+mn-ea"/>
                <a:cs typeface="Arial" panose="020B0604020202020204" pitchFamily="34" charset="0"/>
              </a:rPr>
            </a:br>
            <a:r>
              <a:rPr lang="fa-IR" sz="2800" dirty="0" smtClean="0">
                <a:solidFill>
                  <a:prstClr val="black"/>
                </a:solidFill>
                <a:latin typeface="Calibri" panose="020F0502020204030204"/>
                <a:ea typeface="+mn-ea"/>
                <a:cs typeface="Arial" panose="020B0604020202020204" pitchFamily="34" charset="0"/>
              </a:rPr>
              <a:t>شانکر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fa-IR" sz="2500" dirty="0">
                <a:solidFill>
                  <a:prstClr val="black"/>
                </a:solidFill>
                <a:ea typeface="+mj-ea"/>
              </a:rPr>
              <a:t>دو نوع باسیلی و سیفیلیسی وجود </a:t>
            </a:r>
            <a:r>
              <a:rPr lang="fa-IR" sz="2500" dirty="0" smtClean="0">
                <a:solidFill>
                  <a:prstClr val="black"/>
                </a:solidFill>
                <a:ea typeface="+mj-ea"/>
              </a:rPr>
              <a:t>دارد</a:t>
            </a:r>
            <a:endParaRPr lang="en-US" sz="2500" dirty="0" smtClean="0">
              <a:solidFill>
                <a:prstClr val="black"/>
              </a:solidFill>
              <a:ea typeface="+mj-ea"/>
            </a:endParaRPr>
          </a:p>
          <a:p>
            <a:pPr marL="0" indent="0" algn="r">
              <a:buNone/>
            </a:pPr>
            <a:r>
              <a:rPr lang="fa-IR" sz="2500" dirty="0">
                <a:solidFill>
                  <a:prstClr val="black"/>
                </a:solidFill>
                <a:ea typeface="+mj-ea"/>
              </a:rPr>
              <a:t/>
            </a:r>
            <a:br>
              <a:rPr lang="fa-IR" sz="2500" dirty="0">
                <a:solidFill>
                  <a:prstClr val="black"/>
                </a:solidFill>
                <a:ea typeface="+mj-ea"/>
              </a:rPr>
            </a:br>
            <a:r>
              <a:rPr lang="fa-IR" sz="2500" dirty="0">
                <a:solidFill>
                  <a:prstClr val="black"/>
                </a:solidFill>
                <a:ea typeface="+mj-ea"/>
              </a:rPr>
              <a:t>نوع باسیلی شبیه آفت دهانی </a:t>
            </a:r>
            <a:r>
              <a:rPr lang="fa-IR" sz="2500" dirty="0" smtClean="0">
                <a:solidFill>
                  <a:prstClr val="black"/>
                </a:solidFill>
                <a:ea typeface="+mj-ea"/>
              </a:rPr>
              <a:t>است</a:t>
            </a:r>
          </a:p>
          <a:p>
            <a:pPr marL="0" indent="0" algn="r">
              <a:buNone/>
            </a:pPr>
            <a:r>
              <a:rPr lang="fa-IR" sz="2500" dirty="0" smtClean="0">
                <a:solidFill>
                  <a:prstClr val="black"/>
                </a:solidFill>
                <a:ea typeface="+mj-ea"/>
              </a:rPr>
              <a:t>نوع سیفیلیسی:ضایعه اولیه سیفیلیس که بسیار واگیر است و ضایعات کوچک قرمز رنگ است</a:t>
            </a:r>
          </a:p>
          <a:p>
            <a:pPr marL="0" indent="0" algn="r">
              <a:buNone/>
            </a:pPr>
            <a:r>
              <a:rPr lang="fa-IR" sz="2500" dirty="0" smtClean="0">
                <a:solidFill>
                  <a:prstClr val="black"/>
                </a:solidFill>
                <a:ea typeface="+mj-ea"/>
              </a:rPr>
              <a:t>درمان :آنتی بیوتیک 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524045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اختلالات دهان</a:t>
            </a:r>
            <a:br>
              <a:rPr lang="fa-IR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b="1" dirty="0" smtClean="0"/>
              <a:t>استوماتیت آفتی </a:t>
            </a:r>
            <a:r>
              <a:rPr lang="en-US" dirty="0" err="1" smtClean="0"/>
              <a:t>aphthous</a:t>
            </a:r>
            <a:r>
              <a:rPr lang="en-US" dirty="0" smtClean="0"/>
              <a:t> </a:t>
            </a:r>
            <a:r>
              <a:rPr lang="en-US" dirty="0" err="1" smtClean="0"/>
              <a:t>stomtitis</a:t>
            </a:r>
            <a:r>
              <a:rPr lang="en-US" dirty="0" smtClean="0"/>
              <a:t> </a:t>
            </a:r>
            <a:r>
              <a:rPr lang="en-US" b="1" dirty="0" smtClean="0"/>
              <a:t>:</a:t>
            </a:r>
          </a:p>
          <a:p>
            <a:pPr marL="0" indent="0" algn="r" rtl="1">
              <a:buNone/>
            </a:pPr>
            <a:r>
              <a:rPr lang="fa-IR" b="1" dirty="0" smtClean="0"/>
              <a:t>زخم سطحی با مرکز سفید یا خاکستری و دور قرمز</a:t>
            </a:r>
            <a:endParaRPr lang="fa-IR" dirty="0" smtClean="0"/>
          </a:p>
          <a:p>
            <a:pPr marL="0" indent="0" algn="r" rtl="1">
              <a:buNone/>
            </a:pPr>
            <a:r>
              <a:rPr lang="fa-IR" b="1" dirty="0" smtClean="0"/>
              <a:t>علل :خستگی –استرس-عوامل هورمونی-تروما-غذاهای اسیدی</a:t>
            </a:r>
            <a:endParaRPr lang="fa-IR" dirty="0" smtClean="0"/>
          </a:p>
          <a:p>
            <a:pPr marL="0" indent="0" algn="r" rtl="1">
              <a:buNone/>
            </a:pPr>
            <a:r>
              <a:rPr lang="fa-IR" b="1" dirty="0" smtClean="0"/>
              <a:t> درمان: آنتی بیوتیک و کورتون-دهانشویه</a:t>
            </a:r>
          </a:p>
          <a:p>
            <a:pPr marL="0" indent="0" algn="r" rtl="1">
              <a:buNone/>
            </a:pPr>
            <a:endParaRPr lang="fa-IR" dirty="0"/>
          </a:p>
        </p:txBody>
      </p:sp>
      <p:pic>
        <p:nvPicPr>
          <p:cNvPr id="4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0" y="4119246"/>
            <a:ext cx="5435619" cy="273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16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sz="2400" b="1" dirty="0">
                <a:solidFill>
                  <a:prstClr val="black"/>
                </a:solidFill>
                <a:latin typeface="Calibri" panose="020F0502020204030204"/>
                <a:ea typeface="+mn-ea"/>
                <a:cs typeface="Arial" panose="020B0604020202020204" pitchFamily="34" charset="0"/>
              </a:rPr>
              <a:t>کاندیدیاز یا مونیلیاز یا </a:t>
            </a:r>
            <a:r>
              <a:rPr lang="fa-IR" sz="2400" b="1" dirty="0" smtClean="0">
                <a:solidFill>
                  <a:prstClr val="black"/>
                </a:solidFill>
                <a:latin typeface="Calibri" panose="020F0502020204030204"/>
                <a:ea typeface="+mn-ea"/>
                <a:cs typeface="Arial" panose="020B0604020202020204" pitchFamily="34" charset="0"/>
              </a:rPr>
              <a:t>برفک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 lang="fa-IR" sz="2400" b="1" dirty="0">
                <a:solidFill>
                  <a:prstClr val="black"/>
                </a:solidFill>
              </a:rPr>
              <a:t>کاندیدیاز یا مونیلیاز یا برفک:پلاکهای سفید پنیری که شبیه دلمه های شیر است</a:t>
            </a:r>
            <a:endParaRPr lang="fa-IR" sz="2400" dirty="0">
              <a:solidFill>
                <a:prstClr val="black"/>
              </a:solidFill>
            </a:endParaRPr>
          </a:p>
          <a:p>
            <a:pPr marL="0" lvl="0" indent="0" algn="r" rtl="1">
              <a:buNone/>
            </a:pPr>
            <a:r>
              <a:rPr lang="fa-IR" sz="2400" b="1" dirty="0">
                <a:solidFill>
                  <a:prstClr val="black"/>
                </a:solidFill>
              </a:rPr>
              <a:t>علت :(قارچ کاندیدا آلبیکنس) ناشی از درمان با آنتی بیوتیک-ضعف سیستم ایمنی-دیابت</a:t>
            </a:r>
          </a:p>
          <a:p>
            <a:pPr marL="0" lvl="0" indent="0" algn="r" rtl="1">
              <a:buNone/>
            </a:pPr>
            <a:r>
              <a:rPr lang="fa-IR" sz="2400" dirty="0">
                <a:solidFill>
                  <a:prstClr val="black"/>
                </a:solidFill>
              </a:rPr>
              <a:t>درمان:</a:t>
            </a:r>
          </a:p>
          <a:p>
            <a:pPr marL="0" lvl="0" indent="0" algn="r" rtl="1">
              <a:buNone/>
            </a:pPr>
            <a:r>
              <a:rPr lang="fa-IR" sz="2400" b="1" dirty="0">
                <a:solidFill>
                  <a:prstClr val="black"/>
                </a:solidFill>
              </a:rPr>
              <a:t>ضد قارچها:نیستاتین-آمفوتریسین </a:t>
            </a:r>
            <a:r>
              <a:rPr lang="en-US" sz="2400" b="1" dirty="0">
                <a:solidFill>
                  <a:prstClr val="black"/>
                </a:solidFill>
              </a:rPr>
              <a:t>  -</a:t>
            </a:r>
            <a:r>
              <a:rPr lang="en-US" sz="2400" dirty="0">
                <a:solidFill>
                  <a:prstClr val="black"/>
                </a:solidFill>
              </a:rPr>
              <a:t>B </a:t>
            </a:r>
            <a:r>
              <a:rPr lang="en-US" sz="2400" b="1" dirty="0">
                <a:solidFill>
                  <a:prstClr val="black"/>
                </a:solidFill>
              </a:rPr>
              <a:t>-</a:t>
            </a:r>
            <a:r>
              <a:rPr lang="fa-IR" sz="2400" b="1" dirty="0">
                <a:solidFill>
                  <a:prstClr val="black"/>
                </a:solidFill>
              </a:rPr>
              <a:t>کلوترمازول-کتوکونازول</a:t>
            </a:r>
            <a:endParaRPr lang="fa-IR" sz="2400" dirty="0">
              <a:solidFill>
                <a:prstClr val="black"/>
              </a:solidFill>
            </a:endParaRPr>
          </a:p>
          <a:p>
            <a:endParaRPr lang="fa-I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234" y="3783330"/>
            <a:ext cx="4901566" cy="2528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02" y="3783330"/>
            <a:ext cx="5110658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05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/>
              <a:t>Ewing </a:t>
            </a:r>
            <a:r>
              <a:rPr lang="en-US" sz="2400" b="1" dirty="0" smtClean="0"/>
              <a:t>sarcoma</a:t>
            </a:r>
            <a:r>
              <a:rPr lang="fa-IR" sz="2400" b="1" dirty="0" smtClean="0"/>
              <a:t>: ضایعه </a:t>
            </a:r>
            <a:r>
              <a:rPr lang="fa-IR" sz="2400" b="1" dirty="0"/>
              <a:t>ای در مندیبول </a:t>
            </a:r>
          </a:p>
          <a:p>
            <a:pPr marL="0" indent="0" algn="r" rtl="1">
              <a:buNone/>
            </a:pPr>
            <a:r>
              <a:rPr lang="fa-IR" sz="2400" b="1" dirty="0" smtClean="0"/>
              <a:t> علایم :درد- </a:t>
            </a:r>
            <a:r>
              <a:rPr lang="fa-IR" sz="2400" b="1" dirty="0"/>
              <a:t>تورم-پارستزی-جابجایی </a:t>
            </a:r>
            <a:r>
              <a:rPr lang="fa-IR" sz="2400" b="1" dirty="0" smtClean="0"/>
              <a:t>دندان</a:t>
            </a: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اغلب با عفونت دندان اشتباه گرفته </a:t>
            </a:r>
            <a:r>
              <a:rPr lang="fa-IR" sz="2400" b="1" dirty="0" smtClean="0"/>
              <a:t>میشود</a:t>
            </a: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 smtClean="0"/>
              <a:t>درمان :جراحی- </a:t>
            </a:r>
            <a:r>
              <a:rPr lang="fa-IR" sz="2400" b="1" dirty="0"/>
              <a:t>شیمی درمانی و </a:t>
            </a:r>
            <a:r>
              <a:rPr lang="fa-IR" sz="2400" b="1" dirty="0" smtClean="0"/>
              <a:t>رادیوتراپی</a:t>
            </a:r>
            <a:endParaRPr lang="fa-IR" sz="2400" b="1" dirty="0"/>
          </a:p>
          <a:p>
            <a:pPr marL="0" indent="0" algn="r" rtl="1">
              <a:buNone/>
            </a:pPr>
            <a:r>
              <a:rPr lang="en-US" sz="2400" b="1" dirty="0"/>
              <a:t>Kaposi </a:t>
            </a:r>
            <a:r>
              <a:rPr lang="en-US" sz="2400" b="1" dirty="0" smtClean="0"/>
              <a:t>sarcoma</a:t>
            </a:r>
            <a:r>
              <a:rPr lang="fa-IR" sz="2400" b="1" dirty="0" smtClean="0"/>
              <a:t>:ضایعات </a:t>
            </a:r>
            <a:r>
              <a:rPr lang="fa-IR" sz="2400" b="1" dirty="0"/>
              <a:t>قرمز و آبی در مخاط </a:t>
            </a:r>
            <a:r>
              <a:rPr lang="fa-IR" sz="2400" b="1" dirty="0" smtClean="0"/>
              <a:t>دهان بصورت منفرد </a:t>
            </a:r>
            <a:r>
              <a:rPr lang="fa-IR" sz="2400" b="1" dirty="0"/>
              <a:t>یا </a:t>
            </a:r>
            <a:r>
              <a:rPr lang="fa-IR" sz="2400" b="1" dirty="0" smtClean="0"/>
              <a:t>متعدد، مسطح </a:t>
            </a:r>
            <a:r>
              <a:rPr lang="fa-IR" sz="2400" b="1" dirty="0"/>
              <a:t>و گاها برآمده</a:t>
            </a:r>
          </a:p>
          <a:p>
            <a:pPr marL="0" indent="0" algn="r" rtl="1">
              <a:buNone/>
            </a:pPr>
            <a:r>
              <a:rPr lang="fa-IR" sz="2400" b="1" dirty="0" smtClean="0"/>
              <a:t>علت</a:t>
            </a:r>
            <a:r>
              <a:rPr lang="fa-IR" sz="2400" b="1" dirty="0"/>
              <a:t>: </a:t>
            </a:r>
            <a:r>
              <a:rPr lang="en-US" sz="2400" b="1" dirty="0"/>
              <a:t>HIV</a:t>
            </a:r>
            <a:endParaRPr lang="fa-IR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362" y="4641075"/>
            <a:ext cx="3706178" cy="21369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256" y="4467225"/>
            <a:ext cx="3702844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09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آبسه </a:t>
            </a:r>
            <a:r>
              <a:rPr lang="en-US" dirty="0" smtClean="0"/>
              <a:t> periapical</a:t>
            </a:r>
            <a:br>
              <a:rPr lang="en-US" dirty="0" smtClean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تجمع چرک در پریوست و بافتهای اطراف دندان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smtClean="0"/>
              <a:t>علایم:</a:t>
            </a:r>
          </a:p>
          <a:p>
            <a:pPr marL="0" indent="0" algn="r" rtl="1">
              <a:buNone/>
            </a:pPr>
            <a:r>
              <a:rPr lang="fa-IR" sz="2400" b="1" smtClean="0"/>
              <a:t>درد </a:t>
            </a:r>
            <a:r>
              <a:rPr lang="fa-IR" sz="2400" b="1" dirty="0"/>
              <a:t>مبهم </a:t>
            </a:r>
            <a:r>
              <a:rPr lang="fa-IR" sz="2400" b="1"/>
              <a:t>و </a:t>
            </a:r>
            <a:r>
              <a:rPr lang="fa-IR" sz="2400" b="1" smtClean="0"/>
              <a:t>مداوم ،تورم </a:t>
            </a:r>
            <a:r>
              <a:rPr lang="fa-IR" sz="2400" b="1" dirty="0"/>
              <a:t>و ادم بافت اطراف-اشکال در بازکردن دهان و جویدن- تب و بیحالی</a:t>
            </a:r>
          </a:p>
          <a:p>
            <a:pPr marL="0" indent="0" algn="r" rtl="1">
              <a:buNone/>
            </a:pPr>
            <a:endParaRPr lang="fa-IR" sz="2400" b="1" dirty="0"/>
          </a:p>
          <a:p>
            <a:pPr marL="0" indent="0" algn="r" rtl="1">
              <a:buNone/>
            </a:pPr>
            <a:r>
              <a:rPr lang="fa-IR" sz="2400" b="1" dirty="0"/>
              <a:t>درمان: آنتی بیوتیک-بهداشت دهان ودندان-تخلیه آبسه</a:t>
            </a:r>
          </a:p>
        </p:txBody>
      </p:sp>
    </p:spTree>
    <p:extLst>
      <p:ext uri="{BB962C8B-B14F-4D97-AF65-F5344CB8AC3E}">
        <p14:creationId xmlns:p14="http://schemas.microsoft.com/office/powerpoint/2010/main" val="3202456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تجربه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a-IR" sz="4000" b="1" dirty="0" smtClean="0">
                <a:cs typeface="B Nazanin" panose="00000400000000000000" pitchFamily="2" charset="-78"/>
              </a:rPr>
              <a:t>هرگز بخاطر بی کسی هر کسی را به زندگیتان راه ندهید</a:t>
            </a:r>
          </a:p>
          <a:p>
            <a:pPr marL="0" indent="0" algn="ctr">
              <a:buNone/>
            </a:pPr>
            <a:endParaRPr lang="fa-IR" sz="4000" b="1" dirty="0" smtClean="0">
              <a:cs typeface="B Nazanin" panose="00000400000000000000" pitchFamily="2" charset="-78"/>
            </a:endParaRPr>
          </a:p>
          <a:p>
            <a:pPr marL="0" indent="0" algn="ctr">
              <a:buNone/>
            </a:pPr>
            <a:r>
              <a:rPr lang="fa-IR" sz="4000" b="1" dirty="0" smtClean="0">
                <a:cs typeface="B Nazanin" panose="00000400000000000000" pitchFamily="2" charset="-78"/>
              </a:rPr>
              <a:t>چرا که با بی کسی میشود زندگی کرد اما با هر کسی نه</a:t>
            </a:r>
            <a:endParaRPr lang="fa-IR" sz="40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13141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Temporomandibular disorder</a:t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گروهی از بیماریها که سبب درد یا اختلال عملکرد در مفصل </a:t>
            </a:r>
            <a:r>
              <a:rPr lang="fa-IR" b="1" dirty="0" smtClean="0">
                <a:cs typeface="B Nazanin" panose="00000400000000000000" pitchFamily="2" charset="-78"/>
              </a:rPr>
              <a:t>گیجگاهی-فکی و یا </a:t>
            </a:r>
            <a:r>
              <a:rPr lang="fa-IR" b="1" dirty="0">
                <a:cs typeface="B Nazanin" panose="00000400000000000000" pitchFamily="2" charset="-78"/>
              </a:rPr>
              <a:t>عضلات جویدن و بافتهای مجاور در گردن و شانه می شود</a:t>
            </a:r>
          </a:p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علت: بدمحوری مفاصل فک و مشکلات لیگامان ها وعضلات جویدن </a:t>
            </a:r>
            <a:r>
              <a:rPr lang="fa-IR" b="1" dirty="0" smtClean="0">
                <a:cs typeface="B Nazanin" panose="00000400000000000000" pitchFamily="2" charset="-78"/>
              </a:rPr>
              <a:t>باعث حساسیت </a:t>
            </a:r>
            <a:r>
              <a:rPr lang="fa-IR" b="1" dirty="0">
                <a:cs typeface="B Nazanin" panose="00000400000000000000" pitchFamily="2" charset="-78"/>
              </a:rPr>
              <a:t>و درد می شود.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مال </a:t>
            </a:r>
            <a:r>
              <a:rPr lang="fa-IR" b="1" dirty="0">
                <a:cs typeface="B Nazanin" panose="00000400000000000000" pitchFamily="2" charset="-78"/>
              </a:rPr>
              <a:t>اکلوژن-ضربات شلاقی-آرتریت فک-وضعیت غیر عادی سر </a:t>
            </a:r>
            <a:r>
              <a:rPr lang="fa-IR" b="1" dirty="0" smtClean="0">
                <a:cs typeface="B Nazanin" panose="00000400000000000000" pitchFamily="2" charset="-78"/>
              </a:rPr>
              <a:t>وگردن-استرس </a:t>
            </a:r>
            <a:r>
              <a:rPr lang="fa-IR" b="1" dirty="0">
                <a:cs typeface="B Nazanin" panose="00000400000000000000" pitchFamily="2" charset="-78"/>
              </a:rPr>
              <a:t>و مداخلات </a:t>
            </a:r>
            <a:r>
              <a:rPr lang="fa-IR" b="1" dirty="0" smtClean="0">
                <a:cs typeface="B Nazanin" panose="00000400000000000000" pitchFamily="2" charset="-78"/>
              </a:rPr>
              <a:t>پزشکی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درمان:درمان </a:t>
            </a:r>
            <a:r>
              <a:rPr lang="fa-IR" b="1" dirty="0">
                <a:cs typeface="B Nazanin" panose="00000400000000000000" pitchFamily="2" charset="-78"/>
              </a:rPr>
              <a:t>استرس بیمار برای کاهش فشار روی دندانها-تمرینات </a:t>
            </a:r>
            <a:r>
              <a:rPr lang="fa-IR" b="1" dirty="0" smtClean="0">
                <a:cs typeface="B Nazanin" panose="00000400000000000000" pitchFamily="2" charset="-78"/>
              </a:rPr>
              <a:t>ورزشی فک </a:t>
            </a:r>
            <a:r>
              <a:rPr lang="fa-IR" b="1" dirty="0">
                <a:cs typeface="B Nazanin" panose="00000400000000000000" pitchFamily="2" charset="-78"/>
              </a:rPr>
              <a:t>تحتانی-داروهای </a:t>
            </a:r>
            <a:r>
              <a:rPr lang="en-US" dirty="0">
                <a:cs typeface="B Nazanin" panose="00000400000000000000" pitchFamily="2" charset="-78"/>
              </a:rPr>
              <a:t>NSAID </a:t>
            </a:r>
            <a:r>
              <a:rPr lang="fa-IR" dirty="0" smtClean="0">
                <a:cs typeface="B Nazanin" panose="00000400000000000000" pitchFamily="2" charset="-78"/>
              </a:rPr>
              <a:t> </a:t>
            </a:r>
            <a:r>
              <a:rPr lang="fa-IR" b="1" dirty="0" smtClean="0">
                <a:cs typeface="B Nazanin" panose="00000400000000000000" pitchFamily="2" charset="-78"/>
              </a:rPr>
              <a:t>ومخدر </a:t>
            </a:r>
            <a:r>
              <a:rPr lang="fa-IR" b="1" dirty="0">
                <a:cs typeface="B Nazanin" panose="00000400000000000000" pitchFamily="2" charset="-78"/>
              </a:rPr>
              <a:t>و شل کننده های </a:t>
            </a:r>
            <a:r>
              <a:rPr lang="fa-IR" b="1" dirty="0" smtClean="0">
                <a:cs typeface="B Nazanin" panose="00000400000000000000" pitchFamily="2" charset="-78"/>
              </a:rPr>
              <a:t>عضلانی-اصلاح آنرمالیهای </a:t>
            </a:r>
            <a:r>
              <a:rPr lang="fa-IR" b="1" dirty="0">
                <a:cs typeface="B Nazanin" panose="00000400000000000000" pitchFamily="2" charset="-78"/>
              </a:rPr>
              <a:t>فک به روش جراحی</a:t>
            </a:r>
          </a:p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پرستاری بعد از جراحی:سر 30 درجه </a:t>
            </a:r>
            <a:r>
              <a:rPr lang="fa-IR" b="1" dirty="0" smtClean="0">
                <a:cs typeface="B Nazanin" panose="00000400000000000000" pitchFamily="2" charset="-78"/>
              </a:rPr>
              <a:t>و لترال </a:t>
            </a:r>
            <a:r>
              <a:rPr lang="fa-IR" b="1" dirty="0">
                <a:cs typeface="B Nazanin" panose="00000400000000000000" pitchFamily="2" charset="-78"/>
              </a:rPr>
              <a:t>باشد وآسپیراسیون معده </a:t>
            </a:r>
            <a:r>
              <a:rPr lang="fa-IR" b="1" dirty="0" smtClean="0">
                <a:cs typeface="B Nazanin" panose="00000400000000000000" pitchFamily="2" charset="-78"/>
              </a:rPr>
              <a:t>با سوند </a:t>
            </a:r>
            <a:r>
              <a:rPr lang="fa-IR" b="1" dirty="0">
                <a:cs typeface="B Nazanin" panose="00000400000000000000" pitchFamily="2" charset="-78"/>
              </a:rPr>
              <a:t>معده </a:t>
            </a:r>
            <a:r>
              <a:rPr lang="fa-IR" b="1" dirty="0" smtClean="0">
                <a:cs typeface="B Nazanin" panose="00000400000000000000" pitchFamily="2" charset="-78"/>
              </a:rPr>
              <a:t>و پوار-تجویز </a:t>
            </a:r>
            <a:r>
              <a:rPr lang="fa-IR" b="1" dirty="0">
                <a:cs typeface="B Nazanin" panose="00000400000000000000" pitchFamily="2" charset="-78"/>
              </a:rPr>
              <a:t>ضد استفراغ-رژیم غذایی نرم</a:t>
            </a: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35402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79" y="2291255"/>
            <a:ext cx="4508938" cy="285296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90" y="2291255"/>
            <a:ext cx="3798112" cy="315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78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پاروتیت </a:t>
            </a:r>
            <a:r>
              <a:rPr lang="en-US" dirty="0" err="1"/>
              <a:t>parotitis</a:t>
            </a:r>
            <a:r>
              <a:rPr lang="en-US" dirty="0"/>
              <a:t/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dirty="0"/>
              <a:t>التهاب غده </a:t>
            </a:r>
            <a:r>
              <a:rPr lang="fa-IR" dirty="0" smtClean="0"/>
              <a:t>پاروتید: </a:t>
            </a:r>
            <a:r>
              <a:rPr lang="fa-IR" dirty="0"/>
              <a:t>شایعترین بیماری التهابی غدد بزاقی است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dirty="0"/>
              <a:t>افراد مسن و بیمار و ناتوان با کاهش بزاق ناشی </a:t>
            </a:r>
            <a:r>
              <a:rPr lang="fa-IR" dirty="0" smtClean="0"/>
              <a:t>از دهیدراتاسیون </a:t>
            </a:r>
            <a:r>
              <a:rPr lang="fa-IR" dirty="0"/>
              <a:t>در معرض پاروتیت هستند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dirty="0"/>
              <a:t>عامل عفونی که عمدتا استافیلوکوک اورئوس است از </a:t>
            </a:r>
            <a:r>
              <a:rPr lang="fa-IR" dirty="0" smtClean="0"/>
              <a:t>دهان وارد </a:t>
            </a:r>
            <a:r>
              <a:rPr lang="fa-IR" dirty="0"/>
              <a:t>می شود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dirty="0"/>
              <a:t>پاروتیت اپیدمیک یا اوریون </a:t>
            </a:r>
            <a:r>
              <a:rPr lang="en-US" dirty="0"/>
              <a:t>mump </a:t>
            </a:r>
            <a:r>
              <a:rPr lang="en-US" dirty="0" smtClean="0"/>
              <a:t>)</a:t>
            </a:r>
            <a:r>
              <a:rPr lang="fa-IR" dirty="0" smtClean="0"/>
              <a:t> )عامل </a:t>
            </a:r>
            <a:r>
              <a:rPr lang="fa-IR" dirty="0"/>
              <a:t>ویروسی دارد و در </a:t>
            </a:r>
            <a:r>
              <a:rPr lang="fa-IR" dirty="0" smtClean="0"/>
              <a:t>بچه ها </a:t>
            </a:r>
            <a:r>
              <a:rPr lang="fa-IR" dirty="0"/>
              <a:t>دیده میشود.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dirty="0" smtClean="0"/>
              <a:t>علایم: تب-گلو </a:t>
            </a:r>
            <a:r>
              <a:rPr lang="fa-IR" dirty="0"/>
              <a:t>درد-تورم –اشکال در بلع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dirty="0" smtClean="0"/>
              <a:t>درمان:بهداشت </a:t>
            </a:r>
            <a:r>
              <a:rPr lang="fa-IR" dirty="0"/>
              <a:t>دهان ودندان-تغذیه مناسب و مایعات </a:t>
            </a:r>
            <a:r>
              <a:rPr lang="fa-IR" dirty="0" smtClean="0"/>
              <a:t>کافی-آنتی بیوتیک-مسکن-درناژ </a:t>
            </a:r>
            <a:r>
              <a:rPr lang="fa-IR" dirty="0"/>
              <a:t>در صورت مقاوم شدن</a:t>
            </a:r>
          </a:p>
        </p:txBody>
      </p:sp>
    </p:spTree>
    <p:extLst>
      <p:ext uri="{BB962C8B-B14F-4D97-AF65-F5344CB8AC3E}">
        <p14:creationId xmlns:p14="http://schemas.microsoft.com/office/powerpoint/2010/main" val="1864683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097" y="4813738"/>
            <a:ext cx="4120055" cy="204426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277" y="2237988"/>
            <a:ext cx="2752725" cy="27544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902" y="2509593"/>
            <a:ext cx="2779097" cy="22112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81" y="2461088"/>
            <a:ext cx="3085253" cy="22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94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/>
            </a:r>
            <a:br>
              <a:rPr lang="fa-IR" dirty="0"/>
            </a:br>
            <a:r>
              <a:rPr lang="en-US" dirty="0" err="1" smtClean="0"/>
              <a:t>sialadentitis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a-IR" b="1" dirty="0"/>
              <a:t>التهاب غدد </a:t>
            </a:r>
            <a:r>
              <a:rPr lang="fa-IR" b="1" dirty="0" smtClean="0"/>
              <a:t>بزاقی است</a:t>
            </a:r>
            <a:endParaRPr lang="fa-IR" b="1" dirty="0"/>
          </a:p>
          <a:p>
            <a:pPr marL="0" indent="0">
              <a:buNone/>
            </a:pPr>
            <a:r>
              <a:rPr lang="fa-IR" b="1" dirty="0"/>
              <a:t>درد-تورم-ترشح چرکی</a:t>
            </a:r>
          </a:p>
          <a:p>
            <a:pPr marL="0" indent="0">
              <a:buNone/>
            </a:pPr>
            <a:endParaRPr lang="fa-IR" b="1" dirty="0"/>
          </a:p>
          <a:p>
            <a:pPr marL="0" indent="0">
              <a:buNone/>
            </a:pPr>
            <a:r>
              <a:rPr lang="fa-IR" b="1" dirty="0"/>
              <a:t>علت</a:t>
            </a:r>
            <a:r>
              <a:rPr lang="fa-IR" b="1" dirty="0" smtClean="0"/>
              <a:t>: میکروب استاف </a:t>
            </a:r>
            <a:r>
              <a:rPr lang="fa-IR" b="1" dirty="0"/>
              <a:t>طلایی</a:t>
            </a:r>
          </a:p>
          <a:p>
            <a:pPr marL="0" indent="0">
              <a:buNone/>
            </a:pPr>
            <a:endParaRPr lang="fa-IR" b="1" dirty="0"/>
          </a:p>
          <a:p>
            <a:pPr marL="0" indent="0">
              <a:buNone/>
            </a:pPr>
            <a:r>
              <a:rPr lang="fa-IR" b="1" dirty="0" smtClean="0"/>
              <a:t> درمان:مایعات </a:t>
            </a:r>
            <a:r>
              <a:rPr lang="fa-IR" b="1" dirty="0"/>
              <a:t>کافی-مسکن-آنتی بیوتیک –</a:t>
            </a:r>
          </a:p>
          <a:p>
            <a:pPr marL="0" indent="0">
              <a:buNone/>
            </a:pPr>
            <a:endParaRPr lang="fa-IR" b="1" dirty="0"/>
          </a:p>
          <a:p>
            <a:pPr marL="0" indent="0">
              <a:buNone/>
            </a:pPr>
            <a:r>
              <a:rPr lang="fa-IR" b="1" dirty="0"/>
              <a:t>در صورت عدم پاسخ به درمان درناژ جراحی</a:t>
            </a:r>
          </a:p>
        </p:txBody>
      </p:sp>
    </p:spTree>
    <p:extLst>
      <p:ext uri="{BB962C8B-B14F-4D97-AF65-F5344CB8AC3E}">
        <p14:creationId xmlns:p14="http://schemas.microsoft.com/office/powerpoint/2010/main" val="2565815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Salivary calculus</a:t>
            </a:r>
            <a:r>
              <a:rPr lang="en-US" dirty="0"/>
              <a:t>( </a:t>
            </a:r>
            <a:r>
              <a:rPr lang="en-US" dirty="0" err="1" smtClean="0"/>
              <a:t>sialolithiasis</a:t>
            </a:r>
            <a:r>
              <a:rPr lang="en-US" dirty="0" smtClean="0"/>
              <a:t>)</a:t>
            </a:r>
            <a:r>
              <a:rPr lang="en-US" dirty="0"/>
              <a:t/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fa-IR" sz="2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b="1" dirty="0">
                <a:cs typeface="B Nazanin" panose="00000400000000000000" pitchFamily="2" charset="-78"/>
              </a:rPr>
              <a:t>سنگ بزاقی در غده تحت فکی ایجاد می </a:t>
            </a:r>
            <a:r>
              <a:rPr lang="fa-IR" sz="2000" b="1" dirty="0" smtClean="0">
                <a:cs typeface="B Nazanin" panose="00000400000000000000" pitchFamily="2" charset="-78"/>
              </a:rPr>
              <a:t>شود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b="1" dirty="0">
                <a:cs typeface="B Nazanin" panose="00000400000000000000" pitchFamily="2" charset="-78"/>
              </a:rPr>
              <a:t>جنس سنگ عمدتا فسفات کلسیم </a:t>
            </a:r>
            <a:r>
              <a:rPr lang="fa-IR" sz="2000" b="1" dirty="0" smtClean="0">
                <a:cs typeface="B Nazanin" panose="00000400000000000000" pitchFamily="2" charset="-78"/>
              </a:rPr>
              <a:t>است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b="1" dirty="0">
                <a:cs typeface="B Nazanin" panose="00000400000000000000" pitchFamily="2" charset="-78"/>
              </a:rPr>
              <a:t>از سونوگرافی برای تشخیص استفاده </a:t>
            </a:r>
            <a:r>
              <a:rPr lang="fa-IR" sz="2000" b="1" dirty="0" smtClean="0">
                <a:cs typeface="B Nazanin" panose="00000400000000000000" pitchFamily="2" charset="-78"/>
              </a:rPr>
              <a:t>میشود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b="1" dirty="0">
                <a:cs typeface="B Nazanin" panose="00000400000000000000" pitchFamily="2" charset="-78"/>
              </a:rPr>
              <a:t>سنگ اگر در مجرای بزاق باشد درد شدید کولیکی ایجاد </a:t>
            </a:r>
            <a:r>
              <a:rPr lang="fa-IR" sz="2000" b="1" dirty="0" smtClean="0">
                <a:cs typeface="B Nazanin" panose="00000400000000000000" pitchFamily="2" charset="-78"/>
              </a:rPr>
              <a:t>میکند. سنگ در </a:t>
            </a:r>
            <a:r>
              <a:rPr lang="fa-IR" sz="2000" b="1" dirty="0">
                <a:cs typeface="B Nazanin" panose="00000400000000000000" pitchFamily="2" charset="-78"/>
              </a:rPr>
              <a:t>خود غده عفونت ایجاد می </a:t>
            </a:r>
            <a:r>
              <a:rPr lang="fa-IR" sz="2000" b="1" dirty="0" smtClean="0">
                <a:cs typeface="B Nazanin" panose="00000400000000000000" pitchFamily="2" charset="-78"/>
              </a:rPr>
              <a:t>کند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b="1" dirty="0">
                <a:cs typeface="B Nazanin" panose="00000400000000000000" pitchFamily="2" charset="-78"/>
              </a:rPr>
              <a:t>تورم وحساسیت غده وجود </a:t>
            </a:r>
            <a:r>
              <a:rPr lang="fa-IR" sz="2000" b="1" dirty="0" smtClean="0">
                <a:cs typeface="B Nazanin" panose="00000400000000000000" pitchFamily="2" charset="-78"/>
              </a:rPr>
              <a:t>دارد</a:t>
            </a:r>
            <a:endParaRPr lang="fa-IR" sz="2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000" b="1" dirty="0">
                <a:cs typeface="B Nazanin" panose="00000400000000000000" pitchFamily="2" charset="-78"/>
              </a:rPr>
              <a:t>درمان: برش جراحی و یا لیتوتریپسی است</a:t>
            </a:r>
          </a:p>
        </p:txBody>
      </p:sp>
    </p:spTree>
    <p:extLst>
      <p:ext uri="{BB962C8B-B14F-4D97-AF65-F5344CB8AC3E}">
        <p14:creationId xmlns:p14="http://schemas.microsoft.com/office/powerpoint/2010/main" val="799303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کانسرهای حفره دهان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معمولا کانسر سلول سنگفرشی </a:t>
            </a:r>
            <a:r>
              <a:rPr lang="fa-IR" b="1" dirty="0" smtClean="0">
                <a:cs typeface="B Nazanin" panose="00000400000000000000" pitchFamily="2" charset="-78"/>
              </a:rPr>
              <a:t>هستند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شایعترین محل: لبها- کف دهان-قسمتهای جانبی زبان و بعد کام </a:t>
            </a:r>
            <a:r>
              <a:rPr lang="fa-IR" b="1" dirty="0" smtClean="0">
                <a:cs typeface="B Nazanin" panose="00000400000000000000" pitchFamily="2" charset="-78"/>
              </a:rPr>
              <a:t>نرم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علت: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الکل و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تنباکو و ویروس پاپیلومای انسانی(70% در آمریکا) </a:t>
            </a:r>
            <a:r>
              <a:rPr lang="fa-IR" b="1" dirty="0">
                <a:cs typeface="B Nazanin" panose="00000400000000000000" pitchFamily="2" charset="-78"/>
              </a:rPr>
              <a:t>شایعترین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کارسینوژن حفره دهان </a:t>
            </a:r>
            <a:r>
              <a:rPr lang="fa-IR" b="1" dirty="0" smtClean="0">
                <a:cs typeface="B Nazanin" panose="00000400000000000000" pitchFamily="2" charset="-78"/>
              </a:rPr>
              <a:t>هستند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علایم:زخم بدون درد و سخت با لبه های برآمده و یا توده ای که التیام </a:t>
            </a:r>
            <a:r>
              <a:rPr lang="fa-IR" b="1" dirty="0" smtClean="0">
                <a:cs typeface="B Nazanin" panose="00000400000000000000" pitchFamily="2" charset="-78"/>
              </a:rPr>
              <a:t>نمی یابد.(2 هفته)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نشانه </a:t>
            </a:r>
            <a:r>
              <a:rPr lang="fa-IR" b="1" dirty="0">
                <a:cs typeface="B Nazanin" panose="00000400000000000000" pitchFamily="2" charset="-78"/>
              </a:rPr>
              <a:t>های بعدی:حساسیت-اشکال در جویدن و بلعیدن-بزرگی غدد </a:t>
            </a:r>
            <a:r>
              <a:rPr lang="fa-IR" b="1" dirty="0" smtClean="0">
                <a:cs typeface="B Nazanin" panose="00000400000000000000" pitchFamily="2" charset="-78"/>
              </a:rPr>
              <a:t>لنفاوی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درمان:جراحی و کموتراپی و رادیوتراپی</a:t>
            </a:r>
          </a:p>
        </p:txBody>
      </p:sp>
    </p:spTree>
    <p:extLst>
      <p:ext uri="{BB962C8B-B14F-4D97-AF65-F5344CB8AC3E}">
        <p14:creationId xmlns:p14="http://schemas.microsoft.com/office/powerpoint/2010/main" val="13365847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سرطان دهان</a:t>
            </a:r>
            <a:endParaRPr lang="fa-IR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30" y="1825624"/>
            <a:ext cx="8195309" cy="4872356"/>
          </a:xfrm>
        </p:spPr>
      </p:pic>
    </p:spTree>
    <p:extLst>
      <p:ext uri="{BB962C8B-B14F-4D97-AF65-F5344CB8AC3E}">
        <p14:creationId xmlns:p14="http://schemas.microsoft.com/office/powerpoint/2010/main" val="1584125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فرآیند پرستاری </a:t>
            </a:r>
            <a:r>
              <a:rPr lang="en-US" dirty="0"/>
              <a:t>nursing </a:t>
            </a:r>
            <a:r>
              <a:rPr lang="en-US" dirty="0" smtClean="0"/>
              <a:t>process</a:t>
            </a:r>
            <a:r>
              <a:rPr lang="en-US" dirty="0"/>
              <a:t/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Asessment</a:t>
            </a:r>
            <a:r>
              <a:rPr lang="fa-IR" b="1" dirty="0" smtClean="0"/>
              <a:t>: </a:t>
            </a:r>
          </a:p>
          <a:p>
            <a:pPr marL="0" indent="0">
              <a:buNone/>
            </a:pPr>
            <a:r>
              <a:rPr lang="fa-IR" b="1" dirty="0" smtClean="0"/>
              <a:t>رنگ- </a:t>
            </a:r>
            <a:r>
              <a:rPr lang="fa-IR" b="1" dirty="0"/>
              <a:t>رطوبت –</a:t>
            </a:r>
            <a:r>
              <a:rPr lang="fa-IR" b="1" dirty="0" smtClean="0"/>
              <a:t>زمینه- تقارن-زخم- </a:t>
            </a:r>
            <a:r>
              <a:rPr lang="fa-IR" b="1" dirty="0"/>
              <a:t>التهاب-بو-ضایعات-توده </a:t>
            </a:r>
            <a:r>
              <a:rPr lang="fa-IR" b="1" dirty="0" smtClean="0"/>
              <a:t>وتورم-بدشکلی درلبها </a:t>
            </a:r>
          </a:p>
          <a:p>
            <a:pPr marL="0" indent="0">
              <a:buNone/>
            </a:pPr>
            <a:r>
              <a:rPr lang="fa-IR" b="1" dirty="0" smtClean="0"/>
              <a:t>و </a:t>
            </a:r>
            <a:r>
              <a:rPr lang="fa-IR" b="1" dirty="0"/>
              <a:t>دندان- لثه -کام سخت </a:t>
            </a:r>
            <a:r>
              <a:rPr lang="fa-IR" b="1" dirty="0" smtClean="0"/>
              <a:t>و کام </a:t>
            </a:r>
            <a:r>
              <a:rPr lang="fa-IR" b="1" dirty="0"/>
              <a:t>نرم و حلق و لوزه </a:t>
            </a:r>
            <a:r>
              <a:rPr lang="fa-IR" b="1" dirty="0" smtClean="0"/>
              <a:t>ها مورد </a:t>
            </a:r>
            <a:r>
              <a:rPr lang="fa-IR" b="1" dirty="0"/>
              <a:t>مشاهده قرار</a:t>
            </a:r>
          </a:p>
          <a:p>
            <a:pPr marL="0" indent="0">
              <a:buNone/>
            </a:pPr>
            <a:r>
              <a:rPr lang="fa-IR" b="1" dirty="0"/>
              <a:t>می گیرد.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223069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a-IR" dirty="0"/>
              <a:t>تشخیص </a:t>
            </a:r>
            <a:r>
              <a:rPr lang="fa-IR" dirty="0" smtClean="0"/>
              <a:t>پرستاری</a:t>
            </a:r>
            <a:br>
              <a:rPr lang="fa-IR" dirty="0" smtClean="0"/>
            </a:br>
            <a:r>
              <a:rPr lang="fa-IR" dirty="0" smtClean="0"/>
              <a:t> </a:t>
            </a:r>
            <a:r>
              <a:rPr lang="en-US" dirty="0" smtClean="0"/>
              <a:t>nursing diagnosis</a:t>
            </a:r>
            <a:r>
              <a:rPr lang="en-US" dirty="0"/>
              <a:t/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1 -اختلال در تمامیت غشا دهان بعلت شرایط پاتولوژیک یا تروما یا عفونت و..... که بازخم یا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خونریزی مشخص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2 -اختلال در تغذیه کمتر از نیاز بدن بعلت ناتوانی در جویدن و بلعیدن که با غذا خوردن کم مشخص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است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3 -اختلال در تصویر ذهنی از بدن بعلت تغییرات ظاهری در لبها یا صورت که با بدشکلی لب مشخص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است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4 </a:t>
            </a:r>
            <a:r>
              <a:rPr lang="fa-IR" b="1" dirty="0">
                <a:cs typeface="B Nazanin" panose="00000400000000000000" pitchFamily="2" charset="-78"/>
              </a:rPr>
              <a:t>-اختلال در ارتباط کلامی بعلت درمان جراحی یا درد شدید که با ناتوانی در تکلم مشخص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5 -اختلال در راحتی و آسایش ییمار بعلت زخم دهان که با درد شدید مشخص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6 -درد دهان بعلت ضایعه یا زخم که با آژیتاسیون و ناراحتی بیمار مشخص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7 -خطر بروز عفونت سیستمیک بعلت </a:t>
            </a:r>
            <a:r>
              <a:rPr lang="fa-IR" b="1" dirty="0" smtClean="0">
                <a:cs typeface="B Nazanin" panose="00000400000000000000" pitchFamily="2" charset="-78"/>
              </a:rPr>
              <a:t>بیماری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8 -خطر بروز لاغری بعلت تغذیه ناکافی</a:t>
            </a: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55086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تشریح گردن </a:t>
            </a:r>
            <a:r>
              <a:rPr lang="en-US" dirty="0"/>
              <a:t>neck dissection</a:t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dirty="0">
                <a:cs typeface="B Nazanin" panose="00000400000000000000" pitchFamily="2" charset="-78"/>
              </a:rPr>
              <a:t>د</a:t>
            </a:r>
            <a:r>
              <a:rPr lang="fa-IR" b="1" dirty="0">
                <a:cs typeface="B Nazanin" panose="00000400000000000000" pitchFamily="2" charset="-78"/>
              </a:rPr>
              <a:t>ر بدخیمی های سر وگردن مثل </a:t>
            </a:r>
            <a:r>
              <a:rPr lang="fa-IR" b="1" dirty="0" smtClean="0">
                <a:cs typeface="B Nazanin" panose="00000400000000000000" pitchFamily="2" charset="-78"/>
              </a:rPr>
              <a:t>حفره دهان،اروفارنکس،هیپوفارنکس،نازوفارنکس،حفرات </a:t>
            </a:r>
            <a:r>
              <a:rPr lang="fa-IR" b="1" dirty="0">
                <a:cs typeface="B Nazanin" panose="00000400000000000000" pitchFamily="2" charset="-78"/>
              </a:rPr>
              <a:t>بینی،سینوسها و </a:t>
            </a:r>
            <a:r>
              <a:rPr lang="fa-IR" b="1" dirty="0" smtClean="0">
                <a:cs typeface="B Nazanin" panose="00000400000000000000" pitchFamily="2" charset="-78"/>
              </a:rPr>
              <a:t>حنجره جراحی انجام می شود.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اگر قبل از جراحی به غدد لنفاوی گردن متاستاز داده باشد غیر قابل </a:t>
            </a:r>
            <a:r>
              <a:rPr lang="fa-IR" b="1" dirty="0" smtClean="0">
                <a:cs typeface="B Nazanin" panose="00000400000000000000" pitchFamily="2" charset="-78"/>
              </a:rPr>
              <a:t>علاج است.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رادیکال دیسکسیون:برداشتن </a:t>
            </a:r>
            <a:r>
              <a:rPr lang="fa-IR" b="1" dirty="0">
                <a:cs typeface="B Nazanin" panose="00000400000000000000" pitchFamily="2" charset="-78"/>
              </a:rPr>
              <a:t>تمام غدد لنفاوی گردن از فک تحتانی تا </a:t>
            </a:r>
            <a:r>
              <a:rPr lang="fa-IR" b="1" dirty="0" smtClean="0">
                <a:cs typeface="B Nazanin" panose="00000400000000000000" pitchFamily="2" charset="-78"/>
              </a:rPr>
              <a:t>ترقوه وخارج </a:t>
            </a:r>
            <a:r>
              <a:rPr lang="fa-IR" b="1" dirty="0">
                <a:cs typeface="B Nazanin" panose="00000400000000000000" pitchFamily="2" charset="-78"/>
              </a:rPr>
              <a:t>کردن عضله جناغی چنبری پستانی همراه با ورید ژوگولار داخلی </a:t>
            </a:r>
            <a:r>
              <a:rPr lang="fa-IR" b="1" dirty="0" smtClean="0">
                <a:cs typeface="B Nazanin" panose="00000400000000000000" pitchFamily="2" charset="-78"/>
              </a:rPr>
              <a:t>و عضله </a:t>
            </a:r>
            <a:r>
              <a:rPr lang="fa-IR" b="1" dirty="0">
                <a:cs typeface="B Nazanin" panose="00000400000000000000" pitchFamily="2" charset="-78"/>
              </a:rPr>
              <a:t>فرعی مهره </a:t>
            </a:r>
            <a:r>
              <a:rPr lang="fa-IR" b="1" dirty="0" smtClean="0">
                <a:cs typeface="B Nazanin" panose="00000400000000000000" pitchFamily="2" charset="-78"/>
              </a:rPr>
              <a:t>ای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در این عمل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افتادگی شانه و افتادگی گردن </a:t>
            </a:r>
            <a:r>
              <a:rPr lang="fa-IR" b="1" dirty="0">
                <a:cs typeface="B Nazanin" panose="00000400000000000000" pitchFamily="2" charset="-78"/>
              </a:rPr>
              <a:t>وجود دارد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در </a:t>
            </a:r>
            <a:r>
              <a:rPr lang="fa-IR" b="1" dirty="0">
                <a:cs typeface="B Nazanin" panose="00000400000000000000" pitchFamily="2" charset="-78"/>
              </a:rPr>
              <a:t>دیسکسیون تعدیل شده بعضی از اعضای غیر لنفاوی نگه داشته می شود</a:t>
            </a: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00957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1930400"/>
            <a:ext cx="6022428" cy="455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40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2007476"/>
            <a:ext cx="8596312" cy="406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857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توجهات پرستاری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ممکن است بعد از جراحی رادیکال برای پوشاندن ناحیه از </a:t>
            </a:r>
            <a:r>
              <a:rPr lang="fa-IR" b="1" dirty="0" smtClean="0">
                <a:cs typeface="B Nazanin" panose="00000400000000000000" pitchFamily="2" charset="-78"/>
              </a:rPr>
              <a:t>پیوند پوست </a:t>
            </a:r>
            <a:r>
              <a:rPr lang="fa-IR" b="1" dirty="0">
                <a:cs typeface="B Nazanin" panose="00000400000000000000" pitchFamily="2" charset="-78"/>
              </a:rPr>
              <a:t>استفاده شود</a:t>
            </a:r>
          </a:p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فلاپهای پوستی از نواحی مختلف مثل ساعد و کتف و ران برداشته </a:t>
            </a:r>
            <a:r>
              <a:rPr lang="fa-IR" b="1" dirty="0" smtClean="0">
                <a:cs typeface="B Nazanin" panose="00000400000000000000" pitchFamily="2" charset="-78"/>
              </a:rPr>
              <a:t>وروی </a:t>
            </a:r>
            <a:r>
              <a:rPr lang="fa-IR" b="1" dirty="0">
                <a:cs typeface="B Nazanin" panose="00000400000000000000" pitchFamily="2" charset="-78"/>
              </a:rPr>
              <a:t>ناحیه گردن گرافت میشود</a:t>
            </a:r>
          </a:p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بعد از جراحی بیمار از نظر عوارضی چون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اختلال وضعیت تنفسی </a:t>
            </a:r>
            <a:r>
              <a:rPr lang="fa-IR" b="1" dirty="0" smtClean="0">
                <a:cs typeface="B Nazanin" panose="00000400000000000000" pitchFamily="2" charset="-78"/>
              </a:rPr>
              <a:t>و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عفونت</a:t>
            </a:r>
            <a:r>
              <a:rPr lang="fa-IR" b="1" dirty="0" smtClean="0">
                <a:cs typeface="B Nazanin" panose="00000400000000000000" pitchFamily="2" charset="-78"/>
              </a:rPr>
              <a:t> </a:t>
            </a:r>
            <a:r>
              <a:rPr lang="fa-IR" b="1" dirty="0">
                <a:cs typeface="B Nazanin" panose="00000400000000000000" pitchFamily="2" charset="-78"/>
              </a:rPr>
              <a:t>زخم و محل عمل و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 خونریزی </a:t>
            </a:r>
            <a:r>
              <a:rPr lang="fa-IR" b="1" dirty="0">
                <a:cs typeface="B Nazanin" panose="00000400000000000000" pitchFamily="2" charset="-78"/>
              </a:rPr>
              <a:t>تحت نظر قرار می گیرد</a:t>
            </a: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بیمار </a:t>
            </a:r>
            <a:r>
              <a:rPr lang="fa-IR" b="1" dirty="0">
                <a:cs typeface="B Nazanin" panose="00000400000000000000" pitchFamily="2" charset="-78"/>
              </a:rPr>
              <a:t>از نظر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آسیب عصب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صورت(فلج </a:t>
            </a:r>
            <a:r>
              <a:rPr lang="fa-IR" b="1" dirty="0">
                <a:cs typeface="B Nazanin" panose="00000400000000000000" pitchFamily="2" charset="-78"/>
              </a:rPr>
              <a:t>تحتانی </a:t>
            </a:r>
            <a:r>
              <a:rPr lang="fa-IR" b="1" dirty="0" smtClean="0">
                <a:cs typeface="B Nazanin" panose="00000400000000000000" pitchFamily="2" charset="-78"/>
              </a:rPr>
              <a:t>چهره) </a:t>
            </a:r>
            <a:r>
              <a:rPr lang="fa-IR" b="1" dirty="0">
                <a:cs typeface="B Nazanin" panose="00000400000000000000" pitchFamily="2" charset="-78"/>
              </a:rPr>
              <a:t>و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عصب 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فوقانی حنجره </a:t>
            </a:r>
            <a:r>
              <a:rPr lang="fa-IR" b="1" dirty="0" smtClean="0">
                <a:cs typeface="B Nazanin" panose="00000400000000000000" pitchFamily="2" charset="-78"/>
              </a:rPr>
              <a:t>(نقصان </a:t>
            </a:r>
            <a:r>
              <a:rPr lang="fa-IR" b="1" dirty="0">
                <a:cs typeface="B Nazanin" panose="00000400000000000000" pitchFamily="2" charset="-78"/>
              </a:rPr>
              <a:t>حس گلوت </a:t>
            </a:r>
            <a:r>
              <a:rPr lang="fa-IR" b="1" dirty="0" smtClean="0">
                <a:cs typeface="B Nazanin" panose="00000400000000000000" pitchFamily="2" charset="-78"/>
              </a:rPr>
              <a:t>و اشکال </a:t>
            </a:r>
            <a:r>
              <a:rPr lang="fa-IR" b="1" dirty="0">
                <a:cs typeface="B Nazanin" panose="00000400000000000000" pitchFamily="2" charset="-78"/>
              </a:rPr>
              <a:t>در </a:t>
            </a:r>
            <a:r>
              <a:rPr lang="fa-IR" b="1" dirty="0" smtClean="0">
                <a:cs typeface="B Nazanin" panose="00000400000000000000" pitchFamily="2" charset="-78"/>
              </a:rPr>
              <a:t>بلع)بررسی </a:t>
            </a:r>
            <a:r>
              <a:rPr lang="fa-IR" b="1" dirty="0">
                <a:cs typeface="B Nazanin" panose="00000400000000000000" pitchFamily="2" charset="-78"/>
              </a:rPr>
              <a:t>میشود</a:t>
            </a:r>
            <a:r>
              <a:rPr lang="fa-IR" b="1" dirty="0" smtClean="0">
                <a:cs typeface="B Nazanin" panose="00000400000000000000" pitchFamily="2" charset="-78"/>
              </a:rPr>
              <a:t>.</a:t>
            </a:r>
          </a:p>
          <a:p>
            <a:pPr marL="0" indent="0">
              <a:buNone/>
            </a:pPr>
            <a:r>
              <a:rPr lang="fa-IR" b="1" smtClean="0">
                <a:cs typeface="B Nazanin" panose="00000400000000000000" pitchFamily="2" charset="-78"/>
              </a:rPr>
              <a:t>ارجاع به فیزیوتراپی و انجام ورزشهای تقویت کننده عضلات گردن و شانه و صورت ضروری است.</a:t>
            </a: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27420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تشخیص پرستاری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fa-IR" dirty="0"/>
          </a:p>
          <a:p>
            <a:r>
              <a:rPr lang="fa-IR" b="1" dirty="0"/>
              <a:t>کمبود آگاهی از پروسیچر بعلت علم ناکافی فرد که با اضطراب مشخص است</a:t>
            </a:r>
          </a:p>
          <a:p>
            <a:endParaRPr lang="fa-IR" dirty="0"/>
          </a:p>
          <a:p>
            <a:r>
              <a:rPr lang="fa-IR" b="1" dirty="0"/>
              <a:t>کلیرانس غیر موثر راه هوایی بعلت موکوس زیاد و ادم وخونریزی که با </a:t>
            </a:r>
            <a:r>
              <a:rPr lang="fa-IR" b="1" dirty="0" smtClean="0"/>
              <a:t>تنگی نفس </a:t>
            </a:r>
            <a:r>
              <a:rPr lang="fa-IR" b="1" dirty="0"/>
              <a:t>مشخص است</a:t>
            </a:r>
          </a:p>
          <a:p>
            <a:endParaRPr lang="fa-IR" dirty="0"/>
          </a:p>
          <a:p>
            <a:r>
              <a:rPr lang="fa-IR" b="1" dirty="0"/>
              <a:t>اختلال در تغذیه کمتر از نیاز بدن بعلت زخمی بودن دهان که با تغذیه </a:t>
            </a:r>
            <a:r>
              <a:rPr lang="fa-IR" b="1" dirty="0" smtClean="0"/>
              <a:t>کم ومشکل </a:t>
            </a:r>
            <a:r>
              <a:rPr lang="fa-IR" b="1" dirty="0"/>
              <a:t>مشخص است</a:t>
            </a:r>
          </a:p>
          <a:p>
            <a:endParaRPr lang="fa-IR" dirty="0"/>
          </a:p>
          <a:p>
            <a:r>
              <a:rPr lang="fa-IR" b="1" dirty="0"/>
              <a:t>اختلال در تمامیت پوست بعلت جراحی که با زخم و غیره مشخص است</a:t>
            </a:r>
          </a:p>
          <a:p>
            <a:endParaRPr lang="fa-IR" dirty="0"/>
          </a:p>
          <a:p>
            <a:r>
              <a:rPr lang="fa-IR" b="1" dirty="0" smtClean="0"/>
              <a:t>خطر </a:t>
            </a:r>
            <a:r>
              <a:rPr lang="fa-IR" b="1" dirty="0"/>
              <a:t>بروز عفونت محل عمل بعلت تغذیه ناکافی و استفاده از شیمی درمانی</a:t>
            </a:r>
          </a:p>
          <a:p>
            <a:endParaRPr lang="fa-IR" dirty="0"/>
          </a:p>
          <a:p>
            <a:r>
              <a:rPr lang="fa-IR" b="1" dirty="0"/>
              <a:t>اختلال در اعتماد به نفس بعلت ماهیت بیماری که با عدم برقرای </a:t>
            </a:r>
            <a:r>
              <a:rPr lang="fa-IR" b="1" dirty="0" smtClean="0"/>
              <a:t>ارتباط مشخص </a:t>
            </a:r>
            <a:r>
              <a:rPr lang="fa-IR" b="1" dirty="0"/>
              <a:t>است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524482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669" y="609600"/>
            <a:ext cx="760949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21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1918</Words>
  <Application>Microsoft Office PowerPoint</Application>
  <PresentationFormat>Widescreen</PresentationFormat>
  <Paragraphs>271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B Nazanin</vt:lpstr>
      <vt:lpstr>Calibri</vt:lpstr>
      <vt:lpstr>Calibri Light</vt:lpstr>
      <vt:lpstr>Tahoma</vt:lpstr>
      <vt:lpstr>Times New Roman</vt:lpstr>
      <vt:lpstr>Trebuchet MS</vt:lpstr>
      <vt:lpstr>Wingdings 3</vt:lpstr>
      <vt:lpstr>Office Theme</vt:lpstr>
      <vt:lpstr>Facet</vt:lpstr>
      <vt:lpstr>جلسه دوم گوارش</vt:lpstr>
      <vt:lpstr>بررسی فیزیکی  physical exam </vt:lpstr>
      <vt:lpstr>سمع  auscultation </vt:lpstr>
      <vt:lpstr>لمس palpation </vt:lpstr>
      <vt:lpstr>ارزیابی تشخیصی </vt:lpstr>
      <vt:lpstr>رادیو گرافی </vt:lpstr>
      <vt:lpstr>فیبروسکوپی یا آندوسکوپی یا ازوفاگوگاسترودئودنوسکوپی </vt:lpstr>
      <vt:lpstr>کولونوسکوپی </vt:lpstr>
      <vt:lpstr>مراقبتهای موقع کولونوسکوپی</vt:lpstr>
      <vt:lpstr>سونوگرافی شکم </vt:lpstr>
      <vt:lpstr>سی تی اسکن </vt:lpstr>
      <vt:lpstr>تست مدفوع </vt:lpstr>
      <vt:lpstr>ملاحظات سالمندی</vt:lpstr>
      <vt:lpstr>تجربه</vt:lpstr>
      <vt:lpstr>اختلالات دهان و مری </vt:lpstr>
      <vt:lpstr>PowerPoint Presentation</vt:lpstr>
      <vt:lpstr>اختلالات لب </vt:lpstr>
      <vt:lpstr>تبخال</vt:lpstr>
      <vt:lpstr> شانکر</vt:lpstr>
      <vt:lpstr>اختلالات دهان </vt:lpstr>
      <vt:lpstr>کاندیدیاز یا مونیلیاز یا برفک</vt:lpstr>
      <vt:lpstr>PowerPoint Presentation</vt:lpstr>
      <vt:lpstr>آبسه  periapical </vt:lpstr>
      <vt:lpstr>تجربه</vt:lpstr>
      <vt:lpstr>Temporomandibular disorder </vt:lpstr>
      <vt:lpstr>PowerPoint Presentation</vt:lpstr>
      <vt:lpstr>پاروتیت parotitis </vt:lpstr>
      <vt:lpstr>PowerPoint Presentation</vt:lpstr>
      <vt:lpstr> sialadentitis</vt:lpstr>
      <vt:lpstr>Salivary calculus( sialolithiasis) </vt:lpstr>
      <vt:lpstr>کانسرهای حفره دهان </vt:lpstr>
      <vt:lpstr>سرطان دهان</vt:lpstr>
      <vt:lpstr>فرآیند پرستاری nursing process </vt:lpstr>
      <vt:lpstr>تشخیص پرستاری  nursing diagnosis </vt:lpstr>
      <vt:lpstr>تشریح گردن neck dissection </vt:lpstr>
      <vt:lpstr>PowerPoint Presentation</vt:lpstr>
      <vt:lpstr>PowerPoint Presentation</vt:lpstr>
      <vt:lpstr>توجهات پرستاری</vt:lpstr>
      <vt:lpstr>تشخیص پرستاری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جلسه دوم گوارش</dc:title>
  <dc:creator>Andisheh</dc:creator>
  <cp:lastModifiedBy>Andisheh</cp:lastModifiedBy>
  <cp:revision>65</cp:revision>
  <dcterms:created xsi:type="dcterms:W3CDTF">2024-10-08T18:07:50Z</dcterms:created>
  <dcterms:modified xsi:type="dcterms:W3CDTF">2026-10-10T19:37:40Z</dcterms:modified>
</cp:coreProperties>
</file>