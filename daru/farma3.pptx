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2" r:id="rId7"/>
    <p:sldId id="261" r:id="rId8"/>
    <p:sldId id="273" r:id="rId9"/>
    <p:sldId id="262" r:id="rId10"/>
    <p:sldId id="274" r:id="rId11"/>
    <p:sldId id="263" r:id="rId12"/>
    <p:sldId id="275" r:id="rId13"/>
    <p:sldId id="264" r:id="rId14"/>
    <p:sldId id="276" r:id="rId15"/>
    <p:sldId id="277" r:id="rId16"/>
    <p:sldId id="278" r:id="rId17"/>
    <p:sldId id="265" r:id="rId18"/>
    <p:sldId id="279" r:id="rId19"/>
    <p:sldId id="280" r:id="rId20"/>
    <p:sldId id="266" r:id="rId21"/>
    <p:sldId id="281" r:id="rId22"/>
    <p:sldId id="282" r:id="rId23"/>
    <p:sldId id="267" r:id="rId24"/>
    <p:sldId id="268" r:id="rId25"/>
    <p:sldId id="269" r:id="rId26"/>
    <p:sldId id="270" r:id="rId27"/>
    <p:sldId id="271" r:id="rId28"/>
    <p:sldId id="284" r:id="rId29"/>
    <p:sldId id="285" r:id="rId30"/>
    <p:sldId id="286" r:id="rId31"/>
    <p:sldId id="287" r:id="rId32"/>
    <p:sldId id="288" r:id="rId33"/>
    <p:sldId id="289" r:id="rId34"/>
    <p:sldId id="290" r:id="rId35"/>
    <p:sldId id="283" r:id="rId36"/>
  </p:sldIdLst>
  <p:sldSz cx="12192000" cy="6858000"/>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327381935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mp; Photo">
    <p:bg>
      <p:bgPr>
        <a:solidFill>
          <a:srgbClr val="FFFFFF"/>
        </a:solidFill>
        <a:effectLst/>
      </p:bgPr>
    </p:bg>
    <p:spTree>
      <p:nvGrpSpPr>
        <p:cNvPr id="1" name=""/>
        <p:cNvGrpSpPr/>
        <p:nvPr/>
      </p:nvGrpSpPr>
      <p:grpSpPr>
        <a:xfrm>
          <a:off x="0" y="0"/>
          <a:ext cx="0" cy="0"/>
          <a:chOff x="0" y="0"/>
          <a:chExt cx="0" cy="0"/>
        </a:xfrm>
      </p:grpSpPr>
      <p:sp>
        <p:nvSpPr>
          <p:cNvPr id="21" name="View from inside a stone structure, looking out toward stairs and a clear, blue sky"/>
          <p:cNvSpPr>
            <a:spLocks noGrp="1"/>
          </p:cNvSpPr>
          <p:nvPr>
            <p:ph type="pic" idx="21"/>
          </p:nvPr>
        </p:nvSpPr>
        <p:spPr>
          <a:xfrm>
            <a:off x="0" y="-635000"/>
            <a:ext cx="12192000" cy="8136467"/>
          </a:xfrm>
          <a:prstGeom prst="rect">
            <a:avLst/>
          </a:prstGeom>
        </p:spPr>
        <p:txBody>
          <a:bodyPr lIns="91439" tIns="45719" rIns="91439" bIns="45719">
            <a:noAutofit/>
          </a:bodyPr>
          <a:lstStyle/>
          <a:p>
            <a:r>
              <a:rPr lang="en-US"/>
              <a:t>Click icon to add picture</a:t>
            </a:r>
            <a:endParaRPr/>
          </a:p>
        </p:txBody>
      </p:sp>
      <p:sp>
        <p:nvSpPr>
          <p:cNvPr id="22" name="Presentation Title"/>
          <p:cNvSpPr txBox="1">
            <a:spLocks noGrp="1"/>
          </p:cNvSpPr>
          <p:nvPr>
            <p:ph type="title" hasCustomPrompt="1"/>
          </p:nvPr>
        </p:nvSpPr>
        <p:spPr>
          <a:xfrm>
            <a:off x="603250" y="3562350"/>
            <a:ext cx="10985500" cy="2324100"/>
          </a:xfrm>
          <a:prstGeom prst="rect">
            <a:avLst/>
          </a:prstGeom>
        </p:spPr>
        <p:txBody>
          <a:bodyPr anchor="b"/>
          <a:lstStyle>
            <a:lvl1pPr>
              <a:defRPr sz="5800" spc="-116"/>
            </a:lvl1pPr>
          </a:lstStyle>
          <a:p>
            <a:r>
              <a:t>Presentation Title</a:t>
            </a:r>
          </a:p>
        </p:txBody>
      </p:sp>
      <p:sp>
        <p:nvSpPr>
          <p:cNvPr id="23" name="Author and Date"/>
          <p:cNvSpPr txBox="1">
            <a:spLocks noGrp="1"/>
          </p:cNvSpPr>
          <p:nvPr>
            <p:ph type="body" sz="quarter" idx="22" hasCustomPrompt="1"/>
          </p:nvPr>
        </p:nvSpPr>
        <p:spPr>
          <a:xfrm>
            <a:off x="603845" y="553069"/>
            <a:ext cx="10984311"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24" name="Body Level One…"/>
          <p:cNvSpPr txBox="1">
            <a:spLocks noGrp="1"/>
          </p:cNvSpPr>
          <p:nvPr>
            <p:ph type="body" sz="quarter" idx="1" hasCustomPrompt="1"/>
          </p:nvPr>
        </p:nvSpPr>
        <p:spPr>
          <a:xfrm>
            <a:off x="603250" y="5804955"/>
            <a:ext cx="10985500" cy="558476"/>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402535573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a:spLocks noGrp="1"/>
          </p:cNvSpPr>
          <p:nvPr>
            <p:ph type="pic" idx="21"/>
          </p:nvPr>
        </p:nvSpPr>
        <p:spPr>
          <a:xfrm>
            <a:off x="4635500" y="635000"/>
            <a:ext cx="8382000" cy="5588000"/>
          </a:xfrm>
          <a:prstGeom prst="rect">
            <a:avLst/>
          </a:prstGeom>
        </p:spPr>
        <p:txBody>
          <a:bodyPr lIns="91439" tIns="45719" rIns="91439" bIns="45719">
            <a:noAutofit/>
          </a:bodyPr>
          <a:lstStyle/>
          <a:p>
            <a:r>
              <a:rPr lang="en-US"/>
              <a:t>Click icon to add picture</a:t>
            </a:r>
            <a:endParaRPr/>
          </a:p>
        </p:txBody>
      </p:sp>
      <p:sp>
        <p:nvSpPr>
          <p:cNvPr id="33" name="Slide Title"/>
          <p:cNvSpPr txBox="1">
            <a:spLocks noGrp="1"/>
          </p:cNvSpPr>
          <p:nvPr>
            <p:ph type="title" hasCustomPrompt="1"/>
          </p:nvPr>
        </p:nvSpPr>
        <p:spPr>
          <a:xfrm>
            <a:off x="603250" y="635000"/>
            <a:ext cx="4889500" cy="2941137"/>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603250" y="3530288"/>
            <a:ext cx="4889500" cy="2692712"/>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5941347" y="6488825"/>
            <a:ext cx="243656" cy="241092"/>
          </a:xfrm>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331020096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17813497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15185076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603250" y="1186481"/>
            <a:ext cx="4889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61" name="Body Level One…"/>
          <p:cNvSpPr txBox="1">
            <a:spLocks noGrp="1"/>
          </p:cNvSpPr>
          <p:nvPr>
            <p:ph type="body" sz="half" idx="1" hasCustomPrompt="1"/>
          </p:nvPr>
        </p:nvSpPr>
        <p:spPr>
          <a:xfrm>
            <a:off x="603250" y="2124252"/>
            <a:ext cx="4889500" cy="4128315"/>
          </a:xfrm>
          <a:prstGeom prst="rect">
            <a:avLst/>
          </a:prstGeom>
        </p:spPr>
        <p:txBody>
          <a:bodyPr/>
          <a:lstStyle/>
          <a:p>
            <a:r>
              <a:t>Slide bullet text</a:t>
            </a:r>
          </a:p>
          <a:p>
            <a:pPr lvl="1"/>
            <a:endParaRPr/>
          </a:p>
          <a:p>
            <a:pPr lvl="2"/>
            <a:endParaRPr/>
          </a:p>
          <a:p>
            <a:pPr lvl="3"/>
            <a:endParaRPr/>
          </a:p>
          <a:p>
            <a:pPr lvl="4"/>
            <a:endParaRPr/>
          </a:p>
        </p:txBody>
      </p:sp>
      <p:sp>
        <p:nvSpPr>
          <p:cNvPr id="62" name="Small section of a modern shell bridge in Qingdao, Shandong, China with a partly cloudy sky above"/>
          <p:cNvSpPr>
            <a:spLocks noGrp="1"/>
          </p:cNvSpPr>
          <p:nvPr>
            <p:ph type="pic" idx="22"/>
          </p:nvPr>
        </p:nvSpPr>
        <p:spPr>
          <a:xfrm>
            <a:off x="4635500" y="631924"/>
            <a:ext cx="8386922" cy="5594103"/>
          </a:xfrm>
          <a:prstGeom prst="rect">
            <a:avLst/>
          </a:prstGeom>
        </p:spPr>
        <p:txBody>
          <a:bodyPr lIns="91439" tIns="45719" rIns="91439" bIns="45719">
            <a:noAutofit/>
          </a:bodyPr>
          <a:lstStyle/>
          <a:p>
            <a:r>
              <a:rPr lang="en-US"/>
              <a:t>Click icon to add picture</a:t>
            </a:r>
            <a:endParaRPr/>
          </a:p>
        </p:txBody>
      </p:sp>
      <p:sp>
        <p:nvSpPr>
          <p:cNvPr id="63" name="Slide Title"/>
          <p:cNvSpPr txBox="1">
            <a:spLocks noGrp="1"/>
          </p:cNvSpPr>
          <p:nvPr>
            <p:ph type="title" hasCustomPrompt="1"/>
          </p:nvPr>
        </p:nvSpPr>
        <p:spPr>
          <a:xfrm>
            <a:off x="603250" y="539750"/>
            <a:ext cx="4889500" cy="71755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221866834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603248" y="2266950"/>
            <a:ext cx="10985502" cy="2324100"/>
          </a:xfrm>
          <a:prstGeom prst="rect">
            <a:avLst/>
          </a:prstGeom>
        </p:spPr>
        <p:txBody>
          <a:bodyPr anchor="ctr"/>
          <a:lstStyle>
            <a:lvl1pPr>
              <a:defRPr sz="5800" b="0" spc="-116">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5941347" y="6488825"/>
            <a:ext cx="243656" cy="241092"/>
          </a:xfrm>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406775970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603250" y="539750"/>
            <a:ext cx="10985500" cy="717475"/>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328907922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603250" y="539750"/>
            <a:ext cx="10985500" cy="71755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412750">
              <a:lnSpc>
                <a:spcPct val="100000"/>
              </a:lnSpc>
              <a:spcBef>
                <a:spcPts val="900"/>
              </a:spcBef>
              <a:buSzTx/>
              <a:buNone/>
              <a:defRPr sz="2750" spc="-28"/>
            </a:lvl1pPr>
            <a:lvl2pPr marL="0" indent="228600" defTabSz="412750">
              <a:lnSpc>
                <a:spcPct val="100000"/>
              </a:lnSpc>
              <a:spcBef>
                <a:spcPts val="900"/>
              </a:spcBef>
              <a:buSzTx/>
              <a:buNone/>
              <a:defRPr sz="2750" spc="-28"/>
            </a:lvl2pPr>
            <a:lvl3pPr marL="0" indent="457200" defTabSz="412750">
              <a:lnSpc>
                <a:spcPct val="100000"/>
              </a:lnSpc>
              <a:spcBef>
                <a:spcPts val="900"/>
              </a:spcBef>
              <a:buSzTx/>
              <a:buNone/>
              <a:defRPr sz="2750" spc="-28"/>
            </a:lvl3pPr>
            <a:lvl4pPr marL="0" indent="685800" defTabSz="412750">
              <a:lnSpc>
                <a:spcPct val="100000"/>
              </a:lnSpc>
              <a:spcBef>
                <a:spcPts val="900"/>
              </a:spcBef>
              <a:buSzTx/>
              <a:buNone/>
              <a:defRPr sz="2750" spc="-28"/>
            </a:lvl4pPr>
            <a:lvl5pPr marL="0" indent="914400" defTabSz="412750">
              <a:lnSpc>
                <a:spcPct val="100000"/>
              </a:lnSpc>
              <a:spcBef>
                <a:spcPts val="900"/>
              </a:spcBef>
              <a:buSzTx/>
              <a:buNone/>
              <a:defRPr sz="2750" spc="-28"/>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410266009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603250" y="2460422"/>
            <a:ext cx="10985500" cy="1937157"/>
          </a:xfrm>
          <a:prstGeom prst="rect">
            <a:avLst/>
          </a:prstGeom>
        </p:spPr>
        <p:txBody>
          <a:bodyPr anchor="ctr"/>
          <a:lstStyle>
            <a:lvl1pPr marL="0" indent="0" algn="ctr">
              <a:lnSpc>
                <a:spcPct val="80000"/>
              </a:lnSpc>
              <a:spcBef>
                <a:spcPts val="0"/>
              </a:spcBef>
              <a:buSzTx/>
              <a:buNone/>
              <a:defRPr sz="5800" spc="-116">
                <a:latin typeface="Helvetica Neue Medium"/>
                <a:ea typeface="Helvetica Neue Medium"/>
                <a:cs typeface="Helvetica Neue Medium"/>
                <a:sym typeface="Helvetica Neue Medium"/>
              </a:defRPr>
            </a:lvl1pPr>
            <a:lvl2pPr marL="0" indent="228600" algn="ctr">
              <a:lnSpc>
                <a:spcPct val="80000"/>
              </a:lnSpc>
              <a:spcBef>
                <a:spcPts val="0"/>
              </a:spcBef>
              <a:buSzTx/>
              <a:buNone/>
              <a:defRPr sz="5800" spc="-116">
                <a:latin typeface="Helvetica Neue Medium"/>
                <a:ea typeface="Helvetica Neue Medium"/>
                <a:cs typeface="Helvetica Neue Medium"/>
                <a:sym typeface="Helvetica Neue Medium"/>
              </a:defRPr>
            </a:lvl2pPr>
            <a:lvl3pPr marL="0" indent="457200" algn="ctr">
              <a:lnSpc>
                <a:spcPct val="80000"/>
              </a:lnSpc>
              <a:spcBef>
                <a:spcPts val="0"/>
              </a:spcBef>
              <a:buSzTx/>
              <a:buNone/>
              <a:defRPr sz="5800" spc="-116">
                <a:latin typeface="Helvetica Neue Medium"/>
                <a:ea typeface="Helvetica Neue Medium"/>
                <a:cs typeface="Helvetica Neue Medium"/>
                <a:sym typeface="Helvetica Neue Medium"/>
              </a:defRPr>
            </a:lvl3pPr>
            <a:lvl4pPr marL="0" indent="685800" algn="ctr">
              <a:lnSpc>
                <a:spcPct val="80000"/>
              </a:lnSpc>
              <a:spcBef>
                <a:spcPts val="0"/>
              </a:spcBef>
              <a:buSzTx/>
              <a:buNone/>
              <a:defRPr sz="5800" spc="-116">
                <a:latin typeface="Helvetica Neue Medium"/>
                <a:ea typeface="Helvetica Neue Medium"/>
                <a:cs typeface="Helvetica Neue Medium"/>
                <a:sym typeface="Helvetica Neue Medium"/>
              </a:defRPr>
            </a:lvl4pPr>
            <a:lvl5pPr marL="0" indent="914400" algn="ctr">
              <a:lnSpc>
                <a:spcPct val="80000"/>
              </a:lnSpc>
              <a:spcBef>
                <a:spcPts val="0"/>
              </a:spcBef>
              <a:buSzTx/>
              <a:buNone/>
              <a:defRPr sz="5800" spc="-116">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103039956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603250" y="537964"/>
            <a:ext cx="10985500" cy="3620792"/>
          </a:xfrm>
          <a:prstGeom prst="rect">
            <a:avLst/>
          </a:prstGeom>
        </p:spPr>
        <p:txBody>
          <a:bodyPr anchor="b"/>
          <a:lstStyle>
            <a:lvl1pPr marL="0" indent="0" algn="ctr">
              <a:lnSpc>
                <a:spcPct val="80000"/>
              </a:lnSpc>
              <a:spcBef>
                <a:spcPts val="0"/>
              </a:spcBef>
              <a:buSzTx/>
              <a:buNone/>
              <a:defRPr sz="12500" b="1" spc="-125"/>
            </a:lvl1pPr>
            <a:lvl2pPr marL="0" indent="228600" algn="ctr">
              <a:lnSpc>
                <a:spcPct val="80000"/>
              </a:lnSpc>
              <a:spcBef>
                <a:spcPts val="0"/>
              </a:spcBef>
              <a:buSzTx/>
              <a:buNone/>
              <a:defRPr sz="12500" b="1" spc="-125"/>
            </a:lvl2pPr>
            <a:lvl3pPr marL="0" indent="457200" algn="ctr">
              <a:lnSpc>
                <a:spcPct val="80000"/>
              </a:lnSpc>
              <a:spcBef>
                <a:spcPts val="0"/>
              </a:spcBef>
              <a:buSzTx/>
              <a:buNone/>
              <a:defRPr sz="12500" b="1" spc="-125"/>
            </a:lvl3pPr>
            <a:lvl4pPr marL="0" indent="685800" algn="ctr">
              <a:lnSpc>
                <a:spcPct val="80000"/>
              </a:lnSpc>
              <a:spcBef>
                <a:spcPts val="0"/>
              </a:spcBef>
              <a:buSzTx/>
              <a:buNone/>
              <a:defRPr sz="12500" b="1" spc="-125"/>
            </a:lvl4pPr>
            <a:lvl5pPr marL="0" indent="914400" algn="ctr">
              <a:lnSpc>
                <a:spcPct val="80000"/>
              </a:lnSpc>
              <a:spcBef>
                <a:spcPts val="0"/>
              </a:spcBef>
              <a:buSzTx/>
              <a:buNone/>
              <a:defRPr sz="12500" b="1" spc="-125"/>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603250" y="4131090"/>
            <a:ext cx="10985500" cy="467390"/>
          </a:xfrm>
          <a:prstGeom prst="rect">
            <a:avLst/>
          </a:prstGeom>
        </p:spPr>
        <p:txBody>
          <a:bodyPr lIns="45719" tIns="45719" rIns="45719" bIns="45719"/>
          <a:lstStyle>
            <a:lvl1pPr marL="0" indent="0" algn="ctr" defTabSz="412750">
              <a:lnSpc>
                <a:spcPct val="100000"/>
              </a:lnSpc>
              <a:spcBef>
                <a:spcPts val="0"/>
              </a:spcBef>
              <a:buSzTx/>
              <a:buNone/>
              <a:defRPr sz="275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33355198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1215012" y="5337727"/>
            <a:ext cx="10100026"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Attribution</a:t>
            </a:r>
          </a:p>
        </p:txBody>
      </p:sp>
      <p:sp>
        <p:nvSpPr>
          <p:cNvPr id="116" name="Body Level One…"/>
          <p:cNvSpPr txBox="1">
            <a:spLocks noGrp="1"/>
          </p:cNvSpPr>
          <p:nvPr>
            <p:ph type="body" sz="half" idx="1" hasCustomPrompt="1"/>
          </p:nvPr>
        </p:nvSpPr>
        <p:spPr>
          <a:xfrm>
            <a:off x="876962" y="2469930"/>
            <a:ext cx="10438077" cy="1918140"/>
          </a:xfrm>
          <a:prstGeom prst="rect">
            <a:avLst/>
          </a:prstGeom>
        </p:spPr>
        <p:txBody>
          <a:bodyPr/>
          <a:lstStyle>
            <a:lvl1pPr marL="319462" indent="-234950">
              <a:spcBef>
                <a:spcPts val="0"/>
              </a:spcBef>
              <a:buSzTx/>
              <a:buNone/>
              <a:defRPr sz="4250" spc="-85">
                <a:latin typeface="Helvetica Neue Medium"/>
                <a:ea typeface="Helvetica Neue Medium"/>
                <a:cs typeface="Helvetica Neue Medium"/>
                <a:sym typeface="Helvetica Neue Medium"/>
              </a:defRPr>
            </a:lvl1pPr>
            <a:lvl2pPr marL="319462" indent="-6350">
              <a:spcBef>
                <a:spcPts val="0"/>
              </a:spcBef>
              <a:buSzTx/>
              <a:buNone/>
              <a:defRPr sz="4250" spc="-85">
                <a:latin typeface="Helvetica Neue Medium"/>
                <a:ea typeface="Helvetica Neue Medium"/>
                <a:cs typeface="Helvetica Neue Medium"/>
                <a:sym typeface="Helvetica Neue Medium"/>
              </a:defRPr>
            </a:lvl2pPr>
            <a:lvl3pPr marL="319462" indent="222250">
              <a:spcBef>
                <a:spcPts val="0"/>
              </a:spcBef>
              <a:buSzTx/>
              <a:buNone/>
              <a:defRPr sz="4250" spc="-85">
                <a:latin typeface="Helvetica Neue Medium"/>
                <a:ea typeface="Helvetica Neue Medium"/>
                <a:cs typeface="Helvetica Neue Medium"/>
                <a:sym typeface="Helvetica Neue Medium"/>
              </a:defRPr>
            </a:lvl3pPr>
            <a:lvl4pPr marL="319462" indent="450850">
              <a:spcBef>
                <a:spcPts val="0"/>
              </a:spcBef>
              <a:buSzTx/>
              <a:buNone/>
              <a:defRPr sz="4250" spc="-85">
                <a:latin typeface="Helvetica Neue Medium"/>
                <a:ea typeface="Helvetica Neue Medium"/>
                <a:cs typeface="Helvetica Neue Medium"/>
                <a:sym typeface="Helvetica Neue Medium"/>
              </a:defRPr>
            </a:lvl4pPr>
            <a:lvl5pPr marL="319462" indent="679450">
              <a:spcBef>
                <a:spcPts val="0"/>
              </a:spcBef>
              <a:buSzTx/>
              <a:buNone/>
              <a:defRPr sz="4250" spc="-85">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230681465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Photo - 3 Up">
    <p:spTree>
      <p:nvGrpSpPr>
        <p:cNvPr id="1" name=""/>
        <p:cNvGrpSpPr/>
        <p:nvPr/>
      </p:nvGrpSpPr>
      <p:grpSpPr>
        <a:xfrm>
          <a:off x="0" y="0"/>
          <a:ext cx="0" cy="0"/>
          <a:chOff x="0" y="0"/>
          <a:chExt cx="0" cy="0"/>
        </a:xfrm>
      </p:grpSpPr>
      <p:sp>
        <p:nvSpPr>
          <p:cNvPr id="124" name="Low angle exterior view of a modern building facade covered with aluminum discs under a clear, blue sky"/>
          <p:cNvSpPr>
            <a:spLocks noGrp="1"/>
          </p:cNvSpPr>
          <p:nvPr>
            <p:ph type="pic" sz="quarter" idx="21"/>
          </p:nvPr>
        </p:nvSpPr>
        <p:spPr>
          <a:xfrm>
            <a:off x="7708900" y="635000"/>
            <a:ext cx="4072467" cy="2705100"/>
          </a:xfrm>
          <a:prstGeom prst="rect">
            <a:avLst/>
          </a:prstGeom>
        </p:spPr>
        <p:txBody>
          <a:bodyPr lIns="91439" tIns="45719" rIns="91439" bIns="45719">
            <a:noAutofit/>
          </a:bodyPr>
          <a:lstStyle/>
          <a:p>
            <a:r>
              <a:rPr lang="en-US"/>
              <a:t>Click icon to add picture</a:t>
            </a:r>
            <a:endParaRPr/>
          </a:p>
        </p:txBody>
      </p:sp>
      <p:sp>
        <p:nvSpPr>
          <p:cNvPr id="125" name="Low angle view of a modern, curved building under a cloudy sky"/>
          <p:cNvSpPr>
            <a:spLocks noGrp="1"/>
          </p:cNvSpPr>
          <p:nvPr>
            <p:ph type="pic" sz="quarter" idx="22"/>
          </p:nvPr>
        </p:nvSpPr>
        <p:spPr>
          <a:xfrm>
            <a:off x="7721600" y="3543300"/>
            <a:ext cx="4069290" cy="2711450"/>
          </a:xfrm>
          <a:prstGeom prst="rect">
            <a:avLst/>
          </a:prstGeom>
        </p:spPr>
        <p:txBody>
          <a:bodyPr lIns="91439" tIns="45719" rIns="91439" bIns="45719">
            <a:noAutofit/>
          </a:bodyPr>
          <a:lstStyle/>
          <a:p>
            <a:r>
              <a:rPr lang="en-US"/>
              <a:t>Click icon to add picture</a:t>
            </a:r>
            <a:endParaRPr/>
          </a:p>
        </p:txBody>
      </p:sp>
      <p:sp>
        <p:nvSpPr>
          <p:cNvPr id="126" name="View from inside a modern white building with glass panels, looking up to a bright, partly cloudy sky"/>
          <p:cNvSpPr>
            <a:spLocks noGrp="1"/>
          </p:cNvSpPr>
          <p:nvPr>
            <p:ph type="pic" idx="23"/>
          </p:nvPr>
        </p:nvSpPr>
        <p:spPr>
          <a:xfrm>
            <a:off x="-62318" y="635000"/>
            <a:ext cx="8420085" cy="5621856"/>
          </a:xfrm>
          <a:prstGeom prst="rect">
            <a:avLst/>
          </a:prstGeom>
        </p:spPr>
        <p:txBody>
          <a:bodyPr lIns="91439" tIns="45719" rIns="91439" bIns="45719">
            <a:noAutofit/>
          </a:bodyPr>
          <a:lstStyle/>
          <a:p>
            <a:r>
              <a:rPr lang="en-US"/>
              <a:t>Click icon to add picture</a:t>
            </a:r>
            <a:endParaRPr/>
          </a:p>
        </p:txBody>
      </p:sp>
      <p:sp>
        <p:nvSpPr>
          <p:cNvPr id="127"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79074608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Photo">
    <p:bg>
      <p:bgPr>
        <a:solidFill>
          <a:srgbClr val="FFFFFF"/>
        </a:solidFill>
        <a:effectLst/>
      </p:bgPr>
    </p:bg>
    <p:spTree>
      <p:nvGrpSpPr>
        <p:cNvPr id="1" name=""/>
        <p:cNvGrpSpPr/>
        <p:nvPr/>
      </p:nvGrpSpPr>
      <p:grpSpPr>
        <a:xfrm>
          <a:off x="0" y="0"/>
          <a:ext cx="0" cy="0"/>
          <a:chOff x="0" y="0"/>
          <a:chExt cx="0" cy="0"/>
        </a:xfrm>
      </p:grpSpPr>
      <p:sp>
        <p:nvSpPr>
          <p:cNvPr id="134" name="Low angle view of the Azadi Tower in Tehran, Iran against a clear, bright sky"/>
          <p:cNvSpPr>
            <a:spLocks noGrp="1"/>
          </p:cNvSpPr>
          <p:nvPr>
            <p:ph type="pic" idx="21"/>
          </p:nvPr>
        </p:nvSpPr>
        <p:spPr>
          <a:xfrm>
            <a:off x="0" y="-641350"/>
            <a:ext cx="12192000" cy="8140700"/>
          </a:xfrm>
          <a:prstGeom prst="rect">
            <a:avLst/>
          </a:prstGeom>
        </p:spPr>
        <p:txBody>
          <a:bodyPr lIns="91439" tIns="45719" rIns="91439" bIns="45719">
            <a:noAutofit/>
          </a:bodyPr>
          <a:lstStyle/>
          <a:p>
            <a:r>
              <a:rPr lang="en-US"/>
              <a:t>Click icon to add picture</a:t>
            </a:r>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155C5AE9-E77B-44D8-86D5-92D566F8CA81}" type="slidenum">
              <a:rPr lang="en-US" smtClean="0"/>
              <a:t>‹#›</a:t>
            </a:fld>
            <a:endParaRPr lang="en-US"/>
          </a:p>
        </p:txBody>
      </p:sp>
    </p:spTree>
    <p:extLst>
      <p:ext uri="{BB962C8B-B14F-4D97-AF65-F5344CB8AC3E}">
        <p14:creationId xmlns:p14="http://schemas.microsoft.com/office/powerpoint/2010/main" val="307737980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52783064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6E218115-5292-42C6-BFA3-DA42DF4DEE8B}" type="datetimeFigureOut">
              <a:rPr lang="en-US" smtClean="0"/>
              <a:t>10/19/2025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1794266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a-I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6E218115-5292-42C6-BFA3-DA42DF4DEE8B}" type="datetimeFigureOut">
              <a:rPr lang="en-US" smtClean="0"/>
              <a:t>10/19/2025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155C5AE9-E77B-44D8-86D5-92D566F8CA81}" type="slidenum">
              <a:rPr lang="en-US" smtClean="0"/>
              <a:t>‹#›</a:t>
            </a:fld>
            <a:endParaRPr lang="en-US"/>
          </a:p>
        </p:txBody>
      </p:sp>
    </p:spTree>
    <p:extLst>
      <p:ext uri="{BB962C8B-B14F-4D97-AF65-F5344CB8AC3E}">
        <p14:creationId xmlns:p14="http://schemas.microsoft.com/office/powerpoint/2010/main" val="37139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9"/>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3250" y="539750"/>
            <a:ext cx="10985500" cy="716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603250" y="2124252"/>
            <a:ext cx="10985500" cy="4128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5941347" y="6486708"/>
            <a:ext cx="243656" cy="241092"/>
          </a:xfrm>
          <a:prstGeom prst="rect">
            <a:avLst/>
          </a:prstGeom>
          <a:ln w="12700">
            <a:miter lim="400000"/>
          </a:ln>
        </p:spPr>
        <p:txBody>
          <a:bodyPr wrap="none" lIns="50800" tIns="50800" rIns="50800" bIns="50800" anchor="b">
            <a:spAutoFit/>
          </a:bodyPr>
          <a:lstStyle>
            <a:lvl1pPr defTabSz="292100">
              <a:defRPr sz="900">
                <a:solidFill>
                  <a:srgbClr val="000000"/>
                </a:solidFill>
              </a:defRPr>
            </a:lvl1pPr>
          </a:lstStyle>
          <a:p>
            <a:fld id="{155C5AE9-E77B-44D8-86D5-92D566F8CA81}" type="slidenum">
              <a:rPr lang="en-US" smtClean="0"/>
              <a:t>‹#›</a:t>
            </a:fld>
            <a:endParaRPr lang="en-US"/>
          </a:p>
        </p:txBody>
      </p:sp>
    </p:spTree>
    <p:extLst>
      <p:ext uri="{BB962C8B-B14F-4D97-AF65-F5344CB8AC3E}">
        <p14:creationId xmlns:p14="http://schemas.microsoft.com/office/powerpoint/2010/main" val="38656446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med"/>
  <p:txStyles>
    <p:titleStyle>
      <a:lvl1pPr marL="0" marR="0" indent="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1pPr>
      <a:lvl2pPr marL="0" marR="0" indent="228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2pPr>
      <a:lvl3pPr marL="0" marR="0" indent="457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3pPr>
      <a:lvl4pPr marL="0" marR="0" indent="685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4pPr>
      <a:lvl5pPr marL="0" marR="0" indent="9144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5pPr>
      <a:lvl6pPr marL="0" marR="0" indent="11430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6pPr>
      <a:lvl7pPr marL="0" marR="0" indent="1371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7pPr>
      <a:lvl8pPr marL="0" marR="0" indent="1600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8pPr>
      <a:lvl9pPr marL="0" marR="0" indent="1828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9pPr>
    </p:titleStyle>
    <p:bodyStyle>
      <a:lvl1pPr marL="3048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1pPr>
      <a:lvl2pPr marL="6096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2pPr>
      <a:lvl3pPr marL="9144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p:bodyStyle>
    <p:otherStyle>
      <a:lvl1pPr marL="0" marR="0" indent="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1pPr>
      <a:lvl2pPr marL="0" marR="0" indent="2286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2pPr>
      <a:lvl3pPr marL="0" marR="0" indent="4572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3pPr>
      <a:lvl4pPr marL="0" marR="0" indent="6858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4pPr>
      <a:lvl5pPr marL="0" marR="0" indent="9144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5pPr>
      <a:lvl6pPr marL="0" marR="0" indent="11430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6pPr>
      <a:lvl7pPr marL="0" marR="0" indent="13716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7pPr>
      <a:lvl8pPr marL="0" marR="0" indent="16002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8pPr>
      <a:lvl9pPr marL="0" marR="0" indent="18288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FC026-1720-027E-D04D-0BF5595BF1D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192F6DE-235F-FA46-AA40-718627845719}"/>
              </a:ext>
            </a:extLst>
          </p:cNvPr>
          <p:cNvPicPr>
            <a:picLocks noGrp="1" noChangeAspect="1"/>
          </p:cNvPicPr>
          <p:nvPr>
            <p:ph idx="1"/>
          </p:nvPr>
        </p:nvPicPr>
        <p:blipFill>
          <a:blip r:embed="rId2"/>
          <a:stretch>
            <a:fillRect/>
          </a:stretch>
        </p:blipFill>
        <p:spPr>
          <a:xfrm>
            <a:off x="-86876" y="0"/>
            <a:ext cx="12190644" cy="6858000"/>
          </a:xfrm>
          <a:prstGeom prst="rect">
            <a:avLst/>
          </a:prstGeom>
        </p:spPr>
      </p:pic>
      <p:sp>
        <p:nvSpPr>
          <p:cNvPr id="6" name="TextBox 5">
            <a:extLst>
              <a:ext uri="{FF2B5EF4-FFF2-40B4-BE49-F238E27FC236}">
                <a16:creationId xmlns:a16="http://schemas.microsoft.com/office/drawing/2014/main" id="{5B0E6549-3482-3F99-05BD-2B38E9C9D4BB}"/>
              </a:ext>
            </a:extLst>
          </p:cNvPr>
          <p:cNvSpPr txBox="1"/>
          <p:nvPr/>
        </p:nvSpPr>
        <p:spPr>
          <a:xfrm>
            <a:off x="1949116" y="2213811"/>
            <a:ext cx="7149764"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7200" b="1" dirty="0">
                <a:solidFill>
                  <a:srgbClr val="000000"/>
                </a:solidFill>
                <a:cs typeface="B Nazanin" panose="00000400000000000000" pitchFamily="2" charset="-78"/>
              </a:rPr>
              <a:t>pharmacology</a:t>
            </a:r>
            <a:endParaRPr lang="en-US" sz="7200" b="1" dirty="0">
              <a:cs typeface="B Nazanin" panose="00000400000000000000" pitchFamily="2" charset="-78"/>
            </a:endParaRPr>
          </a:p>
        </p:txBody>
      </p:sp>
      <p:sp>
        <p:nvSpPr>
          <p:cNvPr id="8" name="TextBox 7">
            <a:extLst>
              <a:ext uri="{FF2B5EF4-FFF2-40B4-BE49-F238E27FC236}">
                <a16:creationId xmlns:a16="http://schemas.microsoft.com/office/drawing/2014/main" id="{7647F417-03D5-35D6-3419-C694CCC649ED}"/>
              </a:ext>
            </a:extLst>
          </p:cNvPr>
          <p:cNvSpPr txBox="1"/>
          <p:nvPr/>
        </p:nvSpPr>
        <p:spPr>
          <a:xfrm>
            <a:off x="2538663" y="4163880"/>
            <a:ext cx="6448926"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endParaRPr lang="fa-IR" sz="1800" b="1" dirty="0">
              <a:solidFill>
                <a:schemeClr val="bg2">
                  <a:lumMod val="10000"/>
                </a:schemeClr>
              </a:solidFill>
            </a:endParaRPr>
          </a:p>
          <a:p>
            <a:pPr algn="l"/>
            <a:endParaRPr lang="fa-IR" b="1" dirty="0">
              <a:solidFill>
                <a:schemeClr val="bg2">
                  <a:lumMod val="10000"/>
                </a:schemeClr>
              </a:solidFill>
            </a:endParaRPr>
          </a:p>
          <a:p>
            <a:pPr algn="l"/>
            <a:endParaRPr lang="fa-IR" sz="1800" b="1" dirty="0">
              <a:solidFill>
                <a:schemeClr val="bg2">
                  <a:lumMod val="10000"/>
                </a:schemeClr>
              </a:solidFill>
            </a:endParaRPr>
          </a:p>
          <a:p>
            <a:pPr algn="l"/>
            <a:endParaRPr lang="fa-IR" b="1" dirty="0">
              <a:solidFill>
                <a:schemeClr val="bg2">
                  <a:lumMod val="10000"/>
                </a:schemeClr>
              </a:solidFill>
            </a:endParaRPr>
          </a:p>
          <a:p>
            <a:pPr algn="l"/>
            <a:endParaRPr lang="fa-IR" sz="1800" b="1" dirty="0">
              <a:solidFill>
                <a:schemeClr val="bg2">
                  <a:lumMod val="10000"/>
                </a:schemeClr>
              </a:solidFill>
            </a:endParaRPr>
          </a:p>
          <a:p>
            <a:pPr algn="l"/>
            <a:r>
              <a:rPr lang="en-US" sz="1800" b="1" dirty="0">
                <a:solidFill>
                  <a:schemeClr val="bg2">
                    <a:lumMod val="10000"/>
                  </a:schemeClr>
                </a:solidFill>
              </a:rPr>
              <a:t>Dr Samira </a:t>
            </a:r>
            <a:r>
              <a:rPr lang="en-US" sz="1800" b="1" dirty="0" err="1">
                <a:solidFill>
                  <a:schemeClr val="bg2">
                    <a:lumMod val="10000"/>
                  </a:schemeClr>
                </a:solidFill>
              </a:rPr>
              <a:t>Radmand</a:t>
            </a:r>
            <a:endParaRPr lang="fa-IR" sz="1800" b="1" dirty="0">
              <a:solidFill>
                <a:schemeClr val="bg2">
                  <a:lumMod val="10000"/>
                </a:schemeClr>
              </a:solidFill>
            </a:endParaRPr>
          </a:p>
          <a:p>
            <a:pPr algn="l"/>
            <a:r>
              <a:rPr lang="en-US" sz="1800" b="1" dirty="0">
                <a:solidFill>
                  <a:schemeClr val="bg2">
                    <a:lumMod val="10000"/>
                  </a:schemeClr>
                </a:solidFill>
              </a:rPr>
              <a:t>Pharmacist</a:t>
            </a:r>
            <a:endParaRPr lang="fa-IR" sz="1800" b="1" dirty="0">
              <a:solidFill>
                <a:schemeClr val="bg2">
                  <a:lumMod val="10000"/>
                </a:schemeClr>
              </a:solidFill>
            </a:endParaRPr>
          </a:p>
        </p:txBody>
      </p:sp>
    </p:spTree>
    <p:extLst>
      <p:ext uri="{BB962C8B-B14F-4D97-AF65-F5344CB8AC3E}">
        <p14:creationId xmlns:p14="http://schemas.microsoft.com/office/powerpoint/2010/main" val="3958027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F4FF-3D85-C882-0481-702E39D01981}"/>
              </a:ext>
            </a:extLst>
          </p:cNvPr>
          <p:cNvSpPr>
            <a:spLocks noGrp="1"/>
          </p:cNvSpPr>
          <p:nvPr>
            <p:ph type="title"/>
          </p:nvPr>
        </p:nvSpPr>
        <p:spPr/>
        <p:txBody>
          <a:bodyPr>
            <a:normAutofit fontScale="90000"/>
          </a:bodyPr>
          <a:lstStyle/>
          <a:p>
            <a:pPr algn="r" rtl="1"/>
            <a:r>
              <a:rPr lang="fa-IR" sz="4800" dirty="0">
                <a:cs typeface="B Nazanin" panose="00000400000000000000" pitchFamily="2" charset="-78"/>
              </a:rPr>
              <a:t>. </a:t>
            </a:r>
            <a:r>
              <a:rPr lang="fa-IR" sz="2200" dirty="0">
                <a:cs typeface="B Nazanin" panose="00000400000000000000" pitchFamily="2" charset="-78"/>
              </a:rPr>
              <a:t>داروهای پاراسمپاتومیمتیک </a:t>
            </a:r>
            <a:r>
              <a:rPr lang="en-US" sz="2200" dirty="0">
                <a:cs typeface="B Nazanin" panose="00000400000000000000" pitchFamily="2" charset="-78"/>
              </a:rPr>
              <a:t>Parasympathomimetic drugs)</a:t>
            </a:r>
            <a:r>
              <a:rPr lang="fa-IR" sz="2200" dirty="0">
                <a:cs typeface="B Nazanin" panose="00000400000000000000" pitchFamily="2" charset="-78"/>
              </a:rPr>
              <a:t>)(داروهای کولینرژیک </a:t>
            </a:r>
            <a:r>
              <a:rPr lang="en-US" sz="2200" dirty="0">
                <a:cs typeface="B Nazanin" panose="00000400000000000000" pitchFamily="2" charset="-78"/>
              </a:rPr>
              <a:t>Cholinergic drugs)</a:t>
            </a:r>
            <a:r>
              <a:rPr lang="fa-IR" sz="2200" dirty="0">
                <a:cs typeface="B Nazanin" panose="00000400000000000000" pitchFamily="2" charset="-78"/>
              </a:rPr>
              <a:t>)</a:t>
            </a:r>
            <a:br>
              <a:rPr lang="fa-IR" sz="2200" dirty="0">
                <a:cs typeface="B Nazanin" panose="00000400000000000000" pitchFamily="2" charset="-78"/>
              </a:rPr>
            </a:br>
            <a:br>
              <a:rPr lang="fa-IR" sz="2200" dirty="0">
                <a:cs typeface="B Nazanin" panose="00000400000000000000" pitchFamily="2" charset="-78"/>
              </a:rPr>
            </a:br>
            <a:br>
              <a:rPr lang="fa-IR" sz="2200" dirty="0">
                <a:cs typeface="B Nazanin" panose="00000400000000000000" pitchFamily="2" charset="-78"/>
              </a:rPr>
            </a:br>
            <a:r>
              <a:rPr lang="fa-IR" sz="2200" b="0" dirty="0">
                <a:cs typeface="B Nazanin" panose="00000400000000000000" pitchFamily="2" charset="-78"/>
              </a:rPr>
              <a:t>از دو واژه ساخته شده:</a:t>
            </a:r>
            <a:r>
              <a:rPr lang="en-US" sz="2200" b="0" dirty="0">
                <a:cs typeface="B Nazanin" panose="00000400000000000000" pitchFamily="2" charset="-78"/>
              </a:rPr>
              <a:t>Parasympathetic" + "mimetic" </a:t>
            </a:r>
            <a:r>
              <a:rPr lang="fa-IR" sz="2200" b="0" dirty="0">
                <a:cs typeface="B Nazanin" panose="00000400000000000000" pitchFamily="2" charset="-78"/>
              </a:rPr>
              <a:t> به معنی تقلید کننده یعنی داروهایی که اثرات سیستم پاراسمپاتیک را تقلید می‌کنند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عملکرد: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این داروها با افزایش اثر استیل‌کولین یا تحریک گیرنده‌های کولینرژیک باعث بروز اثرات پاراسمپاتیک می‌شوند، از جمله:</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کاهش ضربان قلب </a:t>
            </a:r>
            <a:r>
              <a:rPr lang="en-US" sz="2200" b="0" dirty="0">
                <a:cs typeface="B Nazanin" panose="00000400000000000000" pitchFamily="2" charset="-78"/>
              </a:rPr>
              <a:t>(Bradycardia)</a:t>
            </a:r>
            <a:r>
              <a:rPr lang="fa-IR" sz="2200" b="0" dirty="0">
                <a:cs typeface="B Nazanin" panose="00000400000000000000" pitchFamily="2" charset="-78"/>
              </a:rPr>
              <a:t>، تنگ شدن مردمک </a:t>
            </a:r>
            <a:r>
              <a:rPr lang="en-US" sz="2200" b="0" dirty="0">
                <a:cs typeface="B Nazanin" panose="00000400000000000000" pitchFamily="2" charset="-78"/>
              </a:rPr>
              <a:t>Miosis)</a:t>
            </a:r>
            <a:r>
              <a:rPr lang="fa-IR" sz="2200" b="0" dirty="0">
                <a:cs typeface="B Nazanin" panose="00000400000000000000" pitchFamily="2" charset="-78"/>
              </a:rPr>
              <a:t>) ، افزایش ترشح بزاق و اشک ، افزایش حرکات و ترشحات گوارشی ، انقباض مثانه و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تسهیل ادرار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ar-SA" sz="2200" dirty="0">
                <a:cs typeface="B Nazanin" panose="00000400000000000000" pitchFamily="2" charset="-78"/>
              </a:rPr>
              <a:t>داروهای مقلد پاراسمپاتیک </a:t>
            </a:r>
            <a:r>
              <a:rPr lang="fa-IR" sz="2200" dirty="0">
                <a:cs typeface="B Nazanin" panose="00000400000000000000" pitchFamily="2" charset="-78"/>
              </a:rPr>
              <a:t> دو </a:t>
            </a:r>
            <a:r>
              <a:rPr lang="ar-SA" sz="2200" dirty="0">
                <a:cs typeface="B Nazanin" panose="00000400000000000000" pitchFamily="2" charset="-78"/>
              </a:rPr>
              <a:t>نوع اند</a:t>
            </a:r>
            <a:r>
              <a:rPr lang="fa-IR" sz="2200" dirty="0">
                <a:cs typeface="B Nazanin" panose="00000400000000000000" pitchFamily="2" charset="-78"/>
              </a:rPr>
              <a:t>:</a:t>
            </a:r>
            <a:br>
              <a:rPr lang="fa-IR"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1. مستقیم الاثر : </a:t>
            </a:r>
            <a:r>
              <a:rPr lang="fa-IR" sz="2200" b="0" dirty="0">
                <a:cs typeface="B Nazanin" panose="00000400000000000000" pitchFamily="2" charset="-78"/>
              </a:rPr>
              <a:t>با تحریک مستقیم گیرنده های </a:t>
            </a:r>
            <a:r>
              <a:rPr lang="ar-SA" sz="2200" b="0" dirty="0">
                <a:cs typeface="B Nazanin" panose="00000400000000000000" pitchFamily="2" charset="-78"/>
              </a:rPr>
              <a:t>پاراسمپاتیکی</a:t>
            </a:r>
            <a:r>
              <a:rPr lang="fa-IR" sz="2200" b="0" dirty="0">
                <a:cs typeface="B Nazanin" panose="00000400000000000000" pitchFamily="2" charset="-78"/>
              </a:rPr>
              <a:t> ( موسکارینی و نیکوتینی) باعث تحریک سیستم </a:t>
            </a:r>
            <a:r>
              <a:rPr lang="ar-SA" sz="2200" b="0" dirty="0">
                <a:cs typeface="B Nazanin" panose="00000400000000000000" pitchFamily="2" charset="-78"/>
              </a:rPr>
              <a:t>پاراسمپاتیکی</a:t>
            </a:r>
            <a:r>
              <a:rPr lang="fa-IR" sz="2200" b="0" dirty="0">
                <a:cs typeface="B Nazanin" panose="00000400000000000000" pitchFamily="2" charset="-78"/>
              </a:rPr>
              <a:t> می شود .</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2. غیر مستقیم الاثر:</a:t>
            </a:r>
            <a:r>
              <a:rPr lang="ar-SA" sz="2200" b="0" dirty="0">
                <a:cs typeface="B Nazanin" panose="00000400000000000000" pitchFamily="2" charset="-78"/>
              </a:rPr>
              <a:t>با مهار گیرنده های آنزیم استیل کولین استراز از تخریب استیل کولین</a:t>
            </a:r>
            <a:r>
              <a:rPr lang="fa-IR" sz="2200" b="0" dirty="0">
                <a:cs typeface="B Nazanin" panose="00000400000000000000" pitchFamily="2" charset="-78"/>
              </a:rPr>
              <a:t> </a:t>
            </a:r>
            <a:r>
              <a:rPr lang="ar-SA" sz="2200" b="0" dirty="0">
                <a:cs typeface="B Nazanin" panose="00000400000000000000" pitchFamily="2" charset="-78"/>
              </a:rPr>
              <a:t>جلوگیری کرده و باعث تحریک مداوم و مستمر گیرنده های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پاراسمپاتیک می شود</a:t>
            </a:r>
            <a:endParaRPr lang="en-US" sz="2200" dirty="0"/>
          </a:p>
        </p:txBody>
      </p:sp>
    </p:spTree>
    <p:extLst>
      <p:ext uri="{BB962C8B-B14F-4D97-AF65-F5344CB8AC3E}">
        <p14:creationId xmlns:p14="http://schemas.microsoft.com/office/powerpoint/2010/main" val="1056911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19CC-3453-28F2-2247-637AC5CC98D5}"/>
              </a:ext>
            </a:extLst>
          </p:cNvPr>
          <p:cNvSpPr>
            <a:spLocks noGrp="1"/>
          </p:cNvSpPr>
          <p:nvPr>
            <p:ph type="title"/>
          </p:nvPr>
        </p:nvSpPr>
        <p:spPr/>
        <p:txBody>
          <a:bodyPr>
            <a:normAutofit fontScale="90000"/>
          </a:bodyPr>
          <a:lstStyle/>
          <a:p>
            <a:pPr algn="r" rtl="1"/>
            <a:r>
              <a:rPr lang="en-US" sz="2000" dirty="0"/>
              <a:t> </a:t>
            </a:r>
            <a:r>
              <a:rPr lang="en-US" sz="2000" dirty="0">
                <a:solidFill>
                  <a:srgbClr val="C00000"/>
                </a:solidFill>
                <a:cs typeface="B Nazanin" panose="00000400000000000000" pitchFamily="2" charset="-78"/>
              </a:rPr>
              <a:t>*</a:t>
            </a:r>
            <a:r>
              <a:rPr lang="ar-SA" sz="2000" dirty="0">
                <a:solidFill>
                  <a:srgbClr val="C00000"/>
                </a:solidFill>
                <a:cs typeface="B Nazanin" panose="00000400000000000000" pitchFamily="2" charset="-78"/>
              </a:rPr>
              <a:t>داروهای مستقیم الاثر خودشان دو دسته اند </a:t>
            </a:r>
            <a:r>
              <a:rPr lang="fa-IR" sz="2000" dirty="0">
                <a:cs typeface="B Nazanin" panose="00000400000000000000" pitchFamily="2" charset="-78"/>
              </a:rPr>
              <a:t>:</a:t>
            </a:r>
            <a:br>
              <a:rPr lang="fa-IR" sz="2000" dirty="0">
                <a:cs typeface="B Nazanin" panose="00000400000000000000" pitchFamily="2" charset="-78"/>
              </a:rPr>
            </a:br>
            <a:br>
              <a:rPr lang="fa-IR" sz="2000" dirty="0">
                <a:cs typeface="B Nazanin" panose="00000400000000000000" pitchFamily="2" charset="-78"/>
              </a:rPr>
            </a:br>
            <a:r>
              <a:rPr lang="fa-IR" sz="2000" dirty="0">
                <a:solidFill>
                  <a:srgbClr val="C00000"/>
                </a:solidFill>
                <a:cs typeface="B Nazanin" panose="00000400000000000000" pitchFamily="2" charset="-78"/>
              </a:rPr>
              <a:t>1.</a:t>
            </a:r>
            <a:r>
              <a:rPr lang="ar-SA" sz="2000" dirty="0">
                <a:solidFill>
                  <a:srgbClr val="C00000"/>
                </a:solidFill>
                <a:cs typeface="B Nazanin" panose="00000400000000000000" pitchFamily="2" charset="-78"/>
              </a:rPr>
              <a:t>سنتتیک </a:t>
            </a:r>
            <a:r>
              <a:rPr lang="en-US" sz="2000" dirty="0">
                <a:cs typeface="B Nazanin" panose="00000400000000000000" pitchFamily="2" charset="-78"/>
              </a:rPr>
              <a:t>: </a:t>
            </a:r>
            <a:r>
              <a:rPr lang="ar-SA" sz="2000" dirty="0">
                <a:cs typeface="B Nazanin" panose="00000400000000000000" pitchFamily="2" charset="-78"/>
              </a:rPr>
              <a:t>استیل کولین </a:t>
            </a:r>
            <a:r>
              <a:rPr lang="en-US" sz="2000" dirty="0">
                <a:cs typeface="B Nazanin" panose="00000400000000000000" pitchFamily="2" charset="-78"/>
              </a:rPr>
              <a:t>_</a:t>
            </a:r>
            <a:r>
              <a:rPr lang="ar-SA" sz="2000" dirty="0">
                <a:cs typeface="B Nazanin" panose="00000400000000000000" pitchFamily="2" charset="-78"/>
              </a:rPr>
              <a:t>متاکولین </a:t>
            </a:r>
            <a:r>
              <a:rPr lang="en-US" sz="2000" dirty="0">
                <a:cs typeface="B Nazanin" panose="00000400000000000000" pitchFamily="2" charset="-78"/>
              </a:rPr>
              <a:t>_</a:t>
            </a:r>
            <a:r>
              <a:rPr lang="ar-SA" sz="2000" dirty="0">
                <a:cs typeface="B Nazanin" panose="00000400000000000000" pitchFamily="2" charset="-78"/>
              </a:rPr>
              <a:t>کارباکول </a:t>
            </a:r>
            <a:r>
              <a:rPr lang="en-US" sz="2000" dirty="0">
                <a:cs typeface="B Nazanin" panose="00000400000000000000" pitchFamily="2" charset="-78"/>
              </a:rPr>
              <a:t>_</a:t>
            </a:r>
            <a:r>
              <a:rPr lang="ar-SA" sz="2000" dirty="0">
                <a:cs typeface="B Nazanin" panose="00000400000000000000" pitchFamily="2" charset="-78"/>
              </a:rPr>
              <a:t>بتانکول</a:t>
            </a:r>
            <a:br>
              <a:rPr lang="fa-IR" sz="2000" dirty="0">
                <a:cs typeface="B Nazanin" panose="00000400000000000000" pitchFamily="2" charset="-78"/>
              </a:rPr>
            </a:br>
            <a:br>
              <a:rPr lang="fa-IR" sz="2000" dirty="0">
                <a:cs typeface="B Nazanin" panose="00000400000000000000" pitchFamily="2" charset="-78"/>
              </a:rPr>
            </a:br>
            <a:r>
              <a:rPr lang="fa-IR" sz="2000" dirty="0">
                <a:solidFill>
                  <a:srgbClr val="C00000"/>
                </a:solidFill>
                <a:cs typeface="B Nazanin" panose="00000400000000000000" pitchFamily="2" charset="-78"/>
              </a:rPr>
              <a:t>2.</a:t>
            </a:r>
            <a:r>
              <a:rPr lang="ar-SA" sz="2000" dirty="0">
                <a:solidFill>
                  <a:srgbClr val="C00000"/>
                </a:solidFill>
                <a:cs typeface="B Nazanin" panose="00000400000000000000" pitchFamily="2" charset="-78"/>
              </a:rPr>
              <a:t>طبیعی </a:t>
            </a:r>
            <a:r>
              <a:rPr lang="en-US" sz="2000" dirty="0">
                <a:cs typeface="B Nazanin" panose="00000400000000000000" pitchFamily="2" charset="-78"/>
              </a:rPr>
              <a:t>: </a:t>
            </a:r>
            <a:r>
              <a:rPr lang="ar-SA" sz="2000" dirty="0">
                <a:cs typeface="B Nazanin" panose="00000400000000000000" pitchFamily="2" charset="-78"/>
              </a:rPr>
              <a:t>آلکالوئید های گیاهی</a:t>
            </a:r>
            <a:r>
              <a:rPr lang="en-US" sz="2000" dirty="0">
                <a:cs typeface="B Nazanin" panose="00000400000000000000" pitchFamily="2" charset="-78"/>
              </a:rPr>
              <a:t>- </a:t>
            </a:r>
            <a:r>
              <a:rPr lang="ar-SA" sz="2000" dirty="0">
                <a:cs typeface="B Nazanin" panose="00000400000000000000" pitchFamily="2" charset="-78"/>
              </a:rPr>
              <a:t>پیلوکارپین </a:t>
            </a:r>
            <a:r>
              <a:rPr lang="en-US" sz="2000" dirty="0">
                <a:cs typeface="B Nazanin" panose="00000400000000000000" pitchFamily="2" charset="-78"/>
              </a:rPr>
              <a:t>- </a:t>
            </a:r>
            <a:r>
              <a:rPr lang="ar-SA" sz="2000" dirty="0">
                <a:cs typeface="B Nazanin" panose="00000400000000000000" pitchFamily="2" charset="-78"/>
              </a:rPr>
              <a:t>وارنیکلین </a:t>
            </a:r>
            <a:r>
              <a:rPr lang="en-US" sz="2000" dirty="0">
                <a:cs typeface="B Nazanin" panose="00000400000000000000" pitchFamily="2" charset="-78"/>
              </a:rPr>
              <a:t>– </a:t>
            </a:r>
            <a:r>
              <a:rPr lang="ar-SA" sz="2000" dirty="0">
                <a:cs typeface="B Nazanin" panose="00000400000000000000" pitchFamily="2" charset="-78"/>
              </a:rPr>
              <a:t>نیکوتین </a:t>
            </a:r>
            <a:r>
              <a:rPr lang="en-US" sz="2000" dirty="0">
                <a:cs typeface="B Nazanin" panose="00000400000000000000" pitchFamily="2" charset="-78"/>
              </a:rPr>
              <a:t>– </a:t>
            </a:r>
            <a:r>
              <a:rPr lang="ar-SA" sz="2000" dirty="0">
                <a:cs typeface="B Nazanin" panose="00000400000000000000" pitchFamily="2" charset="-78"/>
              </a:rPr>
              <a:t>موسکارین</a:t>
            </a:r>
            <a:br>
              <a:rPr lang="fa-IR" sz="2000" dirty="0">
                <a:cs typeface="B Nazanin" panose="00000400000000000000" pitchFamily="2" charset="-78"/>
              </a:rPr>
            </a:br>
            <a:br>
              <a:rPr lang="fa-IR" sz="2000" dirty="0">
                <a:cs typeface="B Nazanin" panose="00000400000000000000" pitchFamily="2" charset="-78"/>
              </a:rPr>
            </a:br>
            <a:r>
              <a:rPr lang="fa-IR" sz="2400" dirty="0">
                <a:solidFill>
                  <a:srgbClr val="C00000"/>
                </a:solidFill>
                <a:cs typeface="B Nazanin" panose="00000400000000000000" pitchFamily="2" charset="-78"/>
              </a:rPr>
              <a:t>* </a:t>
            </a:r>
            <a:r>
              <a:rPr lang="ar-SA" sz="2400" dirty="0">
                <a:solidFill>
                  <a:srgbClr val="C00000"/>
                </a:solidFill>
                <a:cs typeface="B Nazanin" panose="00000400000000000000" pitchFamily="2" charset="-78"/>
              </a:rPr>
              <a:t>دارو های غیرمستقیم الاثر هم خودشان </a:t>
            </a:r>
            <a:r>
              <a:rPr lang="en-US" sz="2400" dirty="0">
                <a:solidFill>
                  <a:srgbClr val="C00000"/>
                </a:solidFill>
                <a:cs typeface="B Nazanin" panose="00000400000000000000" pitchFamily="2" charset="-78"/>
              </a:rPr>
              <a:t>2 </a:t>
            </a:r>
            <a:r>
              <a:rPr lang="ar-SA" sz="2400" dirty="0">
                <a:solidFill>
                  <a:srgbClr val="C00000"/>
                </a:solidFill>
                <a:cs typeface="B Nazanin" panose="00000400000000000000" pitchFamily="2" charset="-78"/>
              </a:rPr>
              <a:t>دسته اند</a:t>
            </a:r>
            <a:r>
              <a:rPr lang="en-US" sz="2400" dirty="0">
                <a:solidFill>
                  <a:srgbClr val="C00000"/>
                </a:solidFill>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r>
              <a:rPr lang="fa-IR" sz="2400" dirty="0">
                <a:solidFill>
                  <a:srgbClr val="C00000"/>
                </a:solidFill>
                <a:cs typeface="B Nazanin" panose="00000400000000000000" pitchFamily="2" charset="-78"/>
              </a:rPr>
              <a:t>1</a:t>
            </a:r>
            <a:r>
              <a:rPr lang="fa-IR" sz="2000" dirty="0">
                <a:solidFill>
                  <a:srgbClr val="C00000"/>
                </a:solidFill>
                <a:cs typeface="B Nazanin" panose="00000400000000000000" pitchFamily="2" charset="-78"/>
              </a:rPr>
              <a:t>.</a:t>
            </a:r>
            <a:r>
              <a:rPr lang="ar-SA" sz="2000" dirty="0">
                <a:solidFill>
                  <a:srgbClr val="C00000"/>
                </a:solidFill>
                <a:cs typeface="B Nazanin" panose="00000400000000000000" pitchFamily="2" charset="-78"/>
              </a:rPr>
              <a:t>با اثربرگشت پذیر</a:t>
            </a:r>
            <a:r>
              <a:rPr lang="en-US" sz="2000" dirty="0">
                <a:solidFill>
                  <a:srgbClr val="C00000"/>
                </a:solidFill>
                <a:cs typeface="B Nazanin" panose="00000400000000000000" pitchFamily="2" charset="-78"/>
              </a:rPr>
              <a:t>:</a:t>
            </a:r>
            <a:br>
              <a:rPr lang="fa-IR" sz="2000" dirty="0">
                <a:cs typeface="B Nazanin" panose="00000400000000000000" pitchFamily="2" charset="-78"/>
              </a:rPr>
            </a:br>
            <a:br>
              <a:rPr lang="fa-IR" sz="2000" dirty="0">
                <a:cs typeface="B Nazanin" panose="00000400000000000000" pitchFamily="2" charset="-78"/>
              </a:rPr>
            </a:br>
            <a:r>
              <a:rPr lang="fa-IR" sz="2000" dirty="0">
                <a:solidFill>
                  <a:srgbClr val="C00000"/>
                </a:solidFill>
                <a:cs typeface="B Nazanin" panose="00000400000000000000" pitchFamily="2" charset="-78"/>
              </a:rPr>
              <a:t>.</a:t>
            </a:r>
            <a:r>
              <a:rPr lang="ar-SA" sz="2000" dirty="0">
                <a:solidFill>
                  <a:srgbClr val="C00000"/>
                </a:solidFill>
                <a:cs typeface="B Nazanin" panose="00000400000000000000" pitchFamily="2" charset="-78"/>
              </a:rPr>
              <a:t>کاربامات ها </a:t>
            </a:r>
            <a:r>
              <a:rPr lang="en-US" sz="2000" dirty="0">
                <a:cs typeface="B Nazanin" panose="00000400000000000000" pitchFamily="2" charset="-78"/>
              </a:rPr>
              <a:t>)</a:t>
            </a:r>
            <a:r>
              <a:rPr lang="ar-SA" sz="2000" dirty="0">
                <a:cs typeface="B Nazanin" panose="00000400000000000000" pitchFamily="2" charset="-78"/>
              </a:rPr>
              <a:t>فیزوستگمین </a:t>
            </a:r>
            <a:r>
              <a:rPr lang="en-US" sz="2000" dirty="0">
                <a:cs typeface="B Nazanin" panose="00000400000000000000" pitchFamily="2" charset="-78"/>
              </a:rPr>
              <a:t>– </a:t>
            </a:r>
            <a:r>
              <a:rPr lang="ar-SA" sz="2000" dirty="0">
                <a:cs typeface="B Nazanin" panose="00000400000000000000" pitchFamily="2" charset="-78"/>
              </a:rPr>
              <a:t>نئوستگمین </a:t>
            </a:r>
            <a:r>
              <a:rPr lang="en-US" sz="2000" dirty="0">
                <a:cs typeface="B Nazanin" panose="00000400000000000000" pitchFamily="2" charset="-78"/>
              </a:rPr>
              <a:t>- </a:t>
            </a:r>
            <a:r>
              <a:rPr lang="ar-SA" sz="2000" dirty="0">
                <a:cs typeface="B Nazanin" panose="00000400000000000000" pitchFamily="2" charset="-78"/>
              </a:rPr>
              <a:t>پریدوستگمین</a:t>
            </a:r>
            <a:r>
              <a:rPr lang="en-US" sz="2000" dirty="0">
                <a:cs typeface="B Nazanin" panose="00000400000000000000" pitchFamily="2" charset="-78"/>
              </a:rPr>
              <a:t>(</a:t>
            </a:r>
            <a:br>
              <a:rPr lang="en-US" sz="20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 </a:t>
            </a:r>
            <a:r>
              <a:rPr lang="ar-SA" sz="2000" dirty="0">
                <a:solidFill>
                  <a:srgbClr val="C00000"/>
                </a:solidFill>
                <a:cs typeface="B Nazanin" panose="00000400000000000000" pitchFamily="2" charset="-78"/>
              </a:rPr>
              <a:t>غیر کاربامات ها </a:t>
            </a:r>
            <a:r>
              <a:rPr lang="en-US" sz="2000" dirty="0">
                <a:cs typeface="B Nazanin" panose="00000400000000000000" pitchFamily="2" charset="-78"/>
              </a:rPr>
              <a:t>)</a:t>
            </a:r>
            <a:r>
              <a:rPr lang="ar-SA" sz="2000" dirty="0">
                <a:cs typeface="B Nazanin" panose="00000400000000000000" pitchFamily="2" charset="-78"/>
              </a:rPr>
              <a:t>گالانتامین </a:t>
            </a:r>
            <a:r>
              <a:rPr lang="en-US" sz="2000" dirty="0">
                <a:cs typeface="B Nazanin" panose="00000400000000000000" pitchFamily="2" charset="-78"/>
              </a:rPr>
              <a:t>–</a:t>
            </a:r>
            <a:r>
              <a:rPr lang="ar-SA" sz="2000" dirty="0">
                <a:cs typeface="B Nazanin" panose="00000400000000000000" pitchFamily="2" charset="-78"/>
              </a:rPr>
              <a:t>  دونپزیل</a:t>
            </a:r>
            <a:r>
              <a:rPr lang="en-US" sz="2000" dirty="0">
                <a:cs typeface="B Nazanin" panose="00000400000000000000" pitchFamily="2" charset="-78"/>
              </a:rPr>
              <a:t>– </a:t>
            </a:r>
            <a:r>
              <a:rPr lang="ar-SA" sz="2000" dirty="0">
                <a:cs typeface="B Nazanin" panose="00000400000000000000" pitchFamily="2" charset="-78"/>
              </a:rPr>
              <a:t>تاکرین </a:t>
            </a:r>
            <a:r>
              <a:rPr lang="en-US" sz="2000" dirty="0">
                <a:cs typeface="B Nazanin" panose="00000400000000000000" pitchFamily="2" charset="-78"/>
              </a:rPr>
              <a:t>–</a:t>
            </a:r>
            <a:r>
              <a:rPr lang="ar-SA" sz="2000" dirty="0">
                <a:cs typeface="B Nazanin" panose="00000400000000000000" pitchFamily="2" charset="-78"/>
              </a:rPr>
              <a:t>ریواستگمین</a:t>
            </a:r>
            <a:r>
              <a:rPr lang="fa-IR" sz="2000" dirty="0">
                <a:cs typeface="B Nazanin" panose="00000400000000000000" pitchFamily="2" charset="-78"/>
              </a:rPr>
              <a:t>)</a:t>
            </a:r>
            <a:br>
              <a:rPr lang="fa-IR" sz="2000" dirty="0">
                <a:cs typeface="B Nazanin" panose="00000400000000000000" pitchFamily="2" charset="-78"/>
              </a:rPr>
            </a:br>
            <a:br>
              <a:rPr lang="fa-IR" sz="2000" dirty="0">
                <a:solidFill>
                  <a:srgbClr val="C00000"/>
                </a:solidFill>
                <a:cs typeface="B Nazanin" panose="00000400000000000000" pitchFamily="2" charset="-78"/>
              </a:rPr>
            </a:br>
            <a:r>
              <a:rPr lang="fa-IR" sz="2000" dirty="0">
                <a:solidFill>
                  <a:srgbClr val="C00000"/>
                </a:solidFill>
                <a:cs typeface="B Nazanin" panose="00000400000000000000" pitchFamily="2" charset="-78"/>
              </a:rPr>
              <a:t>2. </a:t>
            </a:r>
            <a:r>
              <a:rPr lang="ar-SA" sz="2000" dirty="0">
                <a:solidFill>
                  <a:srgbClr val="C00000"/>
                </a:solidFill>
                <a:cs typeface="B Nazanin" panose="00000400000000000000" pitchFamily="2" charset="-78"/>
              </a:rPr>
              <a:t>با اثر برگشت ناپذیر</a:t>
            </a:r>
            <a:r>
              <a:rPr lang="fa-IR" sz="2000" dirty="0">
                <a:cs typeface="B Nazanin" panose="00000400000000000000" pitchFamily="2" charset="-78"/>
              </a:rPr>
              <a:t>:</a:t>
            </a:r>
            <a:r>
              <a:rPr lang="en-US" sz="2000" dirty="0">
                <a:cs typeface="B Nazanin" panose="00000400000000000000" pitchFamily="2" charset="-78"/>
              </a:rPr>
              <a:t> </a:t>
            </a:r>
            <a:r>
              <a:rPr lang="ar-SA" sz="2000" dirty="0">
                <a:cs typeface="B Nazanin" panose="00000400000000000000" pitchFamily="2" charset="-78"/>
              </a:rPr>
              <a:t>یعنی آنزیم استیل کولین استراز را برگشت ناپذیرمهار می کنند؛ </a:t>
            </a:r>
            <a:r>
              <a:rPr lang="fa-IR" sz="2000" dirty="0">
                <a:cs typeface="B Nazanin" panose="00000400000000000000" pitchFamily="2" charset="-78"/>
              </a:rPr>
              <a:t> </a:t>
            </a:r>
            <a:r>
              <a:rPr lang="ar-SA" sz="2000" dirty="0">
                <a:cs typeface="B Nazanin" panose="00000400000000000000" pitchFamily="2" charset="-78"/>
              </a:rPr>
              <a:t>اثرات طولانی و خیلی عارضه دار دارند چون استیل </a:t>
            </a:r>
            <a:br>
              <a:rPr lang="fa-IR" sz="2000" dirty="0">
                <a:cs typeface="B Nazanin" panose="00000400000000000000" pitchFamily="2" charset="-78"/>
              </a:rPr>
            </a:br>
            <a:br>
              <a:rPr lang="fa-IR" sz="2000" dirty="0">
                <a:cs typeface="B Nazanin" panose="00000400000000000000" pitchFamily="2" charset="-78"/>
              </a:rPr>
            </a:br>
            <a:r>
              <a:rPr lang="ar-SA" sz="2000" dirty="0">
                <a:cs typeface="B Nazanin" panose="00000400000000000000" pitchFamily="2" charset="-78"/>
              </a:rPr>
              <a:t>کولین تخریب نمی شود و دائما تحریک میکند</a:t>
            </a:r>
            <a:br>
              <a:rPr lang="en-US" sz="2000" dirty="0">
                <a:cs typeface="B Nazanin" panose="00000400000000000000" pitchFamily="2" charset="-78"/>
              </a:rPr>
            </a:br>
            <a:br>
              <a:rPr lang="fa-IR" sz="2000" dirty="0">
                <a:cs typeface="B Nazanin" panose="00000400000000000000" pitchFamily="2" charset="-78"/>
              </a:rPr>
            </a:br>
            <a:r>
              <a:rPr lang="ar-SA" sz="2000" dirty="0">
                <a:solidFill>
                  <a:srgbClr val="C00000"/>
                </a:solidFill>
                <a:cs typeface="B Nazanin" panose="00000400000000000000" pitchFamily="2" charset="-78"/>
              </a:rPr>
              <a:t>داروها</a:t>
            </a:r>
            <a:r>
              <a:rPr lang="en-US" sz="2000" dirty="0">
                <a:cs typeface="B Nazanin" panose="00000400000000000000" pitchFamily="2" charset="-78"/>
              </a:rPr>
              <a:t>:</a:t>
            </a:r>
            <a:r>
              <a:rPr lang="ar-SA" sz="2000" dirty="0">
                <a:cs typeface="B Nazanin" panose="00000400000000000000" pitchFamily="2" charset="-78"/>
              </a:rPr>
              <a:t>اکوتیوفیت</a:t>
            </a:r>
            <a:r>
              <a:rPr lang="en-US" sz="2000" dirty="0">
                <a:cs typeface="B Nazanin" panose="00000400000000000000" pitchFamily="2" charset="-78"/>
              </a:rPr>
              <a:t>-</a:t>
            </a:r>
            <a:r>
              <a:rPr lang="ar-SA" sz="2000" dirty="0">
                <a:cs typeface="B Nazanin" panose="00000400000000000000" pitchFamily="2" charset="-78"/>
              </a:rPr>
              <a:t>ایزوفلوروفیت</a:t>
            </a:r>
            <a:br>
              <a:rPr lang="en-US" sz="2000" dirty="0">
                <a:cs typeface="B Nazanin" panose="00000400000000000000" pitchFamily="2" charset="-78"/>
              </a:rPr>
            </a:br>
            <a:br>
              <a:rPr lang="fa-IR" sz="2000" dirty="0">
                <a:cs typeface="B Nazanin" panose="00000400000000000000" pitchFamily="2" charset="-78"/>
              </a:rPr>
            </a:br>
            <a:r>
              <a:rPr lang="ar-SA" sz="2000" dirty="0">
                <a:solidFill>
                  <a:srgbClr val="C00000"/>
                </a:solidFill>
                <a:cs typeface="B Nazanin" panose="00000400000000000000" pitchFamily="2" charset="-78"/>
              </a:rPr>
              <a:t>اورگانوفسفره ها</a:t>
            </a:r>
            <a:r>
              <a:rPr lang="en-US" sz="2000" dirty="0">
                <a:cs typeface="B Nazanin" panose="00000400000000000000" pitchFamily="2" charset="-78"/>
              </a:rPr>
              <a:t>)</a:t>
            </a:r>
            <a:r>
              <a:rPr lang="ar-SA" sz="2000" dirty="0">
                <a:cs typeface="B Nazanin" panose="00000400000000000000" pitchFamily="2" charset="-78"/>
              </a:rPr>
              <a:t>سم بوده و دارو نیستند</a:t>
            </a:r>
            <a:r>
              <a:rPr lang="fa-IR" sz="2000" dirty="0">
                <a:cs typeface="B Nazanin" panose="00000400000000000000" pitchFamily="2" charset="-78"/>
              </a:rPr>
              <a:t> و دو</a:t>
            </a:r>
            <a:r>
              <a:rPr lang="en-US" sz="2000" dirty="0">
                <a:cs typeface="B Nazanin" panose="00000400000000000000" pitchFamily="2" charset="-78"/>
              </a:rPr>
              <a:t> </a:t>
            </a:r>
            <a:r>
              <a:rPr lang="ar-SA" sz="2000" dirty="0">
                <a:cs typeface="B Nazanin" panose="00000400000000000000" pitchFamily="2" charset="-78"/>
              </a:rPr>
              <a:t>دسته اند</a:t>
            </a:r>
            <a:r>
              <a:rPr lang="fa-IR" sz="2000" dirty="0">
                <a:cs typeface="B Nazanin" panose="00000400000000000000" pitchFamily="2" charset="-78"/>
              </a:rPr>
              <a:t>)</a:t>
            </a:r>
            <a:r>
              <a:rPr lang="en-US" sz="2000" dirty="0">
                <a:cs typeface="B Nazanin" panose="00000400000000000000" pitchFamily="2" charset="-78"/>
              </a:rPr>
              <a:t>:</a:t>
            </a:r>
            <a:br>
              <a:rPr lang="en-US" sz="2000" dirty="0">
                <a:cs typeface="B Nazanin" panose="00000400000000000000" pitchFamily="2" charset="-78"/>
              </a:rPr>
            </a:br>
            <a:br>
              <a:rPr lang="fa-IR" sz="2000" dirty="0">
                <a:cs typeface="B Nazanin" panose="00000400000000000000" pitchFamily="2" charset="-78"/>
              </a:rPr>
            </a:br>
            <a:r>
              <a:rPr lang="ar-SA" sz="2000" dirty="0">
                <a:cs typeface="B Nazanin" panose="00000400000000000000" pitchFamily="2" charset="-78"/>
              </a:rPr>
              <a:t>آفت کش ها</a:t>
            </a:r>
            <a:r>
              <a:rPr lang="en-US" sz="2000" dirty="0">
                <a:cs typeface="B Nazanin" panose="00000400000000000000" pitchFamily="2" charset="-78"/>
              </a:rPr>
              <a:t>: </a:t>
            </a:r>
            <a:r>
              <a:rPr lang="ar-SA" sz="2000" dirty="0">
                <a:cs typeface="B Nazanin" panose="00000400000000000000" pitchFamily="2" charset="-78"/>
              </a:rPr>
              <a:t>پاراتیون</a:t>
            </a:r>
            <a:r>
              <a:rPr lang="en-US" sz="2000" dirty="0">
                <a:cs typeface="B Nazanin" panose="00000400000000000000" pitchFamily="2" charset="-78"/>
              </a:rPr>
              <a:t>-</a:t>
            </a:r>
            <a:r>
              <a:rPr lang="ar-SA" sz="2000" dirty="0">
                <a:cs typeface="B Nazanin" panose="00000400000000000000" pitchFamily="2" charset="-78"/>
              </a:rPr>
              <a:t>مالاتیون</a:t>
            </a:r>
            <a:r>
              <a:rPr lang="en-US" sz="2000" dirty="0">
                <a:cs typeface="B Nazanin" panose="00000400000000000000" pitchFamily="2" charset="-78"/>
              </a:rPr>
              <a:t>-</a:t>
            </a:r>
            <a:r>
              <a:rPr lang="ar-SA" sz="2000" dirty="0">
                <a:cs typeface="B Nazanin" panose="00000400000000000000" pitchFamily="2" charset="-78"/>
              </a:rPr>
              <a:t>دی کلرووس</a:t>
            </a:r>
            <a:br>
              <a:rPr lang="en-US" sz="2000" dirty="0">
                <a:cs typeface="B Nazanin" panose="00000400000000000000" pitchFamily="2" charset="-78"/>
              </a:rPr>
            </a:br>
            <a:br>
              <a:rPr lang="fa-IR" sz="2000" dirty="0">
                <a:cs typeface="B Nazanin" panose="00000400000000000000" pitchFamily="2" charset="-78"/>
              </a:rPr>
            </a:br>
            <a:r>
              <a:rPr lang="ar-SA" sz="2000" dirty="0">
                <a:cs typeface="B Nazanin" panose="00000400000000000000" pitchFamily="2" charset="-78"/>
              </a:rPr>
              <a:t>گازهای جنگی</a:t>
            </a:r>
            <a:r>
              <a:rPr lang="en-US" sz="2000" dirty="0">
                <a:cs typeface="B Nazanin" panose="00000400000000000000" pitchFamily="2" charset="-78"/>
              </a:rPr>
              <a:t>: </a:t>
            </a:r>
            <a:r>
              <a:rPr lang="ar-SA" sz="2000" dirty="0">
                <a:cs typeface="B Nazanin" panose="00000400000000000000" pitchFamily="2" charset="-78"/>
              </a:rPr>
              <a:t>تابون</a:t>
            </a:r>
            <a:r>
              <a:rPr lang="en-US" sz="2000" dirty="0">
                <a:cs typeface="B Nazanin" panose="00000400000000000000" pitchFamily="2" charset="-78"/>
              </a:rPr>
              <a:t>-</a:t>
            </a:r>
            <a:r>
              <a:rPr lang="ar-SA" sz="2000" dirty="0">
                <a:cs typeface="B Nazanin" panose="00000400000000000000" pitchFamily="2" charset="-78"/>
              </a:rPr>
              <a:t>سارین </a:t>
            </a:r>
            <a:r>
              <a:rPr lang="en-US" sz="2000" dirty="0">
                <a:cs typeface="B Nazanin" panose="00000400000000000000" pitchFamily="2" charset="-78"/>
              </a:rPr>
              <a:t>– </a:t>
            </a:r>
            <a:r>
              <a:rPr lang="ar-SA" sz="2000" dirty="0">
                <a:cs typeface="B Nazanin" panose="00000400000000000000" pitchFamily="2" charset="-78"/>
              </a:rPr>
              <a:t>سومن</a:t>
            </a:r>
            <a:br>
              <a:rPr lang="en-US" sz="2000" dirty="0">
                <a:cs typeface="B Nazanin" panose="00000400000000000000" pitchFamily="2" charset="-78"/>
              </a:rPr>
            </a:br>
            <a:endParaRPr lang="en-US" sz="2000" b="0" dirty="0"/>
          </a:p>
        </p:txBody>
      </p:sp>
    </p:spTree>
    <p:extLst>
      <p:ext uri="{BB962C8B-B14F-4D97-AF65-F5344CB8AC3E}">
        <p14:creationId xmlns:p14="http://schemas.microsoft.com/office/powerpoint/2010/main" val="1419967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2FBF-E25C-810C-D772-22C2AFBE1CD9}"/>
              </a:ext>
            </a:extLst>
          </p:cNvPr>
          <p:cNvSpPr>
            <a:spLocks noGrp="1"/>
          </p:cNvSpPr>
          <p:nvPr>
            <p:ph type="title"/>
          </p:nvPr>
        </p:nvSpPr>
        <p:spPr>
          <a:xfrm>
            <a:off x="553453" y="168442"/>
            <a:ext cx="11035297" cy="565485"/>
          </a:xfrm>
        </p:spPr>
        <p:txBody>
          <a:bodyPr>
            <a:normAutofit fontScale="90000"/>
          </a:bodyPr>
          <a:lstStyle/>
          <a:p>
            <a:pPr algn="r" rtl="1"/>
            <a:r>
              <a:rPr lang="fa-IR" sz="2400" dirty="0">
                <a:cs typeface="B Nazanin" panose="00000400000000000000" pitchFamily="2" charset="-78"/>
              </a:rPr>
              <a:t>. استیل کولین</a:t>
            </a:r>
            <a:br>
              <a:rPr lang="fa-IR" sz="2400" dirty="0">
                <a:cs typeface="B Nazanin" panose="00000400000000000000" pitchFamily="2" charset="-78"/>
              </a:rPr>
            </a:br>
            <a:br>
              <a:rPr lang="fa-IR" sz="2400" dirty="0">
                <a:cs typeface="B Nazanin" panose="00000400000000000000" pitchFamily="2" charset="-78"/>
              </a:rPr>
            </a:br>
            <a:r>
              <a:rPr lang="ar-SA" sz="2200" b="0" dirty="0">
                <a:cs typeface="B Nazanin" panose="00000400000000000000" pitchFamily="2" charset="-78"/>
              </a:rPr>
              <a:t>هم گیرنده های موسکارینی و هم گیرنده های نیکوتینی را تحریک کرده و اثرات</a:t>
            </a:r>
            <a:r>
              <a:rPr lang="fa-IR" sz="2200" b="0" dirty="0">
                <a:cs typeface="B Nazanin" panose="00000400000000000000" pitchFamily="2" charset="-78"/>
              </a:rPr>
              <a:t> </a:t>
            </a:r>
            <a:r>
              <a:rPr lang="ar-SA" sz="2200" b="0" dirty="0">
                <a:cs typeface="B Nazanin" panose="00000400000000000000" pitchFamily="2" charset="-78"/>
              </a:rPr>
              <a:t>متنوعی نشان می دهد</a:t>
            </a:r>
            <a:r>
              <a:rPr lang="en-US" sz="2200" b="0" dirty="0">
                <a:cs typeface="B Nazanin" panose="00000400000000000000" pitchFamily="2" charset="-78"/>
              </a:rPr>
              <a:t>.</a:t>
            </a:r>
            <a:r>
              <a:rPr lang="ar-SA" sz="2200" b="0" dirty="0">
                <a:cs typeface="B Nazanin" panose="00000400000000000000" pitchFamily="2" charset="-78"/>
              </a:rPr>
              <a:t>خیلی سریع تحت تاثیر آنزیم استیل کولین استراز قرار می</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گیرد به همین دلیل از آن دارو نمی سازند و ندرتا به عنوان دارو استفاده می شود</a:t>
            </a:r>
            <a:r>
              <a:rPr lang="en-US" sz="2200" b="0" dirty="0">
                <a:cs typeface="B Nazanin" panose="00000400000000000000" pitchFamily="2" charset="-78"/>
              </a:rPr>
              <a:t>. </a:t>
            </a:r>
            <a:r>
              <a:rPr lang="ar-SA" sz="2200" b="0" dirty="0">
                <a:cs typeface="B Nazanin" panose="00000400000000000000" pitchFamily="2" charset="-78"/>
              </a:rPr>
              <a:t>گاها</a:t>
            </a:r>
            <a:r>
              <a:rPr lang="fa-IR" sz="2200" b="0" dirty="0">
                <a:cs typeface="B Nazanin" panose="00000400000000000000" pitchFamily="2" charset="-78"/>
              </a:rPr>
              <a:t> </a:t>
            </a:r>
            <a:r>
              <a:rPr lang="ar-SA" sz="2200" b="0" dirty="0">
                <a:cs typeface="B Nazanin" panose="00000400000000000000" pitchFamily="2" charset="-78"/>
              </a:rPr>
              <a:t>آمپول های چشمی </a:t>
            </a:r>
            <a:r>
              <a:rPr lang="en-US" sz="2200" b="0" dirty="0">
                <a:cs typeface="B Nazanin" panose="00000400000000000000" pitchFamily="2" charset="-78"/>
              </a:rPr>
              <a:t>1 </a:t>
            </a:r>
            <a:r>
              <a:rPr lang="ar-SA" sz="2200" b="0" dirty="0">
                <a:cs typeface="B Nazanin" panose="00000400000000000000" pitchFamily="2" charset="-78"/>
              </a:rPr>
              <a:t>درصد دارد که در چشم به عنوان یک عامل میوتیک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در جراحی</a:t>
            </a:r>
            <a:r>
              <a:rPr lang="fa-IR" sz="2200" b="0" dirty="0">
                <a:cs typeface="B Nazanin" panose="00000400000000000000" pitchFamily="2" charset="-78"/>
              </a:rPr>
              <a:t> </a:t>
            </a:r>
            <a:r>
              <a:rPr lang="ar-SA" sz="2200" b="0" dirty="0">
                <a:cs typeface="B Nazanin" panose="00000400000000000000" pitchFamily="2" charset="-78"/>
              </a:rPr>
              <a:t>های قسمت قدامی چشم استفاده می شود</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 بتانکول</a:t>
            </a:r>
            <a:br>
              <a:rPr lang="fa-IR" sz="27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یکی از داروهای کولینرژیک است که به صورت اختصاصی گیرنده های موسکارینی پاراسمپاتیک را تحریک می کند</a:t>
            </a:r>
            <a:br>
              <a:rPr lang="fa-IR" sz="270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قرص های </a:t>
            </a:r>
            <a:r>
              <a:rPr lang="en-US" sz="2200" b="0" dirty="0">
                <a:cs typeface="B Nazanin" panose="00000400000000000000" pitchFamily="2" charset="-78"/>
              </a:rPr>
              <a:t>, 50 , 25 ,10mg</a:t>
            </a:r>
            <a:r>
              <a:rPr lang="ar-SA" sz="2200" b="0" dirty="0">
                <a:cs typeface="B Nazanin" panose="00000400000000000000" pitchFamily="2" charset="-78"/>
              </a:rPr>
              <a:t>دارد</a:t>
            </a:r>
            <a:r>
              <a:rPr lang="en-US" sz="2200" b="0" dirty="0">
                <a:cs typeface="B Nazanin" panose="00000400000000000000" pitchFamily="2" charset="-78"/>
              </a:rPr>
              <a:t> </a:t>
            </a:r>
            <a:r>
              <a:rPr lang="fa-IR" sz="2200" b="0" dirty="0">
                <a:cs typeface="B Nazanin" panose="00000400000000000000" pitchFamily="2" charset="-78"/>
              </a:rPr>
              <a:t>و همچنین محلول تزریقی زیر جلدی هم دارد که در بیمارستان ها استفاده می شود </a:t>
            </a:r>
            <a:r>
              <a:rPr lang="en-US" sz="2200" b="0" dirty="0">
                <a:cs typeface="B Nazanin" panose="00000400000000000000" pitchFamily="2" charset="-78"/>
              </a:rPr>
              <a:t>.</a:t>
            </a:r>
            <a:r>
              <a:rPr lang="ar-SA" sz="2200" b="0" dirty="0">
                <a:cs typeface="B Nazanin" panose="00000400000000000000" pitchFamily="2" charset="-78"/>
              </a:rPr>
              <a:t>فقط گیرنده های موسکارینی را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تحریک می کند</a:t>
            </a:r>
            <a:r>
              <a:rPr lang="en-US" sz="2200" b="0" dirty="0">
                <a:cs typeface="B Nazanin" panose="00000400000000000000" pitchFamily="2" charset="-78"/>
              </a:rPr>
              <a:t>. </a:t>
            </a:r>
            <a:r>
              <a:rPr lang="ar-SA" sz="2200" b="0" dirty="0">
                <a:cs typeface="B Nazanin" panose="00000400000000000000" pitchFamily="2" charset="-78"/>
              </a:rPr>
              <a:t>خیلی</a:t>
            </a:r>
            <a:r>
              <a:rPr lang="fa-IR" sz="2200" b="0" dirty="0">
                <a:cs typeface="B Nazanin" panose="00000400000000000000" pitchFamily="2" charset="-78"/>
              </a:rPr>
              <a:t> </a:t>
            </a:r>
            <a:r>
              <a:rPr lang="ar-SA" sz="2200" b="0" dirty="0">
                <a:cs typeface="B Nazanin" panose="00000400000000000000" pitchFamily="2" charset="-78"/>
              </a:rPr>
              <a:t>طولانی اثرتر است</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موارد مصرف</a:t>
            </a:r>
            <a:r>
              <a:rPr lang="en-US" sz="2200" b="0" dirty="0">
                <a:cs typeface="B Nazanin" panose="00000400000000000000" pitchFamily="2" charset="-78"/>
              </a:rPr>
              <a:t>:</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1.</a:t>
            </a:r>
            <a:r>
              <a:rPr lang="ar-SA" sz="2200" b="0" dirty="0">
                <a:cs typeface="B Nazanin" panose="00000400000000000000" pitchFamily="2" charset="-78"/>
              </a:rPr>
              <a:t>در بیماری رفلاکس معده به مری </a:t>
            </a:r>
            <a:r>
              <a:rPr lang="en-US" sz="2200" b="0" dirty="0">
                <a:cs typeface="B Nazanin" panose="00000400000000000000" pitchFamily="2" charset="-78"/>
              </a:rPr>
              <a:t>GERD </a:t>
            </a:r>
            <a:r>
              <a:rPr lang="ar-SA" sz="2200" b="0" dirty="0">
                <a:cs typeface="B Nazanin" panose="00000400000000000000" pitchFamily="2" charset="-78"/>
              </a:rPr>
              <a:t>از آسیب های انتهای مری</a:t>
            </a:r>
            <a:r>
              <a:rPr lang="fa-IR" sz="2200" b="0" dirty="0">
                <a:cs typeface="B Nazanin" panose="00000400000000000000" pitchFamily="2" charset="-78"/>
              </a:rPr>
              <a:t> </a:t>
            </a:r>
            <a:r>
              <a:rPr lang="ar-SA" sz="2200" b="0" dirty="0">
                <a:cs typeface="B Nazanin" panose="00000400000000000000" pitchFamily="2" charset="-78"/>
              </a:rPr>
              <a:t>جلوگیری می کند</a:t>
            </a:r>
            <a:r>
              <a:rPr lang="en-US" sz="2200" b="0" dirty="0">
                <a:cs typeface="B Nazanin" panose="00000400000000000000" pitchFamily="2" charset="-78"/>
              </a:rPr>
              <a:t>.</a:t>
            </a:r>
            <a:r>
              <a:rPr lang="ar-SA" sz="2200" b="0" dirty="0">
                <a:cs typeface="B Nazanin" panose="00000400000000000000" pitchFamily="2" charset="-78"/>
              </a:rPr>
              <a:t>در رفلاکس معده یک داروی دیگر هم استفاده می شود بنام</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متوکلوپرامید که در اصل ضد تهوع است اما یک اثر محیطی هم دارد</a:t>
            </a:r>
            <a:r>
              <a:rPr lang="fa-IR" sz="2200" b="0" dirty="0">
                <a:cs typeface="B Nazanin" panose="00000400000000000000" pitchFamily="2" charset="-78"/>
              </a:rPr>
              <a:t> </a:t>
            </a:r>
            <a:r>
              <a:rPr lang="ar-SA" sz="2200" b="0" dirty="0">
                <a:cs typeface="B Nazanin" panose="00000400000000000000" pitchFamily="2" charset="-78"/>
              </a:rPr>
              <a:t>کاردیا را</a:t>
            </a:r>
            <a:r>
              <a:rPr lang="fa-IR" sz="2200" b="0" dirty="0">
                <a:cs typeface="B Nazanin" panose="00000400000000000000" pitchFamily="2" charset="-78"/>
              </a:rPr>
              <a:t> </a:t>
            </a:r>
            <a:r>
              <a:rPr lang="ar-SA" sz="2200" b="0" dirty="0">
                <a:cs typeface="B Nazanin" panose="00000400000000000000" pitchFamily="2" charset="-78"/>
              </a:rPr>
              <a:t>تنگ کرده و تخلیه معده را تسریع می کند</a:t>
            </a:r>
            <a:r>
              <a:rPr lang="en-US" sz="2200" b="0" dirty="0">
                <a:cs typeface="B Nazanin" panose="00000400000000000000" pitchFamily="2" charset="-78"/>
              </a:rPr>
              <a:t>. </a:t>
            </a:r>
            <a:r>
              <a:rPr lang="ar-SA" sz="2200" b="0" dirty="0">
                <a:cs typeface="B Nazanin" panose="00000400000000000000" pitchFamily="2" charset="-78"/>
              </a:rPr>
              <a:t>البته متوکلوپرامید اثرات مغزی هم</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دارد اما در بیماری رفلاکس این اثرات به درد نمی خورد</a:t>
            </a:r>
            <a:r>
              <a:rPr lang="en-US" sz="2200" b="0" dirty="0">
                <a:cs typeface="B Nazanin" panose="00000400000000000000" pitchFamily="2" charset="-78"/>
              </a:rPr>
              <a:t>. </a:t>
            </a:r>
            <a:r>
              <a:rPr lang="ar-SA" sz="2200" b="0" dirty="0">
                <a:cs typeface="B Nazanin" panose="00000400000000000000" pitchFamily="2" charset="-78"/>
              </a:rPr>
              <a:t>داروی دومپریدون عین</a:t>
            </a:r>
            <a:r>
              <a:rPr lang="fa-IR" sz="2200" b="0" dirty="0">
                <a:cs typeface="B Nazanin" panose="00000400000000000000" pitchFamily="2" charset="-78"/>
              </a:rPr>
              <a:t> </a:t>
            </a:r>
            <a:r>
              <a:rPr lang="ar-SA" sz="2200" b="0" dirty="0">
                <a:cs typeface="B Nazanin" panose="00000400000000000000" pitchFamily="2" charset="-78"/>
              </a:rPr>
              <a:t>داروی متوکلوپرامید است و در رفلاکس استفاده می شود اما خاصیت ضد تهوع</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ندارد</a:t>
            </a:r>
            <a:r>
              <a:rPr lang="en-US" sz="2200" b="0" dirty="0">
                <a:cs typeface="B Nazanin" panose="00000400000000000000" pitchFamily="2" charset="-78"/>
              </a:rPr>
              <a:t>. </a:t>
            </a:r>
            <a:r>
              <a:rPr lang="ar-SA" sz="2200" b="0" dirty="0">
                <a:cs typeface="B Nazanin" panose="00000400000000000000" pitchFamily="2" charset="-78"/>
              </a:rPr>
              <a:t>دلیل اینکه متوکلوپرامید خاصیت ضد تهوع دارد این است که به مغز وارد</a:t>
            </a:r>
            <a:r>
              <a:rPr lang="fa-IR" sz="2200" b="0" dirty="0">
                <a:cs typeface="B Nazanin" panose="00000400000000000000" pitchFamily="2" charset="-78"/>
              </a:rPr>
              <a:t> </a:t>
            </a:r>
            <a:r>
              <a:rPr lang="ar-SA" sz="2200" b="0" dirty="0">
                <a:cs typeface="B Nazanin" panose="00000400000000000000" pitchFamily="2" charset="-78"/>
              </a:rPr>
              <a:t>می شود</a:t>
            </a:r>
            <a:br>
              <a:rPr lang="en-US" dirty="0"/>
            </a:br>
            <a:endParaRPr lang="en-US" sz="2700" dirty="0">
              <a:cs typeface="B Nazanin" panose="00000400000000000000" pitchFamily="2" charset="-78"/>
            </a:endParaRPr>
          </a:p>
        </p:txBody>
      </p:sp>
    </p:spTree>
    <p:extLst>
      <p:ext uri="{BB962C8B-B14F-4D97-AF65-F5344CB8AC3E}">
        <p14:creationId xmlns:p14="http://schemas.microsoft.com/office/powerpoint/2010/main" val="28160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72D4-23B8-48C8-DF1A-D81BA1AF6DAD}"/>
              </a:ext>
            </a:extLst>
          </p:cNvPr>
          <p:cNvSpPr>
            <a:spLocks noGrp="1"/>
          </p:cNvSpPr>
          <p:nvPr>
            <p:ph type="title"/>
          </p:nvPr>
        </p:nvSpPr>
        <p:spPr>
          <a:xfrm>
            <a:off x="409074" y="539750"/>
            <a:ext cx="11261558" cy="716582"/>
          </a:xfrm>
        </p:spPr>
        <p:txBody>
          <a:bodyPr>
            <a:normAutofit fontScale="90000"/>
          </a:bodyPr>
          <a:lstStyle/>
          <a:p>
            <a:pPr algn="r" rtl="1"/>
            <a:r>
              <a:rPr lang="fa-IR" sz="2000" b="0" dirty="0">
                <a:cs typeface="B Nazanin" panose="00000400000000000000" pitchFamily="2" charset="-78"/>
              </a:rPr>
              <a:t>2. در درمان آتونی (</a:t>
            </a:r>
            <a:r>
              <a:rPr lang="ar-SA" sz="2200" b="0" dirty="0">
                <a:cs typeface="B Nazanin" panose="00000400000000000000" pitchFamily="2" charset="-78"/>
              </a:rPr>
              <a:t>موتیلیتی یا همان حرکات کاهش یافته روده ها یا مثانه بعد</a:t>
            </a:r>
            <a:r>
              <a:rPr lang="fa-IR" sz="2200" b="0" dirty="0">
                <a:cs typeface="B Nazanin" panose="00000400000000000000" pitchFamily="2" charset="-78"/>
              </a:rPr>
              <a:t> </a:t>
            </a:r>
            <a:r>
              <a:rPr lang="ar-SA" sz="2200" b="0" dirty="0">
                <a:cs typeface="B Nazanin" panose="00000400000000000000" pitchFamily="2" charset="-78"/>
              </a:rPr>
              <a:t>از</a:t>
            </a:r>
            <a:r>
              <a:rPr lang="fa-IR" sz="2200" b="0" dirty="0">
                <a:cs typeface="B Nazanin" panose="00000400000000000000" pitchFamily="2" charset="-78"/>
              </a:rPr>
              <a:t> </a:t>
            </a:r>
            <a:r>
              <a:rPr lang="ar-SA" sz="2200" b="0" dirty="0">
                <a:cs typeface="B Nazanin" panose="00000400000000000000" pitchFamily="2" charset="-78"/>
              </a:rPr>
              <a:t>اعمال جراحی یا عفونت این اندام ها یا ترومای وارد شده به این اندام ها</a:t>
            </a:r>
            <a:r>
              <a:rPr lang="fa-IR" sz="2200" b="0" dirty="0">
                <a:cs typeface="B Nazanin" panose="00000400000000000000" pitchFamily="2" charset="-78"/>
              </a:rPr>
              <a:t>)</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داروی بتانکول بدلیل اینکه به عنوان خوراکی مصرف می شود لذا بهترین گزینه برای</a:t>
            </a:r>
            <a:r>
              <a:rPr lang="fa-IR" sz="2200" b="0" dirty="0">
                <a:cs typeface="B Nazanin" panose="00000400000000000000" pitchFamily="2" charset="-78"/>
              </a:rPr>
              <a:t> </a:t>
            </a:r>
            <a:r>
              <a:rPr lang="ar-SA" sz="2200" b="0" dirty="0">
                <a:cs typeface="B Nazanin" panose="00000400000000000000" pitchFamily="2" charset="-78"/>
              </a:rPr>
              <a:t>درمان آتونی است</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برخی افراد در دفع ادرار مشکل دارند که به</a:t>
            </a:r>
            <a:r>
              <a:rPr lang="fa-IR" sz="2200" b="0" dirty="0">
                <a:cs typeface="B Nazanin" panose="00000400000000000000" pitchFamily="2" charset="-78"/>
              </a:rPr>
              <a:t> دو</a:t>
            </a:r>
            <a:r>
              <a:rPr lang="en-US" sz="2200" b="0" dirty="0">
                <a:cs typeface="B Nazanin" panose="00000400000000000000" pitchFamily="2" charset="-78"/>
              </a:rPr>
              <a:t> </a:t>
            </a:r>
            <a:r>
              <a:rPr lang="ar-SA" sz="2200" b="0" dirty="0">
                <a:cs typeface="B Nazanin" panose="00000400000000000000" pitchFamily="2" charset="-78"/>
              </a:rPr>
              <a:t>دلیل می تواند باشد</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الف</a:t>
            </a:r>
            <a:r>
              <a:rPr lang="fa-IR" sz="2200" b="0" dirty="0">
                <a:cs typeface="B Nazanin" panose="00000400000000000000" pitchFamily="2" charset="-78"/>
              </a:rPr>
              <a:t>)</a:t>
            </a:r>
            <a:r>
              <a:rPr lang="en-US" sz="2200" b="0" dirty="0">
                <a:cs typeface="B Nazanin" panose="00000400000000000000" pitchFamily="2" charset="-78"/>
              </a:rPr>
              <a:t> </a:t>
            </a:r>
            <a:r>
              <a:rPr lang="ar-SA" sz="2200" b="0" dirty="0">
                <a:cs typeface="B Nazanin" panose="00000400000000000000" pitchFamily="2" charset="-78"/>
              </a:rPr>
              <a:t>عضله دترسور مثانه به درستی منقبض نمی شود </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ب</a:t>
            </a:r>
            <a:r>
              <a:rPr lang="en-US" sz="2200" b="0" dirty="0">
                <a:cs typeface="B Nazanin" panose="00000400000000000000" pitchFamily="2" charset="-78"/>
              </a:rPr>
              <a:t>( </a:t>
            </a:r>
            <a:r>
              <a:rPr lang="ar-SA" sz="2200" b="0" dirty="0">
                <a:cs typeface="B Nazanin" panose="00000400000000000000" pitchFamily="2" charset="-78"/>
              </a:rPr>
              <a:t>اسفنگتر مثانه خیلی محکم کیپ شده است</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حالا اگرعلت عدم دفع ادرار کاهش موتیلیتی مثانه باشد، می شود با یک دارویی مثل</a:t>
            </a:r>
            <a:r>
              <a:rPr lang="fa-IR" sz="2200" b="0" dirty="0">
                <a:cs typeface="B Nazanin" panose="00000400000000000000" pitchFamily="2" charset="-78"/>
              </a:rPr>
              <a:t> </a:t>
            </a:r>
            <a:r>
              <a:rPr lang="ar-SA" sz="2200" b="0" dirty="0">
                <a:cs typeface="B Nazanin" panose="00000400000000000000" pitchFamily="2" charset="-78"/>
              </a:rPr>
              <a:t>بتانکول عارضه را رفع کرد</a:t>
            </a:r>
            <a:r>
              <a:rPr lang="en-US" sz="2200" b="0" dirty="0">
                <a:cs typeface="B Nazanin" panose="00000400000000000000" pitchFamily="2" charset="-78"/>
              </a:rPr>
              <a:t>.</a:t>
            </a:r>
            <a:r>
              <a:rPr lang="ar-SA" sz="2200" b="0" dirty="0">
                <a:cs typeface="B Nazanin" panose="00000400000000000000" pitchFamily="2" charset="-78"/>
              </a:rPr>
              <a:t>اما اگر مشکل به دلیل عدم عملکرد اسفنگتر باشد باید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دارویی</a:t>
            </a:r>
            <a:r>
              <a:rPr lang="fa-IR" sz="2200" b="0" dirty="0">
                <a:cs typeface="B Nazanin" panose="00000400000000000000" pitchFamily="2" charset="-78"/>
              </a:rPr>
              <a:t> </a:t>
            </a:r>
            <a:r>
              <a:rPr lang="ar-SA" sz="2200" b="0" dirty="0">
                <a:cs typeface="B Nazanin" panose="00000400000000000000" pitchFamily="2" charset="-78"/>
              </a:rPr>
              <a:t>مصرف شود که سمپاتیک را از کار بیاندازد چون سمپاتیک اسفنگتر را منقبض می 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بتانکول در انسداد مکانیکی مجاری ادراری یا روده ای  نباید مصرف شود چون خطر  پارگی</a:t>
            </a:r>
            <a:r>
              <a:rPr lang="en-US" sz="2200" b="0" dirty="0">
                <a:cs typeface="B Nazanin" panose="00000400000000000000" pitchFamily="2" charset="-78"/>
              </a:rPr>
              <a:t> </a:t>
            </a:r>
            <a:r>
              <a:rPr lang="fa-IR" sz="2200" b="0" dirty="0">
                <a:cs typeface="B Nazanin" panose="00000400000000000000" pitchFamily="2" charset="-78"/>
              </a:rPr>
              <a:t> یا آسیب شدید دارد.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عوارض جانبی مهم دارو : ا از آن‌جا که بتانکول یک آگونیست کولینرژیک موسکارینی است، عوارضش مشابه تحریک بیش‌ازحد سیستم پاراسمپاتیک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تعریق شدید (از عوارض شاخص) ،تهوع، استفراغ، اسهال، کرامپ شکمی، افزایش ترشحات بزاق و اشک ، افت فشار خون، برادی‌کاردی (کندی ضربان قلب)</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تنگی نفس یا برونکواسپاسم در بیماران آسمی</a:t>
            </a:r>
            <a:br>
              <a:rPr lang="fa-IR" sz="2200" b="0" dirty="0">
                <a:cs typeface="B Nazanin" panose="00000400000000000000" pitchFamily="2" charset="-78"/>
              </a:rPr>
            </a:br>
            <a:br>
              <a:rPr lang="en-US" sz="2700" dirty="0">
                <a:cs typeface="B Nazanin" panose="00000400000000000000" pitchFamily="2" charset="-78"/>
              </a:rPr>
            </a:b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3006700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54BF-A9FF-1372-6983-B15192E0F5FC}"/>
              </a:ext>
            </a:extLst>
          </p:cNvPr>
          <p:cNvSpPr>
            <a:spLocks noGrp="1"/>
          </p:cNvSpPr>
          <p:nvPr>
            <p:ph type="title"/>
          </p:nvPr>
        </p:nvSpPr>
        <p:spPr>
          <a:xfrm>
            <a:off x="603250" y="0"/>
            <a:ext cx="10985500" cy="613611"/>
          </a:xfrm>
        </p:spPr>
        <p:txBody>
          <a:bodyPr>
            <a:noAutofit/>
          </a:bodyPr>
          <a:lstStyle/>
          <a:p>
            <a:pPr algn="r" rtl="1"/>
            <a:r>
              <a:rPr lang="fa-IR" sz="2400" dirty="0">
                <a:cs typeface="B Nazanin" panose="00000400000000000000" pitchFamily="2" charset="-78"/>
              </a:rPr>
              <a:t>. کارباکول</a:t>
            </a:r>
            <a:br>
              <a:rPr lang="fa-IR" sz="2400" dirty="0">
                <a:cs typeface="B Nazanin" panose="00000400000000000000" pitchFamily="2" charset="-78"/>
              </a:rPr>
            </a:br>
            <a:br>
              <a:rPr lang="fa-IR" sz="2400" dirty="0">
                <a:cs typeface="B Nazanin" panose="00000400000000000000" pitchFamily="2" charset="-78"/>
              </a:rPr>
            </a:br>
            <a:r>
              <a:rPr lang="fa-IR" sz="2000" b="0" dirty="0">
                <a:cs typeface="B Nazanin" panose="00000400000000000000" pitchFamily="2" charset="-78"/>
              </a:rPr>
              <a:t>داروی کارباکول</a:t>
            </a:r>
            <a:r>
              <a:rPr lang="en-US" sz="2000" b="0" dirty="0">
                <a:cs typeface="B Nazanin" panose="00000400000000000000" pitchFamily="2" charset="-78"/>
              </a:rPr>
              <a:t> </a:t>
            </a:r>
            <a:r>
              <a:rPr lang="fa-IR" sz="2000" b="0" dirty="0">
                <a:cs typeface="B Nazanin" panose="00000400000000000000" pitchFamily="2" charset="-78"/>
              </a:rPr>
              <a:t>نیز مانند بتانکول از آگونیست‌های کولینرژیک (پاراسمپاتومیمتیک‌ها) است، اما تفاوت مهمش این است که هم گیرنده‌های موسکارینی و هم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نیکوتینی را تحریک میکند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اشکال دارویی:</a:t>
            </a:r>
            <a:br>
              <a:rPr lang="fa-IR" sz="2400" dirty="0">
                <a:cs typeface="B Nazanin" panose="00000400000000000000" pitchFamily="2" charset="-78"/>
              </a:rPr>
            </a:br>
            <a:br>
              <a:rPr lang="fa-IR" sz="2400" dirty="0">
                <a:cs typeface="B Nazanin" panose="00000400000000000000" pitchFamily="2" charset="-78"/>
              </a:rPr>
            </a:br>
            <a:r>
              <a:rPr lang="fa-IR" sz="2000" b="0" dirty="0">
                <a:cs typeface="B Nazanin" panose="00000400000000000000" pitchFamily="2" charset="-78"/>
              </a:rPr>
              <a:t>قطره چشمی (محلول چشمی 0.75٪ تا 3٪) — شکل دارویی رایج و بالینی اصلی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تزریقی داخل چشمی (0.01٪ تا 0.02٪) — معمولاً در حین جراحی‌های چشمی (مثل جراحی کاتاراکت) برای ایجاد میوز فوری استفاده می‌شود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*کارباکول به‌صورت خوراکی مصرف نمی‌شود چون جذب سیستمیک زیاد دارد و ممکن است عوارض شدید ایجاد کند</a:t>
            </a:r>
            <a:br>
              <a:rPr lang="fa-IR" sz="24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r>
              <a:rPr lang="ar-SA" sz="2000" b="0" dirty="0">
                <a:cs typeface="B Nazanin" panose="00000400000000000000" pitchFamily="2" charset="-78"/>
              </a:rPr>
              <a:t>قطره چشمی در درمان بیماری آب سیاه یاهمان گلوکوم استفاده می شود</a:t>
            </a:r>
            <a:r>
              <a:rPr lang="en-US" sz="2000" b="0" dirty="0">
                <a:cs typeface="B Nazanin" panose="00000400000000000000" pitchFamily="2" charset="-78"/>
              </a:rPr>
              <a:t>. </a:t>
            </a:r>
            <a:r>
              <a:rPr lang="ar-SA" sz="2000" b="0" dirty="0">
                <a:cs typeface="B Nazanin" panose="00000400000000000000" pitchFamily="2" charset="-78"/>
              </a:rPr>
              <a:t>بیماری که فشار داخل چشم افزایش پیدا می کند که به آن</a:t>
            </a:r>
            <a:r>
              <a:rPr lang="fa-IR" sz="2000" b="0" dirty="0">
                <a:cs typeface="B Nazanin" panose="00000400000000000000" pitchFamily="2" charset="-78"/>
              </a:rPr>
              <a:t> </a:t>
            </a:r>
            <a:r>
              <a:rPr lang="ar-SA" sz="2000" b="0" dirty="0">
                <a:cs typeface="B Nazanin" panose="00000400000000000000" pitchFamily="2" charset="-78"/>
              </a:rPr>
              <a:t>گلوکوم با زاویه بسته یا تنگ </a:t>
            </a:r>
            <a:br>
              <a:rPr lang="fa-IR" sz="2000" b="0" dirty="0">
                <a:cs typeface="B Nazanin" panose="00000400000000000000" pitchFamily="2" charset="-78"/>
              </a:rPr>
            </a:br>
            <a:br>
              <a:rPr lang="fa-IR" sz="2000" b="0" dirty="0">
                <a:cs typeface="B Nazanin" panose="00000400000000000000" pitchFamily="2" charset="-78"/>
              </a:rPr>
            </a:br>
            <a:r>
              <a:rPr lang="ar-SA" sz="2000" b="0" dirty="0">
                <a:cs typeface="B Nazanin" panose="00000400000000000000" pitchFamily="2" charset="-78"/>
              </a:rPr>
              <a:t>گویند</a:t>
            </a:r>
            <a:r>
              <a:rPr lang="en-US" sz="2000" b="0" dirty="0">
                <a:cs typeface="B Nazanin" panose="00000400000000000000" pitchFamily="2" charset="-78"/>
              </a:rPr>
              <a:t>( </a:t>
            </a:r>
            <a:r>
              <a:rPr lang="fa-IR" sz="2000" b="0" dirty="0">
                <a:cs typeface="B Nazanin" panose="00000400000000000000" pitchFamily="2" charset="-78"/>
              </a:rPr>
              <a:t> </a:t>
            </a:r>
            <a:r>
              <a:rPr lang="ar-SA" sz="2000" b="0" dirty="0">
                <a:cs typeface="B Nazanin" panose="00000400000000000000" pitchFamily="2" charset="-78"/>
              </a:rPr>
              <a:t>فشار داخل چشم در حالت عادی باید زیر</a:t>
            </a:r>
            <a:r>
              <a:rPr lang="fa-IR" sz="2000" b="0" dirty="0">
                <a:cs typeface="B Nazanin" panose="00000400000000000000" pitchFamily="2" charset="-78"/>
              </a:rPr>
              <a:t>20</a:t>
            </a:r>
            <a:r>
              <a:rPr lang="en-US" sz="2000" b="0" dirty="0">
                <a:cs typeface="B Nazanin" panose="00000400000000000000" pitchFamily="2" charset="-78"/>
              </a:rPr>
              <a:t> </a:t>
            </a:r>
            <a:r>
              <a:rPr lang="ar-SA" sz="2000" b="0" dirty="0">
                <a:cs typeface="B Nazanin" panose="00000400000000000000" pitchFamily="2" charset="-78"/>
              </a:rPr>
              <a:t>باشد</a:t>
            </a:r>
            <a:r>
              <a:rPr lang="en-US" sz="2000" b="0" dirty="0">
                <a:cs typeface="B Nazanin" panose="00000400000000000000" pitchFamily="2" charset="-78"/>
              </a:rPr>
              <a:t>.</a:t>
            </a:r>
            <a:r>
              <a:rPr lang="ar-SA" sz="2000" b="0" dirty="0">
                <a:cs typeface="B Nazanin" panose="00000400000000000000" pitchFamily="2" charset="-78"/>
              </a:rPr>
              <a:t>هرچه فشار بالاتر رود خطرناک تر است</a:t>
            </a:r>
            <a:r>
              <a:rPr lang="fa-IR" sz="2000" b="0" dirty="0">
                <a:cs typeface="B Nazanin" panose="00000400000000000000" pitchFamily="2" charset="-78"/>
              </a:rPr>
              <a:t> </a:t>
            </a:r>
            <a:r>
              <a:rPr lang="ar-SA" sz="2000" b="0" dirty="0">
                <a:cs typeface="B Nazanin" panose="00000400000000000000" pitchFamily="2" charset="-78"/>
              </a:rPr>
              <a:t>مثلا در فشار </a:t>
            </a:r>
            <a:r>
              <a:rPr lang="fa-IR" sz="2000" b="0" dirty="0">
                <a:cs typeface="B Nazanin" panose="00000400000000000000" pitchFamily="2" charset="-78"/>
              </a:rPr>
              <a:t>50 </a:t>
            </a:r>
            <a:r>
              <a:rPr lang="ar-SA" sz="2000" b="0" dirty="0">
                <a:cs typeface="B Nazanin" panose="00000400000000000000" pitchFamily="2" charset="-78"/>
              </a:rPr>
              <a:t>دید مختل می</a:t>
            </a:r>
            <a:r>
              <a:rPr lang="fa-IR" sz="2000" b="0" dirty="0">
                <a:cs typeface="B Nazanin" panose="00000400000000000000" pitchFamily="2" charset="-78"/>
              </a:rPr>
              <a:t> </a:t>
            </a:r>
            <a:r>
              <a:rPr lang="ar-SA" sz="2000" b="0" dirty="0">
                <a:cs typeface="B Nazanin" panose="00000400000000000000" pitchFamily="2" charset="-78"/>
              </a:rPr>
              <a:t>شود و تاری دید و دوبینی و </a:t>
            </a:r>
            <a:br>
              <a:rPr lang="fa-IR" sz="2000" b="0" dirty="0">
                <a:cs typeface="B Nazanin" panose="00000400000000000000" pitchFamily="2" charset="-78"/>
              </a:rPr>
            </a:br>
            <a:br>
              <a:rPr lang="fa-IR" sz="2000" b="0" dirty="0">
                <a:cs typeface="B Nazanin" panose="00000400000000000000" pitchFamily="2" charset="-78"/>
              </a:rPr>
            </a:br>
            <a:r>
              <a:rPr lang="ar-SA" sz="2000" b="0" dirty="0">
                <a:cs typeface="B Nazanin" panose="00000400000000000000" pitchFamily="2" charset="-78"/>
              </a:rPr>
              <a:t>درد شدید در چشم مشاهده می شود</a:t>
            </a:r>
            <a:r>
              <a:rPr lang="en-US" sz="2000" b="0" dirty="0">
                <a:cs typeface="B Nazanin" panose="00000400000000000000" pitchFamily="2" charset="-78"/>
              </a:rPr>
              <a:t>.</a:t>
            </a:r>
            <a:r>
              <a:rPr lang="fa-IR" sz="2000" b="0" dirty="0">
                <a:cs typeface="B Nazanin" panose="00000400000000000000" pitchFamily="2" charset="-78"/>
              </a:rPr>
              <a:t> </a:t>
            </a:r>
            <a:r>
              <a:rPr lang="ar-SA" sz="2000" b="0" dirty="0">
                <a:cs typeface="B Nazanin" panose="00000400000000000000" pitchFamily="2" charset="-78"/>
              </a:rPr>
              <a:t>فشار زیاد در چشم باعث شده سلول های بینایی در شبکیه آتروفی شده اند وکوری برگشت ناپذیر را باعث می شود</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عوارض جانبی (به‌ویژه عارضه معروف)</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از آنجا که کارباکول اثر کولینرژیک قوی دارد، عوارضش هم ناشی از تحریک بیش‌ازحد گیرنده‌های موسکارینی است:</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عوارض چشمی </a:t>
            </a:r>
            <a:r>
              <a:rPr lang="fa-IR" sz="2000" b="0" dirty="0">
                <a:cs typeface="B Nazanin" panose="00000400000000000000" pitchFamily="2" charset="-78"/>
              </a:rPr>
              <a:t>: </a:t>
            </a:r>
            <a:r>
              <a:rPr lang="fa-IR" sz="2000" dirty="0">
                <a:cs typeface="B Nazanin" panose="00000400000000000000" pitchFamily="2" charset="-78"/>
              </a:rPr>
              <a:t>میوز طولانی‌مدت (تنگی مداوم مردمک) ،تاری دید</a:t>
            </a:r>
            <a:r>
              <a:rPr lang="fa-IR" sz="2000" b="0" dirty="0">
                <a:cs typeface="B Nazanin" panose="00000400000000000000" pitchFamily="2" charset="-78"/>
              </a:rPr>
              <a:t>، اسپاسم تطابق (مشکل در دید دور)، افزایش ترشح اشک ،تحریک یا قرمزی چشم</a:t>
            </a:r>
            <a:endParaRPr lang="en-US" sz="2000" dirty="0">
              <a:cs typeface="B Nazanin" panose="00000400000000000000" pitchFamily="2" charset="-78"/>
            </a:endParaRPr>
          </a:p>
        </p:txBody>
      </p:sp>
    </p:spTree>
    <p:extLst>
      <p:ext uri="{BB962C8B-B14F-4D97-AF65-F5344CB8AC3E}">
        <p14:creationId xmlns:p14="http://schemas.microsoft.com/office/powerpoint/2010/main" val="449780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265E-80D9-1F6E-8205-71D0A5941CDF}"/>
              </a:ext>
            </a:extLst>
          </p:cNvPr>
          <p:cNvSpPr>
            <a:spLocks noGrp="1"/>
          </p:cNvSpPr>
          <p:nvPr>
            <p:ph type="title"/>
          </p:nvPr>
        </p:nvSpPr>
        <p:spPr/>
        <p:txBody>
          <a:bodyPr>
            <a:normAutofit fontScale="90000"/>
          </a:bodyPr>
          <a:lstStyle/>
          <a:p>
            <a:pPr algn="r" rtl="1"/>
            <a:r>
              <a:rPr lang="fa-IR" sz="2200" dirty="0">
                <a:cs typeface="B Nazanin" panose="00000400000000000000" pitchFamily="2" charset="-78"/>
              </a:rPr>
              <a:t>* نکته: </a:t>
            </a:r>
            <a:r>
              <a:rPr lang="ar-SA" sz="2200" b="0" dirty="0">
                <a:cs typeface="B Nazanin" panose="00000400000000000000" pitchFamily="2" charset="-78"/>
              </a:rPr>
              <a:t>داروهای مقلد پاراسمپاتیک چه به صورت سیستمیک </a:t>
            </a:r>
            <a:r>
              <a:rPr lang="en-US" sz="2200" b="0" dirty="0">
                <a:cs typeface="B Nazanin" panose="00000400000000000000" pitchFamily="2" charset="-78"/>
              </a:rPr>
              <a:t>)</a:t>
            </a:r>
            <a:r>
              <a:rPr lang="ar-SA" sz="2200" b="0" dirty="0">
                <a:cs typeface="B Nazanin" panose="00000400000000000000" pitchFamily="2" charset="-78"/>
              </a:rPr>
              <a:t>قرص و کپسول و </a:t>
            </a:r>
            <a:r>
              <a:rPr lang="en-US" sz="2200" b="0" dirty="0">
                <a:cs typeface="B Nazanin" panose="00000400000000000000" pitchFamily="2" charset="-78"/>
              </a:rPr>
              <a:t>(...</a:t>
            </a:r>
            <a:r>
              <a:rPr lang="ar-SA" sz="2200" b="0" dirty="0">
                <a:cs typeface="B Nazanin" panose="00000400000000000000" pitchFamily="2" charset="-78"/>
              </a:rPr>
              <a:t> و چه به صورت موضعی در چشم بکار بروند باعث اختلال دید در شب می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شود</a:t>
            </a:r>
            <a:r>
              <a:rPr lang="en-US" sz="2200" b="0" dirty="0">
                <a:cs typeface="B Nazanin" panose="00000400000000000000" pitchFamily="2" charset="-78"/>
              </a:rPr>
              <a:t>. </a:t>
            </a:r>
            <a:r>
              <a:rPr lang="ar-SA" sz="2200" b="0" dirty="0">
                <a:cs typeface="B Nazanin" panose="00000400000000000000" pitchFamily="2" charset="-78"/>
              </a:rPr>
              <a:t>لذا یکی از ایرادات داروهایی مثل کارباکول این است که در نور کم فرد توانایی دید را از دست می دهد که البته این اثر دائمی نبوده و با تمام شدن اثر دارو رفع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می شود</a:t>
            </a:r>
            <a:br>
              <a:rPr lang="fa-IR" sz="2200" b="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 </a:t>
            </a:r>
            <a:r>
              <a:rPr lang="ar-SA" sz="2700" dirty="0">
                <a:cs typeface="B Nazanin" panose="00000400000000000000" pitchFamily="2" charset="-78"/>
              </a:rPr>
              <a:t>متاکولین، موسکارین و نیکوتین</a:t>
            </a:r>
            <a:r>
              <a:rPr lang="en-US" sz="2700" dirty="0">
                <a:cs typeface="B Nazanin" panose="00000400000000000000" pitchFamily="2" charset="-78"/>
              </a:rPr>
              <a:t>: </a:t>
            </a:r>
            <a:br>
              <a:rPr lang="fa-IR" sz="270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داروهای کلینیکال نیستند و به صورت بالینی استفاده نمی شوند و</a:t>
            </a:r>
            <a:r>
              <a:rPr lang="fa-IR" sz="2200" b="0" dirty="0">
                <a:cs typeface="B Nazanin" panose="00000400000000000000" pitchFamily="2" charset="-78"/>
              </a:rPr>
              <a:t> </a:t>
            </a:r>
            <a:r>
              <a:rPr lang="ar-SA" sz="2200" b="0" dirty="0">
                <a:cs typeface="B Nazanin" panose="00000400000000000000" pitchFamily="2" charset="-78"/>
              </a:rPr>
              <a:t>فقط کاربرد تحقیقاتی دارند</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 </a:t>
            </a:r>
            <a:r>
              <a:rPr lang="ar-SA" sz="2700" dirty="0">
                <a:cs typeface="B Nazanin" panose="00000400000000000000" pitchFamily="2" charset="-78"/>
              </a:rPr>
              <a:t>پیلوکارپین</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از داروهای پاراسمپاتومیمتیک‌ها (کولینرژیک‌ها) است که اثر اصلی آن تحریک گیرنده‌های موسکارینی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اشکال دارویی: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قطره چشمی (متداول‌ترین شکل دارو) معمولاً به صورت 1٪، 2٪، 3٪ یا 4٪ موجود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ژل چشمی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قرص خوراکی (مثل </a:t>
            </a:r>
            <a:r>
              <a:rPr lang="en-US" sz="2200" b="0" dirty="0" err="1">
                <a:cs typeface="B Nazanin" panose="00000400000000000000" pitchFamily="2" charset="-78"/>
              </a:rPr>
              <a:t>Salagen</a:t>
            </a:r>
            <a:r>
              <a:rPr lang="en-US" sz="2200" b="0" dirty="0">
                <a:cs typeface="B Nazanin" panose="00000400000000000000" pitchFamily="2" charset="-78"/>
              </a:rPr>
              <a:t>®</a:t>
            </a:r>
            <a:r>
              <a:rPr lang="fa-IR" sz="2200" b="0" dirty="0">
                <a:cs typeface="B Nazanin" panose="00000400000000000000" pitchFamily="2" charset="-78"/>
              </a:rPr>
              <a:t>)  معمولاً قرص های 5 میلی گرم که برای تحریک ترشحات بزاق استفاده می شود</a:t>
            </a:r>
            <a:br>
              <a:rPr lang="en-US" dirty="0"/>
            </a:br>
            <a:br>
              <a:rPr lang="fa-IR" sz="2200" b="0" dirty="0">
                <a:cs typeface="B Nazanin" panose="00000400000000000000" pitchFamily="2" charset="-78"/>
              </a:rPr>
            </a:b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1937760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1EB3D-E24C-FC6A-194E-38951D0E169D}"/>
              </a:ext>
            </a:extLst>
          </p:cNvPr>
          <p:cNvSpPr>
            <a:spLocks noGrp="1"/>
          </p:cNvSpPr>
          <p:nvPr>
            <p:ph type="title"/>
          </p:nvPr>
        </p:nvSpPr>
        <p:spPr>
          <a:xfrm>
            <a:off x="603250" y="539750"/>
            <a:ext cx="10985500" cy="374650"/>
          </a:xfrm>
        </p:spPr>
        <p:txBody>
          <a:bodyPr>
            <a:noAutofit/>
          </a:bodyPr>
          <a:lstStyle/>
          <a:p>
            <a:pPr algn="r" rtl="1"/>
            <a:r>
              <a:rPr lang="fa-IR" sz="2000" dirty="0">
                <a:cs typeface="B Nazanin" panose="00000400000000000000" pitchFamily="2" charset="-78"/>
              </a:rPr>
              <a:t>کاربرد دارویی: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قطره چشمی در چشم خاصیت میوتیک دارد و در درمان گلوکوم با زاویه بسته استفاده می شود همچنین در موارد اورژانسی گلوکوم هم به کار می رود</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 </a:t>
            </a:r>
            <a:r>
              <a:rPr lang="ar-SA" sz="2000" b="0" dirty="0">
                <a:cs typeface="B Nazanin" panose="00000400000000000000" pitchFamily="2" charset="-78"/>
              </a:rPr>
              <a:t>یکی از قوی ترین محرک ها برای افزایش تولید اشک در چشم است</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در درمان خشکی دهان </a:t>
            </a:r>
            <a:r>
              <a:rPr lang="en-US" sz="2000" b="0" dirty="0">
                <a:cs typeface="B Nazanin" panose="00000400000000000000" pitchFamily="2" charset="-78"/>
              </a:rPr>
              <a:t>Xerostomia):</a:t>
            </a:r>
            <a:r>
              <a:rPr lang="fa-IR" sz="2000" b="0" dirty="0">
                <a:cs typeface="B Nazanin" panose="00000400000000000000" pitchFamily="2" charset="-78"/>
              </a:rPr>
              <a:t>): در بیماران مبتلا به سندرم شوگرن یا خشکی دهان ناشی از رادیوتراپی سر و گردن</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به شکل قرص خوراکی استفاده می‌شود تا ترشح بزاق را افزایش دهد.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عوارض جانبی مهم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موضعی (در مصرف چشمی): تاری دید به‌ویژه در شب (به علت میوزیس)، درد چشم یا سردرد اطراف چشم (به علت اسپاسم عضله مژگانی)، اشک‌ریزش یا سوزش</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احتمال بروز نزدیک‌بینی گذرا،  خطر جداشدگی شبکیه (نادر، ولی مهم)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سیستمی (در مصرف خوراکی یا جذب زیاد از چشم): تعریق زیاد،  تهوع، استفراغ، اسهال، تکرر ادرار ، اسپاسم شکمی، افت فشار خون و برادی‌کاردی،  تنگی نفس</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در بیماران مبتلا به آسم یا </a:t>
            </a:r>
            <a:r>
              <a:rPr lang="en-US" sz="2000" b="0" dirty="0">
                <a:cs typeface="B Nazanin" panose="00000400000000000000" pitchFamily="2" charset="-78"/>
              </a:rPr>
              <a:t>COPD</a:t>
            </a:r>
            <a:br>
              <a:rPr lang="fa-IR" sz="2000" b="0" dirty="0">
                <a:cs typeface="B Nazanin" panose="00000400000000000000" pitchFamily="2" charset="-78"/>
              </a:rPr>
            </a:br>
            <a:endParaRPr lang="en-US" sz="2000" dirty="0">
              <a:cs typeface="B Nazanin" panose="00000400000000000000" pitchFamily="2" charset="-78"/>
            </a:endParaRPr>
          </a:p>
        </p:txBody>
      </p:sp>
    </p:spTree>
    <p:extLst>
      <p:ext uri="{BB962C8B-B14F-4D97-AF65-F5344CB8AC3E}">
        <p14:creationId xmlns:p14="http://schemas.microsoft.com/office/powerpoint/2010/main" val="1084301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A991-0B77-0EF3-14B5-FC805DE0B78B}"/>
              </a:ext>
            </a:extLst>
          </p:cNvPr>
          <p:cNvSpPr>
            <a:spLocks noGrp="1"/>
          </p:cNvSpPr>
          <p:nvPr>
            <p:ph type="title"/>
          </p:nvPr>
        </p:nvSpPr>
        <p:spPr>
          <a:xfrm>
            <a:off x="603250" y="108284"/>
            <a:ext cx="10985500" cy="385011"/>
          </a:xfrm>
        </p:spPr>
        <p:txBody>
          <a:bodyPr>
            <a:normAutofit fontScale="90000"/>
          </a:bodyPr>
          <a:lstStyle/>
          <a:p>
            <a:pPr algn="r" rtl="1"/>
            <a:r>
              <a:rPr lang="fa-IR" sz="2400" dirty="0">
                <a:cs typeface="B Nazanin" panose="00000400000000000000" pitchFamily="2" charset="-78"/>
              </a:rPr>
              <a:t>. وارنیکلین :</a:t>
            </a:r>
            <a:br>
              <a:rPr lang="fa-IR" sz="2400" dirty="0">
                <a:cs typeface="B Nazanin" panose="00000400000000000000" pitchFamily="2" charset="-78"/>
              </a:rPr>
            </a:br>
            <a:br>
              <a:rPr lang="fa-IR" sz="2400" dirty="0">
                <a:cs typeface="B Nazanin" panose="00000400000000000000" pitchFamily="2" charset="-78"/>
              </a:rPr>
            </a:br>
            <a:r>
              <a:rPr lang="ar-SA" sz="2200" b="0" dirty="0">
                <a:cs typeface="B Nazanin" panose="00000400000000000000" pitchFamily="2" charset="-78"/>
              </a:rPr>
              <a:t>آگونیست نسبی گیرنده های نیکوتینی است و کاربردش در ترک سیگار</a:t>
            </a:r>
            <a:r>
              <a:rPr lang="fa-IR" sz="2200" b="0" dirty="0">
                <a:cs typeface="B Nazanin" panose="00000400000000000000" pitchFamily="2" charset="-78"/>
              </a:rPr>
              <a:t> </a:t>
            </a:r>
            <a:r>
              <a:rPr lang="ar-SA" sz="2200" b="0" dirty="0">
                <a:cs typeface="B Nazanin" panose="00000400000000000000" pitchFamily="2" charset="-78"/>
              </a:rPr>
              <a:t>است </a:t>
            </a:r>
            <a:r>
              <a:rPr lang="en-US" sz="2200" b="0" dirty="0">
                <a:cs typeface="B Nazanin" panose="00000400000000000000" pitchFamily="2" charset="-78"/>
              </a:rPr>
              <a:t>) </a:t>
            </a:r>
            <a:r>
              <a:rPr lang="ar-SA" sz="2200" b="0" dirty="0">
                <a:cs typeface="B Nazanin" panose="00000400000000000000" pitchFamily="2" charset="-78"/>
              </a:rPr>
              <a:t>داروی کمکی در ترک دخانیات</a:t>
            </a:r>
            <a:r>
              <a:rPr lang="en-US" sz="2200" b="0" dirty="0">
                <a:cs typeface="B Nazanin" panose="00000400000000000000" pitchFamily="2" charset="-78"/>
              </a:rPr>
              <a:t>(</a:t>
            </a:r>
            <a:r>
              <a:rPr lang="ar-SA" sz="2200" b="0" dirty="0">
                <a:cs typeface="B Nazanin" panose="00000400000000000000" pitchFamily="2" charset="-78"/>
              </a:rPr>
              <a:t>  ترک اعتیاد به دخانیات بدون کمک گرفتن از</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داروها تقریبا غیرممکن است</a:t>
            </a:r>
            <a:r>
              <a:rPr lang="fa-IR" sz="2200" b="0" dirty="0">
                <a:cs typeface="B Nazanin" panose="00000400000000000000" pitchFamily="2" charset="-78"/>
              </a:rPr>
              <a:t>.</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اشکال دارویی:  قرص خوراکی </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معمولاً در دوزهای 0.5 </a:t>
            </a:r>
            <a:r>
              <a:rPr lang="en-US" sz="2200" b="0" dirty="0">
                <a:cs typeface="B Nazanin" panose="00000400000000000000" pitchFamily="2" charset="-78"/>
              </a:rPr>
              <a:t>mg </a:t>
            </a:r>
            <a:r>
              <a:rPr lang="fa-IR" sz="2200" b="0" dirty="0">
                <a:cs typeface="B Nazanin" panose="00000400000000000000" pitchFamily="2" charset="-78"/>
              </a:rPr>
              <a:t>و 1 </a:t>
            </a:r>
            <a:r>
              <a:rPr lang="en-US" sz="2200" b="0" dirty="0">
                <a:cs typeface="B Nazanin" panose="00000400000000000000" pitchFamily="2" charset="-78"/>
              </a:rPr>
              <a:t>mg </a:t>
            </a:r>
            <a:r>
              <a:rPr lang="fa-IR" sz="2200" b="0" dirty="0">
                <a:cs typeface="B Nazanin" panose="00000400000000000000" pitchFamily="2" charset="-78"/>
              </a:rPr>
              <a:t>در دسترس است.</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نحوه مصرف معمول</a:t>
            </a:r>
            <a:br>
              <a:rPr lang="fa-IR" sz="22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درمان معمولاً ۱ هفته قبل از تاریخ ترک سیگار شروع می‌شود.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دوزبندی رایج:</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روز 1–3: 0.5 </a:t>
            </a:r>
            <a:r>
              <a:rPr lang="en-US" sz="2200" b="0" dirty="0">
                <a:cs typeface="B Nazanin" panose="00000400000000000000" pitchFamily="2" charset="-78"/>
              </a:rPr>
              <a:t>mg </a:t>
            </a:r>
            <a:r>
              <a:rPr lang="fa-IR" sz="2200" b="0" dirty="0">
                <a:cs typeface="B Nazanin" panose="00000400000000000000" pitchFamily="2" charset="-78"/>
              </a:rPr>
              <a:t>یک بار در روز</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روز 4–7: 0.5 </a:t>
            </a:r>
            <a:r>
              <a:rPr lang="en-US" sz="2200" b="0" dirty="0">
                <a:cs typeface="B Nazanin" panose="00000400000000000000" pitchFamily="2" charset="-78"/>
              </a:rPr>
              <a:t>mg </a:t>
            </a:r>
            <a:r>
              <a:rPr lang="fa-IR" sz="2200" b="0" dirty="0">
                <a:cs typeface="B Nazanin" panose="00000400000000000000" pitchFamily="2" charset="-78"/>
              </a:rPr>
              <a:t>دو بار در روز</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از روز 8 به بعد: 1 </a:t>
            </a:r>
            <a:r>
              <a:rPr lang="en-US" sz="2200" b="0" dirty="0">
                <a:cs typeface="B Nazanin" panose="00000400000000000000" pitchFamily="2" charset="-78"/>
              </a:rPr>
              <a:t>mg </a:t>
            </a:r>
            <a:r>
              <a:rPr lang="fa-IR" sz="2200" b="0" dirty="0">
                <a:cs typeface="B Nazanin" panose="00000400000000000000" pitchFamily="2" charset="-78"/>
              </a:rPr>
              <a:t>دو بار در روز (برای 12 هفته)</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 صورت نیاز، درمان می‌تواند تا 24 هفته ادامه یاب</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اسپری بینی وارنیکلین برای خشکی چشم استفاده میشه و این مورد مصرف توسط </a:t>
            </a:r>
            <a:r>
              <a:rPr lang="en-US" sz="2200" b="0" dirty="0">
                <a:cs typeface="B Nazanin" panose="00000400000000000000" pitchFamily="2" charset="-78"/>
              </a:rPr>
              <a:t>FDA </a:t>
            </a:r>
            <a:r>
              <a:rPr lang="fa-IR" sz="2200" b="0" dirty="0">
                <a:cs typeface="B Nazanin" panose="00000400000000000000" pitchFamily="2" charset="-78"/>
              </a:rPr>
              <a:t> آمریکا تایید شده است ولی در ایران موجود نیست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a:t>
            </a:r>
            <a:br>
              <a:rPr lang="fa-IR" sz="2200" b="0" dirty="0">
                <a:cs typeface="B Nazanin" panose="00000400000000000000" pitchFamily="2" charset="-78"/>
              </a:rPr>
            </a:br>
            <a:br>
              <a:rPr lang="fa-IR" sz="2200" b="0" dirty="0">
                <a:cs typeface="B Nazanin" panose="00000400000000000000" pitchFamily="2" charset="-78"/>
              </a:rPr>
            </a:br>
            <a:br>
              <a:rPr lang="en-US" dirty="0"/>
            </a:br>
            <a:br>
              <a:rPr lang="fa-IR" sz="2200" b="0" dirty="0">
                <a:cs typeface="B Nazanin" panose="00000400000000000000" pitchFamily="2" charset="-78"/>
              </a:rPr>
            </a:br>
            <a:br>
              <a:rPr lang="en-US" dirty="0"/>
            </a:br>
            <a:endParaRPr lang="en-US" sz="2400" dirty="0">
              <a:cs typeface="B Nazanin" panose="00000400000000000000" pitchFamily="2" charset="-78"/>
            </a:endParaRPr>
          </a:p>
        </p:txBody>
      </p:sp>
      <p:pic>
        <p:nvPicPr>
          <p:cNvPr id="4" name="Picture 3">
            <a:extLst>
              <a:ext uri="{FF2B5EF4-FFF2-40B4-BE49-F238E27FC236}">
                <a16:creationId xmlns:a16="http://schemas.microsoft.com/office/drawing/2014/main" id="{0F651B5D-D206-C8B2-DE1C-C82577E816DB}"/>
              </a:ext>
            </a:extLst>
          </p:cNvPr>
          <p:cNvPicPr>
            <a:picLocks noChangeAspect="1"/>
          </p:cNvPicPr>
          <p:nvPr/>
        </p:nvPicPr>
        <p:blipFill>
          <a:blip r:embed="rId2"/>
          <a:stretch>
            <a:fillRect/>
          </a:stretch>
        </p:blipFill>
        <p:spPr>
          <a:xfrm>
            <a:off x="192506" y="2911642"/>
            <a:ext cx="2418347" cy="2298032"/>
          </a:xfrm>
          <a:prstGeom prst="rect">
            <a:avLst/>
          </a:prstGeom>
        </p:spPr>
      </p:pic>
      <p:pic>
        <p:nvPicPr>
          <p:cNvPr id="6" name="Picture 5">
            <a:extLst>
              <a:ext uri="{FF2B5EF4-FFF2-40B4-BE49-F238E27FC236}">
                <a16:creationId xmlns:a16="http://schemas.microsoft.com/office/drawing/2014/main" id="{8894502C-7AFC-4DDF-51E3-DC304EACE735}"/>
              </a:ext>
            </a:extLst>
          </p:cNvPr>
          <p:cNvPicPr>
            <a:picLocks noChangeAspect="1"/>
          </p:cNvPicPr>
          <p:nvPr/>
        </p:nvPicPr>
        <p:blipFill>
          <a:blip r:embed="rId3"/>
          <a:stretch>
            <a:fillRect/>
          </a:stretch>
        </p:blipFill>
        <p:spPr>
          <a:xfrm>
            <a:off x="2947737" y="2911642"/>
            <a:ext cx="2930215" cy="2298032"/>
          </a:xfrm>
          <a:prstGeom prst="rect">
            <a:avLst/>
          </a:prstGeom>
        </p:spPr>
      </p:pic>
    </p:spTree>
    <p:extLst>
      <p:ext uri="{BB962C8B-B14F-4D97-AF65-F5344CB8AC3E}">
        <p14:creationId xmlns:p14="http://schemas.microsoft.com/office/powerpoint/2010/main" val="1557354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7E06-033C-3579-2210-9B5DCA55B5DC}"/>
              </a:ext>
            </a:extLst>
          </p:cNvPr>
          <p:cNvSpPr>
            <a:spLocks noGrp="1"/>
          </p:cNvSpPr>
          <p:nvPr>
            <p:ph type="title"/>
          </p:nvPr>
        </p:nvSpPr>
        <p:spPr>
          <a:xfrm>
            <a:off x="603250" y="108285"/>
            <a:ext cx="10985500" cy="433136"/>
          </a:xfrm>
        </p:spPr>
        <p:txBody>
          <a:bodyPr>
            <a:noAutofit/>
          </a:bodyPr>
          <a:lstStyle/>
          <a:p>
            <a:pPr algn="r" rtl="1"/>
            <a:r>
              <a:rPr lang="fa-IR" sz="2400" dirty="0">
                <a:cs typeface="B Nazanin" panose="00000400000000000000" pitchFamily="2" charset="-78"/>
              </a:rPr>
              <a:t>. فیزوستگمین :</a:t>
            </a:r>
            <a:br>
              <a:rPr lang="fa-IR" sz="2400" dirty="0">
                <a:cs typeface="B Nazanin" panose="00000400000000000000" pitchFamily="2" charset="-78"/>
              </a:rPr>
            </a:br>
            <a:br>
              <a:rPr lang="fa-IR" sz="2400" dirty="0">
                <a:cs typeface="B Nazanin" panose="00000400000000000000" pitchFamily="2" charset="-78"/>
              </a:rPr>
            </a:br>
            <a:r>
              <a:rPr lang="fa-IR" sz="2000" b="0" dirty="0">
                <a:cs typeface="B Nazanin" panose="00000400000000000000" pitchFamily="2" charset="-78"/>
              </a:rPr>
              <a:t>داروی فیزوستیگمین یک مهارکننده‌ی برگشت‌پذیر آنزیم استیل‌کولین‌استراز است و در دسته‌ی داروهای کولینرژیک قرار می‌گیرد. </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اشکال دارویی</a:t>
            </a:r>
            <a:br>
              <a:rPr lang="fa-IR" sz="200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محلول تزریقی </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.فرم خوراکی یا قرص به ندرت استفاده می‌شود و در بازار ایران معمولاً فقط فرم تزریقی موجود است</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کاربردهای درمانی (موارد مصرف)</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درمان مسمومیت با داروهای آنتی‌کولینرژیک یا آنتی‌هیستامینیک مثل: آتروپین،، دیفن‌هیدرامین، تری‌سایکلین‌ها.( در این موارد فیزوستیگمین داروی انتخابی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است.)</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.درمان افت موقتی سطح هوشیاری ناشی از آنتی‌کولینرژیک‌ها</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.گاهی به‌صورت موضعی در درمان گلوکوم (آب‌سیاه چشم)</a:t>
            </a:r>
            <a:br>
              <a:rPr lang="fa-IR" sz="20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عوارض جانبی مهم: </a:t>
            </a:r>
            <a:br>
              <a:rPr lang="fa-IR" sz="200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به‌دلیل افزایش فعالیت کولینرژیک (افزایش استیل‌کولین):</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برادی‌کاردی (کندی ضربان قلب)، افت فشار خون، تشنج (در صورت مصرف زیاد)،افزایش ترشحات بزاق و برونش،تعریق زیاد،تهوع، استفراغ،  اسهال، کرامپ شکمی</a:t>
            </a:r>
            <a:br>
              <a:rPr lang="fa-IR" sz="2000" b="0" dirty="0">
                <a:cs typeface="B Nazanin" panose="00000400000000000000" pitchFamily="2" charset="-78"/>
              </a:rPr>
            </a:br>
            <a:r>
              <a:rPr lang="fa-IR" sz="2000" b="0" dirty="0">
                <a:cs typeface="B Nazanin" panose="00000400000000000000" pitchFamily="2" charset="-78"/>
              </a:rPr>
              <a:t>برونکواسپاسم، بلاک قلبی یا ایست قلبی (در دوز بالا یا تزریق سریع)</a:t>
            </a:r>
            <a:endParaRPr lang="en-US" sz="2000" b="0" dirty="0">
              <a:cs typeface="B Nazanin" panose="00000400000000000000" pitchFamily="2" charset="-78"/>
            </a:endParaRPr>
          </a:p>
        </p:txBody>
      </p:sp>
    </p:spTree>
    <p:extLst>
      <p:ext uri="{BB962C8B-B14F-4D97-AF65-F5344CB8AC3E}">
        <p14:creationId xmlns:p14="http://schemas.microsoft.com/office/powerpoint/2010/main" val="4162336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822F9-E094-5D56-735A-6580FA6CDD8D}"/>
              </a:ext>
            </a:extLst>
          </p:cNvPr>
          <p:cNvSpPr>
            <a:spLocks noGrp="1"/>
          </p:cNvSpPr>
          <p:nvPr>
            <p:ph type="title"/>
          </p:nvPr>
        </p:nvSpPr>
        <p:spPr>
          <a:xfrm>
            <a:off x="723566" y="479592"/>
            <a:ext cx="10985500" cy="482934"/>
          </a:xfrm>
        </p:spPr>
        <p:txBody>
          <a:bodyPr>
            <a:normAutofit fontScale="90000"/>
          </a:bodyPr>
          <a:lstStyle/>
          <a:p>
            <a:pPr algn="r" rtl="1"/>
            <a:r>
              <a:rPr lang="fa-IR" sz="2400" dirty="0">
                <a:cs typeface="B Nazanin" panose="00000400000000000000" pitchFamily="2" charset="-78"/>
              </a:rPr>
              <a:t>. نئوستگمین:</a:t>
            </a: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مهارکننده‌ی برگشت‌پذیر استیل‌کولین‌استراز </a:t>
            </a:r>
            <a:br>
              <a:rPr lang="en-US" sz="2400" dirty="0">
                <a:cs typeface="B Nazanin" panose="00000400000000000000" pitchFamily="2" charset="-78"/>
              </a:rPr>
            </a:br>
            <a:br>
              <a:rPr lang="fa-IR" sz="2400" dirty="0">
                <a:cs typeface="B Nazanin" panose="00000400000000000000" pitchFamily="2" charset="-78"/>
              </a:rPr>
            </a:br>
            <a:r>
              <a:rPr lang="fa-IR" sz="2200" dirty="0">
                <a:cs typeface="B Nazanin" panose="00000400000000000000" pitchFamily="2" charset="-78"/>
              </a:rPr>
              <a:t>اشکال دارویی</a:t>
            </a:r>
            <a:br>
              <a:rPr lang="fa-IR" sz="2400" dirty="0">
                <a:cs typeface="B Nazanin" panose="00000400000000000000" pitchFamily="2" charset="-78"/>
              </a:rPr>
            </a:br>
            <a:br>
              <a:rPr lang="fa-IR" sz="2400" dirty="0">
                <a:cs typeface="B Nazanin" panose="00000400000000000000" pitchFamily="2" charset="-78"/>
              </a:rPr>
            </a:br>
            <a:r>
              <a:rPr lang="fa-IR" sz="2400" dirty="0">
                <a:cs typeface="B Nazanin" panose="00000400000000000000" pitchFamily="2" charset="-78"/>
              </a:rPr>
              <a:t>.</a:t>
            </a:r>
            <a:r>
              <a:rPr lang="fa-IR" sz="2200" b="0" dirty="0">
                <a:cs typeface="B Nazanin" panose="00000400000000000000" pitchFamily="2" charset="-78"/>
              </a:rPr>
              <a:t>محلول تزریقی</a:t>
            </a:r>
            <a:br>
              <a:rPr lang="fa-IR" sz="2400" dirty="0">
                <a:cs typeface="B Nazanin" panose="00000400000000000000" pitchFamily="2" charset="-78"/>
              </a:rPr>
            </a:br>
            <a:br>
              <a:rPr lang="en-US" sz="2400" dirty="0">
                <a:cs typeface="B Nazanin" panose="00000400000000000000" pitchFamily="2" charset="-78"/>
              </a:rPr>
            </a:br>
            <a:r>
              <a:rPr lang="fa-IR" sz="2400" dirty="0">
                <a:cs typeface="B Nazanin" panose="00000400000000000000" pitchFamily="2" charset="-78"/>
              </a:rPr>
              <a:t>.</a:t>
            </a:r>
            <a:r>
              <a:rPr lang="fa-IR" sz="2200" b="0" dirty="0">
                <a:cs typeface="B Nazanin" panose="00000400000000000000" pitchFamily="2" charset="-78"/>
              </a:rPr>
              <a:t>قرص خوراکی: معمولاً قرص های  15 یا 30 میلی گرم</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کاربرد درمانی:</a:t>
            </a: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1</a:t>
            </a:r>
            <a:r>
              <a:rPr lang="fa-IR" sz="2400" dirty="0">
                <a:cs typeface="B Nazanin" panose="00000400000000000000" pitchFamily="2" charset="-78"/>
              </a:rPr>
              <a:t>.</a:t>
            </a:r>
            <a:r>
              <a:rPr lang="ar-SA" sz="2200" b="0" dirty="0">
                <a:cs typeface="B Nazanin" panose="00000400000000000000" pitchFamily="2" charset="-78"/>
              </a:rPr>
              <a:t>در درمان آتونی مثانه و روده کاربرد دارد</a:t>
            </a:r>
            <a:r>
              <a:rPr lang="en-US" sz="2200" b="0" dirty="0">
                <a:cs typeface="B Nazanin" panose="00000400000000000000" pitchFamily="2" charset="-78"/>
              </a:rPr>
              <a:t>. </a:t>
            </a:r>
            <a:r>
              <a:rPr lang="ar-SA" sz="2200" b="0" dirty="0">
                <a:cs typeface="B Nazanin" panose="00000400000000000000" pitchFamily="2" charset="-78"/>
              </a:rPr>
              <a:t>حسن این دارو نسبت به</a:t>
            </a:r>
            <a:r>
              <a:rPr lang="fa-IR" sz="2200" b="0" dirty="0">
                <a:cs typeface="B Nazanin" panose="00000400000000000000" pitchFamily="2" charset="-78"/>
              </a:rPr>
              <a:t> </a:t>
            </a:r>
            <a:r>
              <a:rPr lang="ar-SA" sz="2200" b="0" dirty="0">
                <a:cs typeface="B Nazanin" panose="00000400000000000000" pitchFamily="2" charset="-78"/>
              </a:rPr>
              <a:t>فیزوستگمین این است که دارو وارد مغز نمی 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a:t>
            </a:r>
            <a:r>
              <a:rPr lang="en-US" sz="2200" b="0" dirty="0">
                <a:cs typeface="B Nazanin" panose="00000400000000000000" pitchFamily="2" charset="-78"/>
              </a:rPr>
              <a:t>. </a:t>
            </a:r>
            <a:r>
              <a:rPr lang="ar-SA" sz="2200" b="0" dirty="0">
                <a:cs typeface="B Nazanin" panose="00000400000000000000" pitchFamily="2" charset="-78"/>
              </a:rPr>
              <a:t>به عنوان آنتی دوت در مسمومیت</a:t>
            </a:r>
            <a:r>
              <a:rPr lang="fa-IR" sz="2200" b="0" dirty="0">
                <a:cs typeface="B Nazanin" panose="00000400000000000000" pitchFamily="2" charset="-78"/>
              </a:rPr>
              <a:t> </a:t>
            </a:r>
            <a:r>
              <a:rPr lang="ar-SA" sz="2200" b="0" dirty="0">
                <a:cs typeface="B Nazanin" panose="00000400000000000000" pitchFamily="2" charset="-78"/>
              </a:rPr>
              <a:t>با داروهای شل کننده عصبی</a:t>
            </a:r>
            <a:r>
              <a:rPr lang="fa-IR" sz="2200" b="0" dirty="0">
                <a:cs typeface="B Nazanin" panose="00000400000000000000" pitchFamily="2" charset="-78"/>
              </a:rPr>
              <a:t> </a:t>
            </a:r>
            <a:r>
              <a:rPr lang="ar-SA" sz="2200" b="0" dirty="0">
                <a:cs typeface="B Nazanin" panose="00000400000000000000" pitchFamily="2" charset="-78"/>
              </a:rPr>
              <a:t>عضلانی استفاده می شود</a:t>
            </a:r>
            <a:r>
              <a:rPr lang="en-US" sz="2200" b="0" dirty="0">
                <a:cs typeface="B Nazanin" panose="00000400000000000000" pitchFamily="2" charset="-78"/>
              </a:rPr>
              <a:t>. </a:t>
            </a:r>
            <a:r>
              <a:rPr lang="fa-IR" sz="2200" b="0" dirty="0">
                <a:cs typeface="B Nazanin" panose="00000400000000000000" pitchFamily="2" charset="-78"/>
              </a:rPr>
              <a:t>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a:t>
            </a:r>
            <a:r>
              <a:rPr lang="ar-SA" sz="2200" b="0" dirty="0">
                <a:cs typeface="B Nazanin" panose="00000400000000000000" pitchFamily="2" charset="-78"/>
              </a:rPr>
              <a:t>در درمان میاستنی گراویس</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د</a:t>
            </a:r>
            <a:r>
              <a:rPr lang="ar-SA" sz="2200" b="0" dirty="0">
                <a:cs typeface="B Nazanin" panose="00000400000000000000" pitchFamily="2" charset="-78"/>
              </a:rPr>
              <a:t>اروهای شل کننده ی عصبی</a:t>
            </a:r>
            <a:r>
              <a:rPr lang="en-US" sz="2200" b="0" dirty="0">
                <a:cs typeface="B Nazanin" panose="00000400000000000000" pitchFamily="2" charset="-78"/>
              </a:rPr>
              <a:t>-</a:t>
            </a:r>
            <a:r>
              <a:rPr lang="ar-SA" sz="2200" b="0" dirty="0">
                <a:cs typeface="B Nazanin" panose="00000400000000000000" pitchFamily="2" charset="-78"/>
              </a:rPr>
              <a:t>عضلانی در جراحی های ارتوپدی کاربرد دارد و اگر اوردوز کند باعث توقف تنفس بیمار می شود که باید سریعا از نئوستگمین</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استفاده شود</a:t>
            </a:r>
            <a:br>
              <a:rPr lang="en-US" dirty="0"/>
            </a:br>
            <a:br>
              <a:rPr lang="fa-IR" dirty="0"/>
            </a:br>
            <a:br>
              <a:rPr lang="en-US" sz="2700" dirty="0">
                <a:cs typeface="B Nazanin" panose="00000400000000000000" pitchFamily="2" charset="-78"/>
              </a:rPr>
            </a:br>
            <a:br>
              <a:rPr lang="en-US" dirty="0"/>
            </a:br>
            <a:endParaRPr lang="en-US" sz="2700" dirty="0">
              <a:cs typeface="B Nazanin" panose="00000400000000000000" pitchFamily="2" charset="-78"/>
            </a:endParaRPr>
          </a:p>
        </p:txBody>
      </p:sp>
    </p:spTree>
    <p:extLst>
      <p:ext uri="{BB962C8B-B14F-4D97-AF65-F5344CB8AC3E}">
        <p14:creationId xmlns:p14="http://schemas.microsoft.com/office/powerpoint/2010/main" val="637473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F861-2216-EB37-D053-4146585B2814}"/>
              </a:ext>
            </a:extLst>
          </p:cNvPr>
          <p:cNvSpPr>
            <a:spLocks noGrp="1"/>
          </p:cNvSpPr>
          <p:nvPr>
            <p:ph type="title"/>
          </p:nvPr>
        </p:nvSpPr>
        <p:spPr>
          <a:xfrm>
            <a:off x="603250" y="204538"/>
            <a:ext cx="10985500" cy="445167"/>
          </a:xfrm>
        </p:spPr>
        <p:txBody>
          <a:bodyPr>
            <a:normAutofit fontScale="90000"/>
          </a:bodyPr>
          <a:lstStyle/>
          <a:p>
            <a:pPr algn="r" rtl="1"/>
            <a:r>
              <a:rPr lang="fa-IR" sz="2200" dirty="0">
                <a:cs typeface="B Nazanin" panose="00000400000000000000" pitchFamily="2" charset="-78"/>
              </a:rPr>
              <a:t>. </a:t>
            </a:r>
            <a:r>
              <a:rPr lang="ar-SA" sz="2700" dirty="0">
                <a:cs typeface="B Nazanin" panose="00000400000000000000" pitchFamily="2" charset="-78"/>
              </a:rPr>
              <a:t>بیماری میاستنی گراویس</a:t>
            </a:r>
            <a:r>
              <a:rPr lang="fa-IR" sz="2700" dirty="0">
                <a:cs typeface="B Nazanin" panose="00000400000000000000" pitchFamily="2" charset="-78"/>
              </a:rPr>
              <a:t>:</a:t>
            </a:r>
            <a:br>
              <a:rPr lang="fa-IR" sz="2200" dirty="0">
                <a:cs typeface="B Nazanin" panose="00000400000000000000" pitchFamily="2" charset="-78"/>
              </a:rPr>
            </a:br>
            <a:br>
              <a:rPr lang="fa-IR" sz="2200" dirty="0">
                <a:cs typeface="B Nazanin" panose="00000400000000000000" pitchFamily="2" charset="-78"/>
              </a:rPr>
            </a:br>
            <a:r>
              <a:rPr lang="ar-SA" sz="2200" b="0" dirty="0">
                <a:cs typeface="B Nazanin" panose="00000400000000000000" pitchFamily="2" charset="-78"/>
              </a:rPr>
              <a:t>ببیماری میاستنی گراویس</a:t>
            </a:r>
            <a:r>
              <a:rPr lang="en-US" sz="2200" b="0" dirty="0">
                <a:cs typeface="B Nazanin" panose="00000400000000000000" pitchFamily="2" charset="-78"/>
              </a:rPr>
              <a:t>Myasthenia Gravis) </a:t>
            </a:r>
            <a:r>
              <a:rPr lang="fa-IR" sz="2200" b="0" dirty="0">
                <a:cs typeface="B Nazanin" panose="00000400000000000000" pitchFamily="2" charset="-78"/>
              </a:rPr>
              <a:t>) </a:t>
            </a:r>
            <a:r>
              <a:rPr lang="ar-SA" sz="2200" b="0" dirty="0">
                <a:cs typeface="B Nazanin" panose="00000400000000000000" pitchFamily="2" charset="-78"/>
              </a:rPr>
              <a:t>یک بیماری خودایمنی مزمن است که باعث ضعف و خستگی عضلات ارادی (یعنی عضلاتی که تحت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کنترل ارادی ما هستند) می‌شود. </a:t>
            </a:r>
            <a:br>
              <a:rPr lang="fa-IR" sz="2200" b="0" dirty="0">
                <a:cs typeface="B Nazanin" panose="00000400000000000000" pitchFamily="2" charset="-78"/>
              </a:rPr>
            </a:br>
            <a:br>
              <a:rPr lang="fa-IR" sz="2200" dirty="0">
                <a:cs typeface="B Nazanin" panose="00000400000000000000" pitchFamily="2" charset="-78"/>
              </a:rPr>
            </a:br>
            <a:r>
              <a:rPr lang="ar-SA" sz="2200" dirty="0">
                <a:cs typeface="B Nazanin" panose="00000400000000000000" pitchFamily="2" charset="-78"/>
              </a:rPr>
              <a:t>مکانیسم (علت اصلی بیماری)</a:t>
            </a:r>
            <a:r>
              <a:rPr lang="fa-IR" sz="2200" dirty="0">
                <a:cs typeface="B Nazanin" panose="00000400000000000000" pitchFamily="2" charset="-78"/>
              </a:rPr>
              <a:t>:</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در حالت طبیعی، پیام‌های عصبی از طریق ماده‌ای به نام استیل‌کولین از عصب به عضله منتقل می‌شوند تا عضله منقبض شود.</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در میاستنی گراویس:</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سیستم ایمنی بدن به اشتباه آنتی‌بادی‌هایی علیه گیرنده‌های استیل‌کولین در سطح عضله تولید می‌کند.</a:t>
            </a:r>
            <a:r>
              <a:rPr lang="fa-IR" sz="2200" b="0" dirty="0">
                <a:cs typeface="B Nazanin" panose="00000400000000000000" pitchFamily="2" charset="-78"/>
              </a:rPr>
              <a:t> </a:t>
            </a:r>
            <a:r>
              <a:rPr lang="ar-SA" sz="2200" b="0" dirty="0">
                <a:cs typeface="B Nazanin" panose="00000400000000000000" pitchFamily="2" charset="-78"/>
              </a:rPr>
              <a:t>این آنتی‌بادی‌ها گیرنده‌ها را تخریب یا مسدود می‌کنند.</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در نتیجه، پیام عصبی به‌خوبی منتقل نمی‌شود و انقباض عضلانی دچار اختلال می‌گردد.</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علائم اصلی</a:t>
            </a:r>
            <a:r>
              <a:rPr lang="fa-IR" sz="2200" b="0" dirty="0">
                <a:cs typeface="B Nazanin" panose="00000400000000000000" pitchFamily="2" charset="-78"/>
              </a:rPr>
              <a:t>:</a:t>
            </a:r>
            <a:br>
              <a:rPr lang="ar-SA"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علائم معمولاً در طول روز با فعالیت بدتر و با استراحت بهتر می‌شوند</a:t>
            </a:r>
            <a:r>
              <a:rPr lang="fa-IR" sz="2200" b="0" dirty="0">
                <a:cs typeface="B Nazanin" panose="00000400000000000000" pitchFamily="2" charset="-78"/>
              </a:rPr>
              <a:t> </a:t>
            </a:r>
            <a:r>
              <a:rPr lang="ar-SA" sz="2200" b="0" dirty="0">
                <a:cs typeface="B Nazanin" panose="00000400000000000000" pitchFamily="2" charset="-78"/>
              </a:rPr>
              <a:t>این مشکل ابتدا از عضلات کوچک مثل عضلات پلک شروع می شود یعنی پلک ها خوب باز و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بسته نمی شوند سپس عضلات بزرگ را درگیر می کند</a:t>
            </a:r>
            <a:br>
              <a:rPr lang="fa-IR" sz="2200" b="0" dirty="0">
                <a:cs typeface="B Nazanin" panose="00000400000000000000" pitchFamily="2" charset="-78"/>
              </a:rPr>
            </a:br>
            <a:br>
              <a:rPr lang="en-US" sz="2200" dirty="0">
                <a:cs typeface="B Nazanin" panose="00000400000000000000" pitchFamily="2" charset="-78"/>
              </a:rPr>
            </a:br>
            <a:r>
              <a:rPr lang="fa-IR" sz="2200" b="0" dirty="0">
                <a:cs typeface="B Nazanin" panose="00000400000000000000" pitchFamily="2" charset="-78"/>
              </a:rPr>
              <a:t>. </a:t>
            </a:r>
            <a:r>
              <a:rPr lang="ar-SA" sz="2200" b="0" dirty="0">
                <a:cs typeface="B Nazanin" panose="00000400000000000000" pitchFamily="2" charset="-78"/>
              </a:rPr>
              <a:t>به این بیماران</a:t>
            </a:r>
            <a:r>
              <a:rPr lang="fa-IR" sz="2200" b="0" dirty="0">
                <a:cs typeface="B Nazanin" panose="00000400000000000000" pitchFamily="2" charset="-78"/>
              </a:rPr>
              <a:t> دو </a:t>
            </a:r>
            <a:r>
              <a:rPr lang="en-US" sz="2200" b="0" dirty="0">
                <a:cs typeface="B Nazanin" panose="00000400000000000000" pitchFamily="2" charset="-78"/>
              </a:rPr>
              <a:t> </a:t>
            </a:r>
            <a:r>
              <a:rPr lang="ar-SA" sz="2200" b="0" dirty="0">
                <a:cs typeface="B Nazanin" panose="00000400000000000000" pitchFamily="2" charset="-78"/>
              </a:rPr>
              <a:t>نوع دارو می دهند</a:t>
            </a:r>
            <a:r>
              <a:rPr lang="en-US" sz="2200" b="0" dirty="0">
                <a:cs typeface="B Nazanin" panose="00000400000000000000" pitchFamily="2" charset="-78"/>
              </a:rPr>
              <a:t>:</a:t>
            </a:r>
            <a:br>
              <a:rPr lang="en-US" sz="2200" dirty="0">
                <a:cs typeface="B Nazanin" panose="00000400000000000000" pitchFamily="2" charset="-78"/>
              </a:rPr>
            </a:br>
            <a:br>
              <a:rPr lang="fa-IR" sz="2200" dirty="0">
                <a:cs typeface="B Nazanin" panose="00000400000000000000" pitchFamily="2" charset="-78"/>
              </a:rPr>
            </a:br>
            <a:r>
              <a:rPr lang="fa-IR" sz="2200" b="0" dirty="0">
                <a:cs typeface="B Nazanin" panose="00000400000000000000" pitchFamily="2" charset="-78"/>
              </a:rPr>
              <a:t>1.</a:t>
            </a:r>
            <a:r>
              <a:rPr lang="ar-SA" sz="2200" b="0" dirty="0">
                <a:cs typeface="B Nazanin" panose="00000400000000000000" pitchFamily="2" charset="-78"/>
              </a:rPr>
              <a:t>داروی ایمیون سیستم ساپرسانت که ایمنی بدن را پایین می آورد</a:t>
            </a:r>
            <a:endParaRPr lang="en-US" dirty="0"/>
          </a:p>
        </p:txBody>
      </p:sp>
    </p:spTree>
    <p:extLst>
      <p:ext uri="{BB962C8B-B14F-4D97-AF65-F5344CB8AC3E}">
        <p14:creationId xmlns:p14="http://schemas.microsoft.com/office/powerpoint/2010/main" val="70511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4B5C-CF6B-0535-D743-160D74CB145F}"/>
              </a:ext>
            </a:extLst>
          </p:cNvPr>
          <p:cNvSpPr>
            <a:spLocks noGrp="1"/>
          </p:cNvSpPr>
          <p:nvPr>
            <p:ph type="title"/>
          </p:nvPr>
        </p:nvSpPr>
        <p:spPr>
          <a:xfrm>
            <a:off x="603250" y="539750"/>
            <a:ext cx="10985500" cy="1048418"/>
          </a:xfrm>
        </p:spPr>
        <p:txBody>
          <a:bodyPr>
            <a:normAutofit fontScale="90000"/>
          </a:bodyPr>
          <a:lstStyle/>
          <a:p>
            <a:pPr algn="r" rtl="1"/>
            <a:r>
              <a:rPr lang="fa-IR" sz="2200" b="0" dirty="0">
                <a:cs typeface="B Nazanin" panose="00000400000000000000" pitchFamily="2" charset="-78"/>
              </a:rPr>
              <a:t>2. </a:t>
            </a:r>
            <a:r>
              <a:rPr lang="ar-SA" sz="2200" b="0" dirty="0">
                <a:cs typeface="B Nazanin" panose="00000400000000000000" pitchFamily="2" charset="-78"/>
              </a:rPr>
              <a:t>دارویی که عملکرد عصبی</a:t>
            </a:r>
            <a:r>
              <a:rPr lang="en-US" sz="2200" b="0" dirty="0">
                <a:cs typeface="B Nazanin" panose="00000400000000000000" pitchFamily="2" charset="-78"/>
              </a:rPr>
              <a:t>-</a:t>
            </a:r>
            <a:r>
              <a:rPr lang="ar-SA" sz="2200" b="0" dirty="0">
                <a:cs typeface="B Nazanin" panose="00000400000000000000" pitchFamily="2" charset="-78"/>
              </a:rPr>
              <a:t>عضلانی را تقویت کند مثلا نئوستگمین؛ چون مانع</a:t>
            </a:r>
            <a:r>
              <a:rPr lang="fa-IR" sz="2200" b="0" dirty="0">
                <a:cs typeface="B Nazanin" panose="00000400000000000000" pitchFamily="2" charset="-78"/>
              </a:rPr>
              <a:t> </a:t>
            </a:r>
            <a:r>
              <a:rPr lang="ar-SA" sz="2200" b="0" dirty="0">
                <a:cs typeface="B Nazanin" panose="00000400000000000000" pitchFamily="2" charset="-78"/>
              </a:rPr>
              <a:t>تحریک استیل کولین شده و غلظت استیل کولین در محل اتصال عصب ارادی</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و عضله مخطط افزایش پیدا می کندو عضله مخطط  را بیشتر تحریک می کند و</a:t>
            </a:r>
            <a:r>
              <a:rPr lang="fa-IR" sz="2200" b="0" dirty="0">
                <a:cs typeface="B Nazanin" panose="00000400000000000000" pitchFamily="2" charset="-78"/>
              </a:rPr>
              <a:t> </a:t>
            </a:r>
            <a:r>
              <a:rPr lang="ar-SA" sz="2200" b="0" dirty="0">
                <a:cs typeface="B Nazanin" panose="00000400000000000000" pitchFamily="2" charset="-78"/>
              </a:rPr>
              <a:t>اگر مداخله نشود تنفس قطع شده و فرد می</a:t>
            </a:r>
            <a:r>
              <a:rPr lang="fa-IR" sz="2200" b="0" dirty="0">
                <a:cs typeface="B Nazanin" panose="00000400000000000000" pitchFamily="2" charset="-78"/>
              </a:rPr>
              <a:t> میرد.</a:t>
            </a:r>
            <a:br>
              <a:rPr lang="fa-IR" sz="2200" b="0" dirty="0">
                <a:cs typeface="B Nazanin" panose="00000400000000000000" pitchFamily="2" charset="-78"/>
              </a:rPr>
            </a:br>
            <a:br>
              <a:rPr lang="fa-IR" sz="2200" b="0" dirty="0">
                <a:cs typeface="B Nazanin" panose="00000400000000000000" pitchFamily="2" charset="-78"/>
              </a:rPr>
            </a:br>
            <a:br>
              <a:rPr lang="fa-IR" sz="2200" dirty="0">
                <a:cs typeface="B Nazanin" panose="00000400000000000000" pitchFamily="2" charset="-78"/>
              </a:rPr>
            </a:br>
            <a:r>
              <a:rPr lang="fa-IR" sz="2700" dirty="0">
                <a:cs typeface="B Nazanin" panose="00000400000000000000" pitchFamily="2" charset="-78"/>
              </a:rPr>
              <a:t>. </a:t>
            </a:r>
            <a:r>
              <a:rPr lang="ar-SA" sz="2700" dirty="0">
                <a:cs typeface="B Nazanin" panose="00000400000000000000" pitchFamily="2" charset="-78"/>
              </a:rPr>
              <a:t>پریدوستگمین</a:t>
            </a:r>
            <a:r>
              <a:rPr lang="fa-IR" sz="2700" dirty="0">
                <a:cs typeface="B Nazanin" panose="00000400000000000000" pitchFamily="2" charset="-78"/>
              </a:rPr>
              <a:t>:</a:t>
            </a:r>
            <a:br>
              <a:rPr lang="en-US" sz="270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مهارکننده‌های آنزیم استیل‌کولین‌استراز است</a:t>
            </a:r>
            <a:r>
              <a:rPr lang="en-US" sz="2700" b="0" dirty="0">
                <a:cs typeface="B Nazanin" panose="00000400000000000000" pitchFamily="2" charset="-78"/>
              </a:rPr>
              <a:t> </a:t>
            </a:r>
            <a:r>
              <a:rPr lang="fa-IR" sz="2200" b="0" dirty="0">
                <a:cs typeface="B Nazanin" panose="00000400000000000000" pitchFamily="2" charset="-78"/>
              </a:rPr>
              <a:t>مانند دو داروی قبل اثر می کند با این تفاوت که طول اثرش زیاد تر است. طول اثر فیزوستگمین و نئوستگمین 4 </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ساعت است اما طول اثر </a:t>
            </a:r>
            <a:r>
              <a:rPr lang="ar-SA" sz="2200" b="0" dirty="0">
                <a:cs typeface="B Nazanin" panose="00000400000000000000" pitchFamily="2" charset="-78"/>
              </a:rPr>
              <a:t>پریدوستگمین</a:t>
            </a:r>
            <a:r>
              <a:rPr lang="fa-IR" sz="2200" b="0" dirty="0">
                <a:cs typeface="B Nazanin" panose="00000400000000000000" pitchFamily="2" charset="-78"/>
              </a:rPr>
              <a:t> 8 ساعت است</a:t>
            </a:r>
            <a:br>
              <a:rPr lang="en-US" sz="2200" b="0" dirty="0">
                <a:cs typeface="B Nazanin" panose="00000400000000000000" pitchFamily="2" charset="-78"/>
              </a:rPr>
            </a:br>
            <a:br>
              <a:rPr lang="en-US" sz="2200" dirty="0">
                <a:cs typeface="B Nazanin" panose="00000400000000000000" pitchFamily="2" charset="-78"/>
              </a:rPr>
            </a:br>
            <a:r>
              <a:rPr lang="fa-IR" sz="2200" dirty="0">
                <a:cs typeface="B Nazanin" panose="00000400000000000000" pitchFamily="2" charset="-78"/>
              </a:rPr>
              <a:t>کاربرد های بالینی: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1. با مهار آنزیم استیل‌کولین‌استراز باعث افزایش غلظت استیل‌کولین در محل اتصال عصبی-عضلانی و بهبود قدرت عضلات می‌شود.( شایع ترین و اصلی ترین کاربرد در درمان میاستنی گراویس)</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 پیشگیری از اثرات گازهای عصبی (در نظامی‌ها یا شرایط خاص)</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به عنوان داروی پیشگیرنده در برابر عوامل شیمیایی مانند سارین یا سومان استفاده می‌شود.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4. درمان ایلئوس یا احتباس ادراری پس از عمل جراحی (به ندرت)</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en-US" dirty="0"/>
            </a:br>
            <a:br>
              <a:rPr lang="en-US" sz="2200" b="0" dirty="0">
                <a:cs typeface="B Nazanin" panose="00000400000000000000" pitchFamily="2" charset="-78"/>
              </a:rPr>
            </a:br>
            <a:br>
              <a:rPr lang="ar-SA" sz="2200" b="0" dirty="0">
                <a:cs typeface="B Nazanin" panose="00000400000000000000" pitchFamily="2" charset="-78"/>
              </a:rPr>
            </a:br>
            <a:br>
              <a:rPr lang="en-US" sz="2200" b="0" dirty="0">
                <a:cs typeface="B Nazanin" panose="00000400000000000000" pitchFamily="2" charset="-78"/>
              </a:rPr>
            </a:br>
            <a:br>
              <a:rPr lang="en-US" sz="2200" b="0" dirty="0">
                <a:cs typeface="B Nazanin" panose="00000400000000000000" pitchFamily="2" charset="-78"/>
              </a:rPr>
            </a:br>
            <a:endParaRPr lang="en-US" dirty="0"/>
          </a:p>
        </p:txBody>
      </p:sp>
    </p:spTree>
    <p:extLst>
      <p:ext uri="{BB962C8B-B14F-4D97-AF65-F5344CB8AC3E}">
        <p14:creationId xmlns:p14="http://schemas.microsoft.com/office/powerpoint/2010/main" val="1847158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A7D0-F11F-6F94-B67C-6B55B62C5806}"/>
              </a:ext>
            </a:extLst>
          </p:cNvPr>
          <p:cNvSpPr>
            <a:spLocks noGrp="1"/>
          </p:cNvSpPr>
          <p:nvPr>
            <p:ph type="title"/>
          </p:nvPr>
        </p:nvSpPr>
        <p:spPr>
          <a:xfrm>
            <a:off x="603250" y="312821"/>
            <a:ext cx="10985500" cy="541421"/>
          </a:xfrm>
        </p:spPr>
        <p:txBody>
          <a:bodyPr>
            <a:noAutofit/>
          </a:bodyPr>
          <a:lstStyle/>
          <a:p>
            <a:pPr algn="r" rtl="1"/>
            <a:r>
              <a:rPr lang="fa-IR" sz="2000" dirty="0">
                <a:cs typeface="B Nazanin" panose="00000400000000000000" pitchFamily="2" charset="-78"/>
              </a:rPr>
              <a:t> اشکال دارویی:</a:t>
            </a:r>
            <a:br>
              <a:rPr lang="fa-IR" sz="20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 </a:t>
            </a:r>
            <a:r>
              <a:rPr lang="fa-IR" sz="2000" b="0" dirty="0">
                <a:cs typeface="B Nazanin" panose="00000400000000000000" pitchFamily="2" charset="-78"/>
              </a:rPr>
              <a:t>قرص خوراکی: 60 میلی گرم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قرص آهسته‌رهش 180 میلی گرم</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 محلول تزریقی</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شربت خوراکی</a:t>
            </a:r>
            <a:br>
              <a:rPr lang="fa-IR" sz="2000" b="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عوارض جانبی (معروف‌ترین‌ها):</a:t>
            </a:r>
            <a:br>
              <a:rPr lang="fa-IR" sz="2000" dirty="0">
                <a:cs typeface="B Nazanin" panose="00000400000000000000" pitchFamily="2" charset="-78"/>
              </a:rPr>
            </a:br>
            <a:br>
              <a:rPr lang="fa-IR" sz="2000" dirty="0">
                <a:cs typeface="B Nazanin" panose="00000400000000000000" pitchFamily="2" charset="-78"/>
              </a:rPr>
            </a:br>
            <a:r>
              <a:rPr lang="fa-IR" sz="2000" b="0" dirty="0">
                <a:cs typeface="B Nazanin" panose="00000400000000000000" pitchFamily="2" charset="-78"/>
              </a:rPr>
              <a:t>به علت افزایش فعالیت کولینرژیک (پاراسمپاتیک) ایجاد می‌شوند: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تهوع، استفراغ، اسهال، کرامپ شکمی، افزایش ترشحات بزاق و برونش، تعریق، میوز (تنگی مردمک)، برادی‌کاردی (کندی ضربان قلب)</a:t>
            </a:r>
            <a:br>
              <a:rPr lang="fa-IR" sz="20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 ادروفونیوم :</a:t>
            </a:r>
            <a:br>
              <a:rPr lang="fa-IR" sz="2000" dirty="0">
                <a:cs typeface="B Nazanin" panose="00000400000000000000" pitchFamily="2" charset="-78"/>
              </a:rPr>
            </a:br>
            <a:br>
              <a:rPr lang="fa-IR" sz="2000" dirty="0">
                <a:cs typeface="B Nazanin" panose="00000400000000000000" pitchFamily="2" charset="-78"/>
              </a:rPr>
            </a:br>
            <a:r>
              <a:rPr lang="fa-IR" sz="2000" b="0" dirty="0">
                <a:cs typeface="B Nazanin" panose="00000400000000000000" pitchFamily="2" charset="-78"/>
              </a:rPr>
              <a:t>ما</a:t>
            </a:r>
            <a:r>
              <a:rPr lang="ar-SA" sz="2000" b="0" dirty="0">
                <a:cs typeface="B Nazanin" panose="00000400000000000000" pitchFamily="2" charset="-78"/>
              </a:rPr>
              <a:t>نند </a:t>
            </a:r>
            <a:r>
              <a:rPr lang="fa-IR" sz="2000" b="0" dirty="0">
                <a:cs typeface="B Nazanin" panose="00000400000000000000" pitchFamily="2" charset="-78"/>
              </a:rPr>
              <a:t>3</a:t>
            </a:r>
            <a:r>
              <a:rPr lang="en-US" sz="2000" b="0" dirty="0">
                <a:cs typeface="B Nazanin" panose="00000400000000000000" pitchFamily="2" charset="-78"/>
              </a:rPr>
              <a:t> </a:t>
            </a:r>
            <a:r>
              <a:rPr lang="ar-SA" sz="2000" b="0" dirty="0">
                <a:cs typeface="B Nazanin" panose="00000400000000000000" pitchFamily="2" charset="-78"/>
              </a:rPr>
              <a:t>داروی قبلی</a:t>
            </a:r>
            <a:r>
              <a:rPr lang="fa-IR" sz="2000" b="0" dirty="0">
                <a:cs typeface="B Nazanin" panose="00000400000000000000" pitchFamily="2" charset="-78"/>
              </a:rPr>
              <a:t> </a:t>
            </a:r>
            <a:r>
              <a:rPr lang="ar-SA" sz="2000" b="0" dirty="0">
                <a:cs typeface="B Nazanin" panose="00000400000000000000" pitchFamily="2" charset="-78"/>
              </a:rPr>
              <a:t>بوده اما طول اثر آن خیلی کم </a:t>
            </a:r>
            <a:r>
              <a:rPr lang="en-US" sz="2000" b="0" dirty="0">
                <a:cs typeface="B Nazanin" panose="00000400000000000000" pitchFamily="2" charset="-78"/>
              </a:rPr>
              <a:t>20-10)</a:t>
            </a:r>
            <a:r>
              <a:rPr lang="ar-SA" sz="2000" b="0" dirty="0">
                <a:cs typeface="B Nazanin" panose="00000400000000000000" pitchFamily="2" charset="-78"/>
              </a:rPr>
              <a:t>دقیقه</a:t>
            </a:r>
            <a:r>
              <a:rPr lang="en-US" sz="2000" b="0" dirty="0">
                <a:cs typeface="B Nazanin" panose="00000400000000000000" pitchFamily="2" charset="-78"/>
              </a:rPr>
              <a:t>( </a:t>
            </a:r>
            <a:r>
              <a:rPr lang="ar-SA" sz="2000" b="0" dirty="0">
                <a:cs typeface="B Nazanin" panose="00000400000000000000" pitchFamily="2" charset="-78"/>
              </a:rPr>
              <a:t>است</a:t>
            </a:r>
            <a:r>
              <a:rPr lang="en-US" sz="2000" b="0" dirty="0">
                <a:cs typeface="B Nazanin" panose="00000400000000000000" pitchFamily="2" charset="-78"/>
              </a:rPr>
              <a:t>.</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مهارکننده برگشت‌پذیر آنزیم استیل‌کولین‌استراز است یعنی باعث می‌شود استیل‌کولین در محل اتصال عصبی-عضلانی مدت بیشتری باقی بماند و اثرش افزایش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یابد. نتیجه این اثر، تقویت انتقال عصبی در محل اتصال عصب و عضله است</a:t>
            </a:r>
            <a:endParaRPr lang="en-US" sz="2000" dirty="0">
              <a:cs typeface="B Nazanin" panose="00000400000000000000" pitchFamily="2" charset="-78"/>
            </a:endParaRPr>
          </a:p>
        </p:txBody>
      </p:sp>
      <p:pic>
        <p:nvPicPr>
          <p:cNvPr id="7" name="Picture 6">
            <a:extLst>
              <a:ext uri="{FF2B5EF4-FFF2-40B4-BE49-F238E27FC236}">
                <a16:creationId xmlns:a16="http://schemas.microsoft.com/office/drawing/2014/main" id="{161EEFDB-1B74-C11C-367A-9BECE81EC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250" y="312821"/>
            <a:ext cx="3319045" cy="2093495"/>
          </a:xfrm>
          <a:prstGeom prst="rect">
            <a:avLst/>
          </a:prstGeom>
        </p:spPr>
      </p:pic>
    </p:spTree>
    <p:extLst>
      <p:ext uri="{BB962C8B-B14F-4D97-AF65-F5344CB8AC3E}">
        <p14:creationId xmlns:p14="http://schemas.microsoft.com/office/powerpoint/2010/main" val="38408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8333B-8C75-C6BF-20B7-589B10EA9660}"/>
              </a:ext>
            </a:extLst>
          </p:cNvPr>
          <p:cNvSpPr>
            <a:spLocks noGrp="1"/>
          </p:cNvSpPr>
          <p:nvPr>
            <p:ph type="title"/>
          </p:nvPr>
        </p:nvSpPr>
        <p:spPr>
          <a:xfrm>
            <a:off x="603250" y="539750"/>
            <a:ext cx="10985500" cy="374650"/>
          </a:xfrm>
        </p:spPr>
        <p:txBody>
          <a:bodyPr>
            <a:noAutofit/>
          </a:bodyPr>
          <a:lstStyle/>
          <a:p>
            <a:pPr algn="r" rtl="1"/>
            <a:r>
              <a:rPr lang="fa-IR" sz="2000" dirty="0">
                <a:cs typeface="B Nazanin" panose="00000400000000000000" pitchFamily="2" charset="-78"/>
              </a:rPr>
              <a:t>. مکانیسم اثر</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ادفونیوم به طور موقت به آنزیم استیل‌کولین‌استراز متصل می‌شود و مانع تجزیه استیل‌کولین می‌گردد. بنابراین مقدار استیل‌کولین در سیناپس افزایش یافته و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تحریک گیرنده‌های نیکوتینی عضلات بیشتر می‌شود → افزایش قدرت عضلانی موقت</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a:t>
            </a:r>
            <a:r>
              <a:rPr lang="fa-IR" sz="2000" dirty="0">
                <a:cs typeface="B Nazanin" panose="00000400000000000000" pitchFamily="2" charset="-78"/>
              </a:rPr>
              <a:t>کاربردهای بالینی</a:t>
            </a:r>
            <a:br>
              <a:rPr lang="fa-IR" sz="2000" dirty="0">
                <a:cs typeface="B Nazanin" panose="00000400000000000000" pitchFamily="2" charset="-78"/>
              </a:rPr>
            </a:br>
            <a:r>
              <a:rPr lang="fa-IR" sz="2000" dirty="0">
                <a:cs typeface="B Nazanin" panose="00000400000000000000" pitchFamily="2" charset="-78"/>
              </a:rPr>
              <a:t> </a:t>
            </a:r>
            <a:br>
              <a:rPr lang="en-US" sz="2000" b="0" dirty="0">
                <a:cs typeface="B Nazanin" panose="00000400000000000000" pitchFamily="2" charset="-78"/>
              </a:rPr>
            </a:br>
            <a:r>
              <a:rPr lang="fa-IR" sz="2000" b="0" dirty="0">
                <a:cs typeface="B Nazanin" panose="00000400000000000000" pitchFamily="2" charset="-78"/>
              </a:rPr>
              <a:t>1.تشخیص میاستنی گراویس</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میاستنی گراویس بیماری خودایمنی است که در آن آنتی‌بادی‌ها علیه گیرنده نیکوتینی در محل اتصال عصبی-عضلانی ساخته می‌شوند → ضعف عضلانی.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تست تنسیلون </a:t>
            </a:r>
            <a:r>
              <a:rPr lang="en-US" sz="2000" b="0" dirty="0">
                <a:cs typeface="B Nazanin" panose="00000400000000000000" pitchFamily="2" charset="-78"/>
              </a:rPr>
              <a:t>(</a:t>
            </a:r>
            <a:r>
              <a:rPr lang="en-US" sz="2000" b="0" dirty="0" err="1">
                <a:cs typeface="B Nazanin" panose="00000400000000000000" pitchFamily="2" charset="-78"/>
              </a:rPr>
              <a:t>Tensilon</a:t>
            </a:r>
            <a:r>
              <a:rPr lang="en-US" sz="2000" b="0" dirty="0">
                <a:cs typeface="B Nazanin" panose="00000400000000000000" pitchFamily="2" charset="-78"/>
              </a:rPr>
              <a:t> Test):</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بیمار مقدار کمی از دارو (۲ میلی‌گرم به صورت وریدی، سپس در صورت تحمل تا ۱۰ میلی‌گرم) دریافت می‌کند.</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اگر بیمار مبتلا باشد → قدرت عضلانی (مثلاً بالا بردن پلک یا حرکت چشم) به طور چشمگیر ولی موقتی بهبود می‌یابد.</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2. تمایز بین بحران میاستنیک و بحران کولینرژیک</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گاهی در بیماران تحت درمان با داروهای مهارکننده کولین‌استراز (مثل نئوستیگمین یا پیریدوستیگمین) ضعف حاد ایجاد می‌شود.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دو احتمال وجود دارد:</a:t>
            </a:r>
            <a:br>
              <a:rPr lang="fa-IR" sz="2000" b="0" dirty="0">
                <a:cs typeface="B Nazanin" panose="00000400000000000000" pitchFamily="2" charset="-78"/>
              </a:rPr>
            </a:br>
            <a:endParaRPr lang="en-US" sz="2000" b="0" dirty="0">
              <a:cs typeface="B Nazanin" panose="00000400000000000000" pitchFamily="2" charset="-78"/>
            </a:endParaRPr>
          </a:p>
        </p:txBody>
      </p:sp>
    </p:spTree>
    <p:extLst>
      <p:ext uri="{BB962C8B-B14F-4D97-AF65-F5344CB8AC3E}">
        <p14:creationId xmlns:p14="http://schemas.microsoft.com/office/powerpoint/2010/main" val="129520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1B0C-BAC7-8232-8424-DC73D6D09AAA}"/>
              </a:ext>
            </a:extLst>
          </p:cNvPr>
          <p:cNvSpPr>
            <a:spLocks noGrp="1"/>
          </p:cNvSpPr>
          <p:nvPr>
            <p:ph type="title"/>
          </p:nvPr>
        </p:nvSpPr>
        <p:spPr/>
        <p:txBody>
          <a:bodyPr>
            <a:normAutofit fontScale="90000"/>
          </a:bodyPr>
          <a:lstStyle/>
          <a:p>
            <a:pPr algn="r" rtl="1"/>
            <a:r>
              <a:rPr lang="fa-IR" sz="2200" b="0" dirty="0">
                <a:cs typeface="B Nazanin" panose="00000400000000000000" pitchFamily="2" charset="-78"/>
              </a:rPr>
              <a:t>بحران میاستنیک: دوز دارو کم است → کمبود </a:t>
            </a:r>
            <a:r>
              <a:rPr lang="en-US" sz="2200" b="0" dirty="0" err="1">
                <a:cs typeface="B Nazanin" panose="00000400000000000000" pitchFamily="2" charset="-78"/>
              </a:rPr>
              <a:t>ACh</a:t>
            </a:r>
            <a:r>
              <a:rPr lang="en-US" sz="2200" b="0" dirty="0">
                <a:cs typeface="B Nazanin" panose="00000400000000000000" pitchFamily="2" charset="-78"/>
              </a:rPr>
              <a:t> → </a:t>
            </a:r>
            <a:r>
              <a:rPr lang="fa-IR" sz="2200" b="0" dirty="0">
                <a:cs typeface="B Nazanin" panose="00000400000000000000" pitchFamily="2" charset="-78"/>
              </a:rPr>
              <a:t>ضعف بیشتر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بحران کولینرژیک: دوز دارو زیاد است → تجمع </a:t>
            </a:r>
            <a:r>
              <a:rPr lang="en-US" sz="2200" b="0" dirty="0" err="1">
                <a:cs typeface="B Nazanin" panose="00000400000000000000" pitchFamily="2" charset="-78"/>
              </a:rPr>
              <a:t>ACh</a:t>
            </a:r>
            <a:r>
              <a:rPr lang="en-US" sz="2200" b="0" dirty="0">
                <a:cs typeface="B Nazanin" panose="00000400000000000000" pitchFamily="2" charset="-78"/>
              </a:rPr>
              <a:t> </a:t>
            </a:r>
            <a:r>
              <a:rPr lang="fa-IR" sz="2200" b="0" dirty="0">
                <a:cs typeface="B Nazanin" panose="00000400000000000000" pitchFamily="2" charset="-78"/>
              </a:rPr>
              <a:t>زیاد → گیرنده‌ها دچار خستگی و ضعف</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 این شرایط تزریق مقدار کمی ادفونیوم کمک 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بهبود علائم → بحران میاستنیک</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بدتر شدن علائم (افزایش بزاق، اشک، ضعف بیشتر) → بحران کولینرژیک</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وارونه کردن اثر شل‌کننده‌های عضلانی غیردپلاریزان (مثل پانکورونیوم، وکورونیوم، آتراکوریوم و...)</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ادفونیوم با افزایش </a:t>
            </a:r>
            <a:r>
              <a:rPr lang="en-US" sz="2200" b="0" dirty="0" err="1">
                <a:cs typeface="B Nazanin" panose="00000400000000000000" pitchFamily="2" charset="-78"/>
              </a:rPr>
              <a:t>ACh</a:t>
            </a:r>
            <a:r>
              <a:rPr lang="en-US" sz="2200" b="0" dirty="0">
                <a:cs typeface="B Nazanin" panose="00000400000000000000" pitchFamily="2" charset="-78"/>
              </a:rPr>
              <a:t> </a:t>
            </a:r>
            <a:r>
              <a:rPr lang="fa-IR" sz="2200" b="0" dirty="0">
                <a:cs typeface="B Nazanin" panose="00000400000000000000" pitchFamily="2" charset="-78"/>
              </a:rPr>
              <a:t>در محل اتصال، اثر این داروها را خنثی می‌کند</a:t>
            </a:r>
            <a:br>
              <a:rPr lang="fa-IR" sz="2200" b="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 عوارض جانبی مهم</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به دلیل تجمع بیش از حد استیل‌کولین، عوارض کولینرژیک </a:t>
            </a:r>
            <a:r>
              <a:rPr lang="en-US" sz="2200" b="0" dirty="0">
                <a:cs typeface="B Nazanin" panose="00000400000000000000" pitchFamily="2" charset="-78"/>
              </a:rPr>
              <a:t>( Parasympathomimetic) </a:t>
            </a:r>
            <a:r>
              <a:rPr lang="fa-IR" sz="2200" b="0" dirty="0">
                <a:cs typeface="B Nazanin" panose="00000400000000000000" pitchFamily="2" charset="-78"/>
              </a:rPr>
              <a:t>ایجاد می‌شوند: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برادی‌کاردی (کندی ضربان قلب)، آریتمی‌ها ، افت فشار خون ، تهوع، استفراغ، اسهال ،کرامپ‌های شکمی ،تعریق، افزایش بزاق، اشک، میوز (تنگی مردمک)</a:t>
            </a:r>
            <a:endParaRPr lang="en-US" sz="2200" dirty="0">
              <a:cs typeface="B Nazanin" panose="00000400000000000000" pitchFamily="2" charset="-78"/>
            </a:endParaRPr>
          </a:p>
        </p:txBody>
      </p:sp>
    </p:spTree>
    <p:extLst>
      <p:ext uri="{BB962C8B-B14F-4D97-AF65-F5344CB8AC3E}">
        <p14:creationId xmlns:p14="http://schemas.microsoft.com/office/powerpoint/2010/main" val="97995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189F4-1921-4E1E-5AA8-E54C04157993}"/>
              </a:ext>
            </a:extLst>
          </p:cNvPr>
          <p:cNvSpPr>
            <a:spLocks noGrp="1"/>
          </p:cNvSpPr>
          <p:nvPr>
            <p:ph type="title"/>
          </p:nvPr>
        </p:nvSpPr>
        <p:spPr>
          <a:xfrm>
            <a:off x="603250" y="539750"/>
            <a:ext cx="10947066" cy="458871"/>
          </a:xfrm>
        </p:spPr>
        <p:txBody>
          <a:bodyPr>
            <a:normAutofit fontScale="90000"/>
          </a:bodyPr>
          <a:lstStyle/>
          <a:p>
            <a:pPr algn="r" rtl="1"/>
            <a:r>
              <a:rPr lang="fa-IR" sz="2400" dirty="0">
                <a:cs typeface="B Nazanin" panose="00000400000000000000" pitchFamily="2" charset="-78"/>
              </a:rPr>
              <a:t>. </a:t>
            </a:r>
            <a:r>
              <a:rPr lang="ar-SA" sz="2400" dirty="0">
                <a:cs typeface="B Nazanin" panose="00000400000000000000" pitchFamily="2" charset="-78"/>
              </a:rPr>
              <a:t>آمبنونیوم</a:t>
            </a:r>
            <a:r>
              <a:rPr lang="en-US" sz="2400" dirty="0">
                <a:cs typeface="B Nazanin" panose="00000400000000000000" pitchFamily="2" charset="-78"/>
              </a:rPr>
              <a:t>: </a:t>
            </a:r>
            <a:br>
              <a:rPr lang="fa-IR" sz="24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مکانیسم اثر: مهار برگشت‌پذیر آنزیم استیل‌کولین‌استراز است . معمولاً به صورت قرص 10 میلی‌گرمی در بازار موجود است.</a:t>
            </a:r>
            <a:br>
              <a:rPr lang="fa-IR" sz="2400" dirty="0">
                <a:cs typeface="B Nazanin" panose="00000400000000000000" pitchFamily="2" charset="-78"/>
              </a:rPr>
            </a:br>
            <a:br>
              <a:rPr lang="fa-IR" sz="2400" dirty="0">
                <a:cs typeface="B Nazanin" panose="00000400000000000000" pitchFamily="2" charset="-78"/>
              </a:rPr>
            </a:br>
            <a:r>
              <a:rPr lang="ar-SA" sz="2200" b="0" dirty="0">
                <a:cs typeface="B Nazanin" panose="00000400000000000000" pitchFamily="2" charset="-78"/>
              </a:rPr>
              <a:t>از لحاظ ساختار شیمیایی مثل ادروفونیوم است ولی یک تفاوت دارد که  طولانی اثر است پس آمبنونیوم هم در درمان طولانی مدت میاستنی</a:t>
            </a:r>
            <a:r>
              <a:rPr lang="fa-IR" sz="2200" b="0" dirty="0">
                <a:cs typeface="B Nazanin" panose="00000400000000000000" pitchFamily="2" charset="-78"/>
              </a:rPr>
              <a:t> </a:t>
            </a:r>
            <a:r>
              <a:rPr lang="ar-SA" sz="2200" b="0" dirty="0">
                <a:cs typeface="B Nazanin" panose="00000400000000000000" pitchFamily="2" charset="-78"/>
              </a:rPr>
              <a:t>گراویس کاربرد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دارد</a:t>
            </a:r>
            <a:r>
              <a:rPr lang="en-US" sz="2200" b="0" dirty="0">
                <a:cs typeface="B Nazanin" panose="00000400000000000000" pitchFamily="2" charset="-78"/>
              </a:rPr>
              <a:t>. </a:t>
            </a:r>
            <a:r>
              <a:rPr lang="ar-SA" sz="2200" b="0" dirty="0">
                <a:cs typeface="B Nazanin" panose="00000400000000000000" pitchFamily="2" charset="-78"/>
              </a:rPr>
              <a:t>طول اثرش </a:t>
            </a:r>
            <a:r>
              <a:rPr lang="fa-IR" sz="2200" b="0" dirty="0">
                <a:cs typeface="B Nazanin" panose="00000400000000000000" pitchFamily="2" charset="-78"/>
              </a:rPr>
              <a:t>8 </a:t>
            </a:r>
            <a:r>
              <a:rPr lang="ar-SA" sz="2200" b="0" dirty="0">
                <a:cs typeface="B Nazanin" panose="00000400000000000000" pitchFamily="2" charset="-78"/>
              </a:rPr>
              <a:t>تا </a:t>
            </a:r>
            <a:r>
              <a:rPr lang="en-US" sz="2200" b="0" dirty="0">
                <a:cs typeface="B Nazanin" panose="00000400000000000000" pitchFamily="2" charset="-78"/>
              </a:rPr>
              <a:t>۶ </a:t>
            </a:r>
            <a:r>
              <a:rPr lang="ar-SA" sz="2200" b="0" dirty="0">
                <a:cs typeface="B Nazanin" panose="00000400000000000000" pitchFamily="2" charset="-78"/>
              </a:rPr>
              <a:t>ساعت است</a:t>
            </a:r>
            <a:r>
              <a:rPr lang="fa-IR" sz="2200" b="0" dirty="0">
                <a:cs typeface="B Nazanin" panose="00000400000000000000" pitchFamily="2" charset="-78"/>
              </a:rPr>
              <a:t>.</a:t>
            </a:r>
            <a:br>
              <a:rPr lang="fa-IR" sz="2200" b="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عوارض جانبی مهم (اغلب مربوط به افزایش بیش‌ازحد فعالیت کولینرژیک هستند)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تهوع، استفراغ ، اسهال یا درد شکم ،افزایش بزاق یا ترشحات بینی ،تعریق زیاد ،گرفتگی یا اسپاسم عضلانی ،افزایش اشک</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 تاکرین :</a:t>
            </a:r>
            <a:br>
              <a:rPr lang="fa-IR" sz="2700" dirty="0">
                <a:cs typeface="B Nazanin" panose="00000400000000000000" pitchFamily="2" charset="-78"/>
              </a:rPr>
            </a:br>
            <a:r>
              <a:rPr lang="fa-IR" sz="2200" dirty="0">
                <a:cs typeface="B Nazanin" panose="00000400000000000000" pitchFamily="2" charset="-78"/>
              </a:rPr>
              <a:t> </a:t>
            </a:r>
            <a:br>
              <a:rPr lang="fa-IR" sz="2200" dirty="0">
                <a:cs typeface="B Nazanin" panose="00000400000000000000" pitchFamily="2" charset="-78"/>
              </a:rPr>
            </a:br>
            <a:r>
              <a:rPr lang="fa-IR" sz="2200" dirty="0">
                <a:cs typeface="B Nazanin" panose="00000400000000000000" pitchFamily="2" charset="-78"/>
              </a:rPr>
              <a:t>اشکال دارویی</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کپسول خوراکی یا قرص خوراکی(در غلظت‌های 10، 20، 30 و 40 میلی‌گرمی)</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a:t>
            </a:r>
            <a:r>
              <a:rPr lang="fa-IR" sz="2200" b="0" dirty="0">
                <a:cs typeface="B Nazanin" panose="00000400000000000000" pitchFamily="2" charset="-78"/>
              </a:rPr>
              <a:t>تاکرین در بسیاری از کشورها به‌دلیل سمیت کبدی بالا دیگر به‌طور معمول استفاده نمی‌شود و با داروهای جدیدتر مانند دونپزیل ، ریواستیگمین و گالانتامین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جایگزین شده است.</a:t>
            </a: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 ریوارستگمین:</a:t>
            </a:r>
            <a:br>
              <a:rPr lang="en-US" dirty="0"/>
            </a:br>
            <a:endParaRPr lang="en-US" sz="2400" dirty="0">
              <a:cs typeface="B Nazanin" panose="00000400000000000000" pitchFamily="2" charset="-78"/>
            </a:endParaRPr>
          </a:p>
        </p:txBody>
      </p:sp>
    </p:spTree>
    <p:extLst>
      <p:ext uri="{BB962C8B-B14F-4D97-AF65-F5344CB8AC3E}">
        <p14:creationId xmlns:p14="http://schemas.microsoft.com/office/powerpoint/2010/main" val="1560900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E3CB-E676-DDAC-B3D4-8EEEB978BA82}"/>
              </a:ext>
            </a:extLst>
          </p:cNvPr>
          <p:cNvSpPr>
            <a:spLocks noGrp="1"/>
          </p:cNvSpPr>
          <p:nvPr>
            <p:ph type="title"/>
          </p:nvPr>
        </p:nvSpPr>
        <p:spPr>
          <a:xfrm>
            <a:off x="603250" y="252664"/>
            <a:ext cx="10985500" cy="529390"/>
          </a:xfrm>
        </p:spPr>
        <p:txBody>
          <a:bodyPr>
            <a:noAutofit/>
          </a:bodyPr>
          <a:lstStyle/>
          <a:p>
            <a:pPr algn="r" rtl="1"/>
            <a:r>
              <a:rPr lang="fa-IR" sz="2000" dirty="0">
                <a:cs typeface="B Nazanin" panose="00000400000000000000" pitchFamily="2" charset="-78"/>
              </a:rPr>
              <a:t>.کاربرد بالینی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درمان علامتی بیماری آلزایمر</a:t>
            </a:r>
            <a:r>
              <a:rPr lang="en-US" sz="2000" b="0" dirty="0">
                <a:cs typeface="B Nazanin" panose="00000400000000000000" pitchFamily="2" charset="-78"/>
              </a:rPr>
              <a:t>)</a:t>
            </a:r>
            <a:r>
              <a:rPr lang="fa-IR" sz="2000" b="0" dirty="0">
                <a:cs typeface="B Nazanin" panose="00000400000000000000" pitchFamily="2" charset="-78"/>
              </a:rPr>
              <a:t>به‌ویژه در مراحل خفیف تا متوسط بیماری).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باعث بهبود موقت حافظه، توجه و عملکرد شناختی در برخی بیماران می‌شود.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a:t>
            </a:r>
            <a:r>
              <a:rPr lang="fa-IR" sz="2000" dirty="0">
                <a:cs typeface="B Nazanin" panose="00000400000000000000" pitchFamily="2" charset="-78"/>
              </a:rPr>
              <a:t>مکانیسم اثر</a:t>
            </a:r>
            <a:br>
              <a:rPr lang="fa-IR" sz="2000" b="0" dirty="0">
                <a:cs typeface="B Nazanin" panose="00000400000000000000" pitchFamily="2" charset="-78"/>
              </a:rPr>
            </a:br>
            <a:r>
              <a:rPr lang="fa-IR" sz="2000" b="0" dirty="0">
                <a:cs typeface="B Nazanin" panose="00000400000000000000" pitchFamily="2" charset="-78"/>
              </a:rPr>
              <a:t>مهار برگشت‌پذیر آنزیم استیل‌کولین‌استراز در مغز.</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این عمل سبب افزایش غلظت استیل‌کولین در سیناپس‌های کولینرژیک مغز می‌شود → بهبود انتقال عصبی کولینرژیک در مناطقی که در آلزایمر آسیب دیده‌اند.</a:t>
            </a:r>
            <a:br>
              <a:rPr lang="fa-IR" sz="2000" b="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عوارض جانبی مهم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تهوع ،استفراغ ،اسهال ،بی‌اشتهایی ،درد شکم ،سرگیجه،  سردرد، بی‌خوابی، اضطراب یا بی‌قراری ،برادی‌کاردی (کندی ضربان قلب)</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عوارض کبدی (بسیار مهم) :افزایش قابل توجه آنزیم‌های کبدی </a:t>
            </a:r>
            <a:r>
              <a:rPr lang="en-US" sz="2000" b="0" dirty="0">
                <a:cs typeface="B Nazanin" panose="00000400000000000000" pitchFamily="2" charset="-78"/>
              </a:rPr>
              <a:t>ALT, AST)</a:t>
            </a:r>
            <a:r>
              <a:rPr lang="fa-IR" sz="2000" b="0" dirty="0">
                <a:cs typeface="B Nazanin" panose="00000400000000000000" pitchFamily="2" charset="-78"/>
              </a:rPr>
              <a:t>) هپاتوتوکسیسیته (سمیت کبدی)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نیاز به پایش مداوم عملکرد کبد</a:t>
            </a:r>
            <a:r>
              <a:rPr lang="en-US" sz="2000" b="0" dirty="0">
                <a:cs typeface="B Nazanin" panose="00000400000000000000" pitchFamily="2" charset="-78"/>
              </a:rPr>
              <a:t> </a:t>
            </a:r>
            <a:r>
              <a:rPr lang="fa-IR" sz="2000" b="0" dirty="0">
                <a:cs typeface="B Nazanin" panose="00000400000000000000" pitchFamily="2" charset="-78"/>
              </a:rPr>
              <a:t>دارد.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در صورت افزایش بیش از 3 برابر حد نرمال آنزیم‌های کبدی، باید مصرف دارو قطع شود</a:t>
            </a:r>
            <a:endParaRPr lang="en-US" sz="2000" b="0" dirty="0">
              <a:cs typeface="B Nazanin" panose="00000400000000000000" pitchFamily="2" charset="-78"/>
            </a:endParaRPr>
          </a:p>
        </p:txBody>
      </p:sp>
    </p:spTree>
    <p:extLst>
      <p:ext uri="{BB962C8B-B14F-4D97-AF65-F5344CB8AC3E}">
        <p14:creationId xmlns:p14="http://schemas.microsoft.com/office/powerpoint/2010/main" val="1800160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EB32-B48D-A5AF-47B2-EA48C86A8724}"/>
              </a:ext>
            </a:extLst>
          </p:cNvPr>
          <p:cNvSpPr>
            <a:spLocks noGrp="1"/>
          </p:cNvSpPr>
          <p:nvPr>
            <p:ph type="title"/>
          </p:nvPr>
        </p:nvSpPr>
        <p:spPr>
          <a:xfrm>
            <a:off x="603250" y="192505"/>
            <a:ext cx="10985500" cy="385011"/>
          </a:xfrm>
        </p:spPr>
        <p:txBody>
          <a:bodyPr>
            <a:normAutofit fontScale="90000"/>
          </a:bodyPr>
          <a:lstStyle/>
          <a:p>
            <a:pPr algn="r" rtl="1"/>
            <a:r>
              <a:rPr lang="fa-IR" sz="2400" dirty="0">
                <a:cs typeface="B Nazanin" panose="00000400000000000000" pitchFamily="2" charset="-78"/>
              </a:rPr>
              <a:t>. ریوارستگمین</a:t>
            </a: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داروی یکی از داروهای مهم در درمان اختلالات شناختی مانند آلزایمر است.</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اشکال دارویی ریواستیگمین</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.کپسول خوراکی – معمولاً به صورت 1.5 </a:t>
            </a:r>
            <a:r>
              <a:rPr lang="en-US" sz="2200" b="0" dirty="0">
                <a:cs typeface="B Nazanin" panose="00000400000000000000" pitchFamily="2" charset="-78"/>
              </a:rPr>
              <a:t>mg، 3 mg، 4.5 mg، 6 mg</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.محلول خوراکی (قطره) – معمولاً 2 </a:t>
            </a:r>
            <a:r>
              <a:rPr lang="en-US" sz="2200" b="0" dirty="0">
                <a:cs typeface="B Nazanin" panose="00000400000000000000" pitchFamily="2" charset="-78"/>
              </a:rPr>
              <a:t>mg/mL</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.پچ (چسب پوستی ترانس‌درمال) – با دوزهای </a:t>
            </a:r>
            <a:r>
              <a:rPr lang="en-US" sz="2200" b="0" dirty="0">
                <a:cs typeface="B Nazanin" panose="00000400000000000000" pitchFamily="2" charset="-78"/>
              </a:rPr>
              <a:t>mg/24h</a:t>
            </a:r>
            <a:r>
              <a:rPr lang="fa-IR" sz="2200" b="0" dirty="0">
                <a:cs typeface="B Nazanin" panose="00000400000000000000" pitchFamily="2" charset="-78"/>
              </a:rPr>
              <a:t>4.6</a:t>
            </a:r>
            <a:r>
              <a:rPr lang="en-US" sz="2200" b="0" dirty="0">
                <a:cs typeface="B Nazanin" panose="00000400000000000000" pitchFamily="2" charset="-78"/>
              </a:rPr>
              <a:t>، 9.5 mg/24h، 13.3 mg/24h</a:t>
            </a:r>
            <a:br>
              <a:rPr lang="en-US"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.کاربردهای بالینی (موارد مصرف)</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بیماری آلزایمر خفیف تا متوسط : بهبود علائم شناختی (حافظه، تمرکز، عملکرد روزانه)</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دمانس ناشی از بیماری پارکینسون </a:t>
            </a:r>
            <a:br>
              <a:rPr lang="en-US"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.مکانیسم اثر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ریواستیگمین یک مهارکننده آنزیم‌های استیل‌کولین‌استراز و بوتیریل‌کولین‌استراز است.  باعث افزایش سطح استیل‌کولین در سیناپس‌های مغزی شده و عملکرد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شناختی را بهبود می‌دهد.</a:t>
            </a:r>
            <a:br>
              <a:rPr lang="fa-IR" sz="2200" b="0" dirty="0">
                <a:cs typeface="B Nazanin" panose="00000400000000000000" pitchFamily="2" charset="-78"/>
              </a:rPr>
            </a:br>
            <a:br>
              <a:rPr lang="fa-IR" sz="2200" b="0" dirty="0">
                <a:cs typeface="B Nazanin" panose="00000400000000000000" pitchFamily="2" charset="-78"/>
              </a:rPr>
            </a:br>
            <a:br>
              <a:rPr lang="fa-IR" sz="2400" dirty="0">
                <a:cs typeface="B Nazanin" panose="00000400000000000000" pitchFamily="2" charset="-78"/>
              </a:rPr>
            </a:br>
            <a:endParaRPr lang="en-US" sz="2400" dirty="0">
              <a:cs typeface="B Nazanin" panose="00000400000000000000" pitchFamily="2" charset="-78"/>
            </a:endParaRPr>
          </a:p>
        </p:txBody>
      </p:sp>
    </p:spTree>
    <p:extLst>
      <p:ext uri="{BB962C8B-B14F-4D97-AF65-F5344CB8AC3E}">
        <p14:creationId xmlns:p14="http://schemas.microsoft.com/office/powerpoint/2010/main" val="3383170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52FC-B866-A870-EF65-07DC4D78C05F}"/>
              </a:ext>
            </a:extLst>
          </p:cNvPr>
          <p:cNvSpPr>
            <a:spLocks noGrp="1"/>
          </p:cNvSpPr>
          <p:nvPr>
            <p:ph type="title"/>
          </p:nvPr>
        </p:nvSpPr>
        <p:spPr>
          <a:xfrm>
            <a:off x="603250" y="252664"/>
            <a:ext cx="10985500" cy="469232"/>
          </a:xfrm>
        </p:spPr>
        <p:txBody>
          <a:bodyPr>
            <a:normAutofit fontScale="90000"/>
          </a:bodyPr>
          <a:lstStyle/>
          <a:p>
            <a:pPr algn="r" rtl="1"/>
            <a:r>
              <a:rPr lang="fa-IR" sz="2400" dirty="0">
                <a:cs typeface="B Nazanin" panose="00000400000000000000" pitchFamily="2" charset="-78"/>
              </a:rPr>
              <a:t>. عوارض جانبی مهم و شایع</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تهوع، استفراغ، اسهال، کاهش اشتها، کاهش وزن (شایع‌ترین عوارض ) ، برادی‌کاردی (کندی ضربان قلب)، سنکوپ ، سرگیجه، سردرد، بی‌خوابی ،</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(در پچ پوستی) قرمزی یا تحریک در محل چسب</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 در صورت استفاده از چسب پوستی، محل چسب باید هر ۲۴ ساعت تعویض و در هر بار در محل متفاوتی (روی پشت، سینه یا بازو) قرار داده </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شود.</a:t>
            </a:r>
            <a:br>
              <a:rPr lang="fa-IR" sz="2400" b="0" dirty="0">
                <a:cs typeface="B Nazanin" panose="00000400000000000000" pitchFamily="2" charset="-78"/>
              </a:rPr>
            </a:br>
            <a:br>
              <a:rPr lang="fa-IR" sz="2400" b="0" dirty="0">
                <a:cs typeface="B Nazanin" panose="00000400000000000000" pitchFamily="2" charset="-78"/>
              </a:rPr>
            </a:br>
            <a:r>
              <a:rPr lang="fa-IR" sz="2400" dirty="0">
                <a:cs typeface="B Nazanin" panose="00000400000000000000" pitchFamily="2" charset="-78"/>
              </a:rPr>
              <a:t> </a:t>
            </a:r>
            <a:r>
              <a:rPr lang="ar-SA" sz="2400" dirty="0">
                <a:cs typeface="B Nazanin" panose="00000400000000000000" pitchFamily="2" charset="-78"/>
              </a:rPr>
              <a:t>دونپزیل</a:t>
            </a:r>
            <a:r>
              <a:rPr lang="fa-IR" sz="2400" dirty="0">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r>
              <a:rPr lang="fa-IR" sz="2200" dirty="0">
                <a:cs typeface="B Nazanin" panose="00000400000000000000" pitchFamily="2" charset="-78"/>
              </a:rPr>
              <a:t>اشکال دارویی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.قرص خوراکی: 5 </a:t>
            </a:r>
            <a:r>
              <a:rPr lang="en-US" sz="2200" b="0" dirty="0">
                <a:cs typeface="B Nazanin" panose="00000400000000000000" pitchFamily="2" charset="-78"/>
              </a:rPr>
              <a:t>mg، 10 mg، 23 mg</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.قرص خوراکی جویدنی :</a:t>
            </a:r>
            <a:r>
              <a:rPr lang="en-US" sz="2200" b="0" dirty="0">
                <a:cs typeface="B Nazanin" panose="00000400000000000000" pitchFamily="2" charset="-78"/>
              </a:rPr>
              <a:t>5 mg، 10 mg</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.کاربردهای بالینی (موارد مصرف)</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درمان دمانس آلزایمر (خفیف، متوسط یا شدید) : بهبود حافظه، تمرکز، و عملکرد شناختی بیماران</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r>
              <a:rPr lang="fa-IR" sz="2400" dirty="0">
                <a:cs typeface="B Nazanin" panose="00000400000000000000" pitchFamily="2" charset="-78"/>
              </a:rPr>
              <a:t>. گالانتامین :</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endParaRPr lang="en-US" sz="2400" dirty="0">
              <a:cs typeface="B Nazanin" panose="00000400000000000000" pitchFamily="2" charset="-78"/>
            </a:endParaRPr>
          </a:p>
        </p:txBody>
      </p:sp>
    </p:spTree>
    <p:extLst>
      <p:ext uri="{BB962C8B-B14F-4D97-AF65-F5344CB8AC3E}">
        <p14:creationId xmlns:p14="http://schemas.microsoft.com/office/powerpoint/2010/main" val="3637365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F1A90-FD0A-24A7-9BD7-39A3CCAC9848}"/>
              </a:ext>
            </a:extLst>
          </p:cNvPr>
          <p:cNvSpPr>
            <a:spLocks noGrp="1"/>
          </p:cNvSpPr>
          <p:nvPr>
            <p:ph type="title"/>
          </p:nvPr>
        </p:nvSpPr>
        <p:spPr>
          <a:xfrm>
            <a:off x="603250" y="336884"/>
            <a:ext cx="10985500" cy="637674"/>
          </a:xfrm>
        </p:spPr>
        <p:txBody>
          <a:bodyPr>
            <a:normAutofit fontScale="90000"/>
          </a:bodyPr>
          <a:lstStyle/>
          <a:p>
            <a:pPr algn="r" rtl="1"/>
            <a:br>
              <a:rPr lang="fa-IR" sz="2200" b="0" dirty="0">
                <a:cs typeface="B Nazanin" panose="00000400000000000000" pitchFamily="2" charset="-78"/>
              </a:rPr>
            </a:br>
            <a:r>
              <a:rPr lang="fa-IR" sz="2200" dirty="0">
                <a:cs typeface="B Nazanin" panose="00000400000000000000" pitchFamily="2" charset="-78"/>
              </a:rPr>
              <a:t>.مکانیسم اثر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دونپزیل یک مهارکننده انتخابی و برگشت‌پذیر آنزیم استیل‌کولین‌استراز است.  باعث افزایش غلظت استیل‌کولین در سیناپس‌های مغزی و در نتیجه بهبود عملکرد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شناختی می‌شود.</a:t>
            </a:r>
            <a:br>
              <a:rPr lang="fa-IR" sz="2200" b="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.عوارض جانبی مهم و شایع</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تهوع، استفراغ، اسهال، بی‌اشتهایی، کاهش وزن ، برادی‌کاردی (کندی ضربان قلب)، سنکوپ، هیپوتانسیون ،بی‌خوابی، سرگیجه، کابوس‌های شبانه، خستگی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سردرد، خستگی، افزایش ترشح بزاق</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 گالانتامین</a:t>
            </a:r>
            <a:br>
              <a:rPr lang="fa-IR" sz="2700" dirty="0">
                <a:cs typeface="B Nazanin" panose="00000400000000000000" pitchFamily="2" charset="-78"/>
              </a:rPr>
            </a:br>
            <a:br>
              <a:rPr lang="fa-IR" sz="2700" dirty="0">
                <a:cs typeface="B Nazanin" panose="00000400000000000000" pitchFamily="2" charset="-78"/>
              </a:rPr>
            </a:br>
            <a:r>
              <a:rPr lang="fa-IR" sz="2200" dirty="0">
                <a:cs typeface="B Nazanin" panose="00000400000000000000" pitchFamily="2" charset="-78"/>
              </a:rPr>
              <a:t>اشکال دارویی</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قرص خوراکی دوزهای 4، 8 و 12 میلی‌گرم.</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کپسول با رهش طولانی (</a:t>
            </a:r>
            <a:r>
              <a:rPr lang="en-US" sz="2200" b="0" dirty="0">
                <a:cs typeface="B Nazanin" panose="00000400000000000000" pitchFamily="2" charset="-78"/>
              </a:rPr>
              <a:t>Extended-release capsule) – </a:t>
            </a:r>
            <a:r>
              <a:rPr lang="fa-IR" sz="2200" b="0" dirty="0">
                <a:cs typeface="B Nazanin" panose="00000400000000000000" pitchFamily="2" charset="-78"/>
              </a:rPr>
              <a:t>در دوزهای 8، 16 و 24 میلی‌گرم.</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شربت خوراکی </a:t>
            </a:r>
            <a:br>
              <a:rPr lang="en-US" sz="2700" dirty="0">
                <a:cs typeface="B Nazanin" panose="00000400000000000000" pitchFamily="2" charset="-78"/>
              </a:rPr>
            </a:br>
            <a:br>
              <a:rPr lang="fa-IR" sz="4400" dirty="0">
                <a:cs typeface="B Nazanin" panose="00000400000000000000" pitchFamily="2" charset="-78"/>
              </a:rPr>
            </a:br>
            <a:endParaRPr lang="en-US" dirty="0"/>
          </a:p>
        </p:txBody>
      </p:sp>
    </p:spTree>
    <p:extLst>
      <p:ext uri="{BB962C8B-B14F-4D97-AF65-F5344CB8AC3E}">
        <p14:creationId xmlns:p14="http://schemas.microsoft.com/office/powerpoint/2010/main" val="124253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1B04-5111-F9DB-BEA7-94A447BB1CA6}"/>
              </a:ext>
            </a:extLst>
          </p:cNvPr>
          <p:cNvSpPr>
            <a:spLocks noGrp="1"/>
          </p:cNvSpPr>
          <p:nvPr>
            <p:ph type="title"/>
          </p:nvPr>
        </p:nvSpPr>
        <p:spPr>
          <a:xfrm>
            <a:off x="603250" y="360948"/>
            <a:ext cx="10985500" cy="409073"/>
          </a:xfrm>
        </p:spPr>
        <p:txBody>
          <a:bodyPr>
            <a:noAutofit/>
          </a:bodyPr>
          <a:lstStyle/>
          <a:p>
            <a:pPr algn="r" rtl="1"/>
            <a:r>
              <a:rPr lang="fa-IR" sz="2000" dirty="0">
                <a:cs typeface="B Nazanin" panose="00000400000000000000" pitchFamily="2" charset="-78"/>
              </a:rPr>
              <a:t>.کاربرد بالینی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بیماری آلزایمر خفیف تا متوسط</a:t>
            </a:r>
            <a:br>
              <a:rPr lang="en-US"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.مکانیسم اثر:</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گالانتامین یک مهارکننده آنزیم استیل‌کولین‌استراز است و باعث افزایش سطح استیل‌کولین در مغز می‌شود. همچنین به طور آللواستریک گیرنده‌های نیکوتینی را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تحریک می‌کند و اثر کولینرژیک را تقویت می‌کند.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عوارض جانبی مهم : عوارض کولینرژیک (به دلیل افزایش استیل‌کولین) شایع هستند: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تهوع، استفراغ ، اسهال ،کاهش اشتها و کاهش وزن ، سرگیجه، سردرد ،خستگی و بی‌خوابی</a:t>
            </a:r>
            <a:endParaRPr lang="en-US" sz="2000" b="0" dirty="0"/>
          </a:p>
        </p:txBody>
      </p:sp>
    </p:spTree>
    <p:extLst>
      <p:ext uri="{BB962C8B-B14F-4D97-AF65-F5344CB8AC3E}">
        <p14:creationId xmlns:p14="http://schemas.microsoft.com/office/powerpoint/2010/main" val="90723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A514-6139-43FF-8368-CF52079C6878}"/>
              </a:ext>
            </a:extLst>
          </p:cNvPr>
          <p:cNvSpPr>
            <a:spLocks noGrp="1"/>
          </p:cNvSpPr>
          <p:nvPr>
            <p:ph type="title"/>
          </p:nvPr>
        </p:nvSpPr>
        <p:spPr>
          <a:xfrm>
            <a:off x="603250" y="252663"/>
            <a:ext cx="10985500" cy="770021"/>
          </a:xfrm>
        </p:spPr>
        <p:txBody>
          <a:bodyPr>
            <a:normAutofit fontScale="90000"/>
          </a:bodyPr>
          <a:lstStyle/>
          <a:p>
            <a:pPr algn="r" rtl="1"/>
            <a:r>
              <a:rPr lang="fa-IR" sz="2700" dirty="0">
                <a:cs typeface="B Nazanin" panose="00000400000000000000" pitchFamily="2" charset="-78"/>
              </a:rPr>
              <a:t>.</a:t>
            </a:r>
            <a:r>
              <a:rPr lang="ar-SA" sz="2700" dirty="0">
                <a:cs typeface="B Nazanin" panose="00000400000000000000" pitchFamily="2" charset="-78"/>
              </a:rPr>
              <a:t>اکوتیوفیت و ایزوفلوروفیت</a:t>
            </a:r>
            <a:r>
              <a:rPr lang="en-US" sz="270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به صورت قطره چشمی استفاده می شود و در درمان طولانی مدت گلوکوم بسته  کاربرد دارد </a:t>
            </a:r>
            <a:r>
              <a:rPr lang="en-US" sz="2200" b="0" dirty="0">
                <a:cs typeface="B Nazanin" panose="00000400000000000000" pitchFamily="2" charset="-78"/>
              </a:rPr>
              <a:t>) </a:t>
            </a:r>
            <a:r>
              <a:rPr lang="ar-SA" sz="2200" b="0" dirty="0">
                <a:cs typeface="B Nazanin" panose="00000400000000000000" pitchFamily="2" charset="-78"/>
              </a:rPr>
              <a:t>طول اثر</a:t>
            </a:r>
            <a:r>
              <a:rPr lang="en-US" sz="2200" b="0" dirty="0">
                <a:cs typeface="B Nazanin" panose="00000400000000000000" pitchFamily="2" charset="-78"/>
              </a:rPr>
              <a:t>: </a:t>
            </a:r>
            <a:r>
              <a:rPr lang="ar-SA" sz="2200" b="0" dirty="0">
                <a:cs typeface="B Nazanin" panose="00000400000000000000" pitchFamily="2" charset="-78"/>
              </a:rPr>
              <a:t>بیش از یک هفته</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solidFill>
                  <a:srgbClr val="FF0000"/>
                </a:solidFill>
                <a:cs typeface="B Nazanin" panose="00000400000000000000" pitchFamily="2" charset="-78"/>
              </a:rPr>
              <a:t>ایراد این دارو </a:t>
            </a:r>
            <a:r>
              <a:rPr lang="en-US" sz="2200" b="0" dirty="0">
                <a:cs typeface="B Nazanin" panose="00000400000000000000" pitchFamily="2" charset="-78"/>
              </a:rPr>
              <a:t>: </a:t>
            </a:r>
            <a:r>
              <a:rPr lang="ar-SA" sz="2200" b="0" dirty="0">
                <a:cs typeface="B Nazanin" panose="00000400000000000000" pitchFamily="2" charset="-78"/>
              </a:rPr>
              <a:t>درد شدید و منتشر در کل کره چشم بدلیل انقباض شدید</a:t>
            </a:r>
            <a:r>
              <a:rPr lang="fa-IR" sz="2200" b="0" dirty="0">
                <a:cs typeface="B Nazanin" panose="00000400000000000000" pitchFamily="2" charset="-78"/>
              </a:rPr>
              <a:t> </a:t>
            </a:r>
            <a:r>
              <a:rPr lang="ar-SA" sz="2200" b="0" dirty="0">
                <a:cs typeface="B Nazanin" panose="00000400000000000000" pitchFamily="2" charset="-78"/>
              </a:rPr>
              <a:t>عضلات مردمک و مژگانی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اکوتیوفیت عمدتاً برای گوارش است و عوارض سیستمیک اندک دارد.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ایزوفلوروفیت بسیار قوی‌تر است و بیشتر در چشم و موارد تخصصی استفاده می‌شود؛ مسمومیت سیستمیک جدی است</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700" dirty="0">
                <a:cs typeface="B Nazanin" panose="00000400000000000000" pitchFamily="2" charset="-78"/>
              </a:rPr>
              <a:t>ا</a:t>
            </a:r>
            <a:r>
              <a:rPr lang="ar-SA" sz="2700" dirty="0">
                <a:cs typeface="B Nazanin" panose="00000400000000000000" pitchFamily="2" charset="-78"/>
              </a:rPr>
              <a:t>رگانوفسفره ها</a:t>
            </a:r>
            <a:r>
              <a:rPr lang="en-US" sz="2700" dirty="0">
                <a:cs typeface="B Nazanin" panose="00000400000000000000" pitchFamily="2" charset="-78"/>
              </a:rPr>
              <a:t>: </a:t>
            </a:r>
            <a:r>
              <a:rPr lang="ar-SA" sz="2200" b="0" dirty="0">
                <a:cs typeface="B Nazanin" panose="00000400000000000000" pitchFamily="2" charset="-78"/>
              </a:rPr>
              <a:t>دارو نیستند و سم هستند </a:t>
            </a:r>
            <a:r>
              <a:rPr lang="en-US" sz="2200" b="0" dirty="0">
                <a:cs typeface="B Nazanin" panose="00000400000000000000" pitchFamily="2" charset="-78"/>
              </a:rPr>
              <a:t>) </a:t>
            </a:r>
            <a:r>
              <a:rPr lang="ar-SA" sz="2200" b="0" dirty="0">
                <a:cs typeface="B Nazanin" panose="00000400000000000000" pitchFamily="2" charset="-78"/>
              </a:rPr>
              <a:t>کاربرد در جنگ و</a:t>
            </a:r>
            <a:r>
              <a:rPr lang="en-US" sz="2200" b="0" dirty="0">
                <a:cs typeface="B Nazanin" panose="00000400000000000000" pitchFamily="2" charset="-78"/>
              </a:rPr>
              <a:t>(... </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گاز خردل</a:t>
            </a:r>
            <a:r>
              <a:rPr lang="en-US" sz="2200" b="0" dirty="0">
                <a:cs typeface="B Nazanin" panose="00000400000000000000" pitchFamily="2" charset="-78"/>
              </a:rPr>
              <a:t>: </a:t>
            </a:r>
            <a:r>
              <a:rPr lang="ar-SA" sz="2200" b="0" dirty="0">
                <a:cs typeface="B Nazanin" panose="00000400000000000000" pitchFamily="2" charset="-78"/>
              </a:rPr>
              <a:t>شدیدا بافت ریه را تخریب می کند </a:t>
            </a:r>
            <a:r>
              <a:rPr lang="en-US" sz="2200" b="0" dirty="0">
                <a:cs typeface="B Nazanin" panose="00000400000000000000" pitchFamily="2" charset="-78"/>
              </a:rPr>
              <a:t>) </a:t>
            </a:r>
            <a:r>
              <a:rPr lang="ar-SA" sz="2200" b="0" dirty="0">
                <a:cs typeface="B Nazanin" panose="00000400000000000000" pitchFamily="2" charset="-78"/>
              </a:rPr>
              <a:t>هم در طولانی مدت هم کوتاه مدت</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گاز کلر و گاز سییانور</a:t>
            </a:r>
            <a:r>
              <a:rPr lang="en-US" sz="2200" b="0" dirty="0">
                <a:cs typeface="B Nazanin" panose="00000400000000000000" pitchFamily="2" charset="-78"/>
              </a:rPr>
              <a:t>: </a:t>
            </a:r>
            <a:r>
              <a:rPr lang="ar-SA" sz="2200" b="0" dirty="0">
                <a:cs typeface="B Nazanin" panose="00000400000000000000" pitchFamily="2" charset="-78"/>
              </a:rPr>
              <a:t>سیانور تنفس را درحد سلول فلج می کند</a:t>
            </a:r>
            <a:r>
              <a:rPr lang="en-US" sz="2200" b="0" dirty="0">
                <a:cs typeface="B Nazanin" panose="00000400000000000000" pitchFamily="2" charset="-78"/>
              </a:rPr>
              <a:t>. </a:t>
            </a:r>
            <a:r>
              <a:rPr lang="ar-SA" sz="2200" b="0" dirty="0">
                <a:cs typeface="B Nazanin" panose="00000400000000000000" pitchFamily="2" charset="-78"/>
              </a:rPr>
              <a:t>فردی که با سیانور</a:t>
            </a:r>
            <a:r>
              <a:rPr lang="fa-IR" sz="2200" b="0" dirty="0">
                <a:cs typeface="B Nazanin" panose="00000400000000000000" pitchFamily="2" charset="-78"/>
              </a:rPr>
              <a:t> </a:t>
            </a:r>
            <a:r>
              <a:rPr lang="ar-SA" sz="2200" b="0" dirty="0">
                <a:cs typeface="B Nazanin" panose="00000400000000000000" pitchFamily="2" charset="-78"/>
              </a:rPr>
              <a:t>مسموم شده است علی رغم تنفس شدید به دلیل نرسیدن </a:t>
            </a:r>
            <a:r>
              <a:rPr lang="fa-IR" sz="2200" b="0" dirty="0">
                <a:cs typeface="B Nazanin" panose="00000400000000000000" pitchFamily="2" charset="-78"/>
              </a:rPr>
              <a:t>اکسیژن </a:t>
            </a:r>
            <a:r>
              <a:rPr lang="ar-SA" sz="2200" b="0" dirty="0">
                <a:cs typeface="B Nazanin" panose="00000400000000000000" pitchFamily="2" charset="-78"/>
              </a:rPr>
              <a:t>به سلول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می میرد</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ایراد سیانور</a:t>
            </a:r>
            <a:r>
              <a:rPr lang="en-US" sz="2200" b="0" dirty="0">
                <a:cs typeface="B Nazanin" panose="00000400000000000000" pitchFamily="2" charset="-78"/>
              </a:rPr>
              <a:t>: </a:t>
            </a:r>
            <a:r>
              <a:rPr lang="ar-SA" sz="2200" b="0" dirty="0">
                <a:cs typeface="B Nazanin" panose="00000400000000000000" pitchFamily="2" charset="-78"/>
              </a:rPr>
              <a:t>سرعت اثر بسیار بالا</a:t>
            </a:r>
            <a:r>
              <a:rPr lang="en-US" sz="2200" b="0" dirty="0">
                <a:cs typeface="B Nazanin" panose="00000400000000000000" pitchFamily="2" charset="-78"/>
              </a:rPr>
              <a:t>) </a:t>
            </a:r>
            <a:r>
              <a:rPr lang="ar-SA" sz="2200" b="0" dirty="0">
                <a:cs typeface="B Nazanin" panose="00000400000000000000" pitchFamily="2" charset="-78"/>
              </a:rPr>
              <a:t>در کمتر از یک دقیقه می کشد</a:t>
            </a:r>
            <a:r>
              <a:rPr lang="en-US" sz="2200" b="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ar-SA" sz="2200" b="0" dirty="0">
                <a:cs typeface="B Nazanin" panose="00000400000000000000" pitchFamily="2" charset="-78"/>
              </a:rPr>
              <a:t>در مواجه شدن با ترکیبات ارگانوفسفره ها حالتی بنام </a:t>
            </a:r>
            <a:r>
              <a:rPr lang="en-US" sz="2200" b="0" dirty="0">
                <a:cs typeface="B Nazanin" panose="00000400000000000000" pitchFamily="2" charset="-78"/>
              </a:rPr>
              <a:t>Aging</a:t>
            </a:r>
            <a:r>
              <a:rPr lang="fa-IR" sz="2200" b="0" dirty="0">
                <a:cs typeface="B Nazanin" panose="00000400000000000000" pitchFamily="2" charset="-78"/>
              </a:rPr>
              <a:t> (</a:t>
            </a:r>
            <a:r>
              <a:rPr lang="ar-SA" sz="2200" b="0" dirty="0">
                <a:cs typeface="B Nazanin" panose="00000400000000000000" pitchFamily="2" charset="-78"/>
              </a:rPr>
              <a:t>پیرشدن</a:t>
            </a:r>
            <a:r>
              <a:rPr lang="fa-IR" sz="2200" b="0" dirty="0">
                <a:cs typeface="B Nazanin" panose="00000400000000000000" pitchFamily="2" charset="-78"/>
              </a:rPr>
              <a:t>)</a:t>
            </a:r>
            <a:r>
              <a:rPr lang="en-US" sz="2200" b="0" dirty="0">
                <a:cs typeface="B Nazanin" panose="00000400000000000000" pitchFamily="2" charset="-78"/>
              </a:rPr>
              <a:t> </a:t>
            </a:r>
            <a:r>
              <a:rPr lang="ar-SA" sz="2200" b="0" dirty="0">
                <a:cs typeface="B Nazanin" panose="00000400000000000000" pitchFamily="2" charset="-78"/>
              </a:rPr>
              <a:t>رخ می دهد</a:t>
            </a:r>
            <a:r>
              <a:rPr lang="en-US" sz="2200" b="0" dirty="0">
                <a:cs typeface="B Nazanin" panose="00000400000000000000" pitchFamily="2" charset="-78"/>
              </a:rPr>
              <a:t>. </a:t>
            </a:r>
            <a:r>
              <a:rPr lang="ar-SA" sz="2200" b="0" dirty="0">
                <a:cs typeface="B Nazanin" panose="00000400000000000000" pitchFamily="2" charset="-78"/>
              </a:rPr>
              <a:t>یعنی پیوند ارگانوفسفره و آنزیم استیل کولین</a:t>
            </a:r>
            <a:r>
              <a:rPr lang="fa-IR" sz="2200" b="0" dirty="0">
                <a:cs typeface="B Nazanin" panose="00000400000000000000" pitchFamily="2" charset="-78"/>
              </a:rPr>
              <a:t> </a:t>
            </a:r>
            <a:r>
              <a:rPr lang="ar-SA" sz="2200" b="0" dirty="0">
                <a:cs typeface="B Nazanin" panose="00000400000000000000" pitchFamily="2" charset="-78"/>
              </a:rPr>
              <a:t>استراز هرچقدر زمان بگذرد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این پیوند قوی تر وبرگشت ناپذیرتر میشود</a:t>
            </a:r>
            <a:r>
              <a:rPr lang="en-US" sz="2200" b="0" dirty="0">
                <a:cs typeface="B Nazanin" panose="00000400000000000000" pitchFamily="2" charset="-78"/>
              </a:rPr>
              <a:t>. </a:t>
            </a:r>
            <a:r>
              <a:rPr lang="ar-SA" sz="2200" b="0" dirty="0">
                <a:cs typeface="B Nazanin" panose="00000400000000000000" pitchFamily="2" charset="-78"/>
              </a:rPr>
              <a:t>پس احیای فرد مسموم باید سریعتر رخ دهد</a:t>
            </a:r>
            <a:br>
              <a:rPr lang="en-US" dirty="0"/>
            </a:br>
            <a:endParaRPr lang="en-US" dirty="0"/>
          </a:p>
        </p:txBody>
      </p:sp>
    </p:spTree>
    <p:extLst>
      <p:ext uri="{BB962C8B-B14F-4D97-AF65-F5344CB8AC3E}">
        <p14:creationId xmlns:p14="http://schemas.microsoft.com/office/powerpoint/2010/main" val="2392360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D538F-3516-A044-9CE8-0416D787ED6B}"/>
              </a:ext>
            </a:extLst>
          </p:cNvPr>
          <p:cNvSpPr>
            <a:spLocks noGrp="1"/>
          </p:cNvSpPr>
          <p:nvPr>
            <p:ph type="title"/>
          </p:nvPr>
        </p:nvSpPr>
        <p:spPr>
          <a:xfrm>
            <a:off x="603250" y="228600"/>
            <a:ext cx="10985500" cy="1027732"/>
          </a:xfrm>
        </p:spPr>
        <p:txBody>
          <a:bodyPr>
            <a:normAutofit fontScale="90000"/>
          </a:bodyPr>
          <a:lstStyle/>
          <a:p>
            <a:pPr algn="r" rtl="1"/>
            <a:r>
              <a:rPr lang="fa-IR" sz="2400" dirty="0">
                <a:cs typeface="B Nazanin" panose="00000400000000000000" pitchFamily="2" charset="-78"/>
              </a:rPr>
              <a:t>. مراحل رفع مسمومیت:</a:t>
            </a:r>
            <a:br>
              <a:rPr lang="fa-IR" sz="2400" dirty="0">
                <a:cs typeface="B Nazanin" panose="00000400000000000000" pitchFamily="2" charset="-78"/>
              </a:rPr>
            </a:br>
            <a:br>
              <a:rPr lang="fa-IR" sz="2400" dirty="0">
                <a:cs typeface="B Nazanin" panose="00000400000000000000" pitchFamily="2" charset="-78"/>
              </a:rPr>
            </a:br>
            <a:r>
              <a:rPr lang="fa-IR" sz="2400" dirty="0">
                <a:cs typeface="B Nazanin" panose="00000400000000000000" pitchFamily="2" charset="-78"/>
              </a:rPr>
              <a:t>1</a:t>
            </a:r>
            <a:r>
              <a:rPr lang="fa-IR" sz="2200" b="0" dirty="0">
                <a:cs typeface="B Nazanin" panose="00000400000000000000" pitchFamily="2" charset="-78"/>
              </a:rPr>
              <a:t>. رفع فیزیکی آلودگی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2.حمایت تنفسی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حمایت قلبی عروقی ( استفاده از ماسک اکسیژن و شوک قلبی)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4. درمان دارویی : شامل دو داروی </a:t>
            </a:r>
            <a:br>
              <a:rPr lang="fa-IR" sz="2400" dirty="0">
                <a:cs typeface="B Nazanin" panose="00000400000000000000" pitchFamily="2" charset="-78"/>
              </a:rPr>
            </a:br>
            <a:br>
              <a:rPr lang="fa-IR" sz="24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الف) </a:t>
            </a:r>
            <a:r>
              <a:rPr lang="ar-SA" sz="2200" dirty="0">
                <a:cs typeface="B Nazanin" panose="00000400000000000000" pitchFamily="2" charset="-78"/>
              </a:rPr>
              <a:t>آتروپین</a:t>
            </a:r>
            <a:r>
              <a:rPr lang="fa-IR" sz="2200" b="0" dirty="0">
                <a:cs typeface="B Nazanin" panose="00000400000000000000" pitchFamily="2" charset="-78"/>
              </a:rPr>
              <a:t>: مهار گیرنده‌های موسکارینی استیل‌کولین در قلب، ریه، دستگاه گوارش و غدد که از  تحریک بیش از حد استیل‌کولین جلوگیری می‌کند و علایم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موسکارینی ناشی از ترکیبات ارگانو فسفره را رفع می کند</a:t>
            </a:r>
            <a:br>
              <a:rPr lang="fa-IR" dirty="0"/>
            </a:br>
            <a:br>
              <a:rPr lang="fa-IR" dirty="0"/>
            </a:br>
            <a:r>
              <a:rPr lang="fa-IR" sz="2200" dirty="0">
                <a:cs typeface="B Nazanin" panose="00000400000000000000" pitchFamily="2" charset="-78"/>
              </a:rPr>
              <a:t>ب)</a:t>
            </a:r>
            <a:r>
              <a:rPr lang="ar-SA" sz="2200" dirty="0">
                <a:cs typeface="B Nazanin" panose="00000400000000000000" pitchFamily="2" charset="-78"/>
              </a:rPr>
              <a:t> پرالیدوکسیم</a:t>
            </a:r>
            <a:r>
              <a:rPr lang="en-US" sz="2200" dirty="0">
                <a:cs typeface="B Nazanin" panose="00000400000000000000" pitchFamily="2" charset="-78"/>
              </a:rPr>
              <a:t>:</a:t>
            </a:r>
            <a:br>
              <a:rPr lang="fa-IR"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ا</a:t>
            </a:r>
            <a:r>
              <a:rPr lang="fa-IR" sz="2200" b="0" dirty="0">
                <a:cs typeface="B Nazanin" panose="00000400000000000000" pitchFamily="2" charset="-78"/>
              </a:rPr>
              <a:t>تصال به ارگانوفسفره و بازسازی استیل‌کولین استراز ،اثر اصلی بر علائم نیکوتینی (ضعف و فلج عضلات) دارد</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آتروپین → مهار اثر موسکارینی (علائم ترشحی و قلبی)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پرامیدوکسیم → بازسازی استیل کولین استراز (علائم عضلانی و نیکوتینی)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 مسمومیت ها این دو دارو اغلب با هم مصرف میشوند</a:t>
            </a:r>
            <a:br>
              <a:rPr lang="fa-IR" sz="2400" dirty="0">
                <a:cs typeface="B Nazanin" panose="00000400000000000000" pitchFamily="2" charset="-78"/>
              </a:rPr>
            </a:br>
            <a:br>
              <a:rPr lang="fa-IR" sz="2400" dirty="0">
                <a:cs typeface="B Nazanin" panose="00000400000000000000" pitchFamily="2" charset="-78"/>
              </a:rPr>
            </a:br>
            <a:endParaRPr lang="en-US" sz="2400" dirty="0">
              <a:cs typeface="B Nazanin" panose="00000400000000000000" pitchFamily="2" charset="-78"/>
            </a:endParaRPr>
          </a:p>
        </p:txBody>
      </p:sp>
    </p:spTree>
    <p:extLst>
      <p:ext uri="{BB962C8B-B14F-4D97-AF65-F5344CB8AC3E}">
        <p14:creationId xmlns:p14="http://schemas.microsoft.com/office/powerpoint/2010/main" val="884085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E38D-84E4-AC02-6814-F0A47211AB22}"/>
              </a:ext>
            </a:extLst>
          </p:cNvPr>
          <p:cNvSpPr>
            <a:spLocks noGrp="1"/>
          </p:cNvSpPr>
          <p:nvPr>
            <p:ph type="title"/>
          </p:nvPr>
        </p:nvSpPr>
        <p:spPr>
          <a:xfrm>
            <a:off x="603250" y="144379"/>
            <a:ext cx="10985500" cy="481263"/>
          </a:xfrm>
        </p:spPr>
        <p:txBody>
          <a:bodyPr>
            <a:normAutofit fontScale="90000"/>
          </a:bodyPr>
          <a:lstStyle/>
          <a:p>
            <a:pPr algn="r" rtl="1"/>
            <a:r>
              <a:rPr lang="en-US" sz="2800" dirty="0">
                <a:cs typeface="B Nazanin" panose="00000400000000000000" pitchFamily="2" charset="-78"/>
              </a:rPr>
              <a:t>. </a:t>
            </a:r>
            <a:r>
              <a:rPr lang="fa-IR" sz="2800" dirty="0">
                <a:cs typeface="B Nazanin" panose="00000400000000000000" pitchFamily="2" charset="-78"/>
              </a:rPr>
              <a:t>داروهای </a:t>
            </a:r>
            <a:r>
              <a:rPr lang="ar-SA" sz="2800" dirty="0">
                <a:cs typeface="B Nazanin" panose="00000400000000000000" pitchFamily="2" charset="-78"/>
              </a:rPr>
              <a:t>پاراسمپات</a:t>
            </a:r>
            <a:r>
              <a:rPr lang="fa-IR" sz="2800" dirty="0">
                <a:cs typeface="B Nazanin" panose="00000400000000000000" pitchFamily="2" charset="-78"/>
              </a:rPr>
              <a:t>ولیتیک ( مهار کننده </a:t>
            </a:r>
            <a:r>
              <a:rPr lang="ar-SA" sz="2800" dirty="0">
                <a:cs typeface="B Nazanin" panose="00000400000000000000" pitchFamily="2" charset="-78"/>
              </a:rPr>
              <a:t>پاراسمپات</a:t>
            </a:r>
            <a:r>
              <a:rPr lang="fa-IR" sz="2800" dirty="0">
                <a:cs typeface="B Nazanin" panose="00000400000000000000" pitchFamily="2" charset="-78"/>
              </a:rPr>
              <a:t>یک)</a:t>
            </a:r>
            <a:br>
              <a:rPr lang="fa-IR" sz="2800" dirty="0">
                <a:cs typeface="B Nazanin" panose="00000400000000000000" pitchFamily="2" charset="-78"/>
              </a:rPr>
            </a:br>
            <a:br>
              <a:rPr lang="fa-IR" sz="2800" dirty="0">
                <a:cs typeface="B Nazanin" panose="00000400000000000000" pitchFamily="2" charset="-78"/>
              </a:rPr>
            </a:br>
            <a:r>
              <a:rPr lang="fa-IR" sz="2700" dirty="0">
                <a:cs typeface="B Nazanin" panose="00000400000000000000" pitchFamily="2" charset="-78"/>
              </a:rPr>
              <a:t>1.</a:t>
            </a:r>
            <a:r>
              <a:rPr lang="ar-SA" sz="2700" dirty="0">
                <a:cs typeface="B Nazanin" panose="00000400000000000000" pitchFamily="2" charset="-78"/>
              </a:rPr>
              <a:t>آنتی موسکارینی</a:t>
            </a:r>
            <a:r>
              <a:rPr lang="en-US" sz="2700" dirty="0">
                <a:cs typeface="B Nazanin" panose="00000400000000000000" pitchFamily="2" charset="-78"/>
              </a:rPr>
              <a:t>:</a:t>
            </a:r>
            <a:br>
              <a:rPr lang="en-US" sz="2700" dirty="0">
                <a:cs typeface="B Nazanin" panose="00000400000000000000" pitchFamily="2" charset="-78"/>
              </a:rPr>
            </a:br>
            <a:br>
              <a:rPr lang="en-US" sz="2700" dirty="0">
                <a:cs typeface="B Nazanin" panose="00000400000000000000" pitchFamily="2" charset="-78"/>
              </a:rPr>
            </a:br>
            <a:r>
              <a:rPr lang="en-US" sz="2700" dirty="0">
                <a:cs typeface="B Nazanin" panose="00000400000000000000" pitchFamily="2" charset="-78"/>
              </a:rPr>
              <a:t> </a:t>
            </a:r>
            <a:r>
              <a:rPr lang="fa-IR" sz="2200" b="0" dirty="0">
                <a:cs typeface="B Nazanin" panose="00000400000000000000" pitchFamily="2" charset="-78"/>
              </a:rPr>
              <a:t>مهارکننده‌های گیرنده موسکارینی استیل‌کولین در اندام‌های هدف → کاهش فعالیت پاراسمپاتیک</a:t>
            </a:r>
            <a:br>
              <a:rPr lang="en-US"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2.</a:t>
            </a:r>
            <a:r>
              <a:rPr lang="en-US" sz="2700" dirty="0">
                <a:cs typeface="B Nazanin" panose="00000400000000000000" pitchFamily="2" charset="-78"/>
              </a:rPr>
              <a:t> </a:t>
            </a:r>
            <a:r>
              <a:rPr lang="ar-SA" sz="2700" dirty="0">
                <a:cs typeface="B Nazanin" panose="00000400000000000000" pitchFamily="2" charset="-78"/>
              </a:rPr>
              <a:t>داروهای آنتی نیکوتینی</a:t>
            </a:r>
            <a:br>
              <a:rPr lang="en-US"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مهار گیرنده‌های نیکوتینی در محل اتصال عصب و عضله اسکلتی→ باعث شل شدن عضلات می‌شوند.</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a:t>
            </a:r>
            <a:r>
              <a:rPr lang="ar-SA" dirty="0"/>
              <a:t> </a:t>
            </a:r>
            <a:r>
              <a:rPr lang="ar-SA" sz="2700" dirty="0">
                <a:cs typeface="B Nazanin" panose="00000400000000000000" pitchFamily="2" charset="-78"/>
              </a:rPr>
              <a:t>داروهای آنتی نیکوتینی خودشان دو دسته هستند</a:t>
            </a:r>
            <a:r>
              <a:rPr lang="fa-IR" sz="2700" dirty="0">
                <a:cs typeface="B Nazanin" panose="00000400000000000000" pitchFamily="2" charset="-78"/>
              </a:rPr>
              <a:t> :</a:t>
            </a:r>
            <a:br>
              <a:rPr lang="fa-IR" sz="2700" dirty="0">
                <a:cs typeface="B Nazanin" panose="00000400000000000000" pitchFamily="2" charset="-78"/>
              </a:rPr>
            </a:br>
            <a:br>
              <a:rPr lang="en-US" dirty="0"/>
            </a:br>
            <a:r>
              <a:rPr lang="fa-IR" sz="2000" dirty="0">
                <a:cs typeface="B Nazanin" panose="00000400000000000000" pitchFamily="2" charset="-78"/>
              </a:rPr>
              <a:t>1. </a:t>
            </a:r>
            <a:r>
              <a:rPr lang="ar-SA" sz="2700" b="0" dirty="0">
                <a:cs typeface="B Nazanin" panose="00000400000000000000" pitchFamily="2" charset="-78"/>
              </a:rPr>
              <a:t>داروهای بلوکر عصبی</a:t>
            </a:r>
            <a:r>
              <a:rPr lang="en-US" sz="2700" b="0" dirty="0">
                <a:cs typeface="B Nazanin" panose="00000400000000000000" pitchFamily="2" charset="-78"/>
              </a:rPr>
              <a:t>-</a:t>
            </a:r>
            <a:r>
              <a:rPr lang="ar-SA" sz="2700" b="0" dirty="0">
                <a:cs typeface="B Nazanin" panose="00000400000000000000" pitchFamily="2" charset="-78"/>
              </a:rPr>
              <a:t>عضلانی </a:t>
            </a:r>
            <a:r>
              <a:rPr lang="en-US" sz="2700" b="0" dirty="0">
                <a:cs typeface="B Nazanin" panose="00000400000000000000" pitchFamily="2" charset="-78"/>
              </a:rPr>
              <a:t>)</a:t>
            </a:r>
            <a:r>
              <a:rPr lang="ar-SA" sz="2700" b="0" dirty="0">
                <a:cs typeface="B Nazanin" panose="00000400000000000000" pitchFamily="2" charset="-78"/>
              </a:rPr>
              <a:t>محل اتصال عصب به عضله را مهار می کند</a:t>
            </a:r>
            <a:r>
              <a:rPr lang="en-US" sz="2700" b="0" dirty="0">
                <a:cs typeface="B Nazanin" panose="00000400000000000000" pitchFamily="2" charset="-78"/>
              </a:rPr>
              <a:t>.(</a:t>
            </a:r>
            <a:br>
              <a:rPr lang="fa-IR" sz="2700" b="0" dirty="0">
                <a:cs typeface="B Nazanin" panose="00000400000000000000" pitchFamily="2" charset="-78"/>
              </a:rPr>
            </a:br>
            <a:br>
              <a:rPr lang="en-US" sz="2700" b="0" dirty="0">
                <a:cs typeface="B Nazanin" panose="00000400000000000000" pitchFamily="2" charset="-78"/>
              </a:rPr>
            </a:br>
            <a:r>
              <a:rPr lang="fa-IR" sz="2700" b="0" dirty="0">
                <a:cs typeface="B Nazanin" panose="00000400000000000000" pitchFamily="2" charset="-78"/>
              </a:rPr>
              <a:t>2. گانگلیون بلاکر ها</a:t>
            </a:r>
            <a:br>
              <a:rPr lang="en-US" dirty="0"/>
            </a:br>
            <a:br>
              <a:rPr lang="fa-IR" sz="2800" dirty="0">
                <a:cs typeface="B Nazanin" panose="00000400000000000000" pitchFamily="2" charset="-78"/>
              </a:rPr>
            </a:br>
            <a:br>
              <a:rPr lang="fa-IR" sz="2800" dirty="0">
                <a:cs typeface="B Nazanin" panose="00000400000000000000" pitchFamily="2" charset="-78"/>
              </a:rPr>
            </a:br>
            <a:endParaRPr lang="en-US" sz="2800" dirty="0">
              <a:cs typeface="B Nazanin" panose="00000400000000000000" pitchFamily="2" charset="-78"/>
            </a:endParaRPr>
          </a:p>
        </p:txBody>
      </p:sp>
    </p:spTree>
    <p:extLst>
      <p:ext uri="{BB962C8B-B14F-4D97-AF65-F5344CB8AC3E}">
        <p14:creationId xmlns:p14="http://schemas.microsoft.com/office/powerpoint/2010/main" val="3355766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5475-01C7-99C7-E6AF-12F5EF67CD77}"/>
              </a:ext>
            </a:extLst>
          </p:cNvPr>
          <p:cNvSpPr>
            <a:spLocks noGrp="1"/>
          </p:cNvSpPr>
          <p:nvPr>
            <p:ph type="title"/>
          </p:nvPr>
        </p:nvSpPr>
        <p:spPr>
          <a:xfrm>
            <a:off x="603250" y="539750"/>
            <a:ext cx="10985500" cy="519029"/>
          </a:xfrm>
        </p:spPr>
        <p:txBody>
          <a:bodyPr>
            <a:normAutofit fontScale="90000"/>
          </a:bodyPr>
          <a:lstStyle/>
          <a:p>
            <a:pPr algn="r" rtl="1"/>
            <a:r>
              <a:rPr lang="fa-IR" sz="2800" dirty="0">
                <a:cs typeface="B Nazanin" panose="00000400000000000000" pitchFamily="2" charset="-78"/>
              </a:rPr>
              <a:t>. </a:t>
            </a:r>
            <a:r>
              <a:rPr lang="ar-SA" sz="2800" dirty="0">
                <a:cs typeface="B Nazanin" panose="00000400000000000000" pitchFamily="2" charset="-78"/>
              </a:rPr>
              <a:t>داروهای بلوکر عصبی</a:t>
            </a:r>
            <a:r>
              <a:rPr lang="en-US" sz="2800" dirty="0">
                <a:cs typeface="B Nazanin" panose="00000400000000000000" pitchFamily="2" charset="-78"/>
              </a:rPr>
              <a:t>-</a:t>
            </a:r>
            <a:r>
              <a:rPr lang="ar-SA" sz="2800" dirty="0">
                <a:cs typeface="B Nazanin" panose="00000400000000000000" pitchFamily="2" charset="-78"/>
              </a:rPr>
              <a:t>عضلانی خودشان </a:t>
            </a:r>
            <a:r>
              <a:rPr lang="fa-IR" sz="2800" dirty="0">
                <a:cs typeface="B Nazanin" panose="00000400000000000000" pitchFamily="2" charset="-78"/>
              </a:rPr>
              <a:t>دو </a:t>
            </a:r>
            <a:r>
              <a:rPr lang="ar-SA" sz="2800" dirty="0">
                <a:cs typeface="B Nazanin" panose="00000400000000000000" pitchFamily="2" charset="-78"/>
              </a:rPr>
              <a:t>دسته اند</a:t>
            </a:r>
            <a:r>
              <a:rPr lang="fa-IR" sz="2800" dirty="0">
                <a:cs typeface="B Nazanin" panose="00000400000000000000" pitchFamily="2" charset="-78"/>
              </a:rPr>
              <a:t>:</a:t>
            </a:r>
            <a:br>
              <a:rPr lang="fa-IR" sz="2800" dirty="0">
                <a:cs typeface="B Nazanin" panose="00000400000000000000" pitchFamily="2" charset="-78"/>
              </a:rPr>
            </a:br>
            <a:br>
              <a:rPr lang="fa-IR" sz="2800" dirty="0">
                <a:cs typeface="B Nazanin" panose="00000400000000000000" pitchFamily="2" charset="-78"/>
              </a:rPr>
            </a:br>
            <a:r>
              <a:rPr lang="fa-IR" sz="2800" dirty="0">
                <a:cs typeface="B Nazanin" panose="00000400000000000000" pitchFamily="2" charset="-78"/>
              </a:rPr>
              <a:t>1.</a:t>
            </a:r>
            <a:r>
              <a:rPr lang="ar-SA" sz="2200" dirty="0">
                <a:cs typeface="B Nazanin" panose="00000400000000000000" pitchFamily="2" charset="-78"/>
              </a:rPr>
              <a:t>داروهای دپلاریزان </a:t>
            </a:r>
            <a:r>
              <a:rPr lang="fa-IR" sz="2200" dirty="0">
                <a:cs typeface="B Nazanin" panose="00000400000000000000" pitchFamily="2" charset="-78"/>
              </a:rPr>
              <a:t>(</a:t>
            </a:r>
            <a:r>
              <a:rPr lang="ar-SA" sz="2200" dirty="0">
                <a:cs typeface="B Nazanin" panose="00000400000000000000" pitchFamily="2" charset="-78"/>
              </a:rPr>
              <a:t>طول اثر طولانی</a:t>
            </a:r>
            <a:r>
              <a:rPr lang="fa-IR" sz="2200" dirty="0">
                <a:cs typeface="B Nazanin" panose="00000400000000000000" pitchFamily="2" charset="-78"/>
              </a:rPr>
              <a:t>)</a:t>
            </a:r>
            <a:r>
              <a:rPr lang="fa-IR" sz="2200" dirty="0">
                <a:cs typeface="B Nazanin" panose="00000400000000000000" pitchFamily="2" charset="-78"/>
                <a:sym typeface="Wingdings" panose="05000000000000000000" pitchFamily="2" charset="2"/>
              </a:rPr>
              <a:t>: (</a:t>
            </a:r>
            <a:r>
              <a:rPr lang="fa-IR" sz="2400" b="0" dirty="0">
                <a:cs typeface="B Nazanin" panose="00000400000000000000" pitchFamily="2" charset="-78"/>
              </a:rPr>
              <a:t>(ابتدا موجب دپولاریزاسیون (انقباض کوتاه)، سپس شلی پایدار عضله می‌شوند)</a:t>
            </a:r>
            <a:br>
              <a:rPr lang="fa-IR" sz="2200" dirty="0">
                <a:cs typeface="B Nazanin" panose="00000400000000000000" pitchFamily="2" charset="-78"/>
              </a:rPr>
            </a:br>
            <a:br>
              <a:rPr lang="en-US" sz="2200" dirty="0">
                <a:cs typeface="B Nazanin" panose="00000400000000000000" pitchFamily="2" charset="-78"/>
              </a:rPr>
            </a:br>
            <a:r>
              <a:rPr lang="fa-IR" sz="2200" dirty="0">
                <a:cs typeface="B Nazanin" panose="00000400000000000000" pitchFamily="2" charset="-78"/>
              </a:rPr>
              <a:t>2.</a:t>
            </a:r>
            <a:r>
              <a:rPr lang="ar-SA" sz="2200" dirty="0">
                <a:cs typeface="B Nazanin" panose="00000400000000000000" pitchFamily="2" charset="-78"/>
              </a:rPr>
              <a:t>غیر دپلاریزان </a:t>
            </a:r>
            <a:r>
              <a:rPr lang="fa-IR" sz="2200" dirty="0">
                <a:cs typeface="B Nazanin" panose="00000400000000000000" pitchFamily="2" charset="-78"/>
              </a:rPr>
              <a:t>(</a:t>
            </a:r>
            <a:r>
              <a:rPr lang="ar-SA" sz="2200" dirty="0">
                <a:cs typeface="B Nazanin" panose="00000400000000000000" pitchFamily="2" charset="-78"/>
              </a:rPr>
              <a:t>داروهایی با اثر کوتاه</a:t>
            </a:r>
            <a:r>
              <a:rPr lang="fa-IR" sz="2200" dirty="0">
                <a:cs typeface="B Nazanin" panose="00000400000000000000" pitchFamily="2" charset="-78"/>
              </a:rPr>
              <a:t>):(</a:t>
            </a:r>
            <a:r>
              <a:rPr lang="fa-IR" sz="2400" b="0" dirty="0">
                <a:cs typeface="B Nazanin" panose="00000400000000000000" pitchFamily="2" charset="-78"/>
              </a:rPr>
              <a:t>مهار رقابتی گیرنده نیکوتینی بدون دپولاریزاسیون → شل شدن عضلات بدون </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انقباض اولیه.</a:t>
            </a:r>
            <a:br>
              <a:rPr lang="fa-IR" sz="2400" b="0" dirty="0">
                <a:cs typeface="B Nazanin" panose="00000400000000000000" pitchFamily="2" charset="-78"/>
              </a:rPr>
            </a:br>
            <a:br>
              <a:rPr lang="fa-IR" sz="2400" b="0" dirty="0">
                <a:cs typeface="B Nazanin" panose="00000400000000000000" pitchFamily="2" charset="-78"/>
              </a:rPr>
            </a:br>
            <a:r>
              <a:rPr lang="fa-IR" sz="2400" b="0" dirty="0">
                <a:cs typeface="B Nazanin" panose="00000400000000000000" pitchFamily="2" charset="-78"/>
              </a:rPr>
              <a:t>* اثر این ‌ها با داروهای کولین‌استراز (مثل نئوستیگمین) برگشت‌پذیر است</a:t>
            </a:r>
            <a:br>
              <a:rPr lang="fa-IR" sz="2400" b="0" dirty="0">
                <a:cs typeface="B Nazanin" panose="00000400000000000000" pitchFamily="2" charset="-78"/>
              </a:rPr>
            </a:br>
            <a:br>
              <a:rPr lang="fa-IR" sz="2400" b="0" dirty="0">
                <a:cs typeface="B Nazanin" panose="00000400000000000000" pitchFamily="2" charset="-78"/>
              </a:rPr>
            </a:br>
            <a:br>
              <a:rPr lang="fa-IR" sz="2200" dirty="0">
                <a:cs typeface="B Nazanin" panose="00000400000000000000" pitchFamily="2" charset="-78"/>
              </a:rPr>
            </a:br>
            <a:br>
              <a:rPr lang="en-US" dirty="0"/>
            </a:br>
            <a:endParaRPr lang="en-US" sz="2800" dirty="0">
              <a:cs typeface="B Nazanin" panose="00000400000000000000" pitchFamily="2" charset="-78"/>
            </a:endParaRPr>
          </a:p>
        </p:txBody>
      </p:sp>
    </p:spTree>
    <p:extLst>
      <p:ext uri="{BB962C8B-B14F-4D97-AF65-F5344CB8AC3E}">
        <p14:creationId xmlns:p14="http://schemas.microsoft.com/office/powerpoint/2010/main" val="2327219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11F55-BEE2-764A-92EC-BDFC0EEBD625}"/>
              </a:ext>
            </a:extLst>
          </p:cNvPr>
          <p:cNvSpPr>
            <a:spLocks noGrp="1"/>
          </p:cNvSpPr>
          <p:nvPr>
            <p:ph type="title"/>
          </p:nvPr>
        </p:nvSpPr>
        <p:spPr>
          <a:xfrm>
            <a:off x="603250" y="539750"/>
            <a:ext cx="10985500" cy="543092"/>
          </a:xfrm>
        </p:spPr>
        <p:txBody>
          <a:bodyPr>
            <a:normAutofit fontScale="90000"/>
          </a:bodyPr>
          <a:lstStyle/>
          <a:p>
            <a:pPr algn="r"/>
            <a:r>
              <a:rPr lang="fa-IR" sz="2800" dirty="0">
                <a:cs typeface="B Nazanin" panose="00000400000000000000" pitchFamily="2" charset="-78"/>
              </a:rPr>
              <a:t>. داروهای آنتی موسکارینی:</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مهارکننده‌های گیرنده موسکارینی استیل‌کولین در اندام‌های هدف → کاهش فعالیت پاراسمپاتیک</a:t>
            </a:r>
            <a:br>
              <a:rPr lang="fa-IR" sz="2800" dirty="0">
                <a:cs typeface="B Nazanin" panose="00000400000000000000" pitchFamily="2" charset="-78"/>
              </a:rPr>
            </a:br>
            <a:br>
              <a:rPr lang="fa-IR" sz="2800" dirty="0">
                <a:cs typeface="B Nazanin" panose="00000400000000000000" pitchFamily="2" charset="-78"/>
              </a:rPr>
            </a:br>
            <a:r>
              <a:rPr lang="fa-IR" sz="2800" dirty="0">
                <a:cs typeface="B Nazanin" panose="00000400000000000000" pitchFamily="2" charset="-78"/>
              </a:rPr>
              <a:t>مثل داروهای : </a:t>
            </a:r>
            <a:r>
              <a:rPr lang="ar-SA" sz="2200" b="0" dirty="0">
                <a:cs typeface="B Nazanin" panose="00000400000000000000" pitchFamily="2" charset="-78"/>
              </a:rPr>
              <a:t>آتروپین</a:t>
            </a:r>
            <a:r>
              <a:rPr lang="fa-IR" sz="2200" b="0" dirty="0">
                <a:cs typeface="B Nazanin" panose="00000400000000000000" pitchFamily="2" charset="-78"/>
              </a:rPr>
              <a:t> ،</a:t>
            </a:r>
            <a:r>
              <a:rPr lang="ar-SA" sz="2200" b="0" dirty="0">
                <a:cs typeface="B Nazanin" panose="00000400000000000000" pitchFamily="2" charset="-78"/>
              </a:rPr>
              <a:t> هماتروپین</a:t>
            </a:r>
            <a:r>
              <a:rPr lang="fa-IR" sz="2200" b="0" dirty="0">
                <a:cs typeface="B Nazanin" panose="00000400000000000000" pitchFamily="2" charset="-78"/>
              </a:rPr>
              <a:t> ،</a:t>
            </a:r>
            <a:r>
              <a:rPr lang="ar-SA" sz="2200" b="0" dirty="0">
                <a:cs typeface="B Nazanin" panose="00000400000000000000" pitchFamily="2" charset="-78"/>
              </a:rPr>
              <a:t> تروپیکامید</a:t>
            </a:r>
            <a:r>
              <a:rPr lang="fa-IR" sz="2200" b="0" dirty="0">
                <a:cs typeface="B Nazanin" panose="00000400000000000000" pitchFamily="2" charset="-78"/>
              </a:rPr>
              <a:t>،</a:t>
            </a:r>
            <a:r>
              <a:rPr lang="ar-SA" sz="2200" b="0" dirty="0">
                <a:cs typeface="B Nazanin" panose="00000400000000000000" pitchFamily="2" charset="-78"/>
              </a:rPr>
              <a:t> پیرنزپین</a:t>
            </a:r>
            <a:r>
              <a:rPr lang="fa-IR" sz="2200" b="0" dirty="0">
                <a:cs typeface="B Nazanin" panose="00000400000000000000" pitchFamily="2" charset="-78"/>
              </a:rPr>
              <a:t>،</a:t>
            </a:r>
            <a:r>
              <a:rPr lang="ar-SA" sz="2200" b="0" dirty="0">
                <a:cs typeface="B Nazanin" panose="00000400000000000000" pitchFamily="2" charset="-78"/>
              </a:rPr>
              <a:t> تلنزپین</a:t>
            </a:r>
            <a:r>
              <a:rPr lang="fa-IR" sz="2200" b="0" dirty="0">
                <a:cs typeface="B Nazanin" panose="00000400000000000000" pitchFamily="2" charset="-78"/>
              </a:rPr>
              <a:t>،</a:t>
            </a:r>
            <a:r>
              <a:rPr lang="ar-SA" sz="2200" b="0" dirty="0">
                <a:cs typeface="B Nazanin" panose="00000400000000000000" pitchFamily="2" charset="-78"/>
              </a:rPr>
              <a:t> پروپانتیلین</a:t>
            </a:r>
            <a:r>
              <a:rPr lang="fa-IR" sz="2200" b="0" dirty="0">
                <a:cs typeface="B Nazanin" panose="00000400000000000000" pitchFamily="2" charset="-78"/>
              </a:rPr>
              <a:t>، دی سیکلومین، هیوسین،</a:t>
            </a:r>
            <a:r>
              <a:rPr lang="ar-SA" sz="2200" b="0" dirty="0">
                <a:cs typeface="B Nazanin" panose="00000400000000000000" pitchFamily="2" charset="-78"/>
              </a:rPr>
              <a:t> بنزتروپین</a:t>
            </a:r>
            <a:r>
              <a:rPr lang="fa-IR" sz="2200" b="0" dirty="0">
                <a:cs typeface="B Nazanin" panose="00000400000000000000" pitchFamily="2" charset="-78"/>
              </a:rPr>
              <a:t>، تری هگزیل فندین، </a:t>
            </a:r>
            <a:r>
              <a:rPr lang="ar-SA" sz="2200" b="0" dirty="0">
                <a:cs typeface="B Nazanin" panose="00000400000000000000" pitchFamily="2" charset="-78"/>
              </a:rPr>
              <a:t>بی پریدی</a:t>
            </a:r>
            <a:r>
              <a:rPr lang="fa-IR" sz="2200" b="0" dirty="0">
                <a:cs typeface="B Nazanin" panose="00000400000000000000" pitchFamily="2" charset="-78"/>
              </a:rPr>
              <a:t>ن،</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تولترودین، فناسین، سولفیناسین، </a:t>
            </a:r>
            <a:r>
              <a:rPr lang="ar-SA" sz="2200" b="0" dirty="0">
                <a:cs typeface="B Nazanin" panose="00000400000000000000" pitchFamily="2" charset="-78"/>
              </a:rPr>
              <a:t>ایپرا تروپیوم</a:t>
            </a:r>
            <a:r>
              <a:rPr lang="fa-IR" sz="2200" b="0" dirty="0">
                <a:cs typeface="B Nazanin" panose="00000400000000000000" pitchFamily="2" charset="-78"/>
              </a:rPr>
              <a:t>، </a:t>
            </a:r>
            <a:r>
              <a:rPr lang="ar-SA" sz="2200" b="0" dirty="0">
                <a:cs typeface="B Nazanin" panose="00000400000000000000" pitchFamily="2" charset="-78"/>
              </a:rPr>
              <a:t>تیوتروپیوم گلیکوپیرولات</a:t>
            </a:r>
            <a:r>
              <a:rPr lang="fa-IR" sz="2200" b="0" dirty="0">
                <a:cs typeface="B Nazanin" panose="00000400000000000000" pitchFamily="2" charset="-78"/>
              </a:rPr>
              <a:t>، </a:t>
            </a:r>
            <a:r>
              <a:rPr lang="ar-SA" sz="2200" b="0" dirty="0">
                <a:cs typeface="B Nazanin" panose="00000400000000000000" pitchFamily="2" charset="-78"/>
              </a:rPr>
              <a:t>اسکوپولامین</a:t>
            </a:r>
            <a:r>
              <a:rPr lang="fa-IR" sz="2200" b="0" dirty="0">
                <a:cs typeface="B Nazanin" panose="00000400000000000000" pitchFamily="2" charset="-78"/>
              </a:rPr>
              <a:t>، کلینیدیوم، اکسی بوتینین</a:t>
            </a:r>
            <a:br>
              <a:rPr lang="en-US" dirty="0"/>
            </a:br>
            <a:br>
              <a:rPr lang="fa-IR" dirty="0"/>
            </a:br>
            <a:r>
              <a:rPr lang="fa-IR" sz="2700" dirty="0">
                <a:cs typeface="B Nazanin" panose="00000400000000000000" pitchFamily="2" charset="-78"/>
              </a:rPr>
              <a:t>. آتروپین</a:t>
            </a:r>
            <a:br>
              <a:rPr lang="en-US" sz="2700" dirty="0">
                <a:cs typeface="B Nazanin" panose="00000400000000000000" pitchFamily="2" charset="-78"/>
              </a:rPr>
            </a:br>
            <a:br>
              <a:rPr lang="en-US" sz="2700" dirty="0">
                <a:cs typeface="B Nazanin" panose="00000400000000000000" pitchFamily="2" charset="-78"/>
              </a:rPr>
            </a:br>
            <a:r>
              <a:rPr lang="fa-IR" sz="2700" dirty="0">
                <a:cs typeface="B Nazanin" panose="00000400000000000000" pitchFamily="2" charset="-78"/>
              </a:rPr>
              <a:t>کاربردها:</a:t>
            </a:r>
            <a:br>
              <a:rPr lang="fa-IR" sz="2700" dirty="0">
                <a:cs typeface="B Nazanin" panose="00000400000000000000" pitchFamily="2" charset="-78"/>
              </a:rPr>
            </a:br>
            <a:br>
              <a:rPr lang="en-US" sz="2700" dirty="0">
                <a:cs typeface="B Nazanin" panose="00000400000000000000" pitchFamily="2" charset="-78"/>
              </a:rPr>
            </a:br>
            <a:r>
              <a:rPr lang="fa-IR" sz="2200" b="0" dirty="0">
                <a:cs typeface="B Nazanin" panose="00000400000000000000" pitchFamily="2" charset="-78"/>
              </a:rPr>
              <a:t>درمان برادی‌کاردی (کاهش ضربان قلب)،پیشگیری از ترشحات بزاقی و تنفسی قبل از جراحی ،درمان مسمومیت با حشره‌کش‌های ارگانوفسفره یا </a:t>
            </a:r>
            <a:r>
              <a:rPr lang="fa-IR" sz="2200" b="0">
                <a:cs typeface="B Nazanin" panose="00000400000000000000" pitchFamily="2" charset="-78"/>
              </a:rPr>
              <a:t>مهارکننده‌های </a:t>
            </a:r>
            <a:br>
              <a:rPr lang="fa-IR" sz="2200" b="0">
                <a:cs typeface="B Nazanin" panose="00000400000000000000" pitchFamily="2" charset="-78"/>
              </a:rPr>
            </a:br>
            <a:br>
              <a:rPr lang="fa-IR" sz="2200" b="0">
                <a:cs typeface="B Nazanin" panose="00000400000000000000" pitchFamily="2" charset="-78"/>
              </a:rPr>
            </a:br>
            <a:r>
              <a:rPr lang="fa-IR" sz="2200" b="0">
                <a:cs typeface="B Nazanin" panose="00000400000000000000" pitchFamily="2" charset="-78"/>
              </a:rPr>
              <a:t>کولین‌استراز</a:t>
            </a:r>
            <a:r>
              <a:rPr lang="fa-IR" sz="2200" b="0" dirty="0">
                <a:cs typeface="B Nazanin" panose="00000400000000000000" pitchFamily="2" charset="-78"/>
              </a:rPr>
              <a:t>،گشاد کردن مردمک در معاینه چشم (به‌صورت قطره)</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عوارض:</a:t>
            </a:r>
            <a:br>
              <a:rPr lang="fa-IR" sz="2700">
                <a:cs typeface="B Nazanin" panose="00000400000000000000" pitchFamily="2" charset="-78"/>
              </a:rPr>
            </a:br>
            <a:br>
              <a:rPr lang="fa-IR" sz="2700">
                <a:cs typeface="B Nazanin" panose="00000400000000000000" pitchFamily="2" charset="-78"/>
              </a:rPr>
            </a:br>
            <a:r>
              <a:rPr lang="fa-IR" sz="2200" b="0">
                <a:cs typeface="B Nazanin" panose="00000400000000000000" pitchFamily="2" charset="-78"/>
              </a:rPr>
              <a:t>خشکی </a:t>
            </a:r>
            <a:r>
              <a:rPr lang="fa-IR" sz="2200" b="0" dirty="0">
                <a:cs typeface="B Nazanin" panose="00000400000000000000" pitchFamily="2" charset="-78"/>
              </a:rPr>
              <a:t>دهان ،یبوست ،احتباس ادرار،تاکی‌کاردی ،تاری دید / گشاد شدن مردمک ،افزایش فشار داخل چشم (خطرناک در گلوکوم </a:t>
            </a:r>
            <a:r>
              <a:rPr lang="fa-IR" sz="2200" b="0">
                <a:cs typeface="B Nazanin" panose="00000400000000000000" pitchFamily="2" charset="-78"/>
              </a:rPr>
              <a:t>زاویه بسته)</a:t>
            </a:r>
            <a:br>
              <a:rPr lang="en-US" dirty="0"/>
            </a:br>
            <a:br>
              <a:rPr lang="en-US" dirty="0"/>
            </a:br>
            <a:r>
              <a:rPr lang="fa-IR" sz="2200" b="0" dirty="0">
                <a:cs typeface="B Nazanin" panose="00000400000000000000" pitchFamily="2" charset="-78"/>
              </a:rPr>
              <a:t> </a:t>
            </a:r>
            <a:br>
              <a:rPr lang="en-US" dirty="0"/>
            </a:br>
            <a:endParaRPr lang="en-US" sz="2800" dirty="0">
              <a:cs typeface="B Nazanin" panose="00000400000000000000" pitchFamily="2" charset="-78"/>
            </a:endParaRPr>
          </a:p>
        </p:txBody>
      </p:sp>
    </p:spTree>
    <p:extLst>
      <p:ext uri="{BB962C8B-B14F-4D97-AF65-F5344CB8AC3E}">
        <p14:creationId xmlns:p14="http://schemas.microsoft.com/office/powerpoint/2010/main" val="1407648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16DB-D3FA-999E-48E9-38903727B0B6}"/>
              </a:ext>
            </a:extLst>
          </p:cNvPr>
          <p:cNvSpPr>
            <a:spLocks noGrp="1"/>
          </p:cNvSpPr>
          <p:nvPr>
            <p:ph type="title"/>
          </p:nvPr>
        </p:nvSpPr>
        <p:spPr>
          <a:xfrm>
            <a:off x="603250" y="300790"/>
            <a:ext cx="10985500" cy="529390"/>
          </a:xfrm>
        </p:spPr>
        <p:txBody>
          <a:bodyPr>
            <a:normAutofit fontScale="90000"/>
          </a:bodyPr>
          <a:lstStyle/>
          <a:p>
            <a:pPr algn="r" rtl="1"/>
            <a:r>
              <a:rPr lang="en-US" sz="2700" b="0" dirty="0"/>
              <a:t>.</a:t>
            </a:r>
            <a:r>
              <a:rPr lang="fa-IR" sz="2700" dirty="0"/>
              <a:t> </a:t>
            </a:r>
            <a:r>
              <a:rPr lang="fa-IR" sz="2700" dirty="0">
                <a:cs typeface="B Nazanin" panose="00000400000000000000" pitchFamily="2" charset="-78"/>
              </a:rPr>
              <a:t>اسکوپولامین </a:t>
            </a:r>
            <a:br>
              <a:rPr lang="en-US" sz="2200" b="0" dirty="0">
                <a:cs typeface="B Nazanin" panose="00000400000000000000" pitchFamily="2" charset="-78"/>
              </a:rPr>
            </a:br>
            <a:br>
              <a:rPr lang="en-US" sz="2200" dirty="0">
                <a:cs typeface="B Nazanin" panose="00000400000000000000" pitchFamily="2" charset="-78"/>
              </a:rPr>
            </a:br>
            <a:r>
              <a:rPr lang="fa-IR" sz="2200" dirty="0">
                <a:cs typeface="B Nazanin" panose="00000400000000000000" pitchFamily="2" charset="-78"/>
              </a:rPr>
              <a:t>کاربردها:</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پیشگیری از بیماری حرکت ، درمان تهوع و استفراغ بعد از بیهوشی ،کاهش ترشحات قبل از عمل</a:t>
            </a:r>
            <a:br>
              <a:rPr lang="fa-IR" sz="2200" b="0" dirty="0">
                <a:cs typeface="B Nazanin" panose="00000400000000000000" pitchFamily="2" charset="-78"/>
              </a:rPr>
            </a:br>
            <a:br>
              <a:rPr lang="en-US" sz="2200" b="0" dirty="0">
                <a:cs typeface="B Nazanin" panose="00000400000000000000" pitchFamily="2" charset="-78"/>
              </a:rPr>
            </a:br>
            <a:r>
              <a:rPr lang="fa-IR" sz="2200" dirty="0">
                <a:cs typeface="B Nazanin" panose="00000400000000000000" pitchFamily="2" charset="-78"/>
              </a:rPr>
              <a:t>عوارض:</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خواب‌آلودگی، گیجی</a:t>
            </a:r>
            <a:r>
              <a:rPr lang="en-US" sz="2200" b="0" dirty="0">
                <a:cs typeface="B Nazanin" panose="00000400000000000000" pitchFamily="2" charset="-78"/>
              </a:rPr>
              <a:t> </a:t>
            </a:r>
            <a:r>
              <a:rPr lang="fa-IR" sz="2200" b="0" dirty="0">
                <a:cs typeface="B Nazanin" panose="00000400000000000000" pitchFamily="2" charset="-78"/>
              </a:rPr>
              <a:t>،خشکی دهان و چشم ،اختلال بینایی ،یبوست، احتباس ادرار</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700" dirty="0">
                <a:cs typeface="B Nazanin" panose="00000400000000000000" pitchFamily="2" charset="-78"/>
              </a:rPr>
              <a:t>ایپراتروپیوم و تیوتروپیوم </a:t>
            </a:r>
            <a:br>
              <a:rPr lang="en-US"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کاربردها: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درمان بیماری‌های انسدادی مزمن ریه </a:t>
            </a:r>
            <a:r>
              <a:rPr lang="en-US" sz="2200" b="0" dirty="0">
                <a:cs typeface="B Nazanin" panose="00000400000000000000" pitchFamily="2" charset="-78"/>
              </a:rPr>
              <a:t>COPD)</a:t>
            </a:r>
            <a:r>
              <a:rPr lang="fa-IR" sz="2200" b="0" dirty="0">
                <a:cs typeface="B Nazanin" panose="00000400000000000000" pitchFamily="2" charset="-78"/>
              </a:rPr>
              <a:t>) ، درمان آسم (برونکودیلاتور) ، کاهش ترشحات راه هوایی</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عوارض:</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خشکی دهان و گلو ، سرفه خفیف ، تحریک گلو</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 صورت تماس با چشم → تاری دید یا افزایش فشار چشم</a:t>
            </a:r>
            <a:endParaRPr lang="en-US" sz="2200" b="0" dirty="0">
              <a:cs typeface="B Nazanin" panose="00000400000000000000" pitchFamily="2" charset="-78"/>
            </a:endParaRPr>
          </a:p>
        </p:txBody>
      </p:sp>
    </p:spTree>
    <p:extLst>
      <p:ext uri="{BB962C8B-B14F-4D97-AF65-F5344CB8AC3E}">
        <p14:creationId xmlns:p14="http://schemas.microsoft.com/office/powerpoint/2010/main" val="3010348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22F74-DD66-02E3-CB19-3E1048086461}"/>
              </a:ext>
            </a:extLst>
          </p:cNvPr>
          <p:cNvSpPr>
            <a:spLocks noGrp="1"/>
          </p:cNvSpPr>
          <p:nvPr>
            <p:ph type="title"/>
          </p:nvPr>
        </p:nvSpPr>
        <p:spPr>
          <a:xfrm>
            <a:off x="603250" y="539750"/>
            <a:ext cx="10985500" cy="506997"/>
          </a:xfrm>
        </p:spPr>
        <p:txBody>
          <a:bodyPr>
            <a:noAutofit/>
          </a:bodyPr>
          <a:lstStyle/>
          <a:p>
            <a:pPr algn="r" rtl="1"/>
            <a:r>
              <a:rPr lang="fa-IR" sz="2000" b="0" dirty="0">
                <a:cs typeface="B Nazanin" panose="00000400000000000000" pitchFamily="2" charset="-78"/>
              </a:rPr>
              <a:t>.</a:t>
            </a:r>
            <a:r>
              <a:rPr lang="fa-IR" sz="2400" dirty="0">
                <a:cs typeface="B Nazanin" panose="00000400000000000000" pitchFamily="2" charset="-78"/>
              </a:rPr>
              <a:t>اکسی‌بوتینین، تولترودین، سولفناسین </a:t>
            </a:r>
            <a:br>
              <a:rPr lang="en-US" sz="2000" b="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کاربردها:</a:t>
            </a:r>
            <a:br>
              <a:rPr lang="fa-IR" sz="2000" dirty="0">
                <a:cs typeface="B Nazanin" panose="00000400000000000000" pitchFamily="2" charset="-78"/>
              </a:rPr>
            </a:br>
            <a:br>
              <a:rPr lang="fa-IR" sz="2000" dirty="0">
                <a:cs typeface="B Nazanin" panose="00000400000000000000" pitchFamily="2" charset="-78"/>
              </a:rPr>
            </a:br>
            <a:r>
              <a:rPr lang="fa-IR" sz="2000" b="0" dirty="0">
                <a:cs typeface="B Nazanin" panose="00000400000000000000" pitchFamily="2" charset="-78"/>
              </a:rPr>
              <a:t>درمان مثانه بیش‌فعال ،کاهش بی‌اختیاری ادرار ،کاهش اسپاسم مثانه</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عوارض:</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خشکی دهان ،یبوست ،احتباس ادرار ،تاری دید ،گرمازدگی (کاهش تعریق)</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a:t>
            </a:r>
            <a:r>
              <a:rPr lang="fa-IR" sz="2400" dirty="0">
                <a:cs typeface="B Nazanin" panose="00000400000000000000" pitchFamily="2" charset="-78"/>
              </a:rPr>
              <a:t>دی سیکلومین ، هیوسین</a:t>
            </a:r>
            <a:br>
              <a:rPr lang="fa-IR" sz="24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کاربردها:</a:t>
            </a:r>
            <a:br>
              <a:rPr lang="fa-IR" sz="240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درمان اسپاسم دستگاه گوارش ،کاهش علائم سندرم روده تحریک‌پذیر </a:t>
            </a:r>
            <a:r>
              <a:rPr lang="en-US" sz="2000" b="0" dirty="0">
                <a:cs typeface="B Nazanin" panose="00000400000000000000" pitchFamily="2" charset="-78"/>
              </a:rPr>
              <a:t>IBS)</a:t>
            </a:r>
            <a:r>
              <a:rPr lang="fa-IR" sz="2000" b="0" dirty="0">
                <a:cs typeface="B Nazanin" panose="00000400000000000000" pitchFamily="2" charset="-78"/>
              </a:rPr>
              <a:t>) ،کاهش ترشحات معدی</a:t>
            </a:r>
            <a:br>
              <a:rPr lang="fa-IR" sz="2400" dirty="0">
                <a:cs typeface="B Nazanin" panose="00000400000000000000" pitchFamily="2" charset="-78"/>
              </a:rPr>
            </a:br>
            <a:br>
              <a:rPr lang="fa-IR" sz="2400" dirty="0">
                <a:cs typeface="B Nazanin" panose="00000400000000000000" pitchFamily="2" charset="-78"/>
              </a:rPr>
            </a:br>
            <a:r>
              <a:rPr lang="fa-IR" sz="2000" dirty="0">
                <a:cs typeface="B Nazanin" panose="00000400000000000000" pitchFamily="2" charset="-78"/>
              </a:rPr>
              <a:t>عوارض:</a:t>
            </a:r>
            <a:br>
              <a:rPr lang="fa-IR" sz="2400" dirty="0">
                <a:cs typeface="B Nazanin" panose="00000400000000000000" pitchFamily="2" charset="-78"/>
              </a:rPr>
            </a:br>
            <a:br>
              <a:rPr lang="fa-IR" sz="2400" dirty="0">
                <a:cs typeface="B Nazanin" panose="00000400000000000000" pitchFamily="2" charset="-78"/>
              </a:rPr>
            </a:br>
            <a:r>
              <a:rPr lang="fa-IR" sz="2000" b="0" dirty="0">
                <a:cs typeface="B Nazanin" panose="00000400000000000000" pitchFamily="2" charset="-78"/>
              </a:rPr>
              <a:t>یبوست ،خشکی دهان ،تهوع یا استفراغ ،گیجی یا خواب‌آلودگی</a:t>
            </a:r>
            <a:endParaRPr lang="en-US" sz="2000" b="0" dirty="0">
              <a:cs typeface="B Nazanin" panose="00000400000000000000" pitchFamily="2" charset="-78"/>
            </a:endParaRPr>
          </a:p>
        </p:txBody>
      </p:sp>
    </p:spTree>
    <p:extLst>
      <p:ext uri="{BB962C8B-B14F-4D97-AF65-F5344CB8AC3E}">
        <p14:creationId xmlns:p14="http://schemas.microsoft.com/office/powerpoint/2010/main" val="1624949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8538-437F-BCA0-D4E3-B7ABF9F14FED}"/>
              </a:ext>
            </a:extLst>
          </p:cNvPr>
          <p:cNvSpPr>
            <a:spLocks noGrp="1"/>
          </p:cNvSpPr>
          <p:nvPr>
            <p:ph type="title"/>
          </p:nvPr>
        </p:nvSpPr>
        <p:spPr>
          <a:xfrm>
            <a:off x="603250" y="252664"/>
            <a:ext cx="10985500" cy="757990"/>
          </a:xfrm>
        </p:spPr>
        <p:txBody>
          <a:bodyPr>
            <a:normAutofit fontScale="90000"/>
          </a:bodyPr>
          <a:lstStyle/>
          <a:p>
            <a:pPr algn="r" rtl="1"/>
            <a:r>
              <a:rPr lang="fa-IR" sz="2700" dirty="0">
                <a:cs typeface="B Nazanin" panose="00000400000000000000" pitchFamily="2" charset="-78"/>
              </a:rPr>
              <a:t>تروپیکاماید و سیکلوپنتولات </a:t>
            </a:r>
            <a:br>
              <a:rPr lang="en-US"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کاربردها: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گشاد کردن مردمک </a:t>
            </a:r>
            <a:r>
              <a:rPr lang="en-US" sz="2200" b="0" dirty="0">
                <a:cs typeface="B Nazanin" panose="00000400000000000000" pitchFamily="2" charset="-78"/>
              </a:rPr>
              <a:t>Mydriasis)</a:t>
            </a:r>
            <a:r>
              <a:rPr lang="fa-IR" sz="2200" b="0" dirty="0">
                <a:cs typeface="B Nazanin" panose="00000400000000000000" pitchFamily="2" charset="-78"/>
              </a:rPr>
              <a:t> ) ، فلج تطابق  </a:t>
            </a:r>
            <a:r>
              <a:rPr lang="en-US" sz="2200" b="0" dirty="0">
                <a:cs typeface="B Nazanin" panose="00000400000000000000" pitchFamily="2" charset="-78"/>
              </a:rPr>
              <a:t>( Cycloplegia) </a:t>
            </a:r>
            <a:r>
              <a:rPr lang="fa-IR" sz="2200" b="0" dirty="0">
                <a:cs typeface="B Nazanin" panose="00000400000000000000" pitchFamily="2" charset="-78"/>
              </a:rPr>
              <a:t>برای معاینه چشم</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عوارض:</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تاری دید</a:t>
            </a:r>
            <a:r>
              <a:rPr lang="en-US" sz="2200" b="0" dirty="0">
                <a:cs typeface="B Nazanin" panose="00000400000000000000" pitchFamily="2" charset="-78"/>
              </a:rPr>
              <a:t> </a:t>
            </a:r>
            <a:r>
              <a:rPr lang="fa-IR" sz="2200" b="0" dirty="0">
                <a:cs typeface="B Nazanin" panose="00000400000000000000" pitchFamily="2" charset="-78"/>
              </a:rPr>
              <a:t>، حساسیت به نور  ،افزایش فشار داخل چشم</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 بنزتروپین و تری‌هگزیفنیدیل</a:t>
            </a:r>
            <a:br>
              <a:rPr lang="en-US"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کاربردها: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درمان پارکینسون خفیف،  درمان عوارض خارج‌هرمی </a:t>
            </a:r>
            <a:r>
              <a:rPr lang="en-US" sz="2200" b="0" dirty="0">
                <a:cs typeface="B Nazanin" panose="00000400000000000000" pitchFamily="2" charset="-78"/>
              </a:rPr>
              <a:t>( EPS) </a:t>
            </a:r>
            <a:r>
              <a:rPr lang="fa-IR" sz="2200" b="0" dirty="0">
                <a:cs typeface="B Nazanin" panose="00000400000000000000" pitchFamily="2" charset="-78"/>
              </a:rPr>
              <a:t>ناشی از داروهای آنتی‌سایکوتیک</a:t>
            </a:r>
            <a:br>
              <a:rPr lang="fa-IR" sz="2200" b="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عوارض:</a:t>
            </a:r>
            <a:br>
              <a:rPr lang="fa-IR" sz="2200" dirty="0">
                <a:cs typeface="B Nazanin" panose="00000400000000000000" pitchFamily="2" charset="-78"/>
              </a:rPr>
            </a:br>
            <a:br>
              <a:rPr lang="fa-IR" sz="2200" dirty="0">
                <a:cs typeface="B Nazanin" panose="00000400000000000000" pitchFamily="2" charset="-78"/>
              </a:rPr>
            </a:br>
            <a:r>
              <a:rPr lang="fa-IR" sz="2200" b="0" dirty="0">
                <a:cs typeface="B Nazanin" panose="00000400000000000000" pitchFamily="2" charset="-78"/>
              </a:rPr>
              <a:t>گیجی، توهم</a:t>
            </a:r>
            <a:r>
              <a:rPr lang="en-US" sz="2200" b="0" dirty="0">
                <a:cs typeface="B Nazanin" panose="00000400000000000000" pitchFamily="2" charset="-78"/>
              </a:rPr>
              <a:t> </a:t>
            </a:r>
            <a:r>
              <a:rPr lang="fa-IR" sz="2200" b="0" dirty="0">
                <a:cs typeface="B Nazanin" panose="00000400000000000000" pitchFamily="2" charset="-78"/>
              </a:rPr>
              <a:t>،خشکی دهان ، یبوست، احتباس ادرار ،تاری دید</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*عوارض کلی آنتی‌موسکارینیک‌ها (مشترک بین همه داروها)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خشکی دهان و گلو ، یبوست ،احتباس ادرار ،تاری دید ،تاکی‌کاردی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کاهش تعریق → خطر گرمازدگی</a:t>
            </a:r>
            <a:br>
              <a:rPr lang="fa-IR" sz="2200" b="0" dirty="0">
                <a:cs typeface="B Nazanin" panose="00000400000000000000" pitchFamily="2" charset="-78"/>
              </a:rPr>
            </a:br>
            <a:r>
              <a:rPr lang="fa-IR" sz="2200" b="0" dirty="0">
                <a:cs typeface="B Nazanin" panose="00000400000000000000" pitchFamily="2" charset="-78"/>
              </a:rPr>
              <a:t>گیجی، خواب‌آلودگی (به‌ویژه در سالمندان)</a:t>
            </a:r>
            <a:endParaRPr lang="en-US" sz="2200" b="0" dirty="0">
              <a:cs typeface="B Nazanin" panose="00000400000000000000" pitchFamily="2" charset="-78"/>
            </a:endParaRPr>
          </a:p>
        </p:txBody>
      </p:sp>
    </p:spTree>
    <p:extLst>
      <p:ext uri="{BB962C8B-B14F-4D97-AF65-F5344CB8AC3E}">
        <p14:creationId xmlns:p14="http://schemas.microsoft.com/office/powerpoint/2010/main" val="1628169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14A4-867D-C768-787B-13E1F0A3F367}"/>
              </a:ext>
            </a:extLst>
          </p:cNvPr>
          <p:cNvSpPr>
            <a:spLocks noGrp="1"/>
          </p:cNvSpPr>
          <p:nvPr>
            <p:ph type="title"/>
          </p:nvPr>
        </p:nvSpPr>
        <p:spPr>
          <a:xfrm>
            <a:off x="603250" y="324853"/>
            <a:ext cx="10985500" cy="931479"/>
          </a:xfrm>
        </p:spPr>
        <p:txBody>
          <a:bodyPr>
            <a:noAutofit/>
          </a:bodyPr>
          <a:lstStyle/>
          <a:p>
            <a:pPr algn="r" rtl="1"/>
            <a:r>
              <a:rPr lang="fa-IR" sz="2400" dirty="0">
                <a:cs typeface="B Nazanin" panose="00000400000000000000" pitchFamily="2" charset="-78"/>
              </a:rPr>
              <a:t>داروهای آنتی‌نیکوتینی </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اثر استیل‌کولین بر گیرنده‌های نیکوتینی را مهار می‌کنند.</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۱. داروهای گانگلیون‌بلاکر </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مهار انتقال عصبی در گانگلیون‌های خودکار (سمپاتیک و پاراسمپاتیک) → کاهش فعالیت هر دو سیستم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امروزه بندرت در درمان استفاده می‌شوند (به علت عوارض زیاد).مثل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هگزامِتونیوم </a:t>
            </a:r>
            <a:r>
              <a:rPr lang="en-US" sz="2000" b="0" dirty="0">
                <a:cs typeface="B Nazanin" panose="00000400000000000000" pitchFamily="2" charset="-78"/>
              </a:rPr>
              <a:t>Hexamethonium)</a:t>
            </a:r>
            <a:r>
              <a:rPr lang="fa-IR" sz="2000" b="0" dirty="0">
                <a:cs typeface="B Nazanin" panose="00000400000000000000" pitchFamily="2" charset="-78"/>
              </a:rPr>
              <a:t>)</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مِکامیل‌آمین </a:t>
            </a:r>
            <a:r>
              <a:rPr lang="en-US" sz="2000" b="0" dirty="0">
                <a:cs typeface="B Nazanin" panose="00000400000000000000" pitchFamily="2" charset="-78"/>
              </a:rPr>
              <a:t>Mecamylamine)</a:t>
            </a:r>
            <a:r>
              <a:rPr lang="fa-IR" sz="2000" b="0" dirty="0">
                <a:cs typeface="B Nazanin" panose="00000400000000000000" pitchFamily="2" charset="-78"/>
              </a:rPr>
              <a:t>)</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تری‌مِتامِفون </a:t>
            </a:r>
            <a:r>
              <a:rPr lang="en-US" sz="2000" b="0" dirty="0">
                <a:cs typeface="B Nazanin" panose="00000400000000000000" pitchFamily="2" charset="-78"/>
              </a:rPr>
              <a:t>(</a:t>
            </a:r>
            <a:r>
              <a:rPr lang="en-US" sz="2000" b="0" dirty="0" err="1">
                <a:cs typeface="B Nazanin" panose="00000400000000000000" pitchFamily="2" charset="-78"/>
              </a:rPr>
              <a:t>Trimethaphan</a:t>
            </a:r>
            <a:r>
              <a:rPr lang="en-US" sz="2000" b="0" dirty="0">
                <a:cs typeface="B Nazanin" panose="00000400000000000000" pitchFamily="2" charset="-78"/>
              </a:rPr>
              <a:t>)</a:t>
            </a:r>
            <a:br>
              <a:rPr lang="en-US" sz="2000" b="0" dirty="0">
                <a:cs typeface="B Nazanin" panose="00000400000000000000" pitchFamily="2" charset="-78"/>
              </a:rPr>
            </a:br>
            <a:br>
              <a:rPr lang="en-US" sz="2000" b="0" dirty="0">
                <a:cs typeface="B Nazanin" panose="00000400000000000000" pitchFamily="2" charset="-78"/>
              </a:rPr>
            </a:br>
            <a:r>
              <a:rPr lang="fa-IR" sz="2000" dirty="0">
                <a:cs typeface="B Nazanin" panose="00000400000000000000" pitchFamily="2" charset="-78"/>
              </a:rPr>
              <a:t>کاربردها (محدود و قدیمی):</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کنترل فشار خون شدید (هیپرتانسیون بحرانی – در گذشته)</a:t>
            </a:r>
            <a:r>
              <a:rPr lang="en-US" sz="2000" b="0" dirty="0">
                <a:cs typeface="B Nazanin" panose="00000400000000000000" pitchFamily="2" charset="-78"/>
              </a:rPr>
              <a:t> </a:t>
            </a:r>
            <a:r>
              <a:rPr lang="fa-IR" sz="2000" b="0" dirty="0">
                <a:cs typeface="B Nazanin" panose="00000400000000000000" pitchFamily="2" charset="-78"/>
              </a:rPr>
              <a:t>، ایجاد افت فشار در جراحی‌ها (هیپوتانسیون کنترل‌شده)</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عوارض جانبی: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افت شدید فشار خون وضعیتی ، یبوست شدید ،احتباس ادرار ،تاری دید (فلج تطابق) ،خشکی دهان ،تاکی‌کاردی ،اختلال نعوظ</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*امروزه به‌دلیل عوارض، تقریباً کنار گذاشته شده‌اند</a:t>
            </a:r>
            <a:endParaRPr lang="en-US" sz="2000" b="0" dirty="0">
              <a:cs typeface="B Nazanin" panose="00000400000000000000" pitchFamily="2" charset="-78"/>
            </a:endParaRPr>
          </a:p>
        </p:txBody>
      </p:sp>
    </p:spTree>
    <p:extLst>
      <p:ext uri="{BB962C8B-B14F-4D97-AF65-F5344CB8AC3E}">
        <p14:creationId xmlns:p14="http://schemas.microsoft.com/office/powerpoint/2010/main" val="972372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39475-5812-82EF-8630-3BE7ACF11610}"/>
              </a:ext>
            </a:extLst>
          </p:cNvPr>
          <p:cNvSpPr>
            <a:spLocks noGrp="1"/>
          </p:cNvSpPr>
          <p:nvPr>
            <p:ph type="title"/>
          </p:nvPr>
        </p:nvSpPr>
        <p:spPr>
          <a:xfrm>
            <a:off x="603250" y="300789"/>
            <a:ext cx="10985500" cy="336885"/>
          </a:xfrm>
        </p:spPr>
        <p:txBody>
          <a:bodyPr>
            <a:noAutofit/>
          </a:bodyPr>
          <a:lstStyle/>
          <a:p>
            <a:pPr algn="r" rtl="1"/>
            <a:r>
              <a:rPr lang="fa-IR" sz="2000" dirty="0">
                <a:cs typeface="B Nazanin" panose="00000400000000000000" pitchFamily="2" charset="-78"/>
              </a:rPr>
              <a:t>۲. داروهای بلوک‌کننده عصبی–عضلانی </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مهار گیرنده‌های نیکوتینی در محل اتصال عصب و عضله اسکلتی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باعث شل شدن عضلات می‌شوند.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در بیهوشی و مراقبت‌های ویژه کاربرد دارند.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دو نوع اصلی:</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الف) داروهای دپولاریزان </a:t>
            </a:r>
            <a:br>
              <a:rPr lang="fa-IR" sz="200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ابتدا موجب دپولاریزاسیون (انقباض کوتاه)، سپس شلی پایدار عضله می‌شوند.</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ساکسینیل‌کولین </a:t>
            </a:r>
            <a:r>
              <a:rPr lang="en-US" sz="2000" dirty="0">
                <a:cs typeface="B Nazanin" panose="00000400000000000000" pitchFamily="2" charset="-78"/>
              </a:rPr>
              <a:t>Succinylcholine)</a:t>
            </a:r>
            <a:r>
              <a:rPr lang="fa-IR" sz="2000" dirty="0">
                <a:cs typeface="B Nazanin" panose="00000400000000000000" pitchFamily="2" charset="-78"/>
              </a:rPr>
              <a:t>)</a:t>
            </a:r>
            <a:br>
              <a:rPr lang="en-US" sz="2000" b="0" dirty="0">
                <a:cs typeface="B Nazanin" panose="00000400000000000000" pitchFamily="2" charset="-78"/>
              </a:rPr>
            </a:br>
            <a:br>
              <a:rPr lang="en-US" sz="2000" b="0" dirty="0">
                <a:cs typeface="B Nazanin" panose="00000400000000000000" pitchFamily="2" charset="-78"/>
              </a:rPr>
            </a:br>
            <a:r>
              <a:rPr lang="fa-IR" sz="2000" dirty="0">
                <a:cs typeface="B Nazanin" panose="00000400000000000000" pitchFamily="2" charset="-78"/>
              </a:rPr>
              <a:t>کاربردها</a:t>
            </a:r>
            <a:r>
              <a:rPr lang="fa-IR" sz="2000" b="0" dirty="0">
                <a:cs typeface="B Nazanin" panose="00000400000000000000" pitchFamily="2" charset="-78"/>
              </a:rPr>
              <a:t>:</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القای شلی عضلانی سریع در لوله‌گذاری داخل تراشه </a:t>
            </a:r>
            <a:r>
              <a:rPr lang="en-US" sz="2000" b="0" dirty="0">
                <a:cs typeface="B Nazanin" panose="00000400000000000000" pitchFamily="2" charset="-78"/>
              </a:rPr>
              <a:t> </a:t>
            </a:r>
            <a:r>
              <a:rPr lang="fa-IR" sz="2000" b="0" dirty="0">
                <a:cs typeface="B Nazanin" panose="00000400000000000000" pitchFamily="2" charset="-78"/>
              </a:rPr>
              <a:t>، در بیهوشی عمومی برای شل کردن عضلات ، در شوک الکتریکی درمانی </a:t>
            </a:r>
            <a:r>
              <a:rPr lang="en-US" sz="2000" b="0" dirty="0">
                <a:cs typeface="B Nazanin" panose="00000400000000000000" pitchFamily="2" charset="-78"/>
              </a:rPr>
              <a:t>ECT) </a:t>
            </a:r>
            <a:r>
              <a:rPr lang="fa-IR" sz="2000" b="0" dirty="0">
                <a:cs typeface="B Nazanin" panose="00000400000000000000" pitchFamily="2" charset="-78"/>
              </a:rPr>
              <a:t>) برای جلوگیری از </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انقباض شدید عضلات</a:t>
            </a:r>
            <a:br>
              <a:rPr lang="fa-IR" sz="2000" b="0" dirty="0">
                <a:cs typeface="B Nazanin" panose="00000400000000000000" pitchFamily="2" charset="-78"/>
              </a:rPr>
            </a:br>
            <a:br>
              <a:rPr lang="en-US" sz="2000" b="0" dirty="0">
                <a:cs typeface="B Nazanin" panose="00000400000000000000" pitchFamily="2" charset="-78"/>
              </a:rPr>
            </a:br>
            <a:r>
              <a:rPr lang="fa-IR" sz="2000" dirty="0">
                <a:cs typeface="B Nazanin" panose="00000400000000000000" pitchFamily="2" charset="-78"/>
              </a:rPr>
              <a:t>عوارض:</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درد عضلانی پس از عمل (به علت فاسیکولاسیون اولیه)، هایپرکالمی (افزایش پتاسیم خون)  ، برادی‌کاردی ، افزایش فشار داخل چشم</a:t>
            </a:r>
            <a:br>
              <a:rPr lang="fa-IR" sz="2000" b="0" dirty="0">
                <a:cs typeface="B Nazanin" panose="00000400000000000000" pitchFamily="2" charset="-78"/>
              </a:rPr>
            </a:br>
            <a:br>
              <a:rPr lang="fa-IR" sz="2000" b="0" dirty="0">
                <a:cs typeface="B Nazanin" panose="00000400000000000000" pitchFamily="2" charset="-78"/>
              </a:rPr>
            </a:br>
            <a:endParaRPr lang="en-US" sz="2000" b="0" dirty="0">
              <a:cs typeface="B Nazanin" panose="00000400000000000000" pitchFamily="2" charset="-78"/>
            </a:endParaRPr>
          </a:p>
        </p:txBody>
      </p:sp>
    </p:spTree>
    <p:extLst>
      <p:ext uri="{BB962C8B-B14F-4D97-AF65-F5344CB8AC3E}">
        <p14:creationId xmlns:p14="http://schemas.microsoft.com/office/powerpoint/2010/main" val="1691270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FF9C8-29C7-AED5-D65F-FE91F64F0C8D}"/>
              </a:ext>
            </a:extLst>
          </p:cNvPr>
          <p:cNvSpPr>
            <a:spLocks noGrp="1"/>
          </p:cNvSpPr>
          <p:nvPr>
            <p:ph type="title"/>
          </p:nvPr>
        </p:nvSpPr>
        <p:spPr/>
        <p:txBody>
          <a:bodyPr>
            <a:noAutofit/>
          </a:bodyPr>
          <a:lstStyle/>
          <a:p>
            <a:pPr algn="r" rtl="1"/>
            <a:r>
              <a:rPr lang="fa-IR" sz="2400" dirty="0">
                <a:cs typeface="B Nazanin" panose="00000400000000000000" pitchFamily="2" charset="-78"/>
              </a:rPr>
              <a:t>ب) داروهای غیردپولاریزان </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مهار رقابتی گیرنده نیکوتینی بدون دپولاریزاسیون → شل شدن عضلات بدون انقباض اولیه.</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اثر آن‌ها با داروهای کولین‌استراز (مثل نئوستیگمین) برگشت‌پذیر است.</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مثل:</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پَن‌کُرونیوم </a:t>
            </a:r>
            <a:r>
              <a:rPr lang="en-US" sz="2000" b="0" dirty="0" err="1">
                <a:cs typeface="B Nazanin" panose="00000400000000000000" pitchFamily="2" charset="-78"/>
              </a:rPr>
              <a:t>Pancuronium</a:t>
            </a:r>
            <a:r>
              <a:rPr lang="en-US" sz="2000" b="0" dirty="0">
                <a:cs typeface="B Nazanin" panose="00000400000000000000" pitchFamily="2" charset="-78"/>
              </a:rPr>
              <a:t>)</a:t>
            </a:r>
            <a:r>
              <a:rPr lang="fa-IR" sz="2000" b="0" dirty="0">
                <a:cs typeface="B Nazanin" panose="00000400000000000000" pitchFamily="2" charset="-78"/>
              </a:rPr>
              <a:t>)</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وِکورونیوم </a:t>
            </a:r>
            <a:r>
              <a:rPr lang="en-US" sz="2000" b="0" dirty="0">
                <a:cs typeface="B Nazanin" panose="00000400000000000000" pitchFamily="2" charset="-78"/>
              </a:rPr>
              <a:t>Vecuronium)</a:t>
            </a:r>
            <a:r>
              <a:rPr lang="fa-IR" sz="2000" b="0" dirty="0">
                <a:cs typeface="B Nazanin" panose="00000400000000000000" pitchFamily="2" charset="-78"/>
              </a:rPr>
              <a:t>)</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رُکورونیوم </a:t>
            </a:r>
            <a:r>
              <a:rPr lang="en-US" sz="2000" b="0" dirty="0">
                <a:cs typeface="B Nazanin" panose="00000400000000000000" pitchFamily="2" charset="-78"/>
              </a:rPr>
              <a:t>Rocuronium)</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آتراکوریوم </a:t>
            </a:r>
            <a:r>
              <a:rPr lang="en-US" sz="2000" b="0" dirty="0">
                <a:cs typeface="B Nazanin" panose="00000400000000000000" pitchFamily="2" charset="-78"/>
              </a:rPr>
              <a:t>Atracurium)</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سیس‌آتراکوریوم </a:t>
            </a:r>
            <a:r>
              <a:rPr lang="en-US" sz="2000" b="0" dirty="0" err="1">
                <a:cs typeface="B Nazanin" panose="00000400000000000000" pitchFamily="2" charset="-78"/>
              </a:rPr>
              <a:t>Cisatracurium</a:t>
            </a:r>
            <a:r>
              <a:rPr lang="en-US" sz="2000" b="0" dirty="0">
                <a:cs typeface="B Nazanin" panose="00000400000000000000" pitchFamily="2" charset="-78"/>
              </a:rPr>
              <a:t>)</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میواکوریوم </a:t>
            </a:r>
            <a:r>
              <a:rPr lang="en-US" sz="2000" b="0" dirty="0">
                <a:cs typeface="B Nazanin" panose="00000400000000000000" pitchFamily="2" charset="-78"/>
              </a:rPr>
              <a:t>Mivacurium)</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کاربردها:</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شل کردن عضلات اسکلتی در طی جراحی یا لوله‌گذاری تراشه ، تسهیل تهویه مکانیکی در </a:t>
            </a:r>
            <a:r>
              <a:rPr lang="en-US" sz="2000" b="0" dirty="0">
                <a:cs typeface="B Nazanin" panose="00000400000000000000" pitchFamily="2" charset="-78"/>
              </a:rPr>
              <a:t>ICU)</a:t>
            </a:r>
            <a:r>
              <a:rPr lang="fa-IR" sz="2000" b="0" dirty="0">
                <a:cs typeface="B Nazanin" panose="00000400000000000000" pitchFamily="2" charset="-78"/>
              </a:rPr>
              <a:t> )،کمک در هم‌راستاسازی استخوان‌ها در ارتوپدی</a:t>
            </a:r>
            <a:br>
              <a:rPr lang="fa-IR" sz="2000" b="0" dirty="0">
                <a:cs typeface="B Nazanin" panose="00000400000000000000" pitchFamily="2" charset="-78"/>
              </a:rPr>
            </a:br>
            <a:endParaRPr lang="en-US" sz="2000" b="0" dirty="0">
              <a:cs typeface="B Nazanin" panose="00000400000000000000" pitchFamily="2" charset="-78"/>
            </a:endParaRPr>
          </a:p>
        </p:txBody>
      </p:sp>
    </p:spTree>
    <p:extLst>
      <p:ext uri="{BB962C8B-B14F-4D97-AF65-F5344CB8AC3E}">
        <p14:creationId xmlns:p14="http://schemas.microsoft.com/office/powerpoint/2010/main" val="1309019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04FB6-7B2F-2DC2-C2FB-8BE28702E4AA}"/>
              </a:ext>
            </a:extLst>
          </p:cNvPr>
          <p:cNvSpPr>
            <a:spLocks noGrp="1"/>
          </p:cNvSpPr>
          <p:nvPr>
            <p:ph type="title"/>
          </p:nvPr>
        </p:nvSpPr>
        <p:spPr>
          <a:xfrm>
            <a:off x="603250" y="539750"/>
            <a:ext cx="10985500" cy="434808"/>
          </a:xfrm>
        </p:spPr>
        <p:txBody>
          <a:bodyPr>
            <a:noAutofit/>
          </a:bodyPr>
          <a:lstStyle/>
          <a:p>
            <a:pPr algn="r" rtl="1"/>
            <a:r>
              <a:rPr lang="fa-IR" sz="2000" dirty="0">
                <a:cs typeface="B Nazanin" panose="00000400000000000000" pitchFamily="2" charset="-78"/>
              </a:rPr>
              <a:t>عوارض:</a:t>
            </a:r>
            <a:br>
              <a:rPr lang="fa-IR" sz="200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آپنه (به علت فلج تنفسی) ، افت فشار خون (به‌ویژه با آتراکوریوم)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آزاد شدن هیستامین → قرمزی و برونکواسپاسم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تاکی‌کاردی (با پَن‌کُرونیوم)</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ضعف عضلانی موقت پس از عمل</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نیاز به پایش تنفس و استفاده از دستگاه تهویه در طول مصرف.</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*ملاحظات پرستاری کلی برای آنتی‌نیکوتینیک‌ها</a:t>
            </a:r>
            <a:br>
              <a:rPr lang="fa-IR" sz="2000" b="0">
                <a:cs typeface="B Nazanin" panose="00000400000000000000" pitchFamily="2" charset="-78"/>
              </a:rPr>
            </a:br>
            <a:br>
              <a:rPr lang="fa-IR" sz="2000" b="0">
                <a:cs typeface="B Nazanin" panose="00000400000000000000" pitchFamily="2" charset="-78"/>
              </a:rPr>
            </a:br>
            <a:r>
              <a:rPr lang="fa-IR" sz="2000" b="0">
                <a:cs typeface="B Nazanin" panose="00000400000000000000" pitchFamily="2" charset="-78"/>
              </a:rPr>
              <a:t>پایش </a:t>
            </a:r>
            <a:r>
              <a:rPr lang="fa-IR" sz="2000" b="0" dirty="0">
                <a:cs typeface="B Nazanin" panose="00000400000000000000" pitchFamily="2" charset="-78"/>
              </a:rPr>
              <a:t>دقیق تنفس و اکسیژناسیون بیمار (به‌ویژه در داروهای بلوک‌کننده عضلانی)</a:t>
            </a:r>
            <a:br>
              <a:rPr lang="fa-IR" sz="2000" b="0">
                <a:cs typeface="B Nazanin" panose="00000400000000000000" pitchFamily="2" charset="-78"/>
              </a:rPr>
            </a:br>
            <a:br>
              <a:rPr lang="fa-IR" sz="2000" b="0">
                <a:cs typeface="B Nazanin" panose="00000400000000000000" pitchFamily="2" charset="-78"/>
              </a:rPr>
            </a:br>
            <a:r>
              <a:rPr lang="fa-IR" sz="2000" b="0">
                <a:cs typeface="B Nazanin" panose="00000400000000000000" pitchFamily="2" charset="-78"/>
              </a:rPr>
              <a:t>آماده‌سازی </a:t>
            </a:r>
            <a:r>
              <a:rPr lang="fa-IR" sz="2000" b="0" dirty="0">
                <a:cs typeface="B Nazanin" panose="00000400000000000000" pitchFamily="2" charset="-78"/>
              </a:rPr>
              <a:t>وسایل احیاء و تهویه مکانیکی قبل از تزریق</a:t>
            </a:r>
            <a:br>
              <a:rPr lang="fa-IR" sz="2000" b="0">
                <a:cs typeface="B Nazanin" panose="00000400000000000000" pitchFamily="2" charset="-78"/>
              </a:rPr>
            </a:br>
            <a:br>
              <a:rPr lang="fa-IR" sz="2000" b="0">
                <a:cs typeface="B Nazanin" panose="00000400000000000000" pitchFamily="2" charset="-78"/>
              </a:rPr>
            </a:br>
            <a:r>
              <a:rPr lang="fa-IR" sz="2000" b="0">
                <a:cs typeface="B Nazanin" panose="00000400000000000000" pitchFamily="2" charset="-78"/>
              </a:rPr>
              <a:t>پایش </a:t>
            </a:r>
            <a:r>
              <a:rPr lang="fa-IR" sz="2000" b="0" dirty="0">
                <a:cs typeface="B Nazanin" panose="00000400000000000000" pitchFamily="2" charset="-78"/>
              </a:rPr>
              <a:t>فشار خون و ضربان قلب</a:t>
            </a:r>
            <a:br>
              <a:rPr lang="fa-IR" sz="2000" b="0">
                <a:cs typeface="B Nazanin" panose="00000400000000000000" pitchFamily="2" charset="-78"/>
              </a:rPr>
            </a:br>
            <a:br>
              <a:rPr lang="fa-IR" sz="2000" b="0">
                <a:cs typeface="B Nazanin" panose="00000400000000000000" pitchFamily="2" charset="-78"/>
              </a:rPr>
            </a:br>
            <a:r>
              <a:rPr lang="fa-IR" sz="2000" b="0">
                <a:cs typeface="B Nazanin" panose="00000400000000000000" pitchFamily="2" charset="-78"/>
              </a:rPr>
              <a:t>در </a:t>
            </a:r>
            <a:r>
              <a:rPr lang="fa-IR" sz="2000" b="0" dirty="0">
                <a:cs typeface="B Nazanin" panose="00000400000000000000" pitchFamily="2" charset="-78"/>
              </a:rPr>
              <a:t>صورت استفاده از داروهای غیردپولاریزان → آماده کردن آنتاگونیست (نئوستیگمین یا سوگامادکس)</a:t>
            </a:r>
            <a:br>
              <a:rPr lang="fa-IR" sz="2000" b="0">
                <a:cs typeface="B Nazanin" panose="00000400000000000000" pitchFamily="2" charset="-78"/>
              </a:rPr>
            </a:br>
            <a:br>
              <a:rPr lang="fa-IR" sz="2000" b="0">
                <a:cs typeface="B Nazanin" panose="00000400000000000000" pitchFamily="2" charset="-78"/>
              </a:rPr>
            </a:br>
            <a:r>
              <a:rPr lang="fa-IR" sz="2000" b="0">
                <a:cs typeface="B Nazanin" panose="00000400000000000000" pitchFamily="2" charset="-78"/>
              </a:rPr>
              <a:t>پس </a:t>
            </a:r>
            <a:r>
              <a:rPr lang="fa-IR" sz="2000" b="0" dirty="0">
                <a:cs typeface="B Nazanin" panose="00000400000000000000" pitchFamily="2" charset="-78"/>
              </a:rPr>
              <a:t>از اتمام عمل، اطمینان از بازگشت تنفس خودبه‌خودی قبل از خروج بیمار از بیهوشی</a:t>
            </a:r>
            <a:endParaRPr lang="en-US" sz="2000" dirty="0"/>
          </a:p>
        </p:txBody>
      </p:sp>
    </p:spTree>
    <p:extLst>
      <p:ext uri="{BB962C8B-B14F-4D97-AF65-F5344CB8AC3E}">
        <p14:creationId xmlns:p14="http://schemas.microsoft.com/office/powerpoint/2010/main" val="1653743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B5B1-1D7C-1EF7-6EAB-029EE8807A0E}"/>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E63750FF-1F85-07D3-F367-3CA0B00D56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411913"/>
      </p:ext>
    </p:extLst>
  </p:cSld>
  <p:clrMapOvr>
    <a:masterClrMapping/>
  </p:clrMapOvr>
</p:sld>
</file>

<file path=ppt/theme/theme1.xml><?xml version="1.0" encoding="utf-8"?>
<a:theme xmlns:a="http://schemas.openxmlformats.org/drawingml/2006/main" name="33_DynamicLight">
  <a:themeElements>
    <a:clrScheme name="33_DynamicLight">
      <a:dk1>
        <a:srgbClr val="5E5E5E"/>
      </a:dk1>
      <a:lt1>
        <a:srgbClr val="005E0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فارما(1)</Template>
  <TotalTime>680</TotalTime>
  <Words>5359</Words>
  <Application>Microsoft Office PowerPoint</Application>
  <PresentationFormat>Widescreen</PresentationFormat>
  <Paragraphs>41</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B Nazanin</vt:lpstr>
      <vt:lpstr>Helvetica Neue</vt:lpstr>
      <vt:lpstr>Helvetica Neue Medium</vt:lpstr>
      <vt:lpstr>33_DynamicLight</vt:lpstr>
      <vt:lpstr>PowerPoint Presentation</vt:lpstr>
      <vt:lpstr>. داروهای پاراسمپاتومیمتیک Parasympathomimetic drugs))(داروهای کولینرژیک Cholinergic drugs))   از دو واژه ساخته شده:Parasympathetic" + "mimetic"  به معنی تقلید کننده یعنی داروهایی که اثرات سیستم پاراسمپاتیک را تقلید می‌کنند   عملکرد:  این داروها با افزایش اثر استیل‌کولین یا تحریک گیرنده‌های کولینرژیک باعث بروز اثرات پاراسمپاتیک می‌شوند، از جمله:  کاهش ضربان قلب (Bradycardia)، تنگ شدن مردمک Miosis)) ، افزایش ترشح بزاق و اشک ، افزایش حرکات و ترشحات گوارشی ، انقباض مثانه و   تسهیل ادرار  . داروهای مقلد پاراسمپاتیک  دو نوع اند:  1. مستقیم الاثر : با تحریک مستقیم گیرنده های پاراسمپاتیکی ( موسکارینی و نیکوتینی) باعث تحریک سیستم پاراسمپاتیکی می شود .  2. غیر مستقیم الاثر:با مهار گیرنده های آنزیم استیل کولین استراز از تخریب استیل کولین جلوگیری کرده و باعث تحریک مداوم و مستمر گیرنده های   پاراسمپاتیک می شود</vt:lpstr>
      <vt:lpstr> *داروهای مستقیم الاثر خودشان دو دسته اند :  1.سنتتیک : استیل کولین _متاکولین _کارباکول _بتانکول  2.طبیعی : آلکالوئید های گیاهی- پیلوکارپین - وارنیکلین – نیکوتین – موسکارین  * دارو های غیرمستقیم الاثر هم خودشان 2 دسته اند:  1.با اثربرگشت پذیر:  .کاربامات ها )فیزوستگمین – نئوستگمین - پریدوستگمین(  . غیر کاربامات ها )گالانتامین –  دونپزیل– تاکرین –ریواستگمین)  2. با اثر برگشت ناپذیر: یعنی آنزیم استیل کولین استراز را برگشت ناپذیرمهار می کنند؛  اثرات طولانی و خیلی عارضه دار دارند چون استیل   کولین تخریب نمی شود و دائما تحریک میکند  داروها:اکوتیوفیت-ایزوفلوروفیت  اورگانوفسفره ها)سم بوده و دارو نیستند و دو دسته اند):  آفت کش ها: پاراتیون-مالاتیون-دی کلرووس  گازهای جنگی: تابون-سارین – سومن </vt:lpstr>
      <vt:lpstr>. استیل کولین  هم گیرنده های موسکارینی و هم گیرنده های نیکوتینی را تحریک کرده و اثرات متنوعی نشان می دهد.خیلی سریع تحت تاثیر آنزیم استیل کولین استراز قرار می  گیرد به همین دلیل از آن دارو نمی سازند و ندرتا به عنوان دارو استفاده می شود. گاها آمپول های چشمی 1 درصد دارد که در چشم به عنوان یک عامل میوتیک   در جراحی های قسمت قدامی چشم استفاده می شود  . بتانکول  یکی از داروهای کولینرژیک است که به صورت اختصاصی گیرنده های موسکارینی پاراسمپاتیک را تحریک می کند  قرص های , 50 , 25 ,10mgدارد و همچنین محلول تزریقی زیر جلدی هم دارد که در بیمارستان ها استفاده می شود .فقط گیرنده های موسکارینی را   تحریک می کند. خیلی طولانی اثرتر است.  موارد مصرف:  1.در بیماری رفلاکس معده به مری GERD از آسیب های انتهای مری جلوگیری می کند.در رفلاکس معده یک داروی دیگر هم استفاده می شود بنام  متوکلوپرامید که در اصل ضد تهوع است اما یک اثر محیطی هم دارد کاردیا را تنگ کرده و تخلیه معده را تسریع می کند. البته متوکلوپرامید اثرات مغزی هم  دارد اما در بیماری رفلاکس این اثرات به درد نمی خورد. داروی دومپریدون عین داروی متوکلوپرامید است و در رفلاکس استفاده می شود اما خاصیت ضد تهوع  ندارد. دلیل اینکه متوکلوپرامید خاصیت ضد تهوع دارد این است که به مغز وارد می شود </vt:lpstr>
      <vt:lpstr>2. در درمان آتونی (موتیلیتی یا همان حرکات کاهش یافته روده ها یا مثانه بعد از اعمال جراحی یا عفونت این اندام ها یا ترومای وارد شده به این اندام ها)  داروی بتانکول بدلیل اینکه به عنوان خوراکی مصرف می شود لذا بهترین گزینه برای درمان آتونی است.  برخی افراد در دفع ادرار مشکل دارند که به دو دلیل می تواند باشد:  الف) عضله دترسور مثانه به درستی منقبض نمی شود .  ب( اسفنگتر مثانه خیلی محکم کیپ شده است.  حالا اگرعلت عدم دفع ادرار کاهش موتیلیتی مثانه باشد، می شود با یک دارویی مثل بتانکول عارضه را رفع کرد.اما اگر مشکل به دلیل عدم عملکرد اسفنگتر باشد باید   دارویی مصرف شود که سمپاتیک را از کار بیاندازد چون سمپاتیک اسفنگتر را منقبض می کند  * بتانکول در انسداد مکانیکی مجاری ادراری یا روده ای  نباید مصرف شود چون خطر  پارگی  یا آسیب شدید دارد.  * عوارض جانبی مهم دارو : ا از آن‌جا که بتانکول یک آگونیست کولینرژیک موسکارینی است، عوارضش مشابه تحریک بیش‌ازحد سیستم پاراسمپاتیک است:  تعریق شدید (از عوارض شاخص) ،تهوع، استفراغ، اسهال، کرامپ شکمی، افزایش ترشحات بزاق و اشک ، افت فشار خون، برادی‌کاردی (کندی ضربان قلب)  تنگی نفس یا برونکواسپاسم در بیماران آسمی   </vt:lpstr>
      <vt:lpstr>. کارباکول  داروی کارباکول نیز مانند بتانکول از آگونیست‌های کولینرژیک (پاراسمپاتومیمتیک‌ها) است، اما تفاوت مهمش این است که هم گیرنده‌های موسکارینی و هم   نیکوتینی را تحریک میکند  اشکال دارویی:  قطره چشمی (محلول چشمی 0.75٪ تا 3٪) — شکل دارویی رایج و بالینی اصلی  تزریقی داخل چشمی (0.01٪ تا 0.02٪) — معمولاً در حین جراحی‌های چشمی (مثل جراحی کاتاراکت) برای ایجاد میوز فوری استفاده می‌شود  *کارباکول به‌صورت خوراکی مصرف نمی‌شود چون جذب سیستمیک زیاد دارد و ممکن است عوارض شدید ایجاد کند   قطره چشمی در درمان بیماری آب سیاه یاهمان گلوکوم استفاده می شود. بیماری که فشار داخل چشم افزایش پیدا می کند که به آن گلوکوم با زاویه بسته یا تنگ   گویند(  فشار داخل چشم در حالت عادی باید زیر20 باشد.هرچه فشار بالاتر رود خطرناک تر است مثلا در فشار 50 دید مختل می شود و تاری دید و دوبینی و   درد شدید در چشم مشاهده می شود. فشار زیاد در چشم باعث شده سلول های بینایی در شبکیه آتروفی شده اند وکوری برگشت ناپذیر را باعث می شود  عوارض جانبی (به‌ویژه عارضه معروف)  از آنجا که کارباکول اثر کولینرژیک قوی دارد، عوارضش هم ناشی از تحریک بیش‌ازحد گیرنده‌های موسکارینی است:  عوارض چشمی : میوز طولانی‌مدت (تنگی مداوم مردمک) ،تاری دید، اسپاسم تطابق (مشکل در دید دور)، افزایش ترشح اشک ،تحریک یا قرمزی چشم</vt:lpstr>
      <vt:lpstr>* نکته: داروهای مقلد پاراسمپاتیک چه به صورت سیستمیک )قرص و کپسول و (... و چه به صورت موضعی در چشم بکار بروند باعث اختلال دید در شب می   شود. لذا یکی از ایرادات داروهایی مثل کارباکول این است که در نور کم فرد توانایی دید را از دست می دهد که البته این اثر دائمی نبوده و با تمام شدن اثر دارو رفع   می شود  . متاکولین، موسکارین و نیکوتین:   داروهای کلینیکال نیستند و به صورت بالینی استفاده نمی شوند و فقط کاربرد تحقیقاتی دارند  . پیلوکارپین  از داروهای پاراسمپاتومیمتیک‌ها (کولینرژیک‌ها) است که اثر اصلی آن تحریک گیرنده‌های موسکارینی است  اشکال دارویی:  . قطره چشمی (متداول‌ترین شکل دارو) معمولاً به صورت 1٪، 2٪، 3٪ یا 4٪ موجود است.  . ژل چشمی  . قرص خوراکی (مثل Salagen®)  معمولاً قرص های 5 میلی گرم که برای تحریک ترشحات بزاق استفاده می شود   </vt:lpstr>
      <vt:lpstr>کاربرد دارویی:  . قطره چشمی در چشم خاصیت میوتیک دارد و در درمان گلوکوم با زاویه بسته استفاده می شود همچنین در موارد اورژانسی گلوکوم هم به کار می رود  . یکی از قوی ترین محرک ها برای افزایش تولید اشک در چشم است  . در درمان خشکی دهان Xerostomia):): در بیماران مبتلا به سندرم شوگرن یا خشکی دهان ناشی از رادیوتراپی سر و گردن  → به شکل قرص خوراکی استفاده می‌شود تا ترشح بزاق را افزایش دهد.  عوارض جانبی مهم  موضعی (در مصرف چشمی): تاری دید به‌ویژه در شب (به علت میوزیس)، درد چشم یا سردرد اطراف چشم (به علت اسپاسم عضله مژگانی)، اشک‌ریزش یا سوزش  احتمال بروز نزدیک‌بینی گذرا،  خطر جداشدگی شبکیه (نادر، ولی مهم)  سیستمی (در مصرف خوراکی یا جذب زیاد از چشم): تعریق زیاد،  تهوع، استفراغ، اسهال، تکرر ادرار ، اسپاسم شکمی، افت فشار خون و برادی‌کاردی،  تنگی نفس  در بیماران مبتلا به آسم یا COPD </vt:lpstr>
      <vt:lpstr>. وارنیکلین :  آگونیست نسبی گیرنده های نیکوتینی است و کاربردش در ترک سیگار است ) داروی کمکی در ترک دخانیات(  ترک اعتیاد به دخانیات بدون کمک گرفتن از  داروها تقریبا غیرممکن است.  اشکال دارویی:  قرص خوراکی   معمولاً در دوزهای 0.5 mg و 1 mg در دسترس است.  نحوه مصرف معمول  درمان معمولاً ۱ هفته قبل از تاریخ ترک سیگار شروع می‌شود.  دوزبندی رایج:  روز 1–3: 0.5 mg یک بار در روز  روز 4–7: 0.5 mg دو بار در روز  از روز 8 به بعد: 1 mg دو بار در روز (برای 12 هفته)  در صورت نیاز، درمان می‌تواند تا 24 هفته ادامه یاب  * اسپری بینی وارنیکلین برای خشکی چشم استفاده میشه و این مورد مصرف توسط FDA  آمریکا تایید شده است ولی در ایران موجود نیست  .     </vt:lpstr>
      <vt:lpstr>. فیزوستگمین :  داروی فیزوستیگمین یک مهارکننده‌ی برگشت‌پذیر آنزیم استیل‌کولین‌استراز است و در دسته‌ی داروهای کولینرژیک قرار می‌گیرد.   اشکال دارویی  . محلول تزریقی   .فرم خوراکی یا قرص به ندرت استفاده می‌شود و در بازار ایران معمولاً فقط فرم تزریقی موجود است  کاربردهای درمانی (موارد مصرف)  . درمان مسمومیت با داروهای آنتی‌کولینرژیک یا آنتی‌هیستامینیک مثل: آتروپین،، دیفن‌هیدرامین، تری‌سایکلین‌ها.( در این موارد فیزوستیگمین داروی انتخابی   است.)  .درمان افت موقتی سطح هوشیاری ناشی از آنتی‌کولینرژیک‌ها  .گاهی به‌صورت موضعی در درمان گلوکوم (آب‌سیاه چشم)  عوارض جانبی مهم:   به‌دلیل افزایش فعالیت کولینرژیک (افزایش استیل‌کولین):  برادی‌کاردی (کندی ضربان قلب)، افت فشار خون، تشنج (در صورت مصرف زیاد)،افزایش ترشحات بزاق و برونش،تعریق زیاد،تهوع، استفراغ،  اسهال، کرامپ شکمی برونکواسپاسم، بلاک قلبی یا ایست قلبی (در دوز بالا یا تزریق سریع)</vt:lpstr>
      <vt:lpstr>. نئوستگمین:  مهارکننده‌ی برگشت‌پذیر استیل‌کولین‌استراز   اشکال دارویی  .محلول تزریقی  .قرص خوراکی: معمولاً قرص های  15 یا 30 میلی گرم  کاربرد درمانی:  1.در درمان آتونی مثانه و روده کاربرد دارد. حسن این دارو نسبت به فیزوستگمین این است که دارو وارد مغز نمی شود  2.. به عنوان آنتی دوت در مسمومیت با داروهای شل کننده عصبی عضلانی استفاده می شود.    3. در درمان میاستنی گراویس   * داروهای شل کننده ی عصبی-عضلانی در جراحی های ارتوپدی کاربرد دارد و اگر اوردوز کند باعث توقف تنفس بیمار می شود که باید سریعا از نئوستگمین  استفاده شود    </vt:lpstr>
      <vt:lpstr>. بیماری میاستنی گراویس:  ببیماری میاستنی گراویسMyasthenia Gravis) ) یک بیماری خودایمنی مزمن است که باعث ضعف و خستگی عضلات ارادی (یعنی عضلاتی که تحت   کنترل ارادی ما هستند) می‌شود.   مکانیسم (علت اصلی بیماری):  در حالت طبیعی، پیام‌های عصبی از طریق ماده‌ای به نام استیل‌کولین از عصب به عضله منتقل می‌شوند تا عضله منقبض شود.  در میاستنی گراویس:  سیستم ایمنی بدن به اشتباه آنتی‌بادی‌هایی علیه گیرنده‌های استیل‌کولین در سطح عضله تولید می‌کند. این آنتی‌بادی‌ها گیرنده‌ها را تخریب یا مسدود می‌کنند.  در نتیجه، پیام عصبی به‌خوبی منتقل نمی‌شود و انقباض عضلانی دچار اختلال می‌گردد.  علائم اصلی:  علائم معمولاً در طول روز با فعالیت بدتر و با استراحت بهتر می‌شوند این مشکل ابتدا از عضلات کوچک مثل عضلات پلک شروع می شود یعنی پلک ها خوب باز و   بسته نمی شوند سپس عضلات بزرگ را درگیر می کند  . به این بیماران دو  نوع دارو می دهند:  1.داروی ایمیون سیستم ساپرسانت که ایمنی بدن را پایین می آورد</vt:lpstr>
      <vt:lpstr>2. دارویی که عملکرد عصبی-عضلانی را تقویت کند مثلا نئوستگمین؛ چون مانع تحریک استیل کولین شده و غلظت استیل کولین در محل اتصال عصب ارادی  و عضله مخطط افزایش پیدا می کندو عضله مخطط  را بیشتر تحریک می کند و اگر مداخله نشود تنفس قطع شده و فرد می میرد.   . پریدوستگمین:  مهارکننده‌های آنزیم استیل‌کولین‌استراز است مانند دو داروی قبل اثر می کند با این تفاوت که طول اثرش زیاد تر است. طول اثر فیزوستگمین و نئوستگمین 4   ساعت است اما طول اثر پریدوستگمین 8 ساعت است  کاربرد های بالینی:  1. با مهار آنزیم استیل‌کولین‌استراز باعث افزایش غلظت استیل‌کولین در محل اتصال عصبی-عضلانی و بهبود قدرت عضلات می‌شود.( شایع ترین و اصلی ترین کاربرد در درمان میاستنی گراویس)  2. پیشگیری از اثرات گازهای عصبی (در نظامی‌ها یا شرایط خاص)  3. به عنوان داروی پیشگیرنده در برابر عوامل شیمیایی مانند سارین یا سومان استفاده می‌شود.  4. درمان ایلئوس یا احتباس ادراری پس از عمل جراحی (به ندرت)         </vt:lpstr>
      <vt:lpstr> اشکال دارویی:  . قرص خوراکی: 60 میلی گرم  . قرص آهسته‌رهش 180 میلی گرم  . محلول تزریقی  . شربت خوراکی  عوارض جانبی (معروف‌ترین‌ها):  به علت افزایش فعالیت کولینرژیک (پاراسمپاتیک) ایجاد می‌شوند:  تهوع، استفراغ، اسهال، کرامپ شکمی، افزایش ترشحات بزاق و برونش، تعریق، میوز (تنگی مردمک)، برادی‌کاردی (کندی ضربان قلب)  . ادروفونیوم :  مانند 3 داروی قبلی بوده اما طول اثر آن خیلی کم 20-10)دقیقه( است.   مهارکننده برگشت‌پذیر آنزیم استیل‌کولین‌استراز است یعنی باعث می‌شود استیل‌کولین در محل اتصال عصبی-عضلانی مدت بیشتری باقی بماند و اثرش افزایش   یابد. نتیجه این اثر، تقویت انتقال عصبی در محل اتصال عصب و عضله است</vt:lpstr>
      <vt:lpstr>. مکانیسم اثر  ادفونیوم به طور موقت به آنزیم استیل‌کولین‌استراز متصل می‌شود و مانع تجزیه استیل‌کولین می‌گردد. بنابراین مقدار استیل‌کولین در سیناپس افزایش یافته و   تحریک گیرنده‌های نیکوتینی عضلات بیشتر می‌شود → افزایش قدرت عضلانی موقت  . کاربردهای بالینی   1.تشخیص میاستنی گراویس  میاستنی گراویس بیماری خودایمنی است که در آن آنتی‌بادی‌ها علیه گیرنده نیکوتینی در محل اتصال عصبی-عضلانی ساخته می‌شوند → ضعف عضلانی.  . تست تنسیلون (Tensilon Test):  بیمار مقدار کمی از دارو (۲ میلی‌گرم به صورت وریدی، سپس در صورت تحمل تا ۱۰ میلی‌گرم) دریافت می‌کند.  اگر بیمار مبتلا باشد → قدرت عضلانی (مثلاً بالا بردن پلک یا حرکت چشم) به طور چشمگیر ولی موقتی بهبود می‌یابد.  2. تمایز بین بحران میاستنیک و بحران کولینرژیک  گاهی در بیماران تحت درمان با داروهای مهارکننده کولین‌استراز (مثل نئوستیگمین یا پیریدوستیگمین) ضعف حاد ایجاد می‌شود.  دو احتمال وجود دارد: </vt:lpstr>
      <vt:lpstr>بحران میاستنیک: دوز دارو کم است → کمبود ACh → ضعف بیشتر  بحران کولینرژیک: دوز دارو زیاد است → تجمع ACh زیاد → گیرنده‌ها دچار خستگی و ضعف  در این شرایط تزریق مقدار کمی ادفونیوم کمک می‌کند:  بهبود علائم → بحران میاستنیک  بدتر شدن علائم (افزایش بزاق، اشک، ضعف بیشتر) → بحران کولینرژیک  3. وارونه کردن اثر شل‌کننده‌های عضلانی غیردپلاریزان (مثل پانکورونیوم، وکورونیوم، آتراکوریوم و...)  ادفونیوم با افزایش ACh در محل اتصال، اثر این داروها را خنثی می‌کند   عوارض جانبی مهم  به دلیل تجمع بیش از حد استیل‌کولین، عوارض کولینرژیک ( Parasympathomimetic) ایجاد می‌شوند:  برادی‌کاردی (کندی ضربان قلب)، آریتمی‌ها ، افت فشار خون ، تهوع، استفراغ، اسهال ،کرامپ‌های شکمی ،تعریق، افزایش بزاق، اشک، میوز (تنگی مردمک)</vt:lpstr>
      <vt:lpstr>. آمبنونیوم:   مکانیسم اثر: مهار برگشت‌پذیر آنزیم استیل‌کولین‌استراز است . معمولاً به صورت قرص 10 میلی‌گرمی در بازار موجود است.  از لحاظ ساختار شیمیایی مثل ادروفونیوم است ولی یک تفاوت دارد که  طولانی اثر است پس آمبنونیوم هم در درمان طولانی مدت میاستنی گراویس کاربرد   دارد. طول اثرش 8 تا ۶ ساعت است.  عوارض جانبی مهم (اغلب مربوط به افزایش بیش‌ازحد فعالیت کولینرژیک هستند)  تهوع، استفراغ ، اسهال یا درد شکم ،افزایش بزاق یا ترشحات بینی ،تعریق زیاد ،گرفتگی یا اسپاسم عضلانی ،افزایش اشک   . تاکرین :   اشکال دارویی  کپسول خوراکی یا قرص خوراکی(در غلظت‌های 10، 20، 30 و 40 میلی‌گرمی)  *تاکرین در بسیاری از کشورها به‌دلیل سمیت کبدی بالا دیگر به‌طور معمول استفاده نمی‌شود و با داروهای جدیدتر مانند دونپزیل ، ریواستیگمین و گالانتامین   جایگزین شده است.         . ریوارستگمین: </vt:lpstr>
      <vt:lpstr>.کاربرد بالینی  درمان علامتی بیماری آلزایمر)به‌ویژه در مراحل خفیف تا متوسط بیماری).  باعث بهبود موقت حافظه، توجه و عملکرد شناختی در برخی بیماران می‌شود.  .مکانیسم اثر مهار برگشت‌پذیر آنزیم استیل‌کولین‌استراز در مغز.  این عمل سبب افزایش غلظت استیل‌کولین در سیناپس‌های کولینرژیک مغز می‌شود → بهبود انتقال عصبی کولینرژیک در مناطقی که در آلزایمر آسیب دیده‌اند.  عوارض جانبی مهم  تهوع ،استفراغ ،اسهال ،بی‌اشتهایی ،درد شکم ،سرگیجه،  سردرد، بی‌خوابی، اضطراب یا بی‌قراری ،برادی‌کاردی (کندی ضربان قلب)  عوارض کبدی (بسیار مهم) :افزایش قابل توجه آنزیم‌های کبدی ALT, AST)) هپاتوتوکسیسیته (سمیت کبدی)  → نیاز به پایش مداوم عملکرد کبد دارد.  → در صورت افزایش بیش از 3 برابر حد نرمال آنزیم‌های کبدی، باید مصرف دارو قطع شود</vt:lpstr>
      <vt:lpstr>. ریوارستگمین  داروی یکی از داروهای مهم در درمان اختلالات شناختی مانند آلزایمر است.  اشکال دارویی ریواستیگمین  .کپسول خوراکی – معمولاً به صورت 1.5 mg، 3 mg، 4.5 mg، 6 mg  .محلول خوراکی (قطره) – معمولاً 2 mg/mL  .پچ (چسب پوستی ترانس‌درمال) – با دوزهای mg/24h4.6، 9.5 mg/24h، 13.3 mg/24h  .کاربردهای بالینی (موارد مصرف)  بیماری آلزایمر خفیف تا متوسط : بهبود علائم شناختی (حافظه، تمرکز، عملکرد روزانه)  دمانس ناشی از بیماری پارکینسون   .مکانیسم اثر  ریواستیگمین یک مهارکننده آنزیم‌های استیل‌کولین‌استراز و بوتیریل‌کولین‌استراز است.  باعث افزایش سطح استیل‌کولین در سیناپس‌های مغزی شده و عملکرد   شناختی را بهبود می‌دهد.   </vt:lpstr>
      <vt:lpstr>. عوارض جانبی مهم و شایع  تهوع، استفراغ، اسهال، کاهش اشتها، کاهش وزن (شایع‌ترین عوارض ) ، برادی‌کاردی (کندی ضربان قلب)، سنکوپ ، سرگیجه، سردرد، بی‌خوابی ،  (در پچ پوستی) قرمزی یا تحریک در محل چسب  * در صورت استفاده از چسب پوستی، محل چسب باید هر ۲۴ ساعت تعویض و در هر بار در محل متفاوتی (روی پشت، سینه یا بازو) قرار داده   شود.   دونپزیل:  اشکال دارویی  .قرص خوراکی: 5 mg، 10 mg، 23 mg  .قرص خوراکی جویدنی :5 mg، 10 mg  .کاربردهای بالینی (موارد مصرف)  درمان دمانس آلزایمر (خفیف، متوسط یا شدید) : بهبود حافظه، تمرکز، و عملکرد شناختی بیماران          . گالانتامین :       </vt:lpstr>
      <vt:lpstr> .مکانیسم اثر  دونپزیل یک مهارکننده انتخابی و برگشت‌پذیر آنزیم استیل‌کولین‌استراز است.  باعث افزایش غلظت استیل‌کولین در سیناپس‌های مغزی و در نتیجه بهبود عملکرد   شناختی می‌شود.  .عوارض جانبی مهم و شایع  تهوع، استفراغ، اسهال، بی‌اشتهایی، کاهش وزن ، برادی‌کاردی (کندی ضربان قلب)، سنکوپ، هیپوتانسیون ،بی‌خوابی، سرگیجه، کابوس‌های شبانه، خستگی  سردرد، خستگی، افزایش ترشح بزاق  . گالانتامین  اشکال دارویی  قرص خوراکی دوزهای 4، 8 و 12 میلی‌گرم.  کپسول با رهش طولانی (Extended-release capsule) – در دوزهای 8، 16 و 24 میلی‌گرم.  شربت خوراکی   </vt:lpstr>
      <vt:lpstr>.کاربرد بالینی   بیماری آلزایمر خفیف تا متوسط  .مکانیسم اثر:  گالانتامین یک مهارکننده آنزیم استیل‌کولین‌استراز است و باعث افزایش سطح استیل‌کولین در مغز می‌شود. همچنین به طور آللواستریک گیرنده‌های نیکوتینی را   تحریک می‌کند و اثر کولینرژیک را تقویت می‌کند.  عوارض جانبی مهم : عوارض کولینرژیک (به دلیل افزایش استیل‌کولین) شایع هستند:  تهوع، استفراغ ، اسهال ،کاهش اشتها و کاهش وزن ، سرگیجه، سردرد ،خستگی و بی‌خوابی</vt:lpstr>
      <vt:lpstr>.اکوتیوفیت و ایزوفلوروفیت:  به صورت قطره چشمی استفاده می شود و در درمان طولانی مدت گلوکوم بسته  کاربرد دارد ) طول اثر: بیش از یک هفته(  ایراد این دارو : درد شدید و منتشر در کل کره چشم بدلیل انقباض شدید عضلات مردمک و مژگانی  * اکوتیوفیت عمدتاً برای گوارش است و عوارض سیستمیک اندک دارد.  ایزوفلوروفیت بسیار قوی‌تر است و بیشتر در چشم و موارد تخصصی استفاده می‌شود؛ مسمومیت سیستمیک جدی است   . ارگانوفسفره ها: دارو نیستند و سم هستند ) کاربرد در جنگ و(...   گاز خردل: شدیدا بافت ریه را تخریب می کند ) هم در طولانی مدت هم کوتاه مدت(  گاز کلر و گاز سییانور: سیانور تنفس را درحد سلول فلج می کند. فردی که با سیانور مسموم شده است علی رغم تنفس شدید به دلیل نرسیدن اکسیژن به سلول   می میرد.  ایراد سیانور: سرعت اثر بسیار بالا) در کمتر از یک دقیقه می کشد(  * در مواجه شدن با ترکیبات ارگانوفسفره ها حالتی بنام Aging (پیرشدن) رخ می دهد. یعنی پیوند ارگانوفسفره و آنزیم استیل کولین استراز هرچقدر زمان بگذرد   این پیوند قوی تر وبرگشت ناپذیرتر میشود. پس احیای فرد مسموم باید سریعتر رخ دهد </vt:lpstr>
      <vt:lpstr>. مراحل رفع مسمومیت:  1. رفع فیزیکی آلودگی  2.حمایت تنفسی  3. حمایت قلبی عروقی ( استفاده از ماسک اکسیژن و شوک قلبی)  4. درمان دارویی : شامل دو داروی    الف) آتروپین: مهار گیرنده‌های موسکارینی استیل‌کولین در قلب، ریه، دستگاه گوارش و غدد که از  تحریک بیش از حد استیل‌کولین جلوگیری می‌کند و علایم   موسکارینی ناشی از ترکیبات ارگانو فسفره را رفع می کند  ب) پرالیدوکسیم:  اتصال به ارگانوفسفره و بازسازی استیل‌کولین استراز ،اثر اصلی بر علائم نیکوتینی (ضعف و فلج عضلات) دارد  * آتروپین → مهار اثر موسکارینی (علائم ترشحی و قلبی)  پرامیدوکسیم → بازسازی استیل کولین استراز (علائم عضلانی و نیکوتینی)  در مسمومیت ها این دو دارو اغلب با هم مصرف میشوند  </vt:lpstr>
      <vt:lpstr>. داروهای پاراسمپاتولیتیک ( مهار کننده پاراسمپاتیک)  1.آنتی موسکارینی:   مهارکننده‌های گیرنده موسکارینی استیل‌کولین در اندام‌های هدف → کاهش فعالیت پاراسمپاتیک  2. داروهای آنتی نیکوتینی  مهار گیرنده‌های نیکوتینی در محل اتصال عصب و عضله اسکلتی→ باعث شل شدن عضلات می‌شوند.  . داروهای آنتی نیکوتینی خودشان دو دسته هستند :  1. داروهای بلوکر عصبی-عضلانی )محل اتصال عصب به عضله را مهار می کند.(  2. گانگلیون بلاکر ها   </vt:lpstr>
      <vt:lpstr>. داروهای بلوکر عصبی-عضلانی خودشان دو دسته اند:  1.داروهای دپلاریزان (طول اثر طولانی): ((ابتدا موجب دپولاریزاسیون (انقباض کوتاه)، سپس شلی پایدار عضله می‌شوند)  2.غیر دپلاریزان (داروهایی با اثر کوتاه):(مهار رقابتی گیرنده نیکوتینی بدون دپولاریزاسیون → شل شدن عضلات بدون   انقباض اولیه.  * اثر این ‌ها با داروهای کولین‌استراز (مثل نئوستیگمین) برگشت‌پذیر است    </vt:lpstr>
      <vt:lpstr>. داروهای آنتی موسکارینی:  مهارکننده‌های گیرنده موسکارینی استیل‌کولین در اندام‌های هدف → کاهش فعالیت پاراسمپاتیک  مثل داروهای : آتروپین ، هماتروپین ، تروپیکامید، پیرنزپین، تلنزپین، پروپانتیلین، دی سیکلومین، هیوسین، بنزتروپین، تری هگزیل فندین، بی پریدین،  تولترودین، فناسین، سولفیناسین، ایپرا تروپیوم، تیوتروپیوم گلیکوپیرولات، اسکوپولامین، کلینیدیوم، اکسی بوتینین  . آتروپین  کاربردها:  درمان برادی‌کاردی (کاهش ضربان قلب)،پیشگیری از ترشحات بزاقی و تنفسی قبل از جراحی ،درمان مسمومیت با حشره‌کش‌های ارگانوفسفره یا مهارکننده‌های   کولین‌استراز،گشاد کردن مردمک در معاینه چشم (به‌صورت قطره)  عوارض:  خشکی دهان ،یبوست ،احتباس ادرار،تاکی‌کاردی ،تاری دید / گشاد شدن مردمک ،افزایش فشار داخل چشم (خطرناک در گلوکوم زاویه بسته)    </vt:lpstr>
      <vt:lpstr>. اسکوپولامین   کاربردها:  پیشگیری از بیماری حرکت ، درمان تهوع و استفراغ بعد از بیهوشی ،کاهش ترشحات قبل از عمل  عوارض:  خواب‌آلودگی، گیجی ،خشکی دهان و چشم ،اختلال بینایی ،یبوست، احتباس ادرار   . ایپراتروپیوم و تیوتروپیوم   کاربردها:  درمان بیماری‌های انسدادی مزمن ریه COPD)) ، درمان آسم (برونکودیلاتور) ، کاهش ترشحات راه هوایی  عوارض:  خشکی دهان و گلو ، سرفه خفیف ، تحریک گلو  در صورت تماس با چشم → تاری دید یا افزایش فشار چشم</vt:lpstr>
      <vt:lpstr>.اکسی‌بوتینین، تولترودین، سولفناسین   کاربردها:  درمان مثانه بیش‌فعال ،کاهش بی‌اختیاری ادرار ،کاهش اسپاسم مثانه  عوارض:  خشکی دهان ،یبوست ،احتباس ادرار ،تاری دید ،گرمازدگی (کاهش تعریق)  . دی سیکلومین ، هیوسین  کاربردها:  درمان اسپاسم دستگاه گوارش ،کاهش علائم سندرم روده تحریک‌پذیر IBS)) ،کاهش ترشحات معدی  عوارض:  یبوست ،خشکی دهان ،تهوع یا استفراغ ،گیجی یا خواب‌آلودگی</vt:lpstr>
      <vt:lpstr>تروپیکاماید و سیکلوپنتولات   کاربردها:  گشاد کردن مردمک Mydriasis) ) ، فلج تطابق  ( Cycloplegia) برای معاینه چشم  عوارض:  تاری دید ، حساسیت به نور  ،افزایش فشار داخل چشم  . بنزتروپین و تری‌هگزیفنیدیل  کاربردها:  درمان پارکینسون خفیف،  درمان عوارض خارج‌هرمی ( EPS) ناشی از داروهای آنتی‌سایکوتیک  عوارض:  گیجی، توهم ،خشکی دهان ، یبوست، احتباس ادرار ،تاری دید  *عوارض کلی آنتی‌موسکارینیک‌ها (مشترک بین همه داروها)  خشکی دهان و گلو ، یبوست ،احتباس ادرار ،تاری دید ،تاکی‌کاردی  کاهش تعریق → خطر گرمازدگی گیجی، خواب‌آلودگی (به‌ویژه در سالمندان)</vt:lpstr>
      <vt:lpstr>داروهای آنتی‌نیکوتینی   اثر استیل‌کولین بر گیرنده‌های نیکوتینی را مهار می‌کنند.  ۱. داروهای گانگلیون‌بلاکر   مهار انتقال عصبی در گانگلیون‌های خودکار (سمپاتیک و پاراسمپاتیک) → کاهش فعالیت هر دو سیستم  امروزه بندرت در درمان استفاده می‌شوند (به علت عوارض زیاد).مثل :  هگزامِتونیوم Hexamethonium))  مِکامیل‌آمین Mecamylamine))  تری‌مِتامِفون (Trimethaphan)  کاربردها (محدود و قدیمی):  کنترل فشار خون شدید (هیپرتانسیون بحرانی – در گذشته) ، ایجاد افت فشار در جراحی‌ها (هیپوتانسیون کنترل‌شده)  عوارض جانبی:  افت شدید فشار خون وضعیتی ، یبوست شدید ،احتباس ادرار ،تاری دید (فلج تطابق) ،خشکی دهان ،تاکی‌کاردی ،اختلال نعوظ  *امروزه به‌دلیل عوارض، تقریباً کنار گذاشته شده‌اند</vt:lpstr>
      <vt:lpstr>۲. داروهای بلوک‌کننده عصبی–عضلانی   مهار گیرنده‌های نیکوتینی در محل اتصال عصب و عضله اسکلتی  → باعث شل شدن عضلات می‌شوند.  در بیهوشی و مراقبت‌های ویژه کاربرد دارند.  دو نوع اصلی:  الف) داروهای دپولاریزان   ابتدا موجب دپولاریزاسیون (انقباض کوتاه)، سپس شلی پایدار عضله می‌شوند.  ساکسینیل‌کولین Succinylcholine))  کاربردها:  القای شلی عضلانی سریع در لوله‌گذاری داخل تراشه  ، در بیهوشی عمومی برای شل کردن عضلات ، در شوک الکتریکی درمانی ECT) ) برای جلوگیری از   انقباض شدید عضلات  عوارض:  درد عضلانی پس از عمل (به علت فاسیکولاسیون اولیه)، هایپرکالمی (افزایش پتاسیم خون)  ، برادی‌کاردی ، افزایش فشار داخل چشم  </vt:lpstr>
      <vt:lpstr>ب) داروهای غیردپولاریزان   مهار رقابتی گیرنده نیکوتینی بدون دپولاریزاسیون → شل شدن عضلات بدون انقباض اولیه.  اثر آن‌ها با داروهای کولین‌استراز (مثل نئوستیگمین) برگشت‌پذیر است.  مثل:  پَن‌کُرونیوم Pancuronium))  وِکورونیوم Vecuronium))  رُکورونیوم Rocuronium))  آتراکوریوم Atracurium))  سیس‌آتراکوریوم Cisatracurium))  میواکوریوم Mivacurium))  کاربردها:  شل کردن عضلات اسکلتی در طی جراحی یا لوله‌گذاری تراشه ، تسهیل تهویه مکانیکی در ICU) )،کمک در هم‌راستاسازی استخوان‌ها در ارتوپدی </vt:lpstr>
      <vt:lpstr>عوارض:  آپنه (به علت فلج تنفسی) ، افت فشار خون (به‌ویژه با آتراکوریوم)  آزاد شدن هیستامین → قرمزی و برونکواسپاسم  تاکی‌کاردی (با پَن‌کُرونیوم)  ضعف عضلانی موقت پس از عمل  * نیاز به پایش تنفس و استفاده از دستگاه تهویه در طول مصرف.  *ملاحظات پرستاری کلی برای آنتی‌نیکوتینیک‌ها  پایش دقیق تنفس و اکسیژناسیون بیمار (به‌ویژه در داروهای بلوک‌کننده عضلانی)  آماده‌سازی وسایل احیاء و تهویه مکانیکی قبل از تزریق  پایش فشار خون و ضربان قلب  در صورت استفاده از داروهای غیردپولاریزان → آماده کردن آنتاگونیست (نئوستیگمین یا سوگامادکس)  پس از اتمام عمل، اطمینان از بازگشت تنفس خودبه‌خودی قبل از خروج بیمار از بیهوشی</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iliya</dc:creator>
  <cp:lastModifiedBy>iliya</cp:lastModifiedBy>
  <cp:revision>16</cp:revision>
  <dcterms:created xsi:type="dcterms:W3CDTF">2025-10-14T06:12:19Z</dcterms:created>
  <dcterms:modified xsi:type="dcterms:W3CDTF">2025-10-19T05:57:38Z</dcterms:modified>
</cp:coreProperties>
</file>