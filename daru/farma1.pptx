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61" r:id="rId2"/>
    <p:sldId id="257" r:id="rId3"/>
    <p:sldId id="280" r:id="rId4"/>
    <p:sldId id="282" r:id="rId5"/>
    <p:sldId id="286" r:id="rId6"/>
    <p:sldId id="283" r:id="rId7"/>
    <p:sldId id="288" r:id="rId8"/>
    <p:sldId id="289" r:id="rId9"/>
    <p:sldId id="290" r:id="rId10"/>
    <p:sldId id="284" r:id="rId11"/>
    <p:sldId id="285" r:id="rId12"/>
    <p:sldId id="291" r:id="rId13"/>
    <p:sldId id="292" r:id="rId14"/>
    <p:sldId id="293" r:id="rId15"/>
    <p:sldId id="264" r:id="rId16"/>
  </p:sldIdLst>
  <p:sldSz cx="12192000" cy="6858000"/>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786445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mp; Photo">
    <p:bg>
      <p:bgPr>
        <a:solidFill>
          <a:srgbClr val="FFFFFF"/>
        </a:solidFill>
        <a:effectLst/>
      </p:bgPr>
    </p:bg>
    <p:spTree>
      <p:nvGrpSpPr>
        <p:cNvPr id="1" name=""/>
        <p:cNvGrpSpPr/>
        <p:nvPr/>
      </p:nvGrpSpPr>
      <p:grpSpPr>
        <a:xfrm>
          <a:off x="0" y="0"/>
          <a:ext cx="0" cy="0"/>
          <a:chOff x="0" y="0"/>
          <a:chExt cx="0" cy="0"/>
        </a:xfrm>
      </p:grpSpPr>
      <p:sp>
        <p:nvSpPr>
          <p:cNvPr id="21" name="View from inside a stone structure, looking out toward stairs and a clear, blue sky"/>
          <p:cNvSpPr>
            <a:spLocks noGrp="1"/>
          </p:cNvSpPr>
          <p:nvPr>
            <p:ph type="pic" idx="21"/>
          </p:nvPr>
        </p:nvSpPr>
        <p:spPr>
          <a:xfrm>
            <a:off x="0" y="-635000"/>
            <a:ext cx="12192000" cy="8136467"/>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603250" y="3562350"/>
            <a:ext cx="10985500" cy="2324100"/>
          </a:xfrm>
          <a:prstGeom prst="rect">
            <a:avLst/>
          </a:prstGeom>
        </p:spPr>
        <p:txBody>
          <a:bodyPr anchor="b"/>
          <a:lstStyle>
            <a:lvl1pPr>
              <a:defRPr sz="5800" spc="-116"/>
            </a:lvl1pPr>
          </a:lstStyle>
          <a:p>
            <a:r>
              <a:t>Presentation Title</a:t>
            </a:r>
          </a:p>
        </p:txBody>
      </p:sp>
      <p:sp>
        <p:nvSpPr>
          <p:cNvPr id="23" name="Author and Date"/>
          <p:cNvSpPr txBox="1">
            <a:spLocks noGrp="1"/>
          </p:cNvSpPr>
          <p:nvPr>
            <p:ph type="body" sz="quarter" idx="22" hasCustomPrompt="1"/>
          </p:nvPr>
        </p:nvSpPr>
        <p:spPr>
          <a:xfrm>
            <a:off x="603845" y="553069"/>
            <a:ext cx="10984311"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24" name="Body Level One…"/>
          <p:cNvSpPr txBox="1">
            <a:spLocks noGrp="1"/>
          </p:cNvSpPr>
          <p:nvPr>
            <p:ph type="body" sz="quarter" idx="1" hasCustomPrompt="1"/>
          </p:nvPr>
        </p:nvSpPr>
        <p:spPr>
          <a:xfrm>
            <a:off x="603250" y="5804955"/>
            <a:ext cx="10985500" cy="558476"/>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1679512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a:spLocks noGrp="1"/>
          </p:cNvSpPr>
          <p:nvPr>
            <p:ph type="pic" idx="21"/>
          </p:nvPr>
        </p:nvSpPr>
        <p:spPr>
          <a:xfrm>
            <a:off x="4635500" y="635000"/>
            <a:ext cx="8382000" cy="55880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603250" y="635000"/>
            <a:ext cx="4889500" cy="2941137"/>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603250" y="3530288"/>
            <a:ext cx="4889500" cy="2692712"/>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5941347" y="6488825"/>
            <a:ext cx="243656" cy="241092"/>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0623477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6996320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1516242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603250" y="1186481"/>
            <a:ext cx="4889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61" name="Body Level One…"/>
          <p:cNvSpPr txBox="1">
            <a:spLocks noGrp="1"/>
          </p:cNvSpPr>
          <p:nvPr>
            <p:ph type="body" sz="half" idx="1" hasCustomPrompt="1"/>
          </p:nvPr>
        </p:nvSpPr>
        <p:spPr>
          <a:xfrm>
            <a:off x="603250" y="2124252"/>
            <a:ext cx="4889500" cy="4128315"/>
          </a:xfrm>
          <a:prstGeom prst="rect">
            <a:avLst/>
          </a:prstGeom>
        </p:spPr>
        <p:txBody>
          <a:bodyPr/>
          <a:lstStyle/>
          <a:p>
            <a:r>
              <a:t>Slide bullet text</a:t>
            </a:r>
          </a:p>
          <a:p>
            <a:pPr lvl="1"/>
            <a:endParaRPr/>
          </a:p>
          <a:p>
            <a:pPr lvl="2"/>
            <a:endParaRPr/>
          </a:p>
          <a:p>
            <a:pPr lvl="3"/>
            <a:endParaRPr/>
          </a:p>
          <a:p>
            <a:pPr lvl="4"/>
            <a:endParaRPr/>
          </a:p>
        </p:txBody>
      </p:sp>
      <p:sp>
        <p:nvSpPr>
          <p:cNvPr id="62" name="Small section of a modern shell bridge in Qingdao, Shandong, China with a partly cloudy sky above"/>
          <p:cNvSpPr>
            <a:spLocks noGrp="1"/>
          </p:cNvSpPr>
          <p:nvPr>
            <p:ph type="pic" idx="22"/>
          </p:nvPr>
        </p:nvSpPr>
        <p:spPr>
          <a:xfrm>
            <a:off x="4635500" y="631924"/>
            <a:ext cx="8386922" cy="5594103"/>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603250" y="539750"/>
            <a:ext cx="4889500" cy="71755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0641440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603248" y="2266950"/>
            <a:ext cx="10985502" cy="2324100"/>
          </a:xfrm>
          <a:prstGeom prst="rect">
            <a:avLst/>
          </a:prstGeom>
        </p:spPr>
        <p:txBody>
          <a:bodyPr anchor="ctr"/>
          <a:lstStyle>
            <a:lvl1pPr>
              <a:defRPr sz="5800" b="0" spc="-116">
                <a:latin typeface="Helvetica Neue Medium"/>
                <a:ea typeface="Helvetica Neue Medium"/>
                <a:cs typeface="Helvetica Neue Medium"/>
                <a:sym typeface="Helvetica Neue Medium"/>
              </a:defRPr>
            </a:lvl1pPr>
          </a:lstStyle>
          <a:p>
            <a:r>
              <a:t>Section Title</a:t>
            </a:r>
          </a:p>
        </p:txBody>
      </p:sp>
      <p:sp>
        <p:nvSpPr>
          <p:cNvPr id="72" name="Slide Number"/>
          <p:cNvSpPr txBox="1">
            <a:spLocks noGrp="1"/>
          </p:cNvSpPr>
          <p:nvPr>
            <p:ph type="sldNum" sz="quarter" idx="2"/>
          </p:nvPr>
        </p:nvSpPr>
        <p:spPr>
          <a:xfrm>
            <a:off x="5941347" y="6488825"/>
            <a:ext cx="243656" cy="241092"/>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0870423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603250" y="539750"/>
            <a:ext cx="10985500" cy="717475"/>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715679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603250" y="539750"/>
            <a:ext cx="10985500" cy="71755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Agenda Subtitle</a:t>
            </a:r>
          </a:p>
        </p:txBody>
      </p:sp>
      <p:sp>
        <p:nvSpPr>
          <p:cNvPr id="90" name="Body Level One…"/>
          <p:cNvSpPr txBox="1">
            <a:spLocks noGrp="1"/>
          </p:cNvSpPr>
          <p:nvPr>
            <p:ph type="body" idx="1" hasCustomPrompt="1"/>
          </p:nvPr>
        </p:nvSpPr>
        <p:spPr>
          <a:prstGeom prst="rect">
            <a:avLst/>
          </a:prstGeom>
        </p:spPr>
        <p:txBody>
          <a:bodyPr/>
          <a:lstStyle>
            <a:lvl1pPr marL="0" indent="0" defTabSz="412750">
              <a:lnSpc>
                <a:spcPct val="100000"/>
              </a:lnSpc>
              <a:spcBef>
                <a:spcPts val="900"/>
              </a:spcBef>
              <a:buSzTx/>
              <a:buNone/>
              <a:defRPr sz="2750" spc="-28"/>
            </a:lvl1pPr>
            <a:lvl2pPr marL="0" indent="228600" defTabSz="412750">
              <a:lnSpc>
                <a:spcPct val="100000"/>
              </a:lnSpc>
              <a:spcBef>
                <a:spcPts val="900"/>
              </a:spcBef>
              <a:buSzTx/>
              <a:buNone/>
              <a:defRPr sz="2750" spc="-28"/>
            </a:lvl2pPr>
            <a:lvl3pPr marL="0" indent="457200" defTabSz="412750">
              <a:lnSpc>
                <a:spcPct val="100000"/>
              </a:lnSpc>
              <a:spcBef>
                <a:spcPts val="900"/>
              </a:spcBef>
              <a:buSzTx/>
              <a:buNone/>
              <a:defRPr sz="2750" spc="-28"/>
            </a:lvl3pPr>
            <a:lvl4pPr marL="0" indent="685800" defTabSz="412750">
              <a:lnSpc>
                <a:spcPct val="100000"/>
              </a:lnSpc>
              <a:spcBef>
                <a:spcPts val="900"/>
              </a:spcBef>
              <a:buSzTx/>
              <a:buNone/>
              <a:defRPr sz="2750" spc="-28"/>
            </a:lvl4pPr>
            <a:lvl5pPr marL="0" indent="914400" defTabSz="412750">
              <a:lnSpc>
                <a:spcPct val="100000"/>
              </a:lnSpc>
              <a:spcBef>
                <a:spcPts val="900"/>
              </a:spcBef>
              <a:buSzTx/>
              <a:buNone/>
              <a:defRPr sz="2750" spc="-28"/>
            </a:lvl5pPr>
          </a:lstStyle>
          <a:p>
            <a:r>
              <a:t>Agenda Topics</a:t>
            </a:r>
          </a:p>
          <a:p>
            <a:pPr lvl="1"/>
            <a:endParaRPr/>
          </a:p>
          <a:p>
            <a:pPr lvl="2"/>
            <a:endParaRPr/>
          </a:p>
          <a:p>
            <a:pPr lvl="3"/>
            <a:endParaRPr/>
          </a:p>
          <a:p>
            <a:pPr lvl="4"/>
            <a:endParaRPr/>
          </a:p>
        </p:txBody>
      </p:sp>
      <p:sp>
        <p:nvSpPr>
          <p:cNvPr id="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71918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tatement">
    <p:spTree>
      <p:nvGrpSpPr>
        <p:cNvPr id="1" name=""/>
        <p:cNvGrpSpPr/>
        <p:nvPr/>
      </p:nvGrpSpPr>
      <p:grpSpPr>
        <a:xfrm>
          <a:off x="0" y="0"/>
          <a:ext cx="0" cy="0"/>
          <a:chOff x="0" y="0"/>
          <a:chExt cx="0" cy="0"/>
        </a:xfrm>
      </p:grpSpPr>
      <p:sp>
        <p:nvSpPr>
          <p:cNvPr id="98" name="Body Level One…"/>
          <p:cNvSpPr txBox="1">
            <a:spLocks noGrp="1"/>
          </p:cNvSpPr>
          <p:nvPr>
            <p:ph type="body" sz="half" idx="1" hasCustomPrompt="1"/>
          </p:nvPr>
        </p:nvSpPr>
        <p:spPr>
          <a:xfrm>
            <a:off x="603250" y="2460422"/>
            <a:ext cx="10985500" cy="1937157"/>
          </a:xfrm>
          <a:prstGeom prst="rect">
            <a:avLst/>
          </a:prstGeom>
        </p:spPr>
        <p:txBody>
          <a:bodyPr anchor="ctr"/>
          <a:lstStyle>
            <a:lvl1pPr marL="0" indent="0" algn="ctr">
              <a:lnSpc>
                <a:spcPct val="80000"/>
              </a:lnSpc>
              <a:spcBef>
                <a:spcPts val="0"/>
              </a:spcBef>
              <a:buSzTx/>
              <a:buNone/>
              <a:defRPr sz="5800" spc="-116">
                <a:latin typeface="Helvetica Neue Medium"/>
                <a:ea typeface="Helvetica Neue Medium"/>
                <a:cs typeface="Helvetica Neue Medium"/>
                <a:sym typeface="Helvetica Neue Medium"/>
              </a:defRPr>
            </a:lvl1pPr>
            <a:lvl2pPr marL="0" indent="228600" algn="ctr">
              <a:lnSpc>
                <a:spcPct val="80000"/>
              </a:lnSpc>
              <a:spcBef>
                <a:spcPts val="0"/>
              </a:spcBef>
              <a:buSzTx/>
              <a:buNone/>
              <a:defRPr sz="5800" spc="-116">
                <a:latin typeface="Helvetica Neue Medium"/>
                <a:ea typeface="Helvetica Neue Medium"/>
                <a:cs typeface="Helvetica Neue Medium"/>
                <a:sym typeface="Helvetica Neue Medium"/>
              </a:defRPr>
            </a:lvl2pPr>
            <a:lvl3pPr marL="0" indent="457200" algn="ctr">
              <a:lnSpc>
                <a:spcPct val="80000"/>
              </a:lnSpc>
              <a:spcBef>
                <a:spcPts val="0"/>
              </a:spcBef>
              <a:buSzTx/>
              <a:buNone/>
              <a:defRPr sz="5800" spc="-116">
                <a:latin typeface="Helvetica Neue Medium"/>
                <a:ea typeface="Helvetica Neue Medium"/>
                <a:cs typeface="Helvetica Neue Medium"/>
                <a:sym typeface="Helvetica Neue Medium"/>
              </a:defRPr>
            </a:lvl3pPr>
            <a:lvl4pPr marL="0" indent="685800" algn="ctr">
              <a:lnSpc>
                <a:spcPct val="80000"/>
              </a:lnSpc>
              <a:spcBef>
                <a:spcPts val="0"/>
              </a:spcBef>
              <a:buSzTx/>
              <a:buNone/>
              <a:defRPr sz="5800" spc="-116">
                <a:latin typeface="Helvetica Neue Medium"/>
                <a:ea typeface="Helvetica Neue Medium"/>
                <a:cs typeface="Helvetica Neue Medium"/>
                <a:sym typeface="Helvetica Neue Medium"/>
              </a:defRPr>
            </a:lvl4pPr>
            <a:lvl5pPr marL="0" indent="914400" algn="ctr">
              <a:lnSpc>
                <a:spcPct val="80000"/>
              </a:lnSpc>
              <a:spcBef>
                <a:spcPts val="0"/>
              </a:spcBef>
              <a:buSzTx/>
              <a:buNone/>
              <a:defRPr sz="5800" spc="-116">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7198071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Big Fact">
    <p:spTree>
      <p:nvGrpSpPr>
        <p:cNvPr id="1" name=""/>
        <p:cNvGrpSpPr/>
        <p:nvPr/>
      </p:nvGrpSpPr>
      <p:grpSpPr>
        <a:xfrm>
          <a:off x="0" y="0"/>
          <a:ext cx="0" cy="0"/>
          <a:chOff x="0" y="0"/>
          <a:chExt cx="0" cy="0"/>
        </a:xfrm>
      </p:grpSpPr>
      <p:sp>
        <p:nvSpPr>
          <p:cNvPr id="106" name="Body Level One…"/>
          <p:cNvSpPr txBox="1">
            <a:spLocks noGrp="1"/>
          </p:cNvSpPr>
          <p:nvPr>
            <p:ph type="body" idx="1" hasCustomPrompt="1"/>
          </p:nvPr>
        </p:nvSpPr>
        <p:spPr>
          <a:xfrm>
            <a:off x="603250" y="537964"/>
            <a:ext cx="10985500" cy="3620792"/>
          </a:xfrm>
          <a:prstGeom prst="rect">
            <a:avLst/>
          </a:prstGeom>
        </p:spPr>
        <p:txBody>
          <a:bodyPr anchor="b"/>
          <a:lstStyle>
            <a:lvl1pPr marL="0" indent="0" algn="ctr">
              <a:lnSpc>
                <a:spcPct val="80000"/>
              </a:lnSpc>
              <a:spcBef>
                <a:spcPts val="0"/>
              </a:spcBef>
              <a:buSzTx/>
              <a:buNone/>
              <a:defRPr sz="12500" b="1" spc="-125"/>
            </a:lvl1pPr>
            <a:lvl2pPr marL="0" indent="228600" algn="ctr">
              <a:lnSpc>
                <a:spcPct val="80000"/>
              </a:lnSpc>
              <a:spcBef>
                <a:spcPts val="0"/>
              </a:spcBef>
              <a:buSzTx/>
              <a:buNone/>
              <a:defRPr sz="12500" b="1" spc="-125"/>
            </a:lvl2pPr>
            <a:lvl3pPr marL="0" indent="457200" algn="ctr">
              <a:lnSpc>
                <a:spcPct val="80000"/>
              </a:lnSpc>
              <a:spcBef>
                <a:spcPts val="0"/>
              </a:spcBef>
              <a:buSzTx/>
              <a:buNone/>
              <a:defRPr sz="12500" b="1" spc="-125"/>
            </a:lvl3pPr>
            <a:lvl4pPr marL="0" indent="685800" algn="ctr">
              <a:lnSpc>
                <a:spcPct val="80000"/>
              </a:lnSpc>
              <a:spcBef>
                <a:spcPts val="0"/>
              </a:spcBef>
              <a:buSzTx/>
              <a:buNone/>
              <a:defRPr sz="12500" b="1" spc="-125"/>
            </a:lvl4pPr>
            <a:lvl5pPr marL="0" indent="914400" algn="ctr">
              <a:lnSpc>
                <a:spcPct val="80000"/>
              </a:lnSpc>
              <a:spcBef>
                <a:spcPts val="0"/>
              </a:spcBef>
              <a:buSzTx/>
              <a:buNone/>
              <a:defRPr sz="12500" b="1" spc="-125"/>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603250" y="4131090"/>
            <a:ext cx="10985500" cy="467390"/>
          </a:xfrm>
          <a:prstGeom prst="rect">
            <a:avLst/>
          </a:prstGeom>
        </p:spPr>
        <p:txBody>
          <a:bodyPr lIns="45719" tIns="45719" rIns="45719" bIns="45719"/>
          <a:lstStyle>
            <a:lvl1pPr marL="0" indent="0" algn="ctr" defTabSz="412750">
              <a:lnSpc>
                <a:spcPct val="100000"/>
              </a:lnSpc>
              <a:spcBef>
                <a:spcPts val="0"/>
              </a:spcBef>
              <a:buSzTx/>
              <a:buNone/>
              <a:defRPr sz="2750" b="1"/>
            </a:lvl1pPr>
          </a:lstStyle>
          <a:p>
            <a:r>
              <a:t>Fact information</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1613244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1215012" y="5337727"/>
            <a:ext cx="10100026"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Attribution</a:t>
            </a:r>
          </a:p>
        </p:txBody>
      </p:sp>
      <p:sp>
        <p:nvSpPr>
          <p:cNvPr id="116" name="Body Level One…"/>
          <p:cNvSpPr txBox="1">
            <a:spLocks noGrp="1"/>
          </p:cNvSpPr>
          <p:nvPr>
            <p:ph type="body" sz="half" idx="1" hasCustomPrompt="1"/>
          </p:nvPr>
        </p:nvSpPr>
        <p:spPr>
          <a:xfrm>
            <a:off x="876962" y="2469930"/>
            <a:ext cx="10438077" cy="1918140"/>
          </a:xfrm>
          <a:prstGeom prst="rect">
            <a:avLst/>
          </a:prstGeom>
        </p:spPr>
        <p:txBody>
          <a:bodyPr/>
          <a:lstStyle>
            <a:lvl1pPr marL="319462" indent="-234950">
              <a:spcBef>
                <a:spcPts val="0"/>
              </a:spcBef>
              <a:buSzTx/>
              <a:buNone/>
              <a:defRPr sz="4250" spc="-85">
                <a:latin typeface="Helvetica Neue Medium"/>
                <a:ea typeface="Helvetica Neue Medium"/>
                <a:cs typeface="Helvetica Neue Medium"/>
                <a:sym typeface="Helvetica Neue Medium"/>
              </a:defRPr>
            </a:lvl1pPr>
            <a:lvl2pPr marL="319462" indent="-6350">
              <a:spcBef>
                <a:spcPts val="0"/>
              </a:spcBef>
              <a:buSzTx/>
              <a:buNone/>
              <a:defRPr sz="4250" spc="-85">
                <a:latin typeface="Helvetica Neue Medium"/>
                <a:ea typeface="Helvetica Neue Medium"/>
                <a:cs typeface="Helvetica Neue Medium"/>
                <a:sym typeface="Helvetica Neue Medium"/>
              </a:defRPr>
            </a:lvl2pPr>
            <a:lvl3pPr marL="319462" indent="222250">
              <a:spcBef>
                <a:spcPts val="0"/>
              </a:spcBef>
              <a:buSzTx/>
              <a:buNone/>
              <a:defRPr sz="4250" spc="-85">
                <a:latin typeface="Helvetica Neue Medium"/>
                <a:ea typeface="Helvetica Neue Medium"/>
                <a:cs typeface="Helvetica Neue Medium"/>
                <a:sym typeface="Helvetica Neue Medium"/>
              </a:defRPr>
            </a:lvl3pPr>
            <a:lvl4pPr marL="319462" indent="450850">
              <a:spcBef>
                <a:spcPts val="0"/>
              </a:spcBef>
              <a:buSzTx/>
              <a:buNone/>
              <a:defRPr sz="4250" spc="-85">
                <a:latin typeface="Helvetica Neue Medium"/>
                <a:ea typeface="Helvetica Neue Medium"/>
                <a:cs typeface="Helvetica Neue Medium"/>
                <a:sym typeface="Helvetica Neue Medium"/>
              </a:defRPr>
            </a:lvl4pPr>
            <a:lvl5pPr marL="319462" indent="679450">
              <a:spcBef>
                <a:spcPts val="0"/>
              </a:spcBef>
              <a:buSzTx/>
              <a:buNone/>
              <a:defRPr sz="4250" spc="-85">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5606302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Photo - 3 Up">
    <p:spTree>
      <p:nvGrpSpPr>
        <p:cNvPr id="1" name=""/>
        <p:cNvGrpSpPr/>
        <p:nvPr/>
      </p:nvGrpSpPr>
      <p:grpSpPr>
        <a:xfrm>
          <a:off x="0" y="0"/>
          <a:ext cx="0" cy="0"/>
          <a:chOff x="0" y="0"/>
          <a:chExt cx="0" cy="0"/>
        </a:xfrm>
      </p:grpSpPr>
      <p:sp>
        <p:nvSpPr>
          <p:cNvPr id="124" name="Low angle exterior view of a modern building facade covered with aluminum discs under a clear, blue sky"/>
          <p:cNvSpPr>
            <a:spLocks noGrp="1"/>
          </p:cNvSpPr>
          <p:nvPr>
            <p:ph type="pic" sz="quarter" idx="21"/>
          </p:nvPr>
        </p:nvSpPr>
        <p:spPr>
          <a:xfrm>
            <a:off x="7708900" y="635000"/>
            <a:ext cx="4072467" cy="2705100"/>
          </a:xfrm>
          <a:prstGeom prst="rect">
            <a:avLst/>
          </a:prstGeom>
        </p:spPr>
        <p:txBody>
          <a:bodyPr lIns="91439" tIns="45719" rIns="91439" bIns="45719">
            <a:noAutofit/>
          </a:bodyPr>
          <a:lstStyle/>
          <a:p>
            <a:endParaRPr/>
          </a:p>
        </p:txBody>
      </p:sp>
      <p:sp>
        <p:nvSpPr>
          <p:cNvPr id="125" name="Low angle view of a modern, curved building under a cloudy sky"/>
          <p:cNvSpPr>
            <a:spLocks noGrp="1"/>
          </p:cNvSpPr>
          <p:nvPr>
            <p:ph type="pic" sz="quarter" idx="22"/>
          </p:nvPr>
        </p:nvSpPr>
        <p:spPr>
          <a:xfrm>
            <a:off x="7721600" y="3543300"/>
            <a:ext cx="4069290" cy="2711450"/>
          </a:xfrm>
          <a:prstGeom prst="rect">
            <a:avLst/>
          </a:prstGeom>
        </p:spPr>
        <p:txBody>
          <a:bodyPr lIns="91439" tIns="45719" rIns="91439" bIns="45719">
            <a:noAutofit/>
          </a:bodyPr>
          <a:lstStyle/>
          <a:p>
            <a:endParaRPr/>
          </a:p>
        </p:txBody>
      </p:sp>
      <p:sp>
        <p:nvSpPr>
          <p:cNvPr id="126" name="View from inside a modern white building with glass panels, looking up to a bright, partly cloudy sky"/>
          <p:cNvSpPr>
            <a:spLocks noGrp="1"/>
          </p:cNvSpPr>
          <p:nvPr>
            <p:ph type="pic" idx="23"/>
          </p:nvPr>
        </p:nvSpPr>
        <p:spPr>
          <a:xfrm>
            <a:off x="-62318" y="635000"/>
            <a:ext cx="8420085" cy="5621856"/>
          </a:xfrm>
          <a:prstGeom prst="rect">
            <a:avLst/>
          </a:prstGeom>
        </p:spPr>
        <p:txBody>
          <a:bodyPr lIns="91439" tIns="45719" rIns="91439" bIns="45719">
            <a:noAutofit/>
          </a:bodyPr>
          <a:lstStyle/>
          <a:p>
            <a:endParaRPr/>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8427951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Photo">
    <p:bg>
      <p:bgPr>
        <a:solidFill>
          <a:srgbClr val="FFFFFF"/>
        </a:solidFill>
        <a:effectLst/>
      </p:bgPr>
    </p:bg>
    <p:spTree>
      <p:nvGrpSpPr>
        <p:cNvPr id="1" name=""/>
        <p:cNvGrpSpPr/>
        <p:nvPr/>
      </p:nvGrpSpPr>
      <p:grpSpPr>
        <a:xfrm>
          <a:off x="0" y="0"/>
          <a:ext cx="0" cy="0"/>
          <a:chOff x="0" y="0"/>
          <a:chExt cx="0" cy="0"/>
        </a:xfrm>
      </p:grpSpPr>
      <p:sp>
        <p:nvSpPr>
          <p:cNvPr id="134" name="Low angle view of the Azadi Tower in Tehran, Iran against a clear, bright sky"/>
          <p:cNvSpPr>
            <a:spLocks noGrp="1"/>
          </p:cNvSpPr>
          <p:nvPr>
            <p:ph type="pic" idx="21"/>
          </p:nvPr>
        </p:nvSpPr>
        <p:spPr>
          <a:xfrm>
            <a:off x="0" y="-641350"/>
            <a:ext cx="12192000" cy="8140700"/>
          </a:xfrm>
          <a:prstGeom prst="rect">
            <a:avLst/>
          </a:prstGeom>
        </p:spPr>
        <p:txBody>
          <a:bodyPr lIns="91439" tIns="45719" rIns="91439" bIns="45719">
            <a:noAutofit/>
          </a:bodyPr>
          <a:lstStyle/>
          <a:p>
            <a:endParaRPr/>
          </a:p>
        </p:txBody>
      </p:sp>
      <p:sp>
        <p:nvSpPr>
          <p:cNvPr id="13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extLst>
      <p:ext uri="{BB962C8B-B14F-4D97-AF65-F5344CB8AC3E}">
        <p14:creationId xmlns:p14="http://schemas.microsoft.com/office/powerpoint/2010/main" val="1602563872"/>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
        <p:nvSpPr>
          <p:cNvPr id="14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5332246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5CCE1E96-B830-4A24-92DC-ECE14AB5386C}" type="datetimeFigureOut">
              <a:rPr lang="fa-IR" smtClean="0"/>
              <a:t>13/04/1447</a:t>
            </a:fld>
            <a:endParaRPr lang="fa-I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a-IR"/>
          </a:p>
        </p:txBody>
      </p:sp>
      <p:sp>
        <p:nvSpPr>
          <p:cNvPr id="6" name="Slide Number Placeholder 5"/>
          <p:cNvSpPr>
            <a:spLocks noGrp="1"/>
          </p:cNvSpPr>
          <p:nvPr>
            <p:ph type="sldNum" sz="quarter" idx="12"/>
          </p:nvPr>
        </p:nvSpPr>
        <p:spPr/>
        <p:txBody>
          <a:bodyPr/>
          <a:lstStyle/>
          <a:p>
            <a:fld id="{3D93E1EF-63BD-43DB-8608-9A08A97D1A98}" type="slidenum">
              <a:rPr lang="fa-IR" smtClean="0"/>
              <a:t>‹#›</a:t>
            </a:fld>
            <a:endParaRPr lang="fa-IR"/>
          </a:p>
        </p:txBody>
      </p:sp>
    </p:spTree>
    <p:extLst>
      <p:ext uri="{BB962C8B-B14F-4D97-AF65-F5344CB8AC3E}">
        <p14:creationId xmlns:p14="http://schemas.microsoft.com/office/powerpoint/2010/main" val="3438489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a-I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p:cNvSpPr>
            <a:spLocks noGrp="1"/>
          </p:cNvSpPr>
          <p:nvPr>
            <p:ph type="dt" sz="half" idx="10"/>
          </p:nvPr>
        </p:nvSpPr>
        <p:spPr>
          <a:xfrm>
            <a:off x="8610600" y="6356350"/>
            <a:ext cx="2743200" cy="365125"/>
          </a:xfrm>
          <a:prstGeom prst="rect">
            <a:avLst/>
          </a:prstGeom>
        </p:spPr>
        <p:txBody>
          <a:bodyPr/>
          <a:lstStyle/>
          <a:p>
            <a:fld id="{5CCE1E96-B830-4A24-92DC-ECE14AB5386C}" type="datetimeFigureOut">
              <a:rPr lang="fa-IR" smtClean="0"/>
              <a:t>13/04/1447</a:t>
            </a:fld>
            <a:endParaRPr lang="fa-I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fa-IR"/>
          </a:p>
        </p:txBody>
      </p:sp>
      <p:sp>
        <p:nvSpPr>
          <p:cNvPr id="6" name="Slide Number Placeholder 5"/>
          <p:cNvSpPr>
            <a:spLocks noGrp="1"/>
          </p:cNvSpPr>
          <p:nvPr>
            <p:ph type="sldNum" sz="quarter" idx="12"/>
          </p:nvPr>
        </p:nvSpPr>
        <p:spPr/>
        <p:txBody>
          <a:bodyPr/>
          <a:lstStyle/>
          <a:p>
            <a:fld id="{3D93E1EF-63BD-43DB-8608-9A08A97D1A98}" type="slidenum">
              <a:rPr lang="fa-IR" smtClean="0"/>
              <a:t>‹#›</a:t>
            </a:fld>
            <a:endParaRPr lang="fa-IR"/>
          </a:p>
        </p:txBody>
      </p:sp>
    </p:spTree>
    <p:extLst>
      <p:ext uri="{BB962C8B-B14F-4D97-AF65-F5344CB8AC3E}">
        <p14:creationId xmlns:p14="http://schemas.microsoft.com/office/powerpoint/2010/main" val="1106499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9"/>
          <a:srcRect/>
          <a:stretch>
            <a:fillRect/>
          </a:stretch>
        </a:blip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3250" y="539750"/>
            <a:ext cx="10985500" cy="7165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603250" y="2124252"/>
            <a:ext cx="10985500" cy="4128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5941347" y="6486708"/>
            <a:ext cx="243656" cy="241092"/>
          </a:xfrm>
          <a:prstGeom prst="rect">
            <a:avLst/>
          </a:prstGeom>
          <a:ln w="12700">
            <a:miter lim="400000"/>
          </a:ln>
        </p:spPr>
        <p:txBody>
          <a:bodyPr wrap="none" lIns="50800" tIns="50800" rIns="50800" bIns="50800" anchor="b">
            <a:spAutoFit/>
          </a:bodyPr>
          <a:lstStyle>
            <a:lvl1pPr defTabSz="292100">
              <a:defRPr sz="900">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33253332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med"/>
  <p:txStyles>
    <p:titleStyle>
      <a:lvl1pPr marL="0" marR="0" indent="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1pPr>
      <a:lvl2pPr marL="0" marR="0" indent="2286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2pPr>
      <a:lvl3pPr marL="0" marR="0" indent="4572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3pPr>
      <a:lvl4pPr marL="0" marR="0" indent="6858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4pPr>
      <a:lvl5pPr marL="0" marR="0" indent="9144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5pPr>
      <a:lvl6pPr marL="0" marR="0" indent="11430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6pPr>
      <a:lvl7pPr marL="0" marR="0" indent="13716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7pPr>
      <a:lvl8pPr marL="0" marR="0" indent="16002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8pPr>
      <a:lvl9pPr marL="0" marR="0" indent="1828800" algn="l" defTabSz="1219169" rtl="0" latinLnBrk="0">
        <a:lnSpc>
          <a:spcPct val="80000"/>
        </a:lnSpc>
        <a:spcBef>
          <a:spcPts val="0"/>
        </a:spcBef>
        <a:spcAft>
          <a:spcPts val="0"/>
        </a:spcAft>
        <a:buClrTx/>
        <a:buSzTx/>
        <a:buFontTx/>
        <a:buNone/>
        <a:tabLst/>
        <a:defRPr sz="4250" b="1" i="0" u="none" strike="noStrike" cap="none" spc="-85" baseline="0">
          <a:solidFill>
            <a:srgbClr val="000000"/>
          </a:solidFill>
          <a:uFillTx/>
          <a:latin typeface="+mn-lt"/>
          <a:ea typeface="+mn-ea"/>
          <a:cs typeface="+mn-cs"/>
          <a:sym typeface="Helvetica Neue"/>
        </a:defRPr>
      </a:lvl9pPr>
    </p:titleStyle>
    <p:bodyStyle>
      <a:lvl1pPr marL="304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1pPr>
      <a:lvl2pPr marL="609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2pPr>
      <a:lvl3pPr marL="914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3pPr>
      <a:lvl4pPr marL="1219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4pPr>
      <a:lvl5pPr marL="15240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5pPr>
      <a:lvl6pPr marL="18288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6pPr>
      <a:lvl7pPr marL="21336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7pPr>
      <a:lvl8pPr marL="24384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8pPr>
      <a:lvl9pPr marL="2743200" marR="0" indent="-304800" algn="l" defTabSz="1219169" rtl="0" latinLnBrk="0">
        <a:lnSpc>
          <a:spcPct val="90000"/>
        </a:lnSpc>
        <a:spcBef>
          <a:spcPts val="2250"/>
        </a:spcBef>
        <a:spcAft>
          <a:spcPts val="0"/>
        </a:spcAft>
        <a:buClrTx/>
        <a:buSzPct val="123000"/>
        <a:buFontTx/>
        <a:buChar char="•"/>
        <a:tabLst/>
        <a:defRPr sz="2400" b="0" i="0" u="none" strike="noStrike" cap="none" spc="0" baseline="0">
          <a:solidFill>
            <a:srgbClr val="000000"/>
          </a:solidFill>
          <a:uFillTx/>
          <a:latin typeface="+mn-lt"/>
          <a:ea typeface="+mn-ea"/>
          <a:cs typeface="+mn-cs"/>
          <a:sym typeface="Helvetica Neue"/>
        </a:defRPr>
      </a:lvl9pPr>
    </p:bodyStyle>
    <p:otherStyle>
      <a:lvl1pPr marL="0" marR="0" indent="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1pPr>
      <a:lvl2pPr marL="0" marR="0" indent="2286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2pPr>
      <a:lvl3pPr marL="0" marR="0" indent="4572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3pPr>
      <a:lvl4pPr marL="0" marR="0" indent="6858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4pPr>
      <a:lvl5pPr marL="0" marR="0" indent="9144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5pPr>
      <a:lvl6pPr marL="0" marR="0" indent="11430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6pPr>
      <a:lvl7pPr marL="0" marR="0" indent="13716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7pPr>
      <a:lvl8pPr marL="0" marR="0" indent="16002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8pPr>
      <a:lvl9pPr marL="0" marR="0" indent="1828800" algn="ctr" defTabSz="2921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ctrTitle"/>
          </p:nvPr>
        </p:nvSpPr>
        <p:spPr>
          <a:xfrm>
            <a:off x="2800065" y="928050"/>
            <a:ext cx="6767016" cy="1460310"/>
          </a:xfrm>
        </p:spPr>
        <p:txBody>
          <a:bodyPr>
            <a:normAutofit fontScale="90000"/>
          </a:bodyPr>
          <a:lstStyle/>
          <a:p>
            <a:pPr algn="l"/>
            <a:r>
              <a:rPr lang="en-US" sz="8000" b="1" dirty="0">
                <a:solidFill>
                  <a:srgbClr val="000000"/>
                </a:solidFill>
              </a:rPr>
              <a:t>pharmacology</a:t>
            </a:r>
            <a:endParaRPr lang="fa-IR" sz="8000" b="1" dirty="0">
              <a:solidFill>
                <a:srgbClr val="000000"/>
              </a:solidFill>
            </a:endParaRPr>
          </a:p>
        </p:txBody>
      </p:sp>
      <p:sp>
        <p:nvSpPr>
          <p:cNvPr id="3" name="Subtitle 2"/>
          <p:cNvSpPr>
            <a:spLocks noGrp="1"/>
          </p:cNvSpPr>
          <p:nvPr>
            <p:ph type="subTitle" idx="1"/>
          </p:nvPr>
        </p:nvSpPr>
        <p:spPr>
          <a:xfrm>
            <a:off x="4107975" y="5377218"/>
            <a:ext cx="3603010" cy="995447"/>
          </a:xfrm>
        </p:spPr>
        <p:txBody>
          <a:bodyPr>
            <a:normAutofit lnSpcReduction="10000"/>
          </a:bodyPr>
          <a:lstStyle/>
          <a:p>
            <a:pPr algn="l"/>
            <a:r>
              <a:rPr lang="en-US" sz="2800" dirty="0"/>
              <a:t>Dr Samira </a:t>
            </a:r>
            <a:r>
              <a:rPr lang="en-US" sz="2800" dirty="0" err="1"/>
              <a:t>Radmand</a:t>
            </a:r>
            <a:endParaRPr lang="fa-IR" sz="2800" dirty="0"/>
          </a:p>
          <a:p>
            <a:pPr algn="l"/>
            <a:r>
              <a:rPr lang="en-US" sz="1700" dirty="0"/>
              <a:t>Pharmacist</a:t>
            </a:r>
            <a:endParaRPr lang="fa-IR" sz="1700" dirty="0"/>
          </a:p>
        </p:txBody>
      </p:sp>
    </p:spTree>
    <p:extLst>
      <p:ext uri="{BB962C8B-B14F-4D97-AF65-F5344CB8AC3E}">
        <p14:creationId xmlns:p14="http://schemas.microsoft.com/office/powerpoint/2010/main" val="2048624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259307"/>
            <a:ext cx="10985500" cy="573206"/>
          </a:xfrm>
        </p:spPr>
        <p:txBody>
          <a:bodyPr>
            <a:normAutofit fontScale="90000"/>
          </a:bodyPr>
          <a:lstStyle/>
          <a:p>
            <a:pPr algn="r"/>
            <a:r>
              <a:rPr lang="fa-IR" sz="3600" dirty="0"/>
              <a:t>فارماکولوژی</a:t>
            </a:r>
            <a:br>
              <a:rPr lang="en-US" dirty="0"/>
            </a:br>
            <a:br>
              <a:rPr lang="fa-IR" dirty="0"/>
            </a:br>
            <a:r>
              <a:rPr lang="fa-IR" sz="2400" b="0" dirty="0">
                <a:cs typeface="B Nazanin" panose="00000400000000000000" pitchFamily="2" charset="-78"/>
              </a:rPr>
              <a:t>.</a:t>
            </a:r>
            <a:r>
              <a:rPr lang="fa-IR" sz="2200" b="0" dirty="0">
                <a:cs typeface="B Nazanin" panose="00000400000000000000" pitchFamily="2" charset="-78"/>
              </a:rPr>
              <a:t> علمی است که اثر داروها بر بدن و اثر بدن بر داروها را بررسی می کند</a:t>
            </a:r>
            <a:br>
              <a:rPr lang="fa-IR" sz="2800" b="0" dirty="0">
                <a:cs typeface="B Nazanin" panose="00000400000000000000" pitchFamily="2" charset="-78"/>
              </a:rPr>
            </a:br>
            <a:br>
              <a:rPr lang="fa-IR" sz="2800" b="0" dirty="0">
                <a:cs typeface="B Nazanin" panose="00000400000000000000" pitchFamily="2" charset="-78"/>
              </a:rPr>
            </a:br>
            <a:r>
              <a:rPr lang="fa-IR" sz="2200" b="0" dirty="0">
                <a:cs typeface="B Nazanin" panose="00000400000000000000" pitchFamily="2" charset="-78"/>
              </a:rPr>
              <a:t>به عبارت دیگر فارماکولوژی بررسی می کند</a:t>
            </a:r>
            <a:br>
              <a:rPr lang="en-US" sz="2800" b="0" dirty="0">
                <a:cs typeface="B Nazanin" panose="00000400000000000000" pitchFamily="2" charset="-78"/>
              </a:rPr>
            </a:br>
            <a:br>
              <a:rPr lang="fa-IR" sz="2800" b="0" dirty="0">
                <a:cs typeface="B Nazanin" panose="00000400000000000000" pitchFamily="2" charset="-78"/>
              </a:rPr>
            </a:br>
            <a:r>
              <a:rPr lang="fa-IR" sz="2200" b="0" dirty="0">
                <a:cs typeface="B Nazanin" panose="00000400000000000000" pitchFamily="2" charset="-78"/>
              </a:rPr>
              <a:t>1.دارو چگونه عمل می کند ؟ ( مکانیسم اثر)</a:t>
            </a:r>
            <a:br>
              <a:rPr lang="en-US" sz="28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2. دارو پس از ورود به بدن چه مسیری را طی می کند؟ ( جذب، توزیع، متابولیسم، دفع )</a:t>
            </a:r>
            <a:br>
              <a:rPr lang="en-US" sz="2200" b="0" dirty="0">
                <a:cs typeface="B Nazanin" panose="00000400000000000000" pitchFamily="2" charset="-78"/>
              </a:rPr>
            </a:br>
            <a:br>
              <a:rPr lang="en-US" sz="2200" b="0" dirty="0">
                <a:cs typeface="B Nazanin" panose="00000400000000000000" pitchFamily="2" charset="-78"/>
              </a:rPr>
            </a:br>
            <a:r>
              <a:rPr lang="en-US" sz="2200" b="0" dirty="0">
                <a:cs typeface="B Nazanin" panose="00000400000000000000" pitchFamily="2" charset="-78"/>
              </a:rPr>
              <a:t>        </a:t>
            </a:r>
            <a:r>
              <a:rPr lang="fa-IR" sz="2200" b="0" dirty="0">
                <a:cs typeface="B Nazanin" panose="00000400000000000000" pitchFamily="2" charset="-78"/>
              </a:rPr>
              <a:t>چه عواملی می توانند اثر دارو را تغییر دهند؟ ( سن ، بیماری ، ژنتیک و...)</a:t>
            </a:r>
            <a:r>
              <a:rPr lang="en-US" sz="2200" b="0" dirty="0">
                <a:cs typeface="B Nazanin" panose="00000400000000000000" pitchFamily="2" charset="-78"/>
              </a:rPr>
              <a:t>  .3</a:t>
            </a:r>
            <a:br>
              <a:rPr lang="en-US" sz="2200" b="0" dirty="0">
                <a:cs typeface="B Nazanin" panose="00000400000000000000" pitchFamily="2" charset="-78"/>
              </a:rPr>
            </a:br>
            <a:br>
              <a:rPr lang="en-US" sz="2200" b="0" dirty="0">
                <a:cs typeface="B Nazanin" panose="00000400000000000000" pitchFamily="2" charset="-78"/>
              </a:rPr>
            </a:br>
            <a:br>
              <a:rPr lang="fa-IR" sz="2200" b="0" dirty="0">
                <a:cs typeface="B Nazanin" panose="00000400000000000000" pitchFamily="2" charset="-78"/>
              </a:rPr>
            </a:br>
            <a:r>
              <a:rPr lang="fa-IR" sz="3100" dirty="0">
                <a:cs typeface="B Nazanin" panose="00000400000000000000" pitchFamily="2" charset="-78"/>
              </a:rPr>
              <a:t>شاخه های اصلی فارماکولوژی</a:t>
            </a:r>
            <a:br>
              <a:rPr lang="fa-IR" dirty="0"/>
            </a:br>
            <a:r>
              <a:rPr lang="fa-IR" dirty="0"/>
              <a:t>                                                               </a:t>
            </a:r>
          </a:p>
        </p:txBody>
      </p:sp>
      <p:sp>
        <p:nvSpPr>
          <p:cNvPr id="3" name="Content Placeholder 2"/>
          <p:cNvSpPr>
            <a:spLocks noGrp="1"/>
          </p:cNvSpPr>
          <p:nvPr>
            <p:ph idx="1"/>
          </p:nvPr>
        </p:nvSpPr>
        <p:spPr>
          <a:xfrm>
            <a:off x="603250" y="4735773"/>
            <a:ext cx="10985500" cy="2122226"/>
          </a:xfrm>
        </p:spPr>
        <p:txBody>
          <a:bodyPr>
            <a:noAutofit/>
          </a:bodyPr>
          <a:lstStyle/>
          <a:p>
            <a:pPr marL="0" indent="0" algn="r">
              <a:buNone/>
            </a:pPr>
            <a:r>
              <a:rPr lang="fa-IR" b="1" dirty="0">
                <a:cs typeface="B Nazanin" panose="00000400000000000000" pitchFamily="2" charset="-78"/>
              </a:rPr>
              <a:t>1. فارماکوکینتیک </a:t>
            </a:r>
            <a:r>
              <a:rPr lang="fa-IR" sz="2000" dirty="0">
                <a:cs typeface="B Nazanin" panose="00000400000000000000" pitchFamily="2" charset="-78"/>
              </a:rPr>
              <a:t>(مطالعه مسیر حرکت دارو در بدن جذب، توزیع، متابولیسمف دفع)</a:t>
            </a:r>
            <a:r>
              <a:rPr lang="fa-IR" sz="2000" b="1" dirty="0">
                <a:cs typeface="B Nazanin" panose="00000400000000000000" pitchFamily="2" charset="-78"/>
              </a:rPr>
              <a:t> </a:t>
            </a:r>
          </a:p>
          <a:p>
            <a:pPr marL="0" indent="0" algn="r">
              <a:buNone/>
            </a:pPr>
            <a:r>
              <a:rPr lang="fa-IR" b="1" dirty="0">
                <a:cs typeface="B Nazanin" panose="00000400000000000000" pitchFamily="2" charset="-78"/>
              </a:rPr>
              <a:t>2. فارماکودینامیک</a:t>
            </a:r>
            <a:r>
              <a:rPr lang="fa-IR" sz="2000" b="1" dirty="0">
                <a:cs typeface="B Nazanin" panose="00000400000000000000" pitchFamily="2" charset="-78"/>
              </a:rPr>
              <a:t> </a:t>
            </a:r>
            <a:r>
              <a:rPr lang="fa-IR" sz="2000" dirty="0">
                <a:cs typeface="B Nazanin" panose="00000400000000000000" pitchFamily="2" charset="-78"/>
              </a:rPr>
              <a:t>(بررسی می کند که دارو چگونه روی گیرنده ها ، آنزیم ها و سیستم های بدن اثر می گذارد)</a:t>
            </a:r>
            <a:endParaRPr lang="fa-IR" sz="2000" b="1" dirty="0">
              <a:cs typeface="B Nazanin" panose="00000400000000000000" pitchFamily="2" charset="-78"/>
            </a:endParaRPr>
          </a:p>
          <a:p>
            <a:pPr marL="0" indent="0" algn="r">
              <a:buNone/>
            </a:pPr>
            <a:r>
              <a:rPr lang="fa-IR" b="1" dirty="0">
                <a:cs typeface="B Nazanin" panose="00000400000000000000" pitchFamily="2" charset="-78"/>
              </a:rPr>
              <a:t>3.فارماکوتراپی</a:t>
            </a:r>
            <a:r>
              <a:rPr lang="fa-IR" sz="2000" dirty="0">
                <a:cs typeface="B Nazanin" panose="00000400000000000000" pitchFamily="2" charset="-78"/>
              </a:rPr>
              <a:t> ( کاربرد اصول فارماکولوژی در درمان بیماری ها)</a:t>
            </a:r>
            <a:endParaRPr lang="fa-IR" sz="2000" b="1" dirty="0">
              <a:cs typeface="B Nazanin" panose="00000400000000000000" pitchFamily="2" charset="-78"/>
            </a:endParaRPr>
          </a:p>
          <a:p>
            <a:pPr marL="0" indent="0" algn="r">
              <a:buNone/>
            </a:pPr>
            <a:r>
              <a:rPr lang="en-US" sz="2000" b="1" dirty="0"/>
              <a:t> </a:t>
            </a:r>
          </a:p>
        </p:txBody>
      </p:sp>
    </p:spTree>
    <p:extLst>
      <p:ext uri="{BB962C8B-B14F-4D97-AF65-F5344CB8AC3E}">
        <p14:creationId xmlns:p14="http://schemas.microsoft.com/office/powerpoint/2010/main" val="254004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539749"/>
            <a:ext cx="10985500" cy="1111630"/>
          </a:xfrm>
        </p:spPr>
        <p:txBody>
          <a:bodyPr>
            <a:normAutofit fontScale="90000"/>
          </a:bodyPr>
          <a:lstStyle/>
          <a:p>
            <a:pPr algn="r"/>
            <a:r>
              <a:rPr lang="fa-IR" sz="2700" dirty="0">
                <a:cs typeface="B Nazanin" panose="00000400000000000000" pitchFamily="2" charset="-78"/>
              </a:rPr>
              <a:t>4.توکسیکولوژی</a:t>
            </a:r>
            <a:r>
              <a:rPr lang="fa-IR" sz="2000" dirty="0"/>
              <a:t> </a:t>
            </a:r>
            <a:r>
              <a:rPr lang="fa-IR" sz="2200" b="0" dirty="0">
                <a:cs typeface="B Nazanin" panose="00000400000000000000" pitchFamily="2" charset="-78"/>
              </a:rPr>
              <a:t>( بررسی اثرات مضر داروها و سایر مواد شیمیایی بر موجودات زنده)</a:t>
            </a:r>
            <a:br>
              <a:rPr lang="fa-IR" sz="2000" dirty="0"/>
            </a:br>
            <a:br>
              <a:rPr lang="en-US" sz="2000" dirty="0"/>
            </a:br>
            <a:r>
              <a:rPr lang="fa-IR" sz="2700" dirty="0">
                <a:cs typeface="B Nazanin" panose="00000400000000000000" pitchFamily="2" charset="-78"/>
              </a:rPr>
              <a:t>5. فارماکوژنتیک و فارماکوژنومیک</a:t>
            </a:r>
            <a:r>
              <a:rPr lang="fa-IR" sz="2200" b="0" dirty="0">
                <a:cs typeface="B Nazanin" panose="00000400000000000000" pitchFamily="2" charset="-78"/>
              </a:rPr>
              <a:t>( بررسی تاثیر تفاوت های ژنتیکی افراد بر پاسخ به دارو ها)</a:t>
            </a:r>
            <a:br>
              <a:rPr lang="en-US" sz="20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br>
              <a:rPr lang="fa-IR" sz="2000" dirty="0">
                <a:cs typeface="B Nazanin" panose="00000400000000000000" pitchFamily="2" charset="-78"/>
              </a:rPr>
            </a:br>
            <a:r>
              <a:rPr lang="fa-IR" sz="2700" dirty="0">
                <a:cs typeface="B Nazanin" panose="00000400000000000000" pitchFamily="2" charset="-78"/>
              </a:rPr>
              <a:t>هدف نهایی علم فارماکولوژی: </a:t>
            </a:r>
            <a:r>
              <a:rPr lang="fa-IR" sz="2200" b="0" dirty="0">
                <a:cs typeface="B Nazanin" panose="00000400000000000000" pitchFamily="2" charset="-78"/>
              </a:rPr>
              <a:t>درک نحوه عملکرد دارو ها برای به کارگیری ایمن و موثر آن ها در پیشگیری، تشخیص و درمان بیماری ها است.</a:t>
            </a:r>
            <a:br>
              <a:rPr lang="fa-IR" sz="2000" b="0" dirty="0">
                <a:cs typeface="B Nazanin" panose="00000400000000000000" pitchFamily="2" charset="-78"/>
              </a:rPr>
            </a:br>
            <a:br>
              <a:rPr lang="en-US" sz="2000" b="0" dirty="0">
                <a:cs typeface="B Nazanin" panose="00000400000000000000" pitchFamily="2" charset="-78"/>
              </a:rPr>
            </a:br>
            <a:br>
              <a:rPr lang="fa-IR" sz="2000" b="0" dirty="0">
                <a:cs typeface="B Nazanin" panose="00000400000000000000" pitchFamily="2" charset="-78"/>
              </a:rPr>
            </a:br>
            <a:br>
              <a:rPr lang="fa-IR" sz="2000" b="0" dirty="0">
                <a:cs typeface="B Nazanin" panose="00000400000000000000" pitchFamily="2" charset="-78"/>
              </a:rPr>
            </a:br>
            <a:r>
              <a:rPr lang="fa-IR" sz="3600" dirty="0">
                <a:cs typeface="B Nazanin" panose="00000400000000000000" pitchFamily="2" charset="-78"/>
              </a:rPr>
              <a:t>فارماکولوژی</a:t>
            </a:r>
            <a:br>
              <a:rPr lang="en-US" sz="3100" dirty="0">
                <a:cs typeface="B Nazanin" panose="00000400000000000000" pitchFamily="2" charset="-78"/>
              </a:rPr>
            </a:br>
            <a:br>
              <a:rPr lang="en-US" sz="3100" dirty="0">
                <a:cs typeface="B Nazanin" panose="00000400000000000000" pitchFamily="2" charset="-78"/>
              </a:rPr>
            </a:br>
            <a:r>
              <a:rPr lang="fa-IR" sz="2400" dirty="0">
                <a:cs typeface="B Nazanin" panose="00000400000000000000" pitchFamily="2" charset="-78"/>
              </a:rPr>
              <a:t>1. فارماکودینامیک </a:t>
            </a:r>
            <a:r>
              <a:rPr lang="fa-IR" sz="2200" b="0" dirty="0">
                <a:cs typeface="B Nazanin" panose="00000400000000000000" pitchFamily="2" charset="-78"/>
              </a:rPr>
              <a:t>(اثر دارو بر بدن) </a:t>
            </a:r>
            <a:br>
              <a:rPr lang="fa-IR" sz="2400" dirty="0">
                <a:cs typeface="B Nazanin" panose="00000400000000000000" pitchFamily="2" charset="-78"/>
              </a:rPr>
            </a:br>
            <a:br>
              <a:rPr lang="fa-IR" sz="2400" dirty="0">
                <a:cs typeface="B Nazanin" panose="00000400000000000000" pitchFamily="2" charset="-78"/>
              </a:rPr>
            </a:br>
            <a:r>
              <a:rPr lang="fa-IR" sz="2400" dirty="0">
                <a:cs typeface="B Nazanin" panose="00000400000000000000" pitchFamily="2" charset="-78"/>
              </a:rPr>
              <a:t>2. فارماکوکینتیک </a:t>
            </a:r>
            <a:r>
              <a:rPr lang="fa-IR" sz="2200" b="0" dirty="0">
                <a:cs typeface="B Nazanin" panose="00000400000000000000" pitchFamily="2" charset="-78"/>
              </a:rPr>
              <a:t>( اثر بدن بر دارو)</a:t>
            </a:r>
            <a:br>
              <a:rPr lang="fa-IR" sz="2000" b="0" dirty="0">
                <a:cs typeface="B Nazanin" panose="00000400000000000000" pitchFamily="2" charset="-78"/>
              </a:rPr>
            </a:br>
            <a:endParaRPr lang="fa-IR" sz="2000" b="0" dirty="0">
              <a:cs typeface="B Nazanin" panose="00000400000000000000" pitchFamily="2" charset="-78"/>
            </a:endParaRPr>
          </a:p>
        </p:txBody>
      </p:sp>
      <p:sp>
        <p:nvSpPr>
          <p:cNvPr id="3" name="Content Placeholder 2"/>
          <p:cNvSpPr>
            <a:spLocks noGrp="1"/>
          </p:cNvSpPr>
          <p:nvPr>
            <p:ph idx="1"/>
          </p:nvPr>
        </p:nvSpPr>
        <p:spPr>
          <a:xfrm>
            <a:off x="603250" y="1856096"/>
            <a:ext cx="10985500" cy="163773"/>
          </a:xfrm>
        </p:spPr>
        <p:txBody>
          <a:bodyPr>
            <a:normAutofit fontScale="25000" lnSpcReduction="20000"/>
          </a:bodyPr>
          <a:lstStyle/>
          <a:p>
            <a:pPr algn="r"/>
            <a:endParaRPr lang="en-US" dirty="0"/>
          </a:p>
          <a:p>
            <a:pPr algn="r"/>
            <a:endParaRPr lang="en-US" dirty="0"/>
          </a:p>
          <a:p>
            <a:pPr algn="r"/>
            <a:endParaRPr lang="fa-IR" dirty="0"/>
          </a:p>
        </p:txBody>
      </p:sp>
    </p:spTree>
    <p:extLst>
      <p:ext uri="{BB962C8B-B14F-4D97-AF65-F5344CB8AC3E}">
        <p14:creationId xmlns:p14="http://schemas.microsoft.com/office/powerpoint/2010/main" val="838474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539750"/>
            <a:ext cx="10985500" cy="483832"/>
          </a:xfrm>
        </p:spPr>
        <p:txBody>
          <a:bodyPr>
            <a:normAutofit fontScale="90000"/>
          </a:bodyPr>
          <a:lstStyle/>
          <a:p>
            <a:pPr algn="r" rtl="1"/>
            <a:r>
              <a:rPr lang="fa-IR" sz="3600" dirty="0">
                <a:cs typeface="B Nazanin" panose="00000400000000000000" pitchFamily="2" charset="-78"/>
              </a:rPr>
              <a:t>موضوعات اصلی در فارماکودینامیک</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1. مکانیسم عمل داروها</a:t>
            </a:r>
            <a:br>
              <a:rPr lang="en-US" sz="2700" dirty="0">
                <a:cs typeface="B Nazanin" panose="00000400000000000000" pitchFamily="2" charset="-78"/>
              </a:rPr>
            </a:br>
            <a:br>
              <a:rPr lang="en-US" sz="2700" dirty="0">
                <a:cs typeface="B Nazanin" panose="00000400000000000000" pitchFamily="2" charset="-78"/>
              </a:rPr>
            </a:br>
            <a:r>
              <a:rPr lang="fa-IR" sz="2700" dirty="0">
                <a:cs typeface="B Nazanin" panose="00000400000000000000" pitchFamily="2" charset="-78"/>
              </a:rPr>
              <a:t>2. رسپتور</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3.منحنی دوز-پاسخ (</a:t>
            </a:r>
            <a:r>
              <a:rPr lang="en-US" sz="2700" dirty="0">
                <a:cs typeface="B Nazanin" panose="00000400000000000000" pitchFamily="2" charset="-78"/>
              </a:rPr>
              <a:t> Dose-Response Relationship </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4. قدرت و کارایی( </a:t>
            </a:r>
            <a:r>
              <a:rPr lang="en-US" sz="2700" dirty="0">
                <a:cs typeface="B Nazanin" panose="00000400000000000000" pitchFamily="2" charset="-78"/>
              </a:rPr>
              <a:t>Potency , Efficacy </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5.آگونیست ها و آنتاگونیست ها</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6. تحمل ( </a:t>
            </a:r>
            <a:r>
              <a:rPr lang="en-US" sz="2700" dirty="0">
                <a:cs typeface="B Nazanin" panose="00000400000000000000" pitchFamily="2" charset="-78"/>
              </a:rPr>
              <a:t>Tolerance</a:t>
            </a:r>
            <a:r>
              <a:rPr lang="fa-IR" sz="2700" dirty="0">
                <a:cs typeface="B Nazanin" panose="00000400000000000000" pitchFamily="2" charset="-78"/>
              </a:rPr>
              <a:t>) و حساس شدن ( </a:t>
            </a:r>
            <a:r>
              <a:rPr lang="en-US" sz="2700" dirty="0">
                <a:cs typeface="B Nazanin" panose="00000400000000000000" pitchFamily="2" charset="-78"/>
              </a:rPr>
              <a:t>Sensitization </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7. ایمنی و عوارض دارویی ( </a:t>
            </a:r>
            <a:r>
              <a:rPr lang="en-US" sz="2700" dirty="0">
                <a:cs typeface="B Nazanin" panose="00000400000000000000" pitchFamily="2" charset="-78"/>
              </a:rPr>
              <a:t>Therapeutic index, Toxicity </a:t>
            </a:r>
            <a:r>
              <a:rPr lang="fa-IR" sz="2700" dirty="0">
                <a:cs typeface="B Nazanin" panose="00000400000000000000" pitchFamily="2" charset="-78"/>
              </a:rPr>
              <a:t>)</a:t>
            </a:r>
          </a:p>
        </p:txBody>
      </p:sp>
    </p:spTree>
    <p:extLst>
      <p:ext uri="{BB962C8B-B14F-4D97-AF65-F5344CB8AC3E}">
        <p14:creationId xmlns:p14="http://schemas.microsoft.com/office/powerpoint/2010/main" val="330706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2E4AD-1D9C-420D-AD77-49EB7A939576}"/>
              </a:ext>
            </a:extLst>
          </p:cNvPr>
          <p:cNvSpPr>
            <a:spLocks noGrp="1"/>
          </p:cNvSpPr>
          <p:nvPr>
            <p:ph type="title"/>
          </p:nvPr>
        </p:nvSpPr>
        <p:spPr/>
        <p:txBody>
          <a:bodyPr>
            <a:normAutofit fontScale="90000"/>
          </a:bodyPr>
          <a:lstStyle/>
          <a:p>
            <a:pPr algn="r" rtl="1"/>
            <a:r>
              <a:rPr lang="fa-IR" sz="3600" dirty="0">
                <a:cs typeface="B Nazanin" panose="00000400000000000000" pitchFamily="2" charset="-78"/>
              </a:rPr>
              <a:t>رسپتور و افکتور</a:t>
            </a:r>
            <a:br>
              <a:rPr lang="fa-IR" sz="3600" dirty="0">
                <a:cs typeface="B Nazanin" panose="00000400000000000000" pitchFamily="2" charset="-78"/>
              </a:rPr>
            </a:br>
            <a:br>
              <a:rPr lang="fa-IR" sz="3600" dirty="0">
                <a:cs typeface="B Nazanin" panose="00000400000000000000" pitchFamily="2" charset="-78"/>
              </a:rPr>
            </a:br>
            <a:r>
              <a:rPr lang="fa-IR" sz="3600" dirty="0">
                <a:cs typeface="B Nazanin" panose="00000400000000000000" pitchFamily="2" charset="-78"/>
              </a:rPr>
              <a:t>. </a:t>
            </a:r>
            <a:r>
              <a:rPr lang="fa-IR" sz="3100" dirty="0">
                <a:cs typeface="B Nazanin" panose="00000400000000000000" pitchFamily="2" charset="-78"/>
              </a:rPr>
              <a:t>رسپتور</a:t>
            </a:r>
            <a:br>
              <a:rPr lang="fa-IR" sz="3100" dirty="0">
                <a:cs typeface="B Nazanin" panose="00000400000000000000" pitchFamily="2" charset="-78"/>
              </a:rPr>
            </a:br>
            <a:br>
              <a:rPr lang="fa-IR" sz="2000" b="0" dirty="0">
                <a:cs typeface="B Nazanin" panose="00000400000000000000" pitchFamily="2" charset="-78"/>
              </a:rPr>
            </a:br>
            <a:r>
              <a:rPr lang="fa-IR" sz="2200" b="0" dirty="0">
                <a:cs typeface="B Nazanin" panose="00000400000000000000" pitchFamily="2" charset="-78"/>
              </a:rPr>
              <a:t>مولکولی اختصاصی در بدن است که دارو با آن اتصال اختصاصی برقرار می کند و دارو با هدف فعال یا مهار کردن یک پاسخ سلولی بر رسپتور اثر می گذارد</a:t>
            </a:r>
            <a:r>
              <a:rPr lang="fa-IR" sz="2400" dirty="0">
                <a:cs typeface="B Nazanin" panose="00000400000000000000" pitchFamily="2" charset="-78"/>
              </a:rPr>
              <a:t> </a:t>
            </a:r>
            <a:r>
              <a:rPr lang="fa-IR" sz="2200" b="0" dirty="0">
                <a:cs typeface="B Nazanin" panose="00000400000000000000" pitchFamily="2" charset="-78"/>
              </a:rPr>
              <a:t>رسپتور</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می تواند  پروتئینی، آنزیمی و یا بخشی از </a:t>
            </a:r>
            <a:r>
              <a:rPr lang="en-US" sz="2200" b="0" dirty="0">
                <a:cs typeface="B Nazanin" panose="00000400000000000000" pitchFamily="2" charset="-78"/>
              </a:rPr>
              <a:t>DNA </a:t>
            </a:r>
            <a:r>
              <a:rPr lang="fa-IR" sz="2200" b="0" dirty="0">
                <a:cs typeface="B Nazanin" panose="00000400000000000000" pitchFamily="2" charset="-78"/>
              </a:rPr>
              <a:t> باشد.</a:t>
            </a:r>
            <a:r>
              <a:rPr lang="fa-IR" sz="2400" dirty="0">
                <a:cs typeface="B Nazanin" panose="00000400000000000000" pitchFamily="2" charset="-78"/>
              </a:rPr>
              <a:t> </a:t>
            </a:r>
            <a:r>
              <a:rPr lang="fa-IR" sz="2200" b="0" dirty="0">
                <a:cs typeface="B Nazanin" panose="00000400000000000000" pitchFamily="2" charset="-78"/>
              </a:rPr>
              <a:t> </a:t>
            </a:r>
            <a:br>
              <a:rPr lang="fa-IR" sz="2000" b="0" dirty="0">
                <a:cs typeface="B Nazanin" panose="00000400000000000000" pitchFamily="2" charset="-78"/>
              </a:rPr>
            </a:br>
            <a:br>
              <a:rPr lang="fa-IR" sz="2000" b="0" dirty="0">
                <a:cs typeface="B Nazanin" panose="00000400000000000000" pitchFamily="2" charset="-78"/>
              </a:rPr>
            </a:br>
            <a:r>
              <a:rPr lang="fa-IR" sz="2200" dirty="0">
                <a:cs typeface="B Nazanin" panose="00000400000000000000" pitchFamily="2" charset="-78"/>
              </a:rPr>
              <a:t>دو خاصیت مهم </a:t>
            </a:r>
            <a:r>
              <a:rPr lang="fa-IR" sz="2000" dirty="0">
                <a:cs typeface="B Nazanin" panose="00000400000000000000" pitchFamily="2" charset="-78"/>
              </a:rPr>
              <a:t>رسپتور </a:t>
            </a:r>
            <a:r>
              <a:rPr lang="fa-IR" sz="2000" b="0" dirty="0">
                <a:cs typeface="B Nazanin" panose="00000400000000000000" pitchFamily="2" charset="-78"/>
              </a:rPr>
              <a:t>: 1. </a:t>
            </a:r>
            <a:r>
              <a:rPr lang="fa-IR" sz="2200" b="0" dirty="0">
                <a:cs typeface="B Nazanin" panose="00000400000000000000" pitchFamily="2" charset="-78"/>
              </a:rPr>
              <a:t>اختصاصی بودن برای یک دارو</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2. </a:t>
            </a:r>
            <a:r>
              <a:rPr lang="fa-IR" sz="2200" b="0" dirty="0">
                <a:cs typeface="B Nazanin" panose="00000400000000000000" pitchFamily="2" charset="-78"/>
              </a:rPr>
              <a:t>ایجاد تغییر در پاسخ سلولی</a:t>
            </a:r>
            <a:br>
              <a:rPr lang="fa-IR" sz="2200" b="0" dirty="0">
                <a:cs typeface="B Nazanin" panose="00000400000000000000" pitchFamily="2" charset="-78"/>
              </a:rPr>
            </a:br>
            <a:br>
              <a:rPr lang="fa-IR" sz="2200" b="0" dirty="0">
                <a:cs typeface="B Nazanin" panose="00000400000000000000" pitchFamily="2" charset="-78"/>
              </a:rPr>
            </a:br>
            <a:r>
              <a:rPr lang="fa-IR" sz="2700" b="0" dirty="0">
                <a:cs typeface="B Nazanin" panose="00000400000000000000" pitchFamily="2" charset="-78"/>
              </a:rPr>
              <a:t>. رسپتورها دارای دو جایگاه مهم هستند: </a:t>
            </a:r>
            <a:r>
              <a:rPr lang="en-US" sz="2200" b="0" dirty="0">
                <a:cs typeface="B Nazanin" panose="00000400000000000000" pitchFamily="2" charset="-78"/>
              </a:rPr>
              <a:t>Binding site </a:t>
            </a:r>
            <a:r>
              <a:rPr lang="fa-IR" sz="2200" b="0" dirty="0">
                <a:cs typeface="B Nazanin" panose="00000400000000000000" pitchFamily="2" charset="-78"/>
              </a:rPr>
              <a:t>( خاصیت اختصاصی بودن را ایجاد می کند)</a:t>
            </a:r>
            <a:br>
              <a:rPr lang="fa-IR" sz="2200" b="0" dirty="0">
                <a:cs typeface="B Nazanin" panose="00000400000000000000" pitchFamily="2" charset="-78"/>
              </a:rPr>
            </a:br>
            <a:br>
              <a:rPr lang="fa-IR" sz="2200" b="0" dirty="0">
                <a:cs typeface="B Nazanin" panose="00000400000000000000" pitchFamily="2" charset="-78"/>
              </a:rPr>
            </a:br>
            <a:r>
              <a:rPr lang="en-US" sz="2200" b="0" dirty="0">
                <a:cs typeface="B Nazanin" panose="00000400000000000000" pitchFamily="2" charset="-78"/>
              </a:rPr>
              <a:t>Effector site </a:t>
            </a:r>
            <a:r>
              <a:rPr lang="fa-IR" sz="2200" b="0" dirty="0">
                <a:cs typeface="B Nazanin" panose="00000400000000000000" pitchFamily="2" charset="-78"/>
              </a:rPr>
              <a:t>( خاصیت ایجاد تغییر را برای رسپتور ایجاد می کند)</a:t>
            </a:r>
            <a:br>
              <a:rPr lang="en-US" sz="2200" b="0" dirty="0">
                <a:cs typeface="B Nazanin" panose="00000400000000000000" pitchFamily="2" charset="-78"/>
              </a:rPr>
            </a:br>
            <a:br>
              <a:rPr lang="en-US" sz="2200" b="0" dirty="0">
                <a:cs typeface="B Nazanin" panose="00000400000000000000" pitchFamily="2" charset="-78"/>
              </a:rPr>
            </a:br>
            <a:r>
              <a:rPr lang="fa-IR" sz="2200" b="0" dirty="0">
                <a:cs typeface="B Nazanin" panose="00000400000000000000" pitchFamily="2" charset="-78"/>
              </a:rPr>
              <a:t>افکتور می تواند به صورت مستقیم به رسپتور متصل باشد و یا مولکولی جدا از رسپتور باشد که با رسپتور مرتبط است .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افکتور اتصال دارو با رسپتور  را به یک پاسخ سلولی تبدیل می 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آنزیم آدنیلیل سیکلاز در </a:t>
            </a:r>
            <a:r>
              <a:rPr lang="en-US" sz="2200" b="0" dirty="0">
                <a:cs typeface="B Nazanin" panose="00000400000000000000" pitchFamily="2" charset="-78"/>
              </a:rPr>
              <a:t>GPCR </a:t>
            </a:r>
            <a:r>
              <a:rPr lang="fa-IR" sz="2200" b="0" dirty="0">
                <a:cs typeface="B Nazanin" panose="00000400000000000000" pitchFamily="2" charset="-78"/>
              </a:rPr>
              <a:t>، تیروزین کیناز در رسپتور های انسولینی و کانال های بتاسیمی سدیمی انواعی از افکتور ها هستند</a:t>
            </a:r>
            <a:br>
              <a:rPr lang="fa-IR" sz="2200" b="0" dirty="0">
                <a:cs typeface="B Nazanin" panose="00000400000000000000" pitchFamily="2" charset="-78"/>
              </a:rPr>
            </a:br>
            <a:br>
              <a:rPr lang="fa-IR" sz="2200" b="0" dirty="0">
                <a:cs typeface="B Nazanin" panose="00000400000000000000" pitchFamily="2" charset="-78"/>
              </a:rPr>
            </a:br>
            <a:br>
              <a:rPr lang="fa-IR" sz="3600" dirty="0">
                <a:cs typeface="B Nazanin" panose="00000400000000000000" pitchFamily="2" charset="-78"/>
              </a:rPr>
            </a:br>
            <a:br>
              <a:rPr lang="fa-IR" sz="3600" dirty="0">
                <a:cs typeface="B Nazanin" panose="00000400000000000000" pitchFamily="2" charset="-78"/>
              </a:rPr>
            </a:br>
            <a:endParaRPr lang="en-US" sz="3600" dirty="0">
              <a:cs typeface="B Nazanin" panose="00000400000000000000" pitchFamily="2" charset="-78"/>
            </a:endParaRPr>
          </a:p>
        </p:txBody>
      </p:sp>
    </p:spTree>
    <p:extLst>
      <p:ext uri="{BB962C8B-B14F-4D97-AF65-F5344CB8AC3E}">
        <p14:creationId xmlns:p14="http://schemas.microsoft.com/office/powerpoint/2010/main" val="1268672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539750"/>
            <a:ext cx="10985500" cy="483832"/>
          </a:xfrm>
        </p:spPr>
        <p:txBody>
          <a:bodyPr>
            <a:normAutofit fontScale="90000"/>
          </a:bodyPr>
          <a:lstStyle/>
          <a:p>
            <a:pPr algn="r" rtl="1"/>
            <a:r>
              <a:rPr lang="fa-IR" sz="2800" dirty="0">
                <a:cs typeface="B Nazanin" panose="00000400000000000000" pitchFamily="2" charset="-78"/>
              </a:rPr>
              <a:t>انواع رسپتور</a:t>
            </a:r>
            <a:br>
              <a:rPr lang="fa-IR" sz="2800" dirty="0">
                <a:cs typeface="B Nazanin" panose="00000400000000000000" pitchFamily="2" charset="-78"/>
              </a:rPr>
            </a:br>
            <a:br>
              <a:rPr lang="fa-IR" sz="2800" dirty="0">
                <a:cs typeface="B Nazanin" panose="00000400000000000000" pitchFamily="2" charset="-78"/>
              </a:rPr>
            </a:br>
            <a:r>
              <a:rPr lang="fa-IR" sz="2700" dirty="0">
                <a:cs typeface="B Nazanin" panose="00000400000000000000" pitchFamily="2" charset="-78"/>
              </a:rPr>
              <a:t>براساس مکانیسم عمل افکتور ها ، رسپتور ها به چهار دسته تقسیم می شوند</a:t>
            </a:r>
            <a:br>
              <a:rPr lang="en-US" sz="2800" dirty="0">
                <a:cs typeface="B Nazanin" panose="00000400000000000000" pitchFamily="2" charset="-78"/>
              </a:rPr>
            </a:br>
            <a:br>
              <a:rPr lang="en-US" sz="2800" dirty="0">
                <a:cs typeface="B Nazanin" panose="00000400000000000000" pitchFamily="2" charset="-78"/>
              </a:rPr>
            </a:br>
            <a:r>
              <a:rPr lang="fa-IR" sz="2200" dirty="0">
                <a:cs typeface="B Nazanin" panose="00000400000000000000" pitchFamily="2" charset="-78"/>
              </a:rPr>
              <a:t>1. رسپتور های یونی</a:t>
            </a:r>
            <a:br>
              <a:rPr lang="fa-IR" sz="2200" dirty="0">
                <a:cs typeface="B Nazanin" panose="00000400000000000000" pitchFamily="2" charset="-78"/>
              </a:rPr>
            </a:br>
            <a:br>
              <a:rPr lang="fa-IR" sz="2200" dirty="0">
                <a:cs typeface="B Nazanin" panose="00000400000000000000" pitchFamily="2" charset="-78"/>
              </a:rPr>
            </a:br>
            <a:r>
              <a:rPr lang="fa-IR" sz="2200" b="0" dirty="0">
                <a:cs typeface="B Nazanin" panose="00000400000000000000" pitchFamily="2" charset="-78"/>
              </a:rPr>
              <a:t>این گیرنده‌ها روی غشای سلول قرار دارند و وقتی یک لیگاند به اون‌ها متصل می‌شه، باعث باز یا بسته شدن کانال یونی می‌شوند در نتیجه، یون‌هایی مثل سدیم،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پتاسیم، کلسیم یا کلر وارد یا خارج سلول می‌شوند.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پاسخ این نوع گیرنده‌ها بسیار سریع و در حد میلی‌ثانیه است، چون تغییر در پتانسیل غشایی به‌سرعت رخ می‌دهد . مثال‌های مهم اون‌ها شامل گیرنده نیکوتینی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استیل‌کولین، گیرنده  </a:t>
            </a:r>
            <a:r>
              <a:rPr lang="en-US" sz="2000" b="0" dirty="0">
                <a:cs typeface="B Nazanin" panose="00000400000000000000" pitchFamily="2" charset="-78"/>
              </a:rPr>
              <a:t>GABA </a:t>
            </a:r>
            <a:r>
              <a:rPr lang="fa-IR" sz="2200" b="0" dirty="0">
                <a:cs typeface="B Nazanin" panose="00000400000000000000" pitchFamily="2" charset="-78"/>
              </a:rPr>
              <a:t>نوع </a:t>
            </a:r>
            <a:r>
              <a:rPr lang="en-US" sz="2000" b="0" dirty="0">
                <a:cs typeface="B Nazanin" panose="00000400000000000000" pitchFamily="2" charset="-78"/>
              </a:rPr>
              <a:t>A</a:t>
            </a:r>
            <a:r>
              <a:rPr lang="en-US" sz="2200" b="0" dirty="0">
                <a:cs typeface="B Nazanin" panose="00000400000000000000" pitchFamily="2" charset="-78"/>
              </a:rPr>
              <a:t>، </a:t>
            </a:r>
            <a:r>
              <a:rPr lang="fa-IR" sz="2200" b="0" dirty="0">
                <a:cs typeface="B Nazanin" panose="00000400000000000000" pitchFamily="2" charset="-78"/>
              </a:rPr>
              <a:t>و گیرنده </a:t>
            </a:r>
            <a:r>
              <a:rPr lang="en-US" sz="2000" b="0" dirty="0">
                <a:cs typeface="B Nazanin" panose="00000400000000000000" pitchFamily="2" charset="-78"/>
              </a:rPr>
              <a:t>NMDA </a:t>
            </a:r>
            <a:r>
              <a:rPr lang="fa-IR" sz="2200" b="0" dirty="0">
                <a:cs typeface="B Nazanin" panose="00000400000000000000" pitchFamily="2" charset="-78"/>
              </a:rPr>
              <a:t>هستن</a:t>
            </a:r>
            <a:br>
              <a:rPr lang="fa-IR" sz="2200" dirty="0">
                <a:cs typeface="B Nazanin" panose="00000400000000000000" pitchFamily="2" charset="-78"/>
              </a:rPr>
            </a:br>
            <a:br>
              <a:rPr lang="fa-IR"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 </a:t>
            </a:r>
          </a:p>
        </p:txBody>
      </p:sp>
      <p:pic>
        <p:nvPicPr>
          <p:cNvPr id="3" name="Picture 2">
            <a:extLst>
              <a:ext uri="{FF2B5EF4-FFF2-40B4-BE49-F238E27FC236}">
                <a16:creationId xmlns:a16="http://schemas.microsoft.com/office/drawing/2014/main" id="{F8FE8A9D-0D6F-476C-9E61-BF809276F79F}"/>
              </a:ext>
            </a:extLst>
          </p:cNvPr>
          <p:cNvPicPr>
            <a:picLocks noChangeAspect="1"/>
          </p:cNvPicPr>
          <p:nvPr/>
        </p:nvPicPr>
        <p:blipFill>
          <a:blip r:embed="rId2"/>
          <a:stretch>
            <a:fillRect/>
          </a:stretch>
        </p:blipFill>
        <p:spPr>
          <a:xfrm>
            <a:off x="759655" y="3742006"/>
            <a:ext cx="7568419" cy="2869808"/>
          </a:xfrm>
          <a:prstGeom prst="rect">
            <a:avLst/>
          </a:prstGeom>
        </p:spPr>
      </p:pic>
    </p:spTree>
    <p:extLst>
      <p:ext uri="{BB962C8B-B14F-4D97-AF65-F5344CB8AC3E}">
        <p14:creationId xmlns:p14="http://schemas.microsoft.com/office/powerpoint/2010/main" val="1830763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B9A66-7A9E-48A6-8AC0-A2A1773D23E1}"/>
              </a:ext>
            </a:extLst>
          </p:cNvPr>
          <p:cNvSpPr>
            <a:spLocks noGrp="1"/>
          </p:cNvSpPr>
          <p:nvPr>
            <p:ph type="title"/>
          </p:nvPr>
        </p:nvSpPr>
        <p:spPr/>
        <p:txBody>
          <a:bodyPr>
            <a:normAutofit fontScale="90000"/>
          </a:bodyPr>
          <a:lstStyle/>
          <a:p>
            <a:pPr algn="r" rtl="1"/>
            <a:r>
              <a:rPr lang="fa-IR" sz="2400" dirty="0">
                <a:cs typeface="B Nazanin" panose="00000400000000000000" pitchFamily="2" charset="-78"/>
              </a:rPr>
              <a:t>2. گیرنده‌های جفت‌شونده با پروتئین </a:t>
            </a:r>
            <a:r>
              <a:rPr lang="en-US" sz="2400" dirty="0">
                <a:cs typeface="B Nazanin" panose="00000400000000000000" pitchFamily="2" charset="-78"/>
              </a:rPr>
              <a:t>G </a:t>
            </a:r>
            <a:r>
              <a:rPr lang="fa-IR" sz="2400" dirty="0">
                <a:cs typeface="B Nazanin" panose="00000400000000000000" pitchFamily="2" charset="-78"/>
              </a:rPr>
              <a:t>یا </a:t>
            </a:r>
            <a:r>
              <a:rPr lang="en-US" sz="2400" dirty="0">
                <a:cs typeface="B Nazanin" panose="00000400000000000000" pitchFamily="2" charset="-78"/>
              </a:rPr>
              <a:t>G-protein-coupled receptors </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این گیرنده‌ها بزرگ‌ترین و متنوع‌ترین خانواده گیرنده‌ها در بدن هستند .ساختار شان از هفت بخش ترانس‌ممبران تشکیل شده و با پروتئینی به نام پروتئین </a:t>
            </a:r>
            <a:r>
              <a:rPr lang="en-US" sz="2200" b="0" dirty="0">
                <a:cs typeface="B Nazanin" panose="00000400000000000000" pitchFamily="2" charset="-78"/>
              </a:rPr>
              <a:t>G </a:t>
            </a:r>
            <a:r>
              <a:rPr lang="fa-IR" sz="2200" b="0" dirty="0">
                <a:cs typeface="B Nazanin" panose="00000400000000000000" pitchFamily="2" charset="-78"/>
              </a:rPr>
              <a:t>در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داخل سلول جفت می‌شوند.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وقتی لیگاند به این گیرنده متصل می‌شه، پروتئین </a:t>
            </a:r>
            <a:r>
              <a:rPr lang="en-US" sz="2200" b="0" dirty="0">
                <a:cs typeface="B Nazanin" panose="00000400000000000000" pitchFamily="2" charset="-78"/>
              </a:rPr>
              <a:t>G </a:t>
            </a:r>
            <a:r>
              <a:rPr lang="fa-IR" sz="2200" b="0" dirty="0">
                <a:cs typeface="B Nazanin" panose="00000400000000000000" pitchFamily="2" charset="-78"/>
              </a:rPr>
              <a:t>فعال می‌شه و زیرواحد آلفا یا بتا-گاما از اون جدا می‌شوند.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این زیرواحدها سپس روی آنزیم‌ها یا کانال‌های یونی داخل سلول اثر می‌ذارن و باعث تولید پیام‌رسان‌های دوم مثل </a:t>
            </a:r>
            <a:r>
              <a:rPr lang="en-US" sz="2200" b="0" dirty="0">
                <a:cs typeface="B Nazanin" panose="00000400000000000000" pitchFamily="2" charset="-78"/>
              </a:rPr>
              <a:t>cAMP، IP3 </a:t>
            </a:r>
            <a:r>
              <a:rPr lang="fa-IR" sz="2200" b="0" dirty="0">
                <a:cs typeface="B Nazanin" panose="00000400000000000000" pitchFamily="2" charset="-78"/>
              </a:rPr>
              <a:t>یا </a:t>
            </a:r>
            <a:r>
              <a:rPr lang="en-US" sz="2200" b="0" dirty="0">
                <a:cs typeface="B Nazanin" panose="00000400000000000000" pitchFamily="2" charset="-78"/>
              </a:rPr>
              <a:t>DAG </a:t>
            </a:r>
            <a:r>
              <a:rPr lang="fa-IR" sz="2200" b="0" dirty="0">
                <a:cs typeface="B Nazanin" panose="00000400000000000000" pitchFamily="2" charset="-78"/>
              </a:rPr>
              <a:t>می‌شوند .پاسخ این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گیرنده‌ها در حد ثانیه است. مثال‌های مهم این گیرنده ها شامل گیرنده‌های آدرنرژیک، موسکارینی و دوپامینرژیک.</a:t>
            </a:r>
            <a:endParaRPr lang="en-US" sz="2200" b="0" dirty="0">
              <a:cs typeface="B Nazanin" panose="00000400000000000000" pitchFamily="2" charset="-78"/>
            </a:endParaRPr>
          </a:p>
        </p:txBody>
      </p:sp>
      <p:pic>
        <p:nvPicPr>
          <p:cNvPr id="4" name="Picture 3">
            <a:extLst>
              <a:ext uri="{FF2B5EF4-FFF2-40B4-BE49-F238E27FC236}">
                <a16:creationId xmlns:a16="http://schemas.microsoft.com/office/drawing/2014/main" id="{9EA60549-BD43-4980-B55C-028EAABAD4E1}"/>
              </a:ext>
            </a:extLst>
          </p:cNvPr>
          <p:cNvPicPr>
            <a:picLocks noChangeAspect="1"/>
          </p:cNvPicPr>
          <p:nvPr/>
        </p:nvPicPr>
        <p:blipFill>
          <a:blip r:embed="rId2"/>
          <a:stretch>
            <a:fillRect/>
          </a:stretch>
        </p:blipFill>
        <p:spPr>
          <a:xfrm>
            <a:off x="1026942" y="3784209"/>
            <a:ext cx="9200270" cy="2954216"/>
          </a:xfrm>
          <a:prstGeom prst="rect">
            <a:avLst/>
          </a:prstGeom>
        </p:spPr>
      </p:pic>
    </p:spTree>
    <p:extLst>
      <p:ext uri="{BB962C8B-B14F-4D97-AF65-F5344CB8AC3E}">
        <p14:creationId xmlns:p14="http://schemas.microsoft.com/office/powerpoint/2010/main" val="184641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2552-7935-48CF-8B10-12A694AC1269}"/>
              </a:ext>
            </a:extLst>
          </p:cNvPr>
          <p:cNvSpPr>
            <a:spLocks noGrp="1"/>
          </p:cNvSpPr>
          <p:nvPr>
            <p:ph type="title"/>
          </p:nvPr>
        </p:nvSpPr>
        <p:spPr>
          <a:xfrm>
            <a:off x="603250" y="539750"/>
            <a:ext cx="10985500" cy="716582"/>
          </a:xfrm>
        </p:spPr>
        <p:txBody>
          <a:bodyPr>
            <a:normAutofit fontScale="90000"/>
          </a:bodyPr>
          <a:lstStyle/>
          <a:p>
            <a:pPr algn="r" rtl="1"/>
            <a:r>
              <a:rPr lang="fa-IR" sz="2400" dirty="0">
                <a:cs typeface="B Nazanin" panose="00000400000000000000" pitchFamily="2" charset="-78"/>
              </a:rPr>
              <a:t>3. گیرنده‌های دارای فعالیت آنزیمی یا </a:t>
            </a:r>
            <a:r>
              <a:rPr lang="en-US" sz="2400" dirty="0">
                <a:cs typeface="B Nazanin" panose="00000400000000000000" pitchFamily="2" charset="-78"/>
              </a:rPr>
              <a:t>Enzyme-linked receptors</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این گیرنده‌ها معمولاً یک بار از غشای سلول عبور می‌کنند و بخش درون‌سلولی اون‌ها فعالیت آنزیمی، به‌ویژه تایروزین‌کینازی داره. با اتصال لیگاند، دو مولکول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گیرنده به هم نزدیک می‌شوند، دایمر تشکیل می‌دهند و فعالیت آنزیمی‌شان فعال می‌شود.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در نتیجه، گروه‌های فسفات به پروتئین‌های داخل سلول منتقل می‌شوند و مسیرهای سیگنال‌دهی مثل </a:t>
            </a:r>
            <a:r>
              <a:rPr lang="en-US" sz="2200" b="0" dirty="0">
                <a:cs typeface="B Nazanin" panose="00000400000000000000" pitchFamily="2" charset="-78"/>
              </a:rPr>
              <a:t>MAP kinase </a:t>
            </a:r>
            <a:r>
              <a:rPr lang="fa-IR" sz="2200" b="0" dirty="0">
                <a:cs typeface="B Nazanin" panose="00000400000000000000" pitchFamily="2" charset="-78"/>
              </a:rPr>
              <a:t>یا </a:t>
            </a:r>
            <a:r>
              <a:rPr lang="en-US" sz="2200" b="0" dirty="0">
                <a:cs typeface="B Nazanin" panose="00000400000000000000" pitchFamily="2" charset="-78"/>
              </a:rPr>
              <a:t>PI3 kinase </a:t>
            </a:r>
            <a:r>
              <a:rPr lang="fa-IR" sz="2200" b="0" dirty="0">
                <a:cs typeface="B Nazanin" panose="00000400000000000000" pitchFamily="2" charset="-78"/>
              </a:rPr>
              <a:t>فعال می‌شوند. پاسخ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این گیرنده‌ها کندتر و در حد چند دقیقه تا ساعت است.از مهم‌ترین نمونه‌هاش  به گیرنده انسولین و گیرنده فاکتور رشد اپیدرمی یا </a:t>
            </a:r>
            <a:r>
              <a:rPr lang="en-US" sz="2200" b="0" dirty="0">
                <a:cs typeface="B Nazanin" panose="00000400000000000000" pitchFamily="2" charset="-78"/>
              </a:rPr>
              <a:t>EGF</a:t>
            </a:r>
            <a:r>
              <a:rPr lang="fa-IR" sz="2200" b="0" dirty="0">
                <a:cs typeface="B Nazanin" panose="00000400000000000000" pitchFamily="2" charset="-78"/>
              </a:rPr>
              <a:t> می توان اشاره کرد </a:t>
            </a:r>
            <a:endParaRPr lang="en-US" sz="2200" b="0" dirty="0">
              <a:cs typeface="B Nazanin" panose="00000400000000000000" pitchFamily="2" charset="-78"/>
            </a:endParaRPr>
          </a:p>
        </p:txBody>
      </p:sp>
      <p:pic>
        <p:nvPicPr>
          <p:cNvPr id="4" name="Picture 3">
            <a:extLst>
              <a:ext uri="{FF2B5EF4-FFF2-40B4-BE49-F238E27FC236}">
                <a16:creationId xmlns:a16="http://schemas.microsoft.com/office/drawing/2014/main" id="{DC4B6794-6212-4A11-886B-4F86FDBA393A}"/>
              </a:ext>
            </a:extLst>
          </p:cNvPr>
          <p:cNvPicPr>
            <a:picLocks noChangeAspect="1"/>
          </p:cNvPicPr>
          <p:nvPr/>
        </p:nvPicPr>
        <p:blipFill>
          <a:blip r:embed="rId2"/>
          <a:stretch>
            <a:fillRect/>
          </a:stretch>
        </p:blipFill>
        <p:spPr>
          <a:xfrm>
            <a:off x="1434906" y="3429000"/>
            <a:ext cx="9425352" cy="3070274"/>
          </a:xfrm>
          <a:prstGeom prst="rect">
            <a:avLst/>
          </a:prstGeom>
        </p:spPr>
      </p:pic>
    </p:spTree>
    <p:extLst>
      <p:ext uri="{BB962C8B-B14F-4D97-AF65-F5344CB8AC3E}">
        <p14:creationId xmlns:p14="http://schemas.microsoft.com/office/powerpoint/2010/main" val="316690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4278-5298-4A1B-BEF5-21B293E7965A}"/>
              </a:ext>
            </a:extLst>
          </p:cNvPr>
          <p:cNvSpPr>
            <a:spLocks noGrp="1"/>
          </p:cNvSpPr>
          <p:nvPr>
            <p:ph type="title"/>
          </p:nvPr>
        </p:nvSpPr>
        <p:spPr/>
        <p:txBody>
          <a:bodyPr>
            <a:normAutofit fontScale="90000"/>
          </a:bodyPr>
          <a:lstStyle/>
          <a:p>
            <a:pPr algn="r" rtl="1"/>
            <a:r>
              <a:rPr lang="fa-IR" sz="2400" dirty="0">
                <a:cs typeface="B Nazanin" panose="00000400000000000000" pitchFamily="2" charset="-78"/>
              </a:rPr>
              <a:t>4</a:t>
            </a:r>
            <a:r>
              <a:rPr lang="fa-IR" sz="2800" dirty="0">
                <a:cs typeface="B Nazanin" panose="00000400000000000000" pitchFamily="2" charset="-78"/>
              </a:rPr>
              <a:t>. گیرنده‌های داخل‌سلولی یا هسته‌ای، </a:t>
            </a:r>
            <a:r>
              <a:rPr lang="en-US" sz="2800" dirty="0">
                <a:cs typeface="B Nazanin" panose="00000400000000000000" pitchFamily="2" charset="-78"/>
              </a:rPr>
              <a:t>Intracellular receptors</a:t>
            </a:r>
            <a:br>
              <a:rPr lang="fa-IR" sz="2800" dirty="0">
                <a:cs typeface="B Nazanin" panose="00000400000000000000" pitchFamily="2" charset="-78"/>
              </a:rPr>
            </a:b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این گیرنده‌ها یا در سیتوپلاسم هستند یا مستقیماً در هسته قرار دارند .لیگاندهایی که به این گیرنده‌ها متصل می‌شوند معمولاً مولکول‌های چربی‌دوست هستند،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مثل هورمون‌های استروئیدی، تیروئیدی یا ویتامین </a:t>
            </a:r>
            <a:r>
              <a:rPr lang="en-US" sz="2200" b="0" dirty="0">
                <a:cs typeface="B Nazanin" panose="00000400000000000000" pitchFamily="2" charset="-78"/>
              </a:rPr>
              <a:t>D</a:t>
            </a:r>
            <a:r>
              <a:rPr lang="fa-IR" sz="2200" b="0" dirty="0">
                <a:cs typeface="B Nazanin" panose="00000400000000000000" pitchFamily="2" charset="-78"/>
              </a:rPr>
              <a:t> چون این مولکول‌ها از غشای سلول عبور میکنند، وارد سلول می‌شوند و به گیرنده متصل می شوند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کمپلکس لیگاند-گیرنده سپس به </a:t>
            </a:r>
            <a:r>
              <a:rPr lang="en-US" sz="2200" b="0" dirty="0">
                <a:cs typeface="B Nazanin" panose="00000400000000000000" pitchFamily="2" charset="-78"/>
              </a:rPr>
              <a:t>DNA </a:t>
            </a:r>
            <a:r>
              <a:rPr lang="fa-IR" sz="2200" b="0" dirty="0">
                <a:cs typeface="B Nazanin" panose="00000400000000000000" pitchFamily="2" charset="-78"/>
              </a:rPr>
              <a:t>در هسته متصل می‌شود  و باعث تغییر در بیان ژن‌ها می‌گردد .در نتیجه، سنتز پروتئین‌های جدید یا مهار پروتئین‌های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قبلی اتفاق می‌افتد.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پاسخ این گیرنده‌ها بسیار کند و معمولاً در حد چند ساعت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نمونه‌های شناخته‌شده  این نوع گیرنده ها شامل</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 گیرنده گلوکوکورتیکوئید، گیرنده استروژن و گیرنده تیروکسین</a:t>
            </a:r>
            <a:endParaRPr lang="en-US" sz="2200" b="0" dirty="0">
              <a:cs typeface="B Nazanin" panose="00000400000000000000" pitchFamily="2" charset="-78"/>
            </a:endParaRPr>
          </a:p>
        </p:txBody>
      </p:sp>
      <p:pic>
        <p:nvPicPr>
          <p:cNvPr id="4" name="Picture 3">
            <a:extLst>
              <a:ext uri="{FF2B5EF4-FFF2-40B4-BE49-F238E27FC236}">
                <a16:creationId xmlns:a16="http://schemas.microsoft.com/office/drawing/2014/main" id="{237D587F-5897-4C16-AEA9-0EBE0B02FF6F}"/>
              </a:ext>
            </a:extLst>
          </p:cNvPr>
          <p:cNvPicPr>
            <a:picLocks noChangeAspect="1"/>
          </p:cNvPicPr>
          <p:nvPr/>
        </p:nvPicPr>
        <p:blipFill>
          <a:blip r:embed="rId2"/>
          <a:stretch>
            <a:fillRect/>
          </a:stretch>
        </p:blipFill>
        <p:spPr>
          <a:xfrm>
            <a:off x="717452" y="3319974"/>
            <a:ext cx="5908431" cy="2998275"/>
          </a:xfrm>
          <a:prstGeom prst="rect">
            <a:avLst/>
          </a:prstGeom>
        </p:spPr>
      </p:pic>
    </p:spTree>
    <p:extLst>
      <p:ext uri="{BB962C8B-B14F-4D97-AF65-F5344CB8AC3E}">
        <p14:creationId xmlns:p14="http://schemas.microsoft.com/office/powerpoint/2010/main" val="2963343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539750"/>
            <a:ext cx="10985500" cy="511128"/>
          </a:xfrm>
        </p:spPr>
        <p:txBody>
          <a:bodyPr>
            <a:normAutofit fontScale="90000"/>
          </a:bodyPr>
          <a:lstStyle/>
          <a:p>
            <a:pPr algn="r" rtl="1"/>
            <a:r>
              <a:rPr lang="fa-IR" sz="2800" dirty="0">
                <a:cs typeface="B Nazanin" panose="00000400000000000000" pitchFamily="2" charset="-78"/>
              </a:rPr>
              <a:t>منحنی دوز –پاسخ</a:t>
            </a:r>
            <a:br>
              <a:rPr lang="fa-IR" sz="2800" dirty="0">
                <a:cs typeface="B Nazanin" panose="00000400000000000000" pitchFamily="2" charset="-78"/>
              </a:rPr>
            </a:br>
            <a:br>
              <a:rPr lang="fa-IR" sz="2800" dirty="0">
                <a:cs typeface="B Nazanin" panose="00000400000000000000" pitchFamily="2" charset="-78"/>
              </a:rPr>
            </a:br>
            <a:r>
              <a:rPr lang="fa-IR" sz="2000" b="0" dirty="0">
                <a:cs typeface="B Nazanin" panose="00000400000000000000" pitchFamily="2" charset="-78"/>
              </a:rPr>
              <a:t>با استفاده از فارماکودینامیک  میفهمیم که دارو چگونه بر بدن اثر میگذارد و اساس مطالعات فارماکودینامیکی مطالعات </a:t>
            </a:r>
            <a:r>
              <a:rPr lang="en-US" sz="2000" b="0" dirty="0">
                <a:cs typeface="B Nazanin" panose="00000400000000000000" pitchFamily="2" charset="-78"/>
              </a:rPr>
              <a:t>Dose-</a:t>
            </a:r>
            <a:r>
              <a:rPr lang="en-US" sz="2000" b="0" dirty="0" err="1">
                <a:cs typeface="B Nazanin" panose="00000400000000000000" pitchFamily="2" charset="-78"/>
              </a:rPr>
              <a:t>Respance</a:t>
            </a:r>
            <a:r>
              <a:rPr lang="en-US" sz="2000" b="0" dirty="0">
                <a:cs typeface="B Nazanin" panose="00000400000000000000" pitchFamily="2" charset="-78"/>
              </a:rPr>
              <a:t>  </a:t>
            </a:r>
            <a:r>
              <a:rPr lang="fa-IR" sz="2000" b="0" dirty="0">
                <a:cs typeface="B Nazanin" panose="00000400000000000000" pitchFamily="2" charset="-78"/>
              </a:rPr>
              <a:t> است که نمودارش رو در زیر مشاهده </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میکنید</a:t>
            </a:r>
            <a:br>
              <a:rPr lang="fa-IR" sz="2000" b="0" dirty="0">
                <a:cs typeface="B Nazanin" panose="00000400000000000000" pitchFamily="2" charset="-78"/>
              </a:rPr>
            </a:br>
            <a:br>
              <a:rPr lang="fa-IR" sz="2000" b="0" dirty="0">
                <a:cs typeface="B Nazanin" panose="00000400000000000000" pitchFamily="2" charset="-78"/>
              </a:rPr>
            </a:br>
            <a:r>
              <a:rPr lang="fa-IR" sz="2700" dirty="0">
                <a:cs typeface="B Nazanin" panose="00000400000000000000" pitchFamily="2" charset="-78"/>
              </a:rPr>
              <a:t>. دوز              پاسخ</a:t>
            </a:r>
            <a:br>
              <a:rPr lang="fa-IR" sz="2000" b="0" dirty="0">
                <a:cs typeface="B Nazanin" panose="00000400000000000000" pitchFamily="2" charset="-78"/>
              </a:rPr>
            </a:br>
            <a:br>
              <a:rPr lang="fa-IR" sz="2000" b="0" dirty="0">
                <a:cs typeface="B Nazanin" panose="00000400000000000000" pitchFamily="2" charset="-78"/>
              </a:rPr>
            </a:br>
            <a:r>
              <a:rPr lang="en-US" sz="2200" dirty="0">
                <a:cs typeface="B Nazanin" panose="00000400000000000000" pitchFamily="2" charset="-78"/>
              </a:rPr>
              <a:t>E max  </a:t>
            </a:r>
            <a:r>
              <a:rPr lang="en-US" sz="2700" dirty="0">
                <a:cs typeface="B Nazanin" panose="00000400000000000000" pitchFamily="2" charset="-78"/>
              </a:rPr>
              <a:t>.</a:t>
            </a:r>
            <a:r>
              <a:rPr lang="fa-IR" sz="2200" dirty="0">
                <a:cs typeface="B Nazanin" panose="00000400000000000000" pitchFamily="2" charset="-78"/>
              </a:rPr>
              <a:t>: </a:t>
            </a:r>
            <a:r>
              <a:rPr lang="fa-IR" sz="2200" b="0" dirty="0">
                <a:cs typeface="B Nazanin" panose="00000400000000000000" pitchFamily="2" charset="-78"/>
              </a:rPr>
              <a:t>پاسخ حداکثری دارو</a:t>
            </a:r>
            <a:br>
              <a:rPr lang="fa-IR" sz="2800" dirty="0">
                <a:cs typeface="B Nazanin" panose="00000400000000000000" pitchFamily="2" charset="-78"/>
              </a:rPr>
            </a:br>
            <a:br>
              <a:rPr lang="fa-IR" sz="2200" dirty="0">
                <a:cs typeface="B Nazanin" panose="00000400000000000000" pitchFamily="2" charset="-78"/>
              </a:rPr>
            </a:br>
            <a:r>
              <a:rPr lang="en-US" sz="2200" dirty="0">
                <a:cs typeface="B Nazanin" panose="00000400000000000000" pitchFamily="2" charset="-78"/>
              </a:rPr>
              <a:t>Efficacy</a:t>
            </a:r>
            <a:r>
              <a:rPr lang="en-US" sz="3600" dirty="0">
                <a:cs typeface="B Nazanin" panose="00000400000000000000" pitchFamily="2" charset="-78"/>
              </a:rPr>
              <a:t> </a:t>
            </a:r>
            <a:r>
              <a:rPr lang="en-US" sz="2700" dirty="0">
                <a:cs typeface="B Nazanin" panose="00000400000000000000" pitchFamily="2" charset="-78"/>
              </a:rPr>
              <a:t>.</a:t>
            </a:r>
            <a:r>
              <a:rPr lang="fa-IR" sz="2200" dirty="0">
                <a:cs typeface="B Nazanin" panose="00000400000000000000" pitchFamily="2" charset="-78"/>
              </a:rPr>
              <a:t> ( اثر بخشی دارو) : </a:t>
            </a:r>
            <a:r>
              <a:rPr lang="fa-IR" sz="2200" b="0" dirty="0">
                <a:cs typeface="B Nazanin" panose="00000400000000000000" pitchFamily="2" charset="-78"/>
              </a:rPr>
              <a:t> </a:t>
            </a:r>
            <a:r>
              <a:rPr lang="en-US" sz="2200" b="0" dirty="0" err="1">
                <a:cs typeface="B Nazanin" panose="00000400000000000000" pitchFamily="2" charset="-78"/>
              </a:rPr>
              <a:t>Emax</a:t>
            </a:r>
            <a:r>
              <a:rPr lang="fa-IR" sz="2200" b="0" dirty="0">
                <a:cs typeface="B Nazanin" panose="00000400000000000000" pitchFamily="2" charset="-78"/>
              </a:rPr>
              <a:t>               </a:t>
            </a:r>
            <a:r>
              <a:rPr lang="en-US" sz="2200" b="0" dirty="0">
                <a:cs typeface="B Nazanin" panose="00000400000000000000" pitchFamily="2" charset="-78"/>
              </a:rPr>
              <a:t>Efficacy </a:t>
            </a:r>
            <a:br>
              <a:rPr lang="fa-IR" sz="2800" dirty="0">
                <a:cs typeface="B Nazanin" panose="00000400000000000000" pitchFamily="2" charset="-78"/>
              </a:rPr>
            </a:br>
            <a:br>
              <a:rPr lang="fa-IR" sz="2800" dirty="0">
                <a:cs typeface="B Nazanin" panose="00000400000000000000" pitchFamily="2" charset="-78"/>
              </a:rPr>
            </a:br>
            <a:r>
              <a:rPr lang="fa-IR" sz="2200" b="0" dirty="0">
                <a:cs typeface="B Nazanin" panose="00000400000000000000" pitchFamily="2" charset="-78"/>
              </a:rPr>
              <a:t>حداکثر اثری که یک دارو می تواند ایجاد کند صرف نظر</a:t>
            </a:r>
            <a:br>
              <a:rPr lang="fa-IR" sz="2200" b="0" dirty="0">
                <a:cs typeface="B Nazanin" panose="00000400000000000000" pitchFamily="2" charset="-78"/>
              </a:rPr>
            </a:br>
            <a:r>
              <a:rPr lang="fa-IR" sz="2200" b="0" dirty="0">
                <a:cs typeface="B Nazanin" panose="00000400000000000000" pitchFamily="2" charset="-78"/>
              </a:rPr>
              <a:t>از دوز دارو</a:t>
            </a:r>
            <a:br>
              <a:rPr lang="fa-IR" sz="2200" b="0" dirty="0">
                <a:cs typeface="B Nazanin" panose="00000400000000000000" pitchFamily="2" charset="-78"/>
              </a:rPr>
            </a:br>
            <a:br>
              <a:rPr lang="fa-IR" sz="2800" dirty="0">
                <a:cs typeface="B Nazanin" panose="00000400000000000000" pitchFamily="2" charset="-78"/>
              </a:rPr>
            </a:br>
            <a:r>
              <a:rPr lang="en-US" sz="2200" dirty="0">
                <a:cs typeface="B Nazanin" panose="00000400000000000000" pitchFamily="2" charset="-78"/>
              </a:rPr>
              <a:t>Potency </a:t>
            </a:r>
            <a:r>
              <a:rPr lang="en-US" sz="2700" dirty="0">
                <a:cs typeface="B Nazanin" panose="00000400000000000000" pitchFamily="2" charset="-78"/>
              </a:rPr>
              <a:t>.</a:t>
            </a:r>
            <a:r>
              <a:rPr lang="fa-IR" sz="2200" dirty="0">
                <a:cs typeface="B Nazanin" panose="00000400000000000000" pitchFamily="2" charset="-78"/>
              </a:rPr>
              <a:t> ( قدرت اثر دارو)</a:t>
            </a:r>
            <a:br>
              <a:rPr lang="fa-IR"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دوزی که باعث ایجاد 50درصد پاسخ موثر و درمانی ( </a:t>
            </a:r>
            <a:r>
              <a:rPr lang="en-US" sz="2200" b="0" dirty="0">
                <a:cs typeface="B Nazanin" panose="00000400000000000000" pitchFamily="2" charset="-78"/>
              </a:rPr>
              <a:t>ED50</a:t>
            </a:r>
            <a:r>
              <a:rPr lang="fa-IR" sz="2200" dirty="0">
                <a:cs typeface="B Nazanin" panose="00000400000000000000" pitchFamily="2" charset="-78"/>
              </a:rPr>
              <a:t> )شده است </a:t>
            </a:r>
            <a:br>
              <a:rPr lang="fa-IR" sz="2200" dirty="0">
                <a:cs typeface="B Nazanin" panose="00000400000000000000" pitchFamily="2" charset="-78"/>
              </a:rPr>
            </a:br>
            <a:br>
              <a:rPr lang="fa-IR" sz="2200" dirty="0">
                <a:cs typeface="B Nazanin" panose="00000400000000000000" pitchFamily="2" charset="-78"/>
              </a:rPr>
            </a:br>
            <a:r>
              <a:rPr lang="fa-IR" sz="2200" dirty="0">
                <a:cs typeface="B Nazanin" panose="00000400000000000000" pitchFamily="2" charset="-78"/>
              </a:rPr>
              <a:t>( </a:t>
            </a:r>
            <a:r>
              <a:rPr lang="en-US" sz="2200" dirty="0">
                <a:cs typeface="B Nazanin" panose="00000400000000000000" pitchFamily="2" charset="-78"/>
              </a:rPr>
              <a:t>ED50 </a:t>
            </a:r>
            <a:r>
              <a:rPr lang="fa-IR" sz="2200" dirty="0">
                <a:cs typeface="B Nazanin" panose="00000400000000000000" pitchFamily="2" charset="-78"/>
              </a:rPr>
              <a:t>                  </a:t>
            </a:r>
            <a:r>
              <a:rPr lang="en-US" sz="2200" dirty="0">
                <a:cs typeface="B Nazanin" panose="00000400000000000000" pitchFamily="2" charset="-78"/>
              </a:rPr>
              <a:t>Potency</a:t>
            </a:r>
            <a:r>
              <a:rPr lang="fa-IR" sz="2200" dirty="0">
                <a:cs typeface="B Nazanin" panose="00000400000000000000" pitchFamily="2" charset="-78"/>
              </a:rPr>
              <a:t>      )</a:t>
            </a:r>
            <a:br>
              <a:rPr lang="fa-IR" sz="22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 </a:t>
            </a:r>
            <a:br>
              <a:rPr lang="fa-IR" sz="2200" b="0" dirty="0">
                <a:cs typeface="B Nazanin" panose="00000400000000000000" pitchFamily="2" charset="-78"/>
              </a:rPr>
            </a:br>
            <a:br>
              <a:rPr lang="en-US" sz="2800" dirty="0">
                <a:cs typeface="B Nazanin" panose="00000400000000000000" pitchFamily="2" charset="-78"/>
              </a:rPr>
            </a:br>
            <a:br>
              <a:rPr lang="fa-IR" sz="2800" dirty="0">
                <a:cs typeface="B Nazanin" panose="00000400000000000000" pitchFamily="2" charset="-78"/>
              </a:rPr>
            </a:br>
            <a:endParaRPr lang="fa-IR" sz="2800" dirty="0">
              <a:cs typeface="B Nazanin" panose="00000400000000000000" pitchFamily="2" charset="-78"/>
            </a:endParaRPr>
          </a:p>
        </p:txBody>
      </p:sp>
      <p:sp>
        <p:nvSpPr>
          <p:cNvPr id="4" name="Up Arrow 3"/>
          <p:cNvSpPr/>
          <p:nvPr/>
        </p:nvSpPr>
        <p:spPr>
          <a:xfrm>
            <a:off x="10911383" y="2040341"/>
            <a:ext cx="150125" cy="245660"/>
          </a:xfrm>
          <a:prstGeom prst="up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Left Arrow 4"/>
          <p:cNvSpPr/>
          <p:nvPr/>
        </p:nvSpPr>
        <p:spPr>
          <a:xfrm>
            <a:off x="10420062" y="2183641"/>
            <a:ext cx="395785" cy="122830"/>
          </a:xfrm>
          <a:prstGeom prst="lef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Up Arrow 5"/>
          <p:cNvSpPr/>
          <p:nvPr/>
        </p:nvSpPr>
        <p:spPr>
          <a:xfrm>
            <a:off x="9621674" y="2040341"/>
            <a:ext cx="163772" cy="245659"/>
          </a:xfrm>
          <a:prstGeom prst="up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Up Arrow 6"/>
          <p:cNvSpPr/>
          <p:nvPr/>
        </p:nvSpPr>
        <p:spPr>
          <a:xfrm flipH="1">
            <a:off x="8202305" y="3104867"/>
            <a:ext cx="150126" cy="341194"/>
          </a:xfrm>
          <a:prstGeom prst="up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Left Arrow 7"/>
          <p:cNvSpPr/>
          <p:nvPr/>
        </p:nvSpPr>
        <p:spPr>
          <a:xfrm>
            <a:off x="7670043" y="3275464"/>
            <a:ext cx="354842" cy="136478"/>
          </a:xfrm>
          <a:prstGeom prst="lef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Up Arrow 8"/>
          <p:cNvSpPr/>
          <p:nvPr/>
        </p:nvSpPr>
        <p:spPr>
          <a:xfrm>
            <a:off x="6537279" y="3104867"/>
            <a:ext cx="136477" cy="341194"/>
          </a:xfrm>
          <a:prstGeom prst="up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Left Arrow 10"/>
          <p:cNvSpPr/>
          <p:nvPr/>
        </p:nvSpPr>
        <p:spPr>
          <a:xfrm flipV="1">
            <a:off x="10104164" y="5741084"/>
            <a:ext cx="382137" cy="139211"/>
          </a:xfrm>
          <a:prstGeom prst="left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Up Arrow 11"/>
          <p:cNvSpPr/>
          <p:nvPr/>
        </p:nvSpPr>
        <p:spPr>
          <a:xfrm>
            <a:off x="8897920" y="5577310"/>
            <a:ext cx="122830" cy="327547"/>
          </a:xfrm>
          <a:prstGeom prst="up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Down Arrow 12"/>
          <p:cNvSpPr/>
          <p:nvPr/>
        </p:nvSpPr>
        <p:spPr>
          <a:xfrm>
            <a:off x="10612701" y="5552748"/>
            <a:ext cx="136478" cy="327547"/>
          </a:xfrm>
          <a:prstGeom prst="downArrow">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fa-IR"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3" name="Picture 2">
            <a:extLst>
              <a:ext uri="{FF2B5EF4-FFF2-40B4-BE49-F238E27FC236}">
                <a16:creationId xmlns:a16="http://schemas.microsoft.com/office/drawing/2014/main" id="{6F9EB8EA-4B10-4BB5-8846-FA365743CC70}"/>
              </a:ext>
            </a:extLst>
          </p:cNvPr>
          <p:cNvPicPr>
            <a:picLocks noChangeAspect="1"/>
          </p:cNvPicPr>
          <p:nvPr/>
        </p:nvPicPr>
        <p:blipFill>
          <a:blip r:embed="rId2"/>
          <a:stretch>
            <a:fillRect/>
          </a:stretch>
        </p:blipFill>
        <p:spPr>
          <a:xfrm>
            <a:off x="690787" y="1603717"/>
            <a:ext cx="5162353" cy="4276578"/>
          </a:xfrm>
          <a:prstGeom prst="rect">
            <a:avLst/>
          </a:prstGeom>
        </p:spPr>
      </p:pic>
    </p:spTree>
    <p:extLst>
      <p:ext uri="{BB962C8B-B14F-4D97-AF65-F5344CB8AC3E}">
        <p14:creationId xmlns:p14="http://schemas.microsoft.com/office/powerpoint/2010/main" val="6529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250" y="485158"/>
            <a:ext cx="10985500" cy="1090423"/>
          </a:xfrm>
        </p:spPr>
        <p:txBody>
          <a:bodyPr>
            <a:normAutofit fontScale="90000"/>
          </a:bodyPr>
          <a:lstStyle/>
          <a:p>
            <a:pPr algn="r" rtl="1"/>
            <a:r>
              <a:rPr lang="en-US" sz="2200" dirty="0">
                <a:cs typeface="B Nazanin" panose="00000400000000000000" pitchFamily="2" charset="-78"/>
              </a:rPr>
              <a:t>Therapeutic index</a:t>
            </a:r>
            <a:r>
              <a:rPr lang="fa-IR" sz="2200" dirty="0">
                <a:cs typeface="B Nazanin" panose="00000400000000000000" pitchFamily="2" charset="-78"/>
              </a:rPr>
              <a:t> =</a:t>
            </a:r>
            <a:r>
              <a:rPr lang="en-US" sz="2200" b="0" dirty="0">
                <a:cs typeface="B Nazanin" panose="00000400000000000000" pitchFamily="2" charset="-78"/>
              </a:rPr>
              <a:t> TD50/ ED50</a:t>
            </a:r>
            <a:br>
              <a:rPr lang="fa-IR" sz="2200" dirty="0">
                <a:cs typeface="B Nazanin" panose="00000400000000000000" pitchFamily="2" charset="-78"/>
              </a:rPr>
            </a:br>
            <a:br>
              <a:rPr lang="fa-IR" sz="2200" dirty="0">
                <a:cs typeface="B Nazanin" panose="00000400000000000000" pitchFamily="2" charset="-78"/>
              </a:rPr>
            </a:br>
            <a:r>
              <a:rPr lang="en-US" sz="2200" dirty="0">
                <a:cs typeface="B Nazanin" panose="00000400000000000000" pitchFamily="2" charset="-78"/>
              </a:rPr>
              <a:t> margin</a:t>
            </a:r>
            <a:r>
              <a:rPr lang="fa-IR" sz="2200" dirty="0">
                <a:cs typeface="B Nazanin" panose="00000400000000000000" pitchFamily="2" charset="-78"/>
              </a:rPr>
              <a:t> </a:t>
            </a:r>
            <a:r>
              <a:rPr lang="en-US" sz="2200" dirty="0">
                <a:cs typeface="B Nazanin" panose="00000400000000000000" pitchFamily="2" charset="-78"/>
              </a:rPr>
              <a:t> Safety</a:t>
            </a:r>
            <a:r>
              <a:rPr lang="fa-IR" sz="2200" dirty="0">
                <a:latin typeface="Calibri" panose="020F0502020204030204" pitchFamily="34" charset="0"/>
                <a:cs typeface="B Nazanin" panose="00000400000000000000" pitchFamily="2" charset="-78"/>
              </a:rPr>
              <a:t>= </a:t>
            </a:r>
            <a:r>
              <a:rPr lang="en-US" sz="2200" dirty="0">
                <a:latin typeface="Calibri" panose="020F0502020204030204" pitchFamily="34" charset="0"/>
                <a:cs typeface="B Nazanin" panose="00000400000000000000" pitchFamily="2" charset="-78"/>
              </a:rPr>
              <a:t>LD50/ED50</a:t>
            </a:r>
            <a:br>
              <a:rPr lang="fa-IR" sz="2400" dirty="0">
                <a:latin typeface="Calibri" panose="020F0502020204030204" pitchFamily="34" charset="0"/>
                <a:cs typeface="Calibri" panose="020F0502020204030204" pitchFamily="34" charset="0"/>
              </a:rPr>
            </a:br>
            <a:br>
              <a:rPr lang="fa-IR" sz="2400" dirty="0">
                <a:latin typeface="Calibri" panose="020F0502020204030204" pitchFamily="34" charset="0"/>
                <a:cs typeface="Calibri" panose="020F0502020204030204" pitchFamily="34" charset="0"/>
              </a:rPr>
            </a:br>
            <a:br>
              <a:rPr lang="fa-IR" sz="2400" dirty="0">
                <a:latin typeface="Calibri" panose="020F0502020204030204" pitchFamily="34" charset="0"/>
                <a:cs typeface="Calibri" panose="020F0502020204030204" pitchFamily="34" charset="0"/>
              </a:rPr>
            </a:br>
            <a:r>
              <a:rPr lang="fa-IR" sz="2200" b="0" dirty="0">
                <a:cs typeface="B Nazanin" panose="00000400000000000000" pitchFamily="2" charset="-78"/>
              </a:rPr>
              <a:t>هرچه عدد حاصل از این کسر بیشتر باشد ایمنی دارو بیشتر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ممکن است دارویی </a:t>
            </a:r>
            <a:r>
              <a:rPr lang="en-US" sz="2200" b="0" dirty="0">
                <a:cs typeface="B Nazanin" panose="00000400000000000000" pitchFamily="2" charset="-78"/>
              </a:rPr>
              <a:t>Efficacy </a:t>
            </a:r>
            <a:r>
              <a:rPr lang="fa-IR" sz="2200" b="0" dirty="0">
                <a:cs typeface="B Nazanin" panose="00000400000000000000" pitchFamily="2" charset="-78"/>
              </a:rPr>
              <a:t> و </a:t>
            </a:r>
            <a:r>
              <a:rPr lang="en-US" sz="2200" b="0" dirty="0">
                <a:cs typeface="B Nazanin" panose="00000400000000000000" pitchFamily="2" charset="-78"/>
              </a:rPr>
              <a:t>Potency </a:t>
            </a:r>
            <a:r>
              <a:rPr lang="fa-IR" sz="2200" b="0" dirty="0">
                <a:cs typeface="B Nazanin" panose="00000400000000000000" pitchFamily="2" charset="-78"/>
              </a:rPr>
              <a:t>داشته باشد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ولی ایمنی نداشته باشد و باسخ های توکسیک ایجاد کند</a:t>
            </a:r>
            <a:br>
              <a:rPr lang="fa-IR" sz="2400" dirty="0">
                <a:cs typeface="B Nazanin" panose="00000400000000000000" pitchFamily="2" charset="-78"/>
              </a:rPr>
            </a:br>
            <a:br>
              <a:rPr lang="en-US" sz="2400" dirty="0">
                <a:cs typeface="B Nazanin" panose="00000400000000000000" pitchFamily="2" charset="-78"/>
              </a:rPr>
            </a:br>
            <a:br>
              <a:rPr lang="fa-IR" sz="2400" dirty="0">
                <a:cs typeface="B Nazanin" panose="00000400000000000000" pitchFamily="2" charset="-78"/>
              </a:rPr>
            </a:br>
            <a:r>
              <a:rPr lang="fa-IR" sz="2700" dirty="0">
                <a:cs typeface="B Nazanin" panose="00000400000000000000" pitchFamily="2" charset="-78"/>
              </a:rPr>
              <a:t>منحنی دوز-رسپانس</a:t>
            </a:r>
            <a:br>
              <a:rPr lang="en-US" sz="3100" dirty="0">
                <a:cs typeface="B Nazanin" panose="00000400000000000000" pitchFamily="2" charset="-78"/>
              </a:rPr>
            </a:br>
            <a:br>
              <a:rPr lang="en-US" sz="3100" dirty="0">
                <a:cs typeface="B Nazanin" panose="00000400000000000000" pitchFamily="2" charset="-78"/>
              </a:rPr>
            </a:br>
            <a:br>
              <a:rPr lang="fa-IR" sz="3100" dirty="0">
                <a:cs typeface="B Nazanin" panose="00000400000000000000" pitchFamily="2" charset="-78"/>
              </a:rPr>
            </a:br>
            <a:r>
              <a:rPr lang="fa-IR" sz="2900" dirty="0">
                <a:cs typeface="B Nazanin" panose="00000400000000000000" pitchFamily="2" charset="-78"/>
              </a:rPr>
              <a:t>. آگونیست</a:t>
            </a:r>
            <a:br>
              <a:rPr lang="fa-IR" sz="27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آگونیست‌ها داروهایی هستند که با اتصال به گیرنده‌ها، آن‌ها را فعال کرده و پاسخ بیولوژیکی ایجاد می‌کنند. این پاسخ می‌تواند مشابه یا حتی قوی‌تر از اثرات طبیعی </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لیگاندهای درون‌زاد باشد</a:t>
            </a:r>
            <a:br>
              <a:rPr lang="fa-IR" sz="2200" b="0" dirty="0">
                <a:cs typeface="B Nazanin" panose="00000400000000000000" pitchFamily="2" charset="-78"/>
              </a:rPr>
            </a:br>
            <a:br>
              <a:rPr lang="fa-IR" sz="2200" b="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r>
              <a:rPr lang="en-US" sz="2200" b="0" dirty="0">
                <a:cs typeface="B Nazanin" panose="00000400000000000000" pitchFamily="2" charset="-78"/>
              </a:rPr>
              <a:t>       </a:t>
            </a:r>
            <a:r>
              <a:rPr lang="en-US" sz="2200" dirty="0">
                <a:cs typeface="B Nazanin" panose="00000400000000000000" pitchFamily="2" charset="-78"/>
              </a:rPr>
              <a:t> </a:t>
            </a:r>
            <a:endParaRPr lang="fa-IR" sz="2200" dirty="0">
              <a:cs typeface="B Nazanin" panose="00000400000000000000" pitchFamily="2" charset="-78"/>
            </a:endParaRPr>
          </a:p>
        </p:txBody>
      </p:sp>
      <p:pic>
        <p:nvPicPr>
          <p:cNvPr id="3" name="Picture 2">
            <a:extLst>
              <a:ext uri="{FF2B5EF4-FFF2-40B4-BE49-F238E27FC236}">
                <a16:creationId xmlns:a16="http://schemas.microsoft.com/office/drawing/2014/main" id="{1C6F73CC-C4DA-48F2-83D7-4089F8DAFD53}"/>
              </a:ext>
            </a:extLst>
          </p:cNvPr>
          <p:cNvPicPr>
            <a:picLocks noChangeAspect="1"/>
          </p:cNvPicPr>
          <p:nvPr/>
        </p:nvPicPr>
        <p:blipFill>
          <a:blip r:embed="rId2"/>
          <a:stretch>
            <a:fillRect/>
          </a:stretch>
        </p:blipFill>
        <p:spPr>
          <a:xfrm>
            <a:off x="407963" y="309489"/>
            <a:ext cx="5416062" cy="2996419"/>
          </a:xfrm>
          <a:prstGeom prst="rect">
            <a:avLst/>
          </a:prstGeom>
        </p:spPr>
      </p:pic>
    </p:spTree>
    <p:extLst>
      <p:ext uri="{BB962C8B-B14F-4D97-AF65-F5344CB8AC3E}">
        <p14:creationId xmlns:p14="http://schemas.microsoft.com/office/powerpoint/2010/main" val="2655258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BCD4-53CF-46C3-86BC-BD8E46EFFE0A}"/>
              </a:ext>
            </a:extLst>
          </p:cNvPr>
          <p:cNvSpPr>
            <a:spLocks noGrp="1"/>
          </p:cNvSpPr>
          <p:nvPr>
            <p:ph type="title"/>
          </p:nvPr>
        </p:nvSpPr>
        <p:spPr/>
        <p:txBody>
          <a:bodyPr>
            <a:normAutofit fontScale="90000"/>
          </a:bodyPr>
          <a:lstStyle/>
          <a:p>
            <a:pPr algn="r" rtl="1"/>
            <a:r>
              <a:rPr lang="fa-IR" sz="4400" dirty="0">
                <a:cs typeface="B Nazanin" panose="00000400000000000000" pitchFamily="2" charset="-78"/>
              </a:rPr>
              <a:t>.</a:t>
            </a:r>
            <a:r>
              <a:rPr lang="fa-IR" sz="3600" dirty="0">
                <a:cs typeface="B Nazanin" panose="00000400000000000000" pitchFamily="2" charset="-78"/>
              </a:rPr>
              <a:t>انواع آگونیست ها</a:t>
            </a:r>
            <a:br>
              <a:rPr lang="fa-IR" sz="2700" dirty="0">
                <a:cs typeface="B Nazanin" panose="00000400000000000000" pitchFamily="2" charset="-78"/>
              </a:rPr>
            </a:br>
            <a:br>
              <a:rPr lang="fa-IR" sz="270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1. آگونیست کامل (</a:t>
            </a:r>
            <a:r>
              <a:rPr lang="en-US" sz="2700" dirty="0">
                <a:cs typeface="B Nazanin" panose="00000400000000000000" pitchFamily="2" charset="-78"/>
              </a:rPr>
              <a:t>Full Agonist)</a:t>
            </a:r>
            <a:r>
              <a:rPr lang="fa-IR" sz="2700" dirty="0">
                <a:cs typeface="B Nazanin" panose="00000400000000000000" pitchFamily="2" charset="-78"/>
              </a:rPr>
              <a:t>)</a:t>
            </a:r>
            <a:br>
              <a:rPr lang="fa-IR" sz="27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دارویی که پس از اتصال به گیرنده، حداکثر پاسخ ممکن را ایجاد 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ویژگی: دارای  </a:t>
            </a:r>
            <a:r>
              <a:rPr lang="en-US" sz="2200" b="0" dirty="0">
                <a:cs typeface="B Nazanin" panose="00000400000000000000" pitchFamily="2" charset="-78"/>
              </a:rPr>
              <a:t>affinity</a:t>
            </a:r>
            <a:r>
              <a:rPr lang="fa-IR" sz="2200" b="0" dirty="0">
                <a:cs typeface="B Nazanin" panose="00000400000000000000" pitchFamily="2" charset="-78"/>
              </a:rPr>
              <a:t>(میل به اتصال) و</a:t>
            </a:r>
            <a:r>
              <a:rPr lang="en-US" sz="2200" b="0" dirty="0">
                <a:cs typeface="B Nazanin" panose="00000400000000000000" pitchFamily="2" charset="-78"/>
              </a:rPr>
              <a:t>efficacy</a:t>
            </a:r>
            <a:r>
              <a:rPr lang="fa-IR" sz="2200" b="0" dirty="0">
                <a:cs typeface="B Nazanin" panose="00000400000000000000" pitchFamily="2" charset="-78"/>
              </a:rPr>
              <a:t> (</a:t>
            </a:r>
            <a:r>
              <a:rPr lang="en-US" sz="2200" b="0" dirty="0">
                <a:cs typeface="B Nazanin" panose="00000400000000000000" pitchFamily="2" charset="-78"/>
              </a:rPr>
              <a:t> </a:t>
            </a:r>
            <a:r>
              <a:rPr lang="fa-IR" sz="2200" b="0" dirty="0">
                <a:cs typeface="B Nazanin" panose="00000400000000000000" pitchFamily="2" charset="-78"/>
              </a:rPr>
              <a:t>توانایی فعال‌سازی گیرنده) بالا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مثال: آدرنالین که به گیرنده‌های آدرنرژیک متصل شده و پاسخ‌های فیزیولوژیکی مانند افزایش ضربان قلب را ایجاد می‌کند.</a:t>
            </a:r>
            <a:br>
              <a:rPr lang="fa-IR" sz="2200" b="0" dirty="0">
                <a:cs typeface="B Nazanin" panose="00000400000000000000" pitchFamily="2" charset="-78"/>
              </a:rPr>
            </a:br>
            <a:br>
              <a:rPr lang="fa-IR" sz="2200" b="0" dirty="0">
                <a:cs typeface="B Nazanin" panose="00000400000000000000" pitchFamily="2" charset="-78"/>
              </a:rPr>
            </a:br>
            <a:r>
              <a:rPr lang="fa-IR" sz="2700" dirty="0">
                <a:cs typeface="B Nazanin" panose="00000400000000000000" pitchFamily="2" charset="-78"/>
              </a:rPr>
              <a:t>2.آ گونیست نسبی (</a:t>
            </a:r>
            <a:r>
              <a:rPr lang="en-US" sz="2700" dirty="0">
                <a:cs typeface="B Nazanin" panose="00000400000000000000" pitchFamily="2" charset="-78"/>
              </a:rPr>
              <a:t>Partial Agonist</a:t>
            </a:r>
            <a:r>
              <a:rPr lang="fa-IR" sz="2700" dirty="0">
                <a:cs typeface="B Nazanin" panose="00000400000000000000" pitchFamily="2" charset="-78"/>
              </a:rPr>
              <a:t>)</a:t>
            </a:r>
            <a:br>
              <a:rPr lang="fa-IR" sz="270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دارویی که به گیرنده متصل می‌شود اما حتی در غلظت‌های بالا، حداکثر پاسخ را ایجاد نمی‌کند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ویژگی: دارای </a:t>
            </a:r>
            <a:r>
              <a:rPr lang="en-US" sz="2200" b="0" dirty="0">
                <a:cs typeface="B Nazanin" panose="00000400000000000000" pitchFamily="2" charset="-78"/>
              </a:rPr>
              <a:t>efficacy </a:t>
            </a:r>
            <a:r>
              <a:rPr lang="fa-IR" sz="2200" b="0" dirty="0">
                <a:cs typeface="B Nazanin" panose="00000400000000000000" pitchFamily="2" charset="-78"/>
              </a:rPr>
              <a:t>کمتر از آگونیست کامل است.</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مثال: بوپرنورفین که به گیرنده‌های اوپیوئیدی متصل می‌شود اما اثرات کمتری نسبت به مورفین دارد</a:t>
            </a:r>
            <a:br>
              <a:rPr lang="fa-IR" sz="2200" b="0" dirty="0">
                <a:cs typeface="B Nazanin" panose="00000400000000000000" pitchFamily="2" charset="-78"/>
              </a:rPr>
            </a:br>
            <a:br>
              <a:rPr lang="fa-IR" sz="2700" dirty="0">
                <a:cs typeface="B Nazanin" panose="00000400000000000000" pitchFamily="2" charset="-78"/>
              </a:rPr>
            </a:br>
            <a:br>
              <a:rPr lang="fa-IR" sz="2200" b="0" dirty="0">
                <a:cs typeface="B Nazanin" panose="00000400000000000000" pitchFamily="2" charset="-78"/>
              </a:rPr>
            </a:br>
            <a:br>
              <a:rPr lang="fa-IR" sz="2200" b="0" dirty="0">
                <a:cs typeface="B Nazanin" panose="00000400000000000000" pitchFamily="2" charset="-78"/>
              </a:rPr>
            </a:br>
            <a:endParaRPr lang="en-US" sz="2200" b="0" dirty="0">
              <a:cs typeface="B Nazanin" panose="00000400000000000000" pitchFamily="2" charset="-78"/>
            </a:endParaRPr>
          </a:p>
        </p:txBody>
      </p:sp>
    </p:spTree>
    <p:extLst>
      <p:ext uri="{BB962C8B-B14F-4D97-AF65-F5344CB8AC3E}">
        <p14:creationId xmlns:p14="http://schemas.microsoft.com/office/powerpoint/2010/main" val="2889187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13728-0258-4693-83E7-CF2C864834D1}"/>
              </a:ext>
            </a:extLst>
          </p:cNvPr>
          <p:cNvSpPr>
            <a:spLocks noGrp="1"/>
          </p:cNvSpPr>
          <p:nvPr>
            <p:ph type="title"/>
          </p:nvPr>
        </p:nvSpPr>
        <p:spPr>
          <a:xfrm>
            <a:off x="476641" y="385004"/>
            <a:ext cx="10985500" cy="388718"/>
          </a:xfrm>
        </p:spPr>
        <p:txBody>
          <a:bodyPr>
            <a:noAutofit/>
          </a:bodyPr>
          <a:lstStyle/>
          <a:p>
            <a:pPr algn="r" rtl="1"/>
            <a:r>
              <a:rPr lang="fa-IR" sz="2400" dirty="0">
                <a:cs typeface="B Nazanin" panose="00000400000000000000" pitchFamily="2" charset="-78"/>
              </a:rPr>
              <a:t>3. آگونیست معکوس (</a:t>
            </a:r>
            <a:r>
              <a:rPr lang="en-US" sz="2400" dirty="0">
                <a:cs typeface="B Nazanin" panose="00000400000000000000" pitchFamily="2" charset="-78"/>
              </a:rPr>
              <a:t>Inverse Agonist)</a:t>
            </a:r>
            <a:r>
              <a:rPr lang="fa-IR" sz="2400" dirty="0">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r>
              <a:rPr lang="fa-IR" sz="2000" b="0" dirty="0">
                <a:cs typeface="B Nazanin" panose="00000400000000000000" pitchFamily="2" charset="-78"/>
              </a:rPr>
              <a:t>دارویی که به گیرنده‌هایی متصل می‌شود که به‌طور طبیعی فعالیت پایه دارند و آن را کاهش می‌دهد.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ویژگی: اثرات معکوس نسبت به آگونیست‌ها دارد.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مثال: بتا‌کاربولین که به گیرنده </a:t>
            </a:r>
            <a:r>
              <a:rPr lang="en-US" sz="2000" b="0" dirty="0">
                <a:cs typeface="B Nazanin" panose="00000400000000000000" pitchFamily="2" charset="-78"/>
              </a:rPr>
              <a:t>GABA_A </a:t>
            </a:r>
            <a:r>
              <a:rPr lang="fa-IR" sz="2000" b="0" dirty="0">
                <a:cs typeface="B Nazanin" panose="00000400000000000000" pitchFamily="2" charset="-78"/>
              </a:rPr>
              <a:t>متصل شده و فعالیت آن را کاهش می‌دهد.</a:t>
            </a:r>
            <a:br>
              <a:rPr lang="fa-IR" sz="2000" b="0" dirty="0">
                <a:cs typeface="B Nazanin" panose="00000400000000000000" pitchFamily="2" charset="-78"/>
              </a:rPr>
            </a:br>
            <a:br>
              <a:rPr lang="fa-IR" sz="2000" b="0" dirty="0">
                <a:cs typeface="B Nazanin" panose="00000400000000000000" pitchFamily="2" charset="-78"/>
              </a:rPr>
            </a:br>
            <a:r>
              <a:rPr lang="fa-IR" sz="2000" b="0" dirty="0">
                <a:cs typeface="B Nazanin" panose="00000400000000000000" pitchFamily="2" charset="-78"/>
              </a:rPr>
              <a:t>.</a:t>
            </a:r>
            <a:r>
              <a:rPr lang="fa-IR" sz="2800" dirty="0">
                <a:cs typeface="B Nazanin" panose="00000400000000000000" pitchFamily="2" charset="-78"/>
              </a:rPr>
              <a:t>آنتاگونیست</a:t>
            </a:r>
            <a:br>
              <a:rPr lang="fa-IR" sz="2800" dirty="0">
                <a:cs typeface="B Nazanin" panose="00000400000000000000" pitchFamily="2" charset="-78"/>
              </a:rPr>
            </a:br>
            <a:br>
              <a:rPr lang="fa-IR" sz="2800" dirty="0">
                <a:cs typeface="B Nazanin" panose="00000400000000000000" pitchFamily="2" charset="-78"/>
              </a:rPr>
            </a:br>
            <a:r>
              <a:rPr lang="fa-IR" sz="2000" b="0" dirty="0">
                <a:cs typeface="B Nazanin" panose="00000400000000000000" pitchFamily="2" charset="-78"/>
              </a:rPr>
              <a:t>داروهایی هستند که به گیرنده ها متصل می شوند اما آن ها را فعال نمی کنند و با جلوگیری از اتصال آگونیست ها یا لیگاند های طبیعی اثرات آن ها را مهار میکنند</a:t>
            </a:r>
            <a:br>
              <a:rPr lang="fa-IR" sz="2000" b="0" dirty="0">
                <a:cs typeface="B Nazanin" panose="00000400000000000000" pitchFamily="2" charset="-78"/>
              </a:rPr>
            </a:br>
            <a:br>
              <a:rPr lang="fa-IR" sz="2000" b="0" dirty="0">
                <a:cs typeface="B Nazanin" panose="00000400000000000000" pitchFamily="2" charset="-78"/>
              </a:rPr>
            </a:br>
            <a:r>
              <a:rPr lang="fa-IR" sz="2800" dirty="0">
                <a:cs typeface="B Nazanin" panose="00000400000000000000" pitchFamily="2" charset="-78"/>
              </a:rPr>
              <a:t>. انواع آنتاگونیست‌ها</a:t>
            </a:r>
            <a:br>
              <a:rPr lang="fa-IR" sz="2800" dirty="0">
                <a:cs typeface="B Nazanin" panose="00000400000000000000" pitchFamily="2" charset="-78"/>
              </a:rPr>
            </a:br>
            <a:br>
              <a:rPr lang="fa-IR" sz="2800" dirty="0">
                <a:cs typeface="B Nazanin" panose="00000400000000000000" pitchFamily="2" charset="-78"/>
              </a:rPr>
            </a:br>
            <a:r>
              <a:rPr lang="fa-IR" sz="2400" dirty="0">
                <a:cs typeface="B Nazanin" panose="00000400000000000000" pitchFamily="2" charset="-78"/>
              </a:rPr>
              <a:t>1. آنتاگونیست غیررقابتی ( </a:t>
            </a:r>
            <a:r>
              <a:rPr lang="en-US" sz="2400" dirty="0">
                <a:cs typeface="B Nazanin" panose="00000400000000000000" pitchFamily="2" charset="-78"/>
              </a:rPr>
              <a:t>(Non-Competitive Antagonist</a:t>
            </a:r>
            <a:r>
              <a:rPr lang="fa-IR" sz="2400" dirty="0">
                <a:cs typeface="B Nazanin" panose="00000400000000000000" pitchFamily="2" charset="-78"/>
              </a:rPr>
              <a:t> یا مهارکننده ی  آلوستریک</a:t>
            </a:r>
            <a:br>
              <a:rPr lang="en-US" sz="2400" dirty="0">
                <a:cs typeface="B Nazanin" panose="00000400000000000000" pitchFamily="2" charset="-78"/>
              </a:rPr>
            </a:br>
            <a:br>
              <a:rPr lang="en-US" sz="2400" dirty="0">
                <a:cs typeface="B Nazanin" panose="00000400000000000000" pitchFamily="2" charset="-78"/>
              </a:rPr>
            </a:br>
            <a:r>
              <a:rPr lang="fa-IR" sz="2000" b="0" dirty="0">
                <a:cs typeface="B Nazanin" panose="00000400000000000000" pitchFamily="2" charset="-78"/>
              </a:rPr>
              <a:t>دارویی که به محلی متفاوت از محل اتصال آگونیست به گیرنده متصل می‌شود و اثر آن با افزایش غلظت آگونیست قابل جبران نیست.</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ویژگی: اثر آن پایدارتر و طولانی‌تر است.</a:t>
            </a:r>
            <a:br>
              <a:rPr lang="fa-IR" sz="2000" b="0" dirty="0">
                <a:cs typeface="B Nazanin" panose="00000400000000000000" pitchFamily="2" charset="-78"/>
              </a:rPr>
            </a:br>
            <a:br>
              <a:rPr lang="en-US" sz="2000" b="0" dirty="0">
                <a:cs typeface="B Nazanin" panose="00000400000000000000" pitchFamily="2" charset="-78"/>
              </a:rPr>
            </a:br>
            <a:r>
              <a:rPr lang="fa-IR" sz="2000" b="0" dirty="0">
                <a:cs typeface="B Nazanin" panose="00000400000000000000" pitchFamily="2" charset="-78"/>
              </a:rPr>
              <a:t>مثال: فنکسی‌بنزامین که به گیرنده‌های آدرنرژیک متصل می‌شود و اثر نوراپی‌نفرین را مهار می‌کند</a:t>
            </a:r>
            <a:endParaRPr lang="en-US" sz="2000" b="0" dirty="0">
              <a:cs typeface="B Nazanin" panose="00000400000000000000" pitchFamily="2" charset="-78"/>
            </a:endParaRPr>
          </a:p>
        </p:txBody>
      </p:sp>
    </p:spTree>
    <p:extLst>
      <p:ext uri="{BB962C8B-B14F-4D97-AF65-F5344CB8AC3E}">
        <p14:creationId xmlns:p14="http://schemas.microsoft.com/office/powerpoint/2010/main" val="202468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FB621-952B-4977-8BB2-7A7361138EC7}"/>
              </a:ext>
            </a:extLst>
          </p:cNvPr>
          <p:cNvSpPr>
            <a:spLocks noGrp="1"/>
          </p:cNvSpPr>
          <p:nvPr>
            <p:ph type="title"/>
          </p:nvPr>
        </p:nvSpPr>
        <p:spPr/>
        <p:txBody>
          <a:bodyPr>
            <a:normAutofit fontScale="90000"/>
          </a:bodyPr>
          <a:lstStyle/>
          <a:p>
            <a:pPr algn="r" rtl="1"/>
            <a:r>
              <a:rPr lang="fa-IR" sz="2400" dirty="0">
                <a:cs typeface="B Nazanin" panose="00000400000000000000" pitchFamily="2" charset="-78"/>
              </a:rPr>
              <a:t>2.آنتاگونیست فیزیولوژیک (</a:t>
            </a:r>
            <a:r>
              <a:rPr lang="en-US" sz="2400" dirty="0">
                <a:cs typeface="B Nazanin" panose="00000400000000000000" pitchFamily="2" charset="-78"/>
              </a:rPr>
              <a:t>Physiologic Antagonist</a:t>
            </a:r>
            <a:r>
              <a:rPr lang="fa-IR" sz="2400" dirty="0">
                <a:cs typeface="B Nazanin" panose="00000400000000000000" pitchFamily="2" charset="-78"/>
              </a:rPr>
              <a:t>)</a:t>
            </a:r>
            <a:br>
              <a:rPr lang="fa-IR" sz="2400" dirty="0">
                <a:cs typeface="B Nazanin" panose="00000400000000000000" pitchFamily="2" charset="-78"/>
              </a:rPr>
            </a:br>
            <a:br>
              <a:rPr lang="fa-IR" sz="2400" dirty="0">
                <a:cs typeface="B Nazanin" panose="00000400000000000000" pitchFamily="2" charset="-78"/>
              </a:rPr>
            </a:br>
            <a:br>
              <a:rPr lang="fa-IR" sz="2400" dirty="0">
                <a:cs typeface="B Nazanin" panose="00000400000000000000" pitchFamily="2" charset="-78"/>
              </a:rPr>
            </a:br>
            <a:r>
              <a:rPr lang="fa-IR" sz="2200" b="0" dirty="0">
                <a:cs typeface="B Nazanin" panose="00000400000000000000" pitchFamily="2" charset="-78"/>
              </a:rPr>
              <a:t>دارویی که به گیرنده‌ای متصل می‌شود که اثرات مخالفی نسبت به گیرنده هدف دارد.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ویژگی: اثر آن از طریق مسیرهای فیزیولوژیکی مختلف اعمال می‌شود.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مثال: اپی‌نفرین که اثر هیستامین را در برونکودیلاتاسیون مهار می‌کند</a:t>
            </a:r>
            <a:br>
              <a:rPr lang="fa-IR" sz="2200" b="0" dirty="0">
                <a:cs typeface="B Nazanin" panose="00000400000000000000" pitchFamily="2" charset="-78"/>
              </a:rPr>
            </a:br>
            <a:br>
              <a:rPr lang="fa-IR" sz="2200" b="0" dirty="0">
                <a:cs typeface="B Nazanin" panose="00000400000000000000" pitchFamily="2" charset="-78"/>
              </a:rPr>
            </a:br>
            <a:br>
              <a:rPr lang="fa-IR" sz="2700" dirty="0">
                <a:cs typeface="B Nazanin" panose="00000400000000000000" pitchFamily="2" charset="-78"/>
              </a:rPr>
            </a:br>
            <a:r>
              <a:rPr lang="fa-IR" sz="2700" dirty="0">
                <a:cs typeface="B Nazanin" panose="00000400000000000000" pitchFamily="2" charset="-78"/>
              </a:rPr>
              <a:t>3</a:t>
            </a:r>
            <a:r>
              <a:rPr lang="fa-IR" sz="2200" b="0" dirty="0">
                <a:cs typeface="B Nazanin" panose="00000400000000000000" pitchFamily="2" charset="-78"/>
              </a:rPr>
              <a:t>.</a:t>
            </a:r>
            <a:r>
              <a:rPr lang="fa-IR" sz="2700" dirty="0">
                <a:cs typeface="B Nazanin" panose="00000400000000000000" pitchFamily="2" charset="-78"/>
              </a:rPr>
              <a:t>آنتاگونیست شیمیایی (</a:t>
            </a:r>
            <a:r>
              <a:rPr lang="en-US" sz="2700" dirty="0">
                <a:cs typeface="B Nazanin" panose="00000400000000000000" pitchFamily="2" charset="-78"/>
              </a:rPr>
              <a:t>Chemical Antagonist)</a:t>
            </a:r>
            <a:r>
              <a:rPr lang="fa-IR" sz="2700" dirty="0">
                <a:cs typeface="B Nazanin" panose="00000400000000000000" pitchFamily="2" charset="-78"/>
              </a:rPr>
              <a:t>)</a:t>
            </a:r>
            <a:br>
              <a:rPr lang="fa-IR" sz="2700" dirty="0">
                <a:cs typeface="B Nazanin" panose="00000400000000000000" pitchFamily="2" charset="-78"/>
              </a:rPr>
            </a:br>
            <a:br>
              <a:rPr lang="fa-IR" sz="2700" dirty="0">
                <a:cs typeface="B Nazanin" panose="00000400000000000000" pitchFamily="2" charset="-78"/>
              </a:rPr>
            </a:br>
            <a:r>
              <a:rPr lang="fa-IR" sz="2200" b="0" dirty="0">
                <a:cs typeface="B Nazanin" panose="00000400000000000000" pitchFamily="2" charset="-78"/>
              </a:rPr>
              <a:t>دارویی که به‌طور مستقیم با آگونیست واکنش داده و آن را غیرفعال می‌کند.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ویژگی: اثر آن از طریق واکنش شیمیایی اعمال می‌شود.</a:t>
            </a:r>
            <a:br>
              <a:rPr lang="fa-IR" sz="2200" b="0" dirty="0">
                <a:cs typeface="B Nazanin" panose="00000400000000000000" pitchFamily="2" charset="-78"/>
              </a:rPr>
            </a:br>
            <a:br>
              <a:rPr lang="fa-IR" sz="2200" b="0" dirty="0">
                <a:cs typeface="B Nazanin" panose="00000400000000000000" pitchFamily="2" charset="-78"/>
              </a:rPr>
            </a:br>
            <a:r>
              <a:rPr lang="fa-IR" sz="2200" b="0" dirty="0">
                <a:cs typeface="B Nazanin" panose="00000400000000000000" pitchFamily="2" charset="-78"/>
              </a:rPr>
              <a:t>مثال: پروتامین که اثر هپارین را در خون غیرفعال می‌کند</a:t>
            </a:r>
            <a:br>
              <a:rPr lang="fa-IR" sz="2700" dirty="0">
                <a:cs typeface="B Nazanin" panose="00000400000000000000" pitchFamily="2" charset="-78"/>
              </a:rPr>
            </a:br>
            <a:br>
              <a:rPr lang="fa-IR" sz="2700" dirty="0">
                <a:cs typeface="B Nazanin" panose="00000400000000000000" pitchFamily="2" charset="-78"/>
              </a:rPr>
            </a:br>
            <a:endParaRPr lang="en-US" sz="2700" dirty="0">
              <a:cs typeface="B Nazanin" panose="00000400000000000000" pitchFamily="2" charset="-78"/>
            </a:endParaRPr>
          </a:p>
        </p:txBody>
      </p:sp>
      <p:pic>
        <p:nvPicPr>
          <p:cNvPr id="6" name="Picture 5">
            <a:extLst>
              <a:ext uri="{FF2B5EF4-FFF2-40B4-BE49-F238E27FC236}">
                <a16:creationId xmlns:a16="http://schemas.microsoft.com/office/drawing/2014/main" id="{FFA049B1-ED38-4C27-A8F8-F903754A539C}"/>
              </a:ext>
            </a:extLst>
          </p:cNvPr>
          <p:cNvPicPr>
            <a:picLocks noChangeAspect="1"/>
          </p:cNvPicPr>
          <p:nvPr/>
        </p:nvPicPr>
        <p:blipFill>
          <a:blip r:embed="rId2"/>
          <a:stretch>
            <a:fillRect/>
          </a:stretch>
        </p:blipFill>
        <p:spPr>
          <a:xfrm>
            <a:off x="309490" y="1829000"/>
            <a:ext cx="5472332" cy="4489250"/>
          </a:xfrm>
          <a:prstGeom prst="rect">
            <a:avLst/>
          </a:prstGeom>
        </p:spPr>
      </p:pic>
    </p:spTree>
    <p:extLst>
      <p:ext uri="{BB962C8B-B14F-4D97-AF65-F5344CB8AC3E}">
        <p14:creationId xmlns:p14="http://schemas.microsoft.com/office/powerpoint/2010/main" val="41123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pic>
        <p:nvPicPr>
          <p:cNvPr id="1026" name="Picture 2" descr="1,203 Any Questions Stock Photos - Free &amp; Royalty-Free Stock ...">
            <a:extLst>
              <a:ext uri="{FF2B5EF4-FFF2-40B4-BE49-F238E27FC236}">
                <a16:creationId xmlns:a16="http://schemas.microsoft.com/office/drawing/2014/main" id="{280AA57D-36C7-4D00-A4B6-0B7945564C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692394"/>
      </p:ext>
    </p:extLst>
  </p:cSld>
  <p:clrMapOvr>
    <a:masterClrMapping/>
  </p:clrMapOvr>
</p:sld>
</file>

<file path=ppt/theme/theme1.xml><?xml version="1.0" encoding="utf-8"?>
<a:theme xmlns:a="http://schemas.openxmlformats.org/drawingml/2006/main" name="33_DynamicLight">
  <a:themeElements>
    <a:clrScheme name="33_DynamicLight">
      <a:dk1>
        <a:srgbClr val="5E5E5E"/>
      </a:dk1>
      <a:lt1>
        <a:srgbClr val="005E00"/>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662</TotalTime>
  <Words>144</Words>
  <Application>Microsoft Office PowerPoint</Application>
  <PresentationFormat>Widescreen</PresentationFormat>
  <Paragraphs>21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Helvetica Neue</vt:lpstr>
      <vt:lpstr>Helvetica Neue Medium</vt:lpstr>
      <vt:lpstr>33_DynamicLight</vt:lpstr>
      <vt:lpstr>pharmacology</vt:lpstr>
      <vt:lpstr>فارماکولوژی  . علمی است که اثر داروها بر بدن و اثر بدن بر داروها را بررسی می کند  به عبارت دیگر فارماکولوژی بررسی می کند  1.دارو چگونه عمل می کند ؟ ( مکانیسم اثر)  2. دارو پس از ورود به بدن چه مسیری را طی می کند؟ ( جذب، توزیع، متابولیسم، دفع )          چه عواملی می توانند اثر دارو را تغییر دهند؟ ( سن ، بیماری ، ژنتیک و...)  .3   شاخه های اصلی فارماکولوژی                                                                </vt:lpstr>
      <vt:lpstr>4.توکسیکولوژی ( بررسی اثرات مضر داروها و سایر مواد شیمیایی بر موجودات زنده)  5. فارماکوژنتیک و فارماکوژنومیک( بررسی تاثیر تفاوت های ژنتیکی افراد بر پاسخ به دارو ها)     هدف نهایی علم فارماکولوژی: درک نحوه عملکرد دارو ها برای به کارگیری ایمن و موثر آن ها در پیشگیری، تشخیص و درمان بیماری ها است.    فارماکولوژی  1. فارماکودینامیک (اثر دارو بر بدن)   2. فارماکوکینتیک ( اثر بدن بر دارو) </vt:lpstr>
      <vt:lpstr>موضوعات اصلی در فارماکودینامیک    1. مکانیسم عمل داروها  2. رسپتور  3.منحنی دوز-پاسخ ( Dose-Response Relationship )  4. قدرت و کارایی( Potency , Efficacy )  5.آگونیست ها و آنتاگونیست ها  6. تحمل ( Tolerance) و حساس شدن ( Sensitization )  7. ایمنی و عوارض دارویی ( Therapeutic index, Toxicity )</vt:lpstr>
      <vt:lpstr>رسپتور و افکتور  . رسپتور  مولکولی اختصاصی در بدن است که دارو با آن اتصال اختصاصی برقرار می کند و دارو با هدف فعال یا مهار کردن یک پاسخ سلولی بر رسپتور اثر می گذارد رسپتور  می تواند  پروتئینی، آنزیمی و یا بخشی از DNA  باشد.    دو خاصیت مهم رسپتور : 1. اختصاصی بودن برای یک دارو  2. ایجاد تغییر در پاسخ سلولی  . رسپتورها دارای دو جایگاه مهم هستند: Binding site ( خاصیت اختصاصی بودن را ایجاد می کند)  Effector site ( خاصیت ایجاد تغییر را برای رسپتور ایجاد می کند)  افکتور می تواند به صورت مستقیم به رسپتور متصل باشد و یا مولکولی جدا از رسپتور باشد که با رسپتور مرتبط است .   افکتور اتصال دارو با رسپتور  را به یک پاسخ سلولی تبدیل می کند  آنزیم آدنیلیل سیکلاز در GPCR ، تیروزین کیناز در رسپتور های انسولینی و کانال های بتاسیمی سدیمی انواعی از افکتور ها هستند    </vt:lpstr>
      <vt:lpstr>انواع رسپتور  براساس مکانیسم عمل افکتور ها ، رسپتور ها به چهار دسته تقسیم می شوند  1. رسپتور های یونی  این گیرنده‌ها روی غشای سلول قرار دارند و وقتی یک لیگاند به اون‌ها متصل می‌شه، باعث باز یا بسته شدن کانال یونی می‌شوند در نتیجه، یون‌هایی مثل سدیم،     پتاسیم، کلسیم یا کلر وارد یا خارج سلول می‌شوند.  پاسخ این نوع گیرنده‌ها بسیار سریع و در حد میلی‌ثانیه است، چون تغییر در پتانسیل غشایی به‌سرعت رخ می‌دهد . مثال‌های مهم اون‌ها شامل گیرنده نیکوتینی   استیل‌کولین، گیرنده  GABA نوع A، و گیرنده NMDA هستن    </vt:lpstr>
      <vt:lpstr>2. گیرنده‌های جفت‌شونده با پروتئین G یا G-protein-coupled receptors    این گیرنده‌ها بزرگ‌ترین و متنوع‌ترین خانواده گیرنده‌ها در بدن هستند .ساختار شان از هفت بخش ترانس‌ممبران تشکیل شده و با پروتئینی به نام پروتئین G در   داخل سلول جفت می‌شوند.  وقتی لیگاند به این گیرنده متصل می‌شه، پروتئین G فعال می‌شه و زیرواحد آلفا یا بتا-گاما از اون جدا می‌شوند.  این زیرواحدها سپس روی آنزیم‌ها یا کانال‌های یونی داخل سلول اثر می‌ذارن و باعث تولید پیام‌رسان‌های دوم مثل cAMP، IP3 یا DAG می‌شوند .پاسخ این   گیرنده‌ها در حد ثانیه است. مثال‌های مهم این گیرنده ها شامل گیرنده‌های آدرنرژیک، موسکارینی و دوپامینرژیک.</vt:lpstr>
      <vt:lpstr>3. گیرنده‌های دارای فعالیت آنزیمی یا Enzyme-linked receptors   این گیرنده‌ها معمولاً یک بار از غشای سلول عبور می‌کنند و بخش درون‌سلولی اون‌ها فعالیت آنزیمی، به‌ویژه تایروزین‌کینازی داره. با اتصال لیگاند، دو مولکول   گیرنده به هم نزدیک می‌شوند، دایمر تشکیل می‌دهند و فعالیت آنزیمی‌شان فعال می‌شود.  در نتیجه، گروه‌های فسفات به پروتئین‌های داخل سلول منتقل می‌شوند و مسیرهای سیگنال‌دهی مثل MAP kinase یا PI3 kinase فعال می‌شوند. پاسخ   این گیرنده‌ها کندتر و در حد چند دقیقه تا ساعت است.از مهم‌ترین نمونه‌هاش  به گیرنده انسولین و گیرنده فاکتور رشد اپیدرمی یا EGF می توان اشاره کرد </vt:lpstr>
      <vt:lpstr>4. گیرنده‌های داخل‌سلولی یا هسته‌ای، Intracellular receptors   این گیرنده‌ها یا در سیتوپلاسم هستند یا مستقیماً در هسته قرار دارند .لیگاندهایی که به این گیرنده‌ها متصل می‌شوند معمولاً مولکول‌های چربی‌دوست هستند،   مثل هورمون‌های استروئیدی، تیروئیدی یا ویتامین D چون این مولکول‌ها از غشای سلول عبور میکنند، وارد سلول می‌شوند و به گیرنده متصل می شوند  کمپلکس لیگاند-گیرنده سپس به DNA در هسته متصل می‌شود  و باعث تغییر در بیان ژن‌ها می‌گردد .در نتیجه، سنتز پروتئین‌های جدید یا مهار پروتئین‌های   قبلی اتفاق می‌افتد.  پاسخ این گیرنده‌ها بسیار کند و معمولاً در حد چند ساعت است.  نمونه‌های شناخته‌شده  این نوع گیرنده ها شامل   گیرنده گلوکوکورتیکوئید، گیرنده استروژن و گیرنده تیروکسین</vt:lpstr>
      <vt:lpstr>منحنی دوز –پاسخ  با استفاده از فارماکودینامیک  میفهمیم که دارو چگونه بر بدن اثر میگذارد و اساس مطالعات فارماکودینامیکی مطالعات Dose-Respance   است که نمودارش رو در زیر مشاهده   میکنید  . دوز              پاسخ  E max  .: پاسخ حداکثری دارو  Efficacy . ( اثر بخشی دارو) :  Emax               Efficacy   حداکثر اثری که یک دارو می تواند ایجاد کند صرف نظر از دوز دارو  Potency . ( قدرت اثر دارو)  دوزی که باعث ایجاد 50درصد پاسخ موثر و درمانی ( ED50 )شده است   ( ED50                   Potency      )      </vt:lpstr>
      <vt:lpstr>Therapeutic index = TD50/ ED50   margin  Safety= LD50/ED50   هرچه عدد حاصل از این کسر بیشتر باشد ایمنی دارو بیشتر است.  ممکن است دارویی Efficacy  و Potency داشته باشد   ولی ایمنی نداشته باشد و باسخ های توکسیک ایجاد کند   منحنی دوز-رسپانس   . آگونیست  آگونیست‌ها داروهایی هستند که با اتصال به گیرنده‌ها، آن‌ها را فعال کرده و پاسخ بیولوژیکی ایجاد می‌کنند. این پاسخ می‌تواند مشابه یا حتی قوی‌تر از اثرات طبیعی   لیگاندهای درون‌زاد باشد                 </vt:lpstr>
      <vt:lpstr>.انواع آگونیست ها   1. آگونیست کامل (Full Agonist))  دارویی که پس از اتصال به گیرنده، حداکثر پاسخ ممکن را ایجاد می‌کند  ویژگی: دارای  affinity(میل به اتصال) وefficacy ( توانایی فعال‌سازی گیرنده) بالا است.  مثال: آدرنالین که به گیرنده‌های آدرنرژیک متصل شده و پاسخ‌های فیزیولوژیکی مانند افزایش ضربان قلب را ایجاد می‌کند.  2.آ گونیست نسبی (Partial Agonist)  دارویی که به گیرنده متصل می‌شود اما حتی در غلظت‌های بالا، حداکثر پاسخ را ایجاد نمی‌کند  ویژگی: دارای efficacy کمتر از آگونیست کامل است.  مثال: بوپرنورفین که به گیرنده‌های اوپیوئیدی متصل می‌شود اما اثرات کمتری نسبت به مورفین دارد    </vt:lpstr>
      <vt:lpstr>3. آگونیست معکوس (Inverse Agonist))  دارویی که به گیرنده‌هایی متصل می‌شود که به‌طور طبیعی فعالیت پایه دارند و آن را کاهش می‌دهد.  ویژگی: اثرات معکوس نسبت به آگونیست‌ها دارد.  مثال: بتا‌کاربولین که به گیرنده GABA_A متصل شده و فعالیت آن را کاهش می‌دهد.  .آنتاگونیست  داروهایی هستند که به گیرنده ها متصل می شوند اما آن ها را فعال نمی کنند و با جلوگیری از اتصال آگونیست ها یا لیگاند های طبیعی اثرات آن ها را مهار میکنند  . انواع آنتاگونیست‌ها  1. آنتاگونیست غیررقابتی ( (Non-Competitive Antagonist یا مهارکننده ی  آلوستریک  دارویی که به محلی متفاوت از محل اتصال آگونیست به گیرنده متصل می‌شود و اثر آن با افزایش غلظت آگونیست قابل جبران نیست.  ویژگی: اثر آن پایدارتر و طولانی‌تر است.  مثال: فنکسی‌بنزامین که به گیرنده‌های آدرنرژیک متصل می‌شود و اثر نوراپی‌نفرین را مهار می‌کند</vt:lpstr>
      <vt:lpstr>2.آنتاگونیست فیزیولوژیک (Physiologic Antagonist)   دارویی که به گیرنده‌ای متصل می‌شود که اثرات مخالفی نسبت به گیرنده هدف دارد.  ویژگی: اثر آن از طریق مسیرهای فیزیولوژیکی مختلف اعمال می‌شود.  مثال: اپی‌نفرین که اثر هیستامین را در برونکودیلاتاسیون مهار می‌کند   3.آنتاگونیست شیمیایی (Chemical Antagonist))  دارویی که به‌طور مستقیم با آگونیست واکنش داده و آن را غیرفعال می‌کند.  ویژگی: اثر آن از طریق واکنش شیمیایی اعمال می‌شود.  مثال: پروتامین که اثر هپارین را در خون غیرفعال می‌کند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pharmacology</dc:title>
  <dc:creator>Windows User</dc:creator>
  <cp:lastModifiedBy>iliya</cp:lastModifiedBy>
  <cp:revision>52</cp:revision>
  <dcterms:created xsi:type="dcterms:W3CDTF">2025-10-04T04:46:24Z</dcterms:created>
  <dcterms:modified xsi:type="dcterms:W3CDTF">2025-10-05T18:42:50Z</dcterms:modified>
</cp:coreProperties>
</file>