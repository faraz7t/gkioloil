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60" r:id="rId4"/>
    <p:sldId id="261" r:id="rId5"/>
    <p:sldId id="268" r:id="rId6"/>
    <p:sldId id="269" r:id="rId7"/>
    <p:sldId id="262" r:id="rId8"/>
    <p:sldId id="264" r:id="rId9"/>
    <p:sldId id="266" r:id="rId10"/>
    <p:sldId id="267" r:id="rId11"/>
    <p:sldId id="270" r:id="rId12"/>
    <p:sldId id="271" r:id="rId13"/>
    <p:sldId id="280" r:id="rId14"/>
    <p:sldId id="273" r:id="rId15"/>
    <p:sldId id="274" r:id="rId16"/>
    <p:sldId id="275" r:id="rId17"/>
    <p:sldId id="276" r:id="rId18"/>
    <p:sldId id="277" r:id="rId19"/>
    <p:sldId id="278" r:id="rId20"/>
    <p:sldId id="279" r:id="rId21"/>
    <p:sldId id="272" r:id="rId22"/>
    <p:sldId id="281" r:id="rId23"/>
    <p:sldId id="282" r:id="rId24"/>
    <p:sldId id="283" r:id="rId25"/>
  </p:sldIdLst>
  <p:sldSz cx="12192000" cy="6858000"/>
  <p:notesSz cx="6858000" cy="9144000"/>
  <p:defaultTextStyle>
    <a:defPPr>
      <a:defRPr lang="fa-I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85" autoAdjust="0"/>
    <p:restoredTop sz="94660"/>
  </p:normalViewPr>
  <p:slideViewPr>
    <p:cSldViewPr snapToGrid="0">
      <p:cViewPr varScale="1">
        <p:scale>
          <a:sx n="80" d="100"/>
          <a:sy n="80" d="100"/>
        </p:scale>
        <p:origin x="40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600670" y="5929931"/>
            <a:ext cx="10985502" cy="318490"/>
          </a:xfrm>
          <a:prstGeom prst="rect">
            <a:avLst/>
          </a:prstGeom>
        </p:spPr>
        <p:txBody>
          <a:bodyPr lIns="45719" tIns="45719" rIns="45719" bIns="45719"/>
          <a:lstStyle>
            <a:lvl1pPr marL="0" indent="0" defTabSz="412750">
              <a:lnSpc>
                <a:spcPct val="100000"/>
              </a:lnSpc>
              <a:spcBef>
                <a:spcPts val="0"/>
              </a:spcBef>
              <a:buSzTx/>
              <a:buNone/>
              <a:defRPr sz="1800" b="1"/>
            </a:lvl1pPr>
          </a:lstStyle>
          <a:p>
            <a:r>
              <a:t>Author and Date</a:t>
            </a:r>
          </a:p>
        </p:txBody>
      </p:sp>
      <p:sp>
        <p:nvSpPr>
          <p:cNvPr id="12" name="Presentation Title"/>
          <p:cNvSpPr txBox="1">
            <a:spLocks noGrp="1"/>
          </p:cNvSpPr>
          <p:nvPr>
            <p:ph type="title" hasCustomPrompt="1"/>
          </p:nvPr>
        </p:nvSpPr>
        <p:spPr>
          <a:xfrm>
            <a:off x="603248" y="1287496"/>
            <a:ext cx="10985502" cy="2324101"/>
          </a:xfrm>
          <a:prstGeom prst="rect">
            <a:avLst/>
          </a:prstGeom>
        </p:spPr>
        <p:txBody>
          <a:bodyPr anchor="b"/>
          <a:lstStyle>
            <a:lvl1pPr>
              <a:defRPr sz="5800" spc="-116"/>
            </a:lvl1pPr>
          </a:lstStyle>
          <a:p>
            <a:r>
              <a:t>Presentation Title</a:t>
            </a:r>
          </a:p>
        </p:txBody>
      </p:sp>
      <p:sp>
        <p:nvSpPr>
          <p:cNvPr id="13" name="Body Level One…"/>
          <p:cNvSpPr txBox="1">
            <a:spLocks noGrp="1"/>
          </p:cNvSpPr>
          <p:nvPr>
            <p:ph type="body" sz="quarter" idx="1" hasCustomPrompt="1"/>
          </p:nvPr>
        </p:nvSpPr>
        <p:spPr>
          <a:xfrm>
            <a:off x="600671" y="3611595"/>
            <a:ext cx="10985501" cy="952501"/>
          </a:xfrm>
          <a:prstGeom prst="rect">
            <a:avLst/>
          </a:prstGeom>
        </p:spPr>
        <p:txBody>
          <a:bodyPr/>
          <a:lstStyle>
            <a:lvl1pPr marL="0" indent="0" defTabSz="412750">
              <a:lnSpc>
                <a:spcPct val="100000"/>
              </a:lnSpc>
              <a:spcBef>
                <a:spcPts val="0"/>
              </a:spcBef>
              <a:buSzTx/>
              <a:buNone/>
              <a:defRPr sz="2750" b="1"/>
            </a:lvl1pPr>
            <a:lvl2pPr marL="0" indent="228600" defTabSz="412750">
              <a:lnSpc>
                <a:spcPct val="100000"/>
              </a:lnSpc>
              <a:spcBef>
                <a:spcPts val="0"/>
              </a:spcBef>
              <a:buSzTx/>
              <a:buNone/>
              <a:defRPr sz="2750" b="1"/>
            </a:lvl2pPr>
            <a:lvl3pPr marL="0" indent="457200" defTabSz="412750">
              <a:lnSpc>
                <a:spcPct val="100000"/>
              </a:lnSpc>
              <a:spcBef>
                <a:spcPts val="0"/>
              </a:spcBef>
              <a:buSzTx/>
              <a:buNone/>
              <a:defRPr sz="2750" b="1"/>
            </a:lvl3pPr>
            <a:lvl4pPr marL="0" indent="685800" defTabSz="412750">
              <a:lnSpc>
                <a:spcPct val="100000"/>
              </a:lnSpc>
              <a:spcBef>
                <a:spcPts val="0"/>
              </a:spcBef>
              <a:buSzTx/>
              <a:buNone/>
              <a:defRPr sz="2750" b="1"/>
            </a:lvl4pPr>
            <a:lvl5pPr marL="0" indent="914400" defTabSz="412750">
              <a:lnSpc>
                <a:spcPct val="100000"/>
              </a:lnSpc>
              <a:spcBef>
                <a:spcPts val="0"/>
              </a:spcBef>
              <a:buSzTx/>
              <a:buNone/>
              <a:defRPr sz="2750" b="1"/>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prstGeom prst="rect">
            <a:avLst/>
          </a:prstGeom>
        </p:spPr>
        <p:txBody>
          <a:bodyPr/>
          <a:lstStyle/>
          <a:p>
            <a:fld id="{5FF10964-9730-4E5F-BBA5-B0CB71FA27DD}" type="slidenum">
              <a:rPr lang="en-US" smtClean="0"/>
              <a:t>‹#›</a:t>
            </a:fld>
            <a:endParaRPr lang="en-US"/>
          </a:p>
        </p:txBody>
      </p:sp>
    </p:spTree>
    <p:extLst>
      <p:ext uri="{BB962C8B-B14F-4D97-AF65-F5344CB8AC3E}">
        <p14:creationId xmlns:p14="http://schemas.microsoft.com/office/powerpoint/2010/main" val="1400999355"/>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amp; Photo">
    <p:bg>
      <p:bgPr>
        <a:solidFill>
          <a:srgbClr val="FFFFFF"/>
        </a:solidFill>
        <a:effectLst/>
      </p:bgPr>
    </p:bg>
    <p:spTree>
      <p:nvGrpSpPr>
        <p:cNvPr id="1" name=""/>
        <p:cNvGrpSpPr/>
        <p:nvPr/>
      </p:nvGrpSpPr>
      <p:grpSpPr>
        <a:xfrm>
          <a:off x="0" y="0"/>
          <a:ext cx="0" cy="0"/>
          <a:chOff x="0" y="0"/>
          <a:chExt cx="0" cy="0"/>
        </a:xfrm>
      </p:grpSpPr>
      <p:sp>
        <p:nvSpPr>
          <p:cNvPr id="21" name="View from inside a stone structure, looking out toward stairs and a clear, blue sky"/>
          <p:cNvSpPr>
            <a:spLocks noGrp="1"/>
          </p:cNvSpPr>
          <p:nvPr>
            <p:ph type="pic" idx="21"/>
          </p:nvPr>
        </p:nvSpPr>
        <p:spPr>
          <a:xfrm>
            <a:off x="0" y="-635000"/>
            <a:ext cx="12192000" cy="8136467"/>
          </a:xfrm>
          <a:prstGeom prst="rect">
            <a:avLst/>
          </a:prstGeom>
        </p:spPr>
        <p:txBody>
          <a:bodyPr lIns="91439" tIns="45719" rIns="91439" bIns="45719">
            <a:noAutofit/>
          </a:bodyPr>
          <a:lstStyle/>
          <a:p>
            <a:r>
              <a:rPr lang="en-US"/>
              <a:t>Click icon to add picture</a:t>
            </a:r>
            <a:endParaRPr/>
          </a:p>
        </p:txBody>
      </p:sp>
      <p:sp>
        <p:nvSpPr>
          <p:cNvPr id="22" name="Presentation Title"/>
          <p:cNvSpPr txBox="1">
            <a:spLocks noGrp="1"/>
          </p:cNvSpPr>
          <p:nvPr>
            <p:ph type="title" hasCustomPrompt="1"/>
          </p:nvPr>
        </p:nvSpPr>
        <p:spPr>
          <a:xfrm>
            <a:off x="603250" y="3562350"/>
            <a:ext cx="10985500" cy="2324100"/>
          </a:xfrm>
          <a:prstGeom prst="rect">
            <a:avLst/>
          </a:prstGeom>
        </p:spPr>
        <p:txBody>
          <a:bodyPr anchor="b"/>
          <a:lstStyle>
            <a:lvl1pPr>
              <a:defRPr sz="5800" spc="-116"/>
            </a:lvl1pPr>
          </a:lstStyle>
          <a:p>
            <a:r>
              <a:t>Presentation Title</a:t>
            </a:r>
          </a:p>
        </p:txBody>
      </p:sp>
      <p:sp>
        <p:nvSpPr>
          <p:cNvPr id="23" name="Author and Date"/>
          <p:cNvSpPr txBox="1">
            <a:spLocks noGrp="1"/>
          </p:cNvSpPr>
          <p:nvPr>
            <p:ph type="body" sz="quarter" idx="22" hasCustomPrompt="1"/>
          </p:nvPr>
        </p:nvSpPr>
        <p:spPr>
          <a:xfrm>
            <a:off x="603845" y="553069"/>
            <a:ext cx="10984311" cy="318490"/>
          </a:xfrm>
          <a:prstGeom prst="rect">
            <a:avLst/>
          </a:prstGeom>
        </p:spPr>
        <p:txBody>
          <a:bodyPr lIns="45719" tIns="45719" rIns="45719" bIns="45719"/>
          <a:lstStyle>
            <a:lvl1pPr marL="0" indent="0" defTabSz="412750">
              <a:lnSpc>
                <a:spcPct val="100000"/>
              </a:lnSpc>
              <a:spcBef>
                <a:spcPts val="0"/>
              </a:spcBef>
              <a:buSzTx/>
              <a:buNone/>
              <a:defRPr sz="1800" b="1"/>
            </a:lvl1pPr>
          </a:lstStyle>
          <a:p>
            <a:r>
              <a:t>Author and Date</a:t>
            </a:r>
          </a:p>
        </p:txBody>
      </p:sp>
      <p:sp>
        <p:nvSpPr>
          <p:cNvPr id="24" name="Body Level One…"/>
          <p:cNvSpPr txBox="1">
            <a:spLocks noGrp="1"/>
          </p:cNvSpPr>
          <p:nvPr>
            <p:ph type="body" sz="quarter" idx="1" hasCustomPrompt="1"/>
          </p:nvPr>
        </p:nvSpPr>
        <p:spPr>
          <a:xfrm>
            <a:off x="603250" y="5804955"/>
            <a:ext cx="10985500" cy="558476"/>
          </a:xfrm>
          <a:prstGeom prst="rect">
            <a:avLst/>
          </a:prstGeom>
        </p:spPr>
        <p:txBody>
          <a:bodyPr/>
          <a:lstStyle>
            <a:lvl1pPr marL="0" indent="0" defTabSz="412750">
              <a:lnSpc>
                <a:spcPct val="100000"/>
              </a:lnSpc>
              <a:spcBef>
                <a:spcPts val="0"/>
              </a:spcBef>
              <a:buSzTx/>
              <a:buNone/>
              <a:defRPr sz="2750" b="1"/>
            </a:lvl1pPr>
            <a:lvl2pPr marL="0" indent="228600" defTabSz="412750">
              <a:lnSpc>
                <a:spcPct val="100000"/>
              </a:lnSpc>
              <a:spcBef>
                <a:spcPts val="0"/>
              </a:spcBef>
              <a:buSzTx/>
              <a:buNone/>
              <a:defRPr sz="2750" b="1"/>
            </a:lvl2pPr>
            <a:lvl3pPr marL="0" indent="457200" defTabSz="412750">
              <a:lnSpc>
                <a:spcPct val="100000"/>
              </a:lnSpc>
              <a:spcBef>
                <a:spcPts val="0"/>
              </a:spcBef>
              <a:buSzTx/>
              <a:buNone/>
              <a:defRPr sz="2750" b="1"/>
            </a:lvl3pPr>
            <a:lvl4pPr marL="0" indent="685800" defTabSz="412750">
              <a:lnSpc>
                <a:spcPct val="100000"/>
              </a:lnSpc>
              <a:spcBef>
                <a:spcPts val="0"/>
              </a:spcBef>
              <a:buSzTx/>
              <a:buNone/>
              <a:defRPr sz="2750" b="1"/>
            </a:lvl4pPr>
            <a:lvl5pPr marL="0" indent="914400" defTabSz="412750">
              <a:lnSpc>
                <a:spcPct val="100000"/>
              </a:lnSpc>
              <a:spcBef>
                <a:spcPts val="0"/>
              </a:spcBef>
              <a:buSzTx/>
              <a:buNone/>
              <a:defRPr sz="2750" b="1"/>
            </a:lvl5pPr>
          </a:lstStyle>
          <a:p>
            <a:r>
              <a:t>Presentation Subtitle</a:t>
            </a:r>
          </a:p>
          <a:p>
            <a:pPr lvl="1"/>
            <a:endParaRPr/>
          </a:p>
          <a:p>
            <a:pPr lvl="2"/>
            <a:endParaRPr/>
          </a:p>
          <a:p>
            <a:pPr lvl="3"/>
            <a:endParaRPr/>
          </a:p>
          <a:p>
            <a:pPr lvl="4"/>
            <a:endParaRPr/>
          </a:p>
        </p:txBody>
      </p:sp>
      <p:sp>
        <p:nvSpPr>
          <p:cNvPr id="25" name="Slide Number"/>
          <p:cNvSpPr txBox="1">
            <a:spLocks noGrp="1"/>
          </p:cNvSpPr>
          <p:nvPr>
            <p:ph type="sldNum" sz="quarter" idx="2"/>
          </p:nvPr>
        </p:nvSpPr>
        <p:spPr>
          <a:prstGeom prst="rect">
            <a:avLst/>
          </a:prstGeom>
        </p:spPr>
        <p:txBody>
          <a:bodyPr/>
          <a:lstStyle/>
          <a:p>
            <a:fld id="{5FF10964-9730-4E5F-BBA5-B0CB71FA27DD}" type="slidenum">
              <a:rPr lang="en-US" smtClean="0"/>
              <a:t>‹#›</a:t>
            </a:fld>
            <a:endParaRPr lang="en-US"/>
          </a:p>
        </p:txBody>
      </p:sp>
    </p:spTree>
    <p:extLst>
      <p:ext uri="{BB962C8B-B14F-4D97-AF65-F5344CB8AC3E}">
        <p14:creationId xmlns:p14="http://schemas.microsoft.com/office/powerpoint/2010/main" val="1861539225"/>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reserve="1">
  <p:cSld name="Title &amp; Photo Alt">
    <p:spTree>
      <p:nvGrpSpPr>
        <p:cNvPr id="1" name=""/>
        <p:cNvGrpSpPr/>
        <p:nvPr/>
      </p:nvGrpSpPr>
      <p:grpSpPr>
        <a:xfrm>
          <a:off x="0" y="0"/>
          <a:ext cx="0" cy="0"/>
          <a:chOff x="0" y="0"/>
          <a:chExt cx="0" cy="0"/>
        </a:xfrm>
      </p:grpSpPr>
      <p:sp>
        <p:nvSpPr>
          <p:cNvPr id="32" name="A modern white building with glass panels against a clear, blue sky"/>
          <p:cNvSpPr>
            <a:spLocks noGrp="1"/>
          </p:cNvSpPr>
          <p:nvPr>
            <p:ph type="pic" idx="21"/>
          </p:nvPr>
        </p:nvSpPr>
        <p:spPr>
          <a:xfrm>
            <a:off x="4635500" y="635000"/>
            <a:ext cx="8382000" cy="5588000"/>
          </a:xfrm>
          <a:prstGeom prst="rect">
            <a:avLst/>
          </a:prstGeom>
        </p:spPr>
        <p:txBody>
          <a:bodyPr lIns="91439" tIns="45719" rIns="91439" bIns="45719">
            <a:noAutofit/>
          </a:bodyPr>
          <a:lstStyle/>
          <a:p>
            <a:r>
              <a:rPr lang="en-US"/>
              <a:t>Click icon to add picture</a:t>
            </a:r>
            <a:endParaRPr/>
          </a:p>
        </p:txBody>
      </p:sp>
      <p:sp>
        <p:nvSpPr>
          <p:cNvPr id="33" name="Slide Title"/>
          <p:cNvSpPr txBox="1">
            <a:spLocks noGrp="1"/>
          </p:cNvSpPr>
          <p:nvPr>
            <p:ph type="title" hasCustomPrompt="1"/>
          </p:nvPr>
        </p:nvSpPr>
        <p:spPr>
          <a:xfrm>
            <a:off x="603250" y="635000"/>
            <a:ext cx="4889500" cy="2941137"/>
          </a:xfrm>
          <a:prstGeom prst="rect">
            <a:avLst/>
          </a:prstGeom>
        </p:spPr>
        <p:txBody>
          <a:bodyPr anchor="b"/>
          <a:lstStyle/>
          <a:p>
            <a:r>
              <a:t>Slide Title</a:t>
            </a:r>
          </a:p>
        </p:txBody>
      </p:sp>
      <p:sp>
        <p:nvSpPr>
          <p:cNvPr id="34" name="Body Level One…"/>
          <p:cNvSpPr txBox="1">
            <a:spLocks noGrp="1"/>
          </p:cNvSpPr>
          <p:nvPr>
            <p:ph type="body" sz="quarter" idx="1" hasCustomPrompt="1"/>
          </p:nvPr>
        </p:nvSpPr>
        <p:spPr>
          <a:xfrm>
            <a:off x="603250" y="3530288"/>
            <a:ext cx="4889500" cy="2692712"/>
          </a:xfrm>
          <a:prstGeom prst="rect">
            <a:avLst/>
          </a:prstGeom>
        </p:spPr>
        <p:txBody>
          <a:bodyPr/>
          <a:lstStyle>
            <a:lvl1pPr marL="0" indent="0" defTabSz="412750">
              <a:lnSpc>
                <a:spcPct val="100000"/>
              </a:lnSpc>
              <a:spcBef>
                <a:spcPts val="0"/>
              </a:spcBef>
              <a:buSzTx/>
              <a:buNone/>
              <a:defRPr sz="2750" b="1"/>
            </a:lvl1pPr>
            <a:lvl2pPr marL="0" indent="228600" defTabSz="412750">
              <a:lnSpc>
                <a:spcPct val="100000"/>
              </a:lnSpc>
              <a:spcBef>
                <a:spcPts val="0"/>
              </a:spcBef>
              <a:buSzTx/>
              <a:buNone/>
              <a:defRPr sz="2750" b="1"/>
            </a:lvl2pPr>
            <a:lvl3pPr marL="0" indent="457200" defTabSz="412750">
              <a:lnSpc>
                <a:spcPct val="100000"/>
              </a:lnSpc>
              <a:spcBef>
                <a:spcPts val="0"/>
              </a:spcBef>
              <a:buSzTx/>
              <a:buNone/>
              <a:defRPr sz="2750" b="1"/>
            </a:lvl3pPr>
            <a:lvl4pPr marL="0" indent="685800" defTabSz="412750">
              <a:lnSpc>
                <a:spcPct val="100000"/>
              </a:lnSpc>
              <a:spcBef>
                <a:spcPts val="0"/>
              </a:spcBef>
              <a:buSzTx/>
              <a:buNone/>
              <a:defRPr sz="2750" b="1"/>
            </a:lvl4pPr>
            <a:lvl5pPr marL="0" indent="914400" defTabSz="412750">
              <a:lnSpc>
                <a:spcPct val="100000"/>
              </a:lnSpc>
              <a:spcBef>
                <a:spcPts val="0"/>
              </a:spcBef>
              <a:buSzTx/>
              <a:buNone/>
              <a:defRPr sz="2750" b="1"/>
            </a:lvl5pPr>
          </a:lstStyle>
          <a:p>
            <a:r>
              <a:t>Slide Subtitle</a:t>
            </a:r>
          </a:p>
          <a:p>
            <a:pPr lvl="1"/>
            <a:endParaRPr/>
          </a:p>
          <a:p>
            <a:pPr lvl="2"/>
            <a:endParaRPr/>
          </a:p>
          <a:p>
            <a:pPr lvl="3"/>
            <a:endParaRPr/>
          </a:p>
          <a:p>
            <a:pPr lvl="4"/>
            <a:endParaRPr/>
          </a:p>
        </p:txBody>
      </p:sp>
      <p:sp>
        <p:nvSpPr>
          <p:cNvPr id="35" name="Slide Number"/>
          <p:cNvSpPr txBox="1">
            <a:spLocks noGrp="1"/>
          </p:cNvSpPr>
          <p:nvPr>
            <p:ph type="sldNum" sz="quarter" idx="2"/>
          </p:nvPr>
        </p:nvSpPr>
        <p:spPr>
          <a:xfrm>
            <a:off x="5941347" y="6488825"/>
            <a:ext cx="243656" cy="241092"/>
          </a:xfrm>
          <a:prstGeom prst="rect">
            <a:avLst/>
          </a:prstGeom>
        </p:spPr>
        <p:txBody>
          <a:bodyPr/>
          <a:lstStyle/>
          <a:p>
            <a:fld id="{5FF10964-9730-4E5F-BBA5-B0CB71FA27DD}" type="slidenum">
              <a:rPr lang="en-US" smtClean="0"/>
              <a:t>‹#›</a:t>
            </a:fld>
            <a:endParaRPr lang="en-US"/>
          </a:p>
        </p:txBody>
      </p:sp>
    </p:spTree>
    <p:extLst>
      <p:ext uri="{BB962C8B-B14F-4D97-AF65-F5344CB8AC3E}">
        <p14:creationId xmlns:p14="http://schemas.microsoft.com/office/powerpoint/2010/main" val="700256892"/>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t>Slide Title</a:t>
            </a:r>
          </a:p>
        </p:txBody>
      </p:sp>
      <p:sp>
        <p:nvSpPr>
          <p:cNvPr id="43" name="Slide Subtitle"/>
          <p:cNvSpPr txBox="1">
            <a:spLocks noGrp="1"/>
          </p:cNvSpPr>
          <p:nvPr>
            <p:ph type="body" sz="quarter" idx="21" hasCustomPrompt="1"/>
          </p:nvPr>
        </p:nvSpPr>
        <p:spPr>
          <a:xfrm>
            <a:off x="603250" y="1186481"/>
            <a:ext cx="10985500" cy="467390"/>
          </a:xfrm>
          <a:prstGeom prst="rect">
            <a:avLst/>
          </a:prstGeom>
        </p:spPr>
        <p:txBody>
          <a:bodyPr lIns="45719" tIns="45719" rIns="45719" bIns="45719"/>
          <a:lstStyle>
            <a:lvl1pPr marL="0" indent="0" defTabSz="412750">
              <a:lnSpc>
                <a:spcPct val="100000"/>
              </a:lnSpc>
              <a:spcBef>
                <a:spcPts val="0"/>
              </a:spcBef>
              <a:buSzTx/>
              <a:buNone/>
              <a:defRPr sz="2750" b="1"/>
            </a:lvl1pPr>
          </a:lstStyle>
          <a:p>
            <a:r>
              <a:t>Slide Subtitle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Slide Number"/>
          <p:cNvSpPr txBox="1">
            <a:spLocks noGrp="1"/>
          </p:cNvSpPr>
          <p:nvPr>
            <p:ph type="sldNum" sz="quarter" idx="2"/>
          </p:nvPr>
        </p:nvSpPr>
        <p:spPr>
          <a:prstGeom prst="rect">
            <a:avLst/>
          </a:prstGeom>
        </p:spPr>
        <p:txBody>
          <a:bodyPr/>
          <a:lstStyle/>
          <a:p>
            <a:fld id="{5FF10964-9730-4E5F-BBA5-B0CB71FA27DD}" type="slidenum">
              <a:rPr lang="en-US" smtClean="0"/>
              <a:t>‹#›</a:t>
            </a:fld>
            <a:endParaRPr lang="en-US"/>
          </a:p>
        </p:txBody>
      </p:sp>
    </p:spTree>
    <p:extLst>
      <p:ext uri="{BB962C8B-B14F-4D97-AF65-F5344CB8AC3E}">
        <p14:creationId xmlns:p14="http://schemas.microsoft.com/office/powerpoint/2010/main" val="85832987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prstGeom prst="rect">
            <a:avLst/>
          </a:prstGeom>
        </p:spPr>
        <p:txBody>
          <a:bodyPr numCol="2" spcCol="1098550"/>
          <a:lstStyle/>
          <a:p>
            <a:r>
              <a:t>Slide bullet text</a:t>
            </a:r>
          </a:p>
          <a:p>
            <a:pPr lvl="1"/>
            <a:endParaRPr/>
          </a:p>
          <a:p>
            <a:pPr lvl="2"/>
            <a:endParaRPr/>
          </a:p>
          <a:p>
            <a:pPr lvl="3"/>
            <a:endParaRPr/>
          </a:p>
          <a:p>
            <a:pPr lvl="4"/>
            <a:endParaRPr/>
          </a:p>
        </p:txBody>
      </p:sp>
      <p:sp>
        <p:nvSpPr>
          <p:cNvPr id="53" name="Slide Number"/>
          <p:cNvSpPr txBox="1">
            <a:spLocks noGrp="1"/>
          </p:cNvSpPr>
          <p:nvPr>
            <p:ph type="sldNum" sz="quarter" idx="2"/>
          </p:nvPr>
        </p:nvSpPr>
        <p:spPr>
          <a:prstGeom prst="rect">
            <a:avLst/>
          </a:prstGeom>
        </p:spPr>
        <p:txBody>
          <a:bodyPr/>
          <a:lstStyle/>
          <a:p>
            <a:fld id="{5FF10964-9730-4E5F-BBA5-B0CB71FA27DD}" type="slidenum">
              <a:rPr lang="en-US" smtClean="0"/>
              <a:t>‹#›</a:t>
            </a:fld>
            <a:endParaRPr lang="en-US"/>
          </a:p>
        </p:txBody>
      </p:sp>
    </p:spTree>
    <p:extLst>
      <p:ext uri="{BB962C8B-B14F-4D97-AF65-F5344CB8AC3E}">
        <p14:creationId xmlns:p14="http://schemas.microsoft.com/office/powerpoint/2010/main" val="132091798"/>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Title, Bullets &amp; Photo">
    <p:spTree>
      <p:nvGrpSpPr>
        <p:cNvPr id="1" name=""/>
        <p:cNvGrpSpPr/>
        <p:nvPr/>
      </p:nvGrpSpPr>
      <p:grpSpPr>
        <a:xfrm>
          <a:off x="0" y="0"/>
          <a:ext cx="0" cy="0"/>
          <a:chOff x="0" y="0"/>
          <a:chExt cx="0" cy="0"/>
        </a:xfrm>
      </p:grpSpPr>
      <p:sp>
        <p:nvSpPr>
          <p:cNvPr id="60" name="Slide Subtitle"/>
          <p:cNvSpPr txBox="1">
            <a:spLocks noGrp="1"/>
          </p:cNvSpPr>
          <p:nvPr>
            <p:ph type="body" sz="quarter" idx="21" hasCustomPrompt="1"/>
          </p:nvPr>
        </p:nvSpPr>
        <p:spPr>
          <a:xfrm>
            <a:off x="603250" y="1186481"/>
            <a:ext cx="4889500" cy="467390"/>
          </a:xfrm>
          <a:prstGeom prst="rect">
            <a:avLst/>
          </a:prstGeom>
        </p:spPr>
        <p:txBody>
          <a:bodyPr lIns="45719" tIns="45719" rIns="45719" bIns="45719"/>
          <a:lstStyle>
            <a:lvl1pPr marL="0" indent="0" defTabSz="412750">
              <a:lnSpc>
                <a:spcPct val="100000"/>
              </a:lnSpc>
              <a:spcBef>
                <a:spcPts val="0"/>
              </a:spcBef>
              <a:buSzTx/>
              <a:buNone/>
              <a:defRPr sz="2750" b="1"/>
            </a:lvl1pPr>
          </a:lstStyle>
          <a:p>
            <a:r>
              <a:t>Slide Subtitle</a:t>
            </a:r>
          </a:p>
        </p:txBody>
      </p:sp>
      <p:sp>
        <p:nvSpPr>
          <p:cNvPr id="61" name="Body Level One…"/>
          <p:cNvSpPr txBox="1">
            <a:spLocks noGrp="1"/>
          </p:cNvSpPr>
          <p:nvPr>
            <p:ph type="body" sz="half" idx="1" hasCustomPrompt="1"/>
          </p:nvPr>
        </p:nvSpPr>
        <p:spPr>
          <a:xfrm>
            <a:off x="603250" y="2124252"/>
            <a:ext cx="4889500" cy="4128315"/>
          </a:xfrm>
          <a:prstGeom prst="rect">
            <a:avLst/>
          </a:prstGeom>
        </p:spPr>
        <p:txBody>
          <a:bodyPr/>
          <a:lstStyle/>
          <a:p>
            <a:r>
              <a:t>Slide bullet text</a:t>
            </a:r>
          </a:p>
          <a:p>
            <a:pPr lvl="1"/>
            <a:endParaRPr/>
          </a:p>
          <a:p>
            <a:pPr lvl="2"/>
            <a:endParaRPr/>
          </a:p>
          <a:p>
            <a:pPr lvl="3"/>
            <a:endParaRPr/>
          </a:p>
          <a:p>
            <a:pPr lvl="4"/>
            <a:endParaRPr/>
          </a:p>
        </p:txBody>
      </p:sp>
      <p:sp>
        <p:nvSpPr>
          <p:cNvPr id="62" name="Small section of a modern shell bridge in Qingdao, Shandong, China with a partly cloudy sky above"/>
          <p:cNvSpPr>
            <a:spLocks noGrp="1"/>
          </p:cNvSpPr>
          <p:nvPr>
            <p:ph type="pic" idx="22"/>
          </p:nvPr>
        </p:nvSpPr>
        <p:spPr>
          <a:xfrm>
            <a:off x="4635500" y="631924"/>
            <a:ext cx="8386922" cy="5594103"/>
          </a:xfrm>
          <a:prstGeom prst="rect">
            <a:avLst/>
          </a:prstGeom>
        </p:spPr>
        <p:txBody>
          <a:bodyPr lIns="91439" tIns="45719" rIns="91439" bIns="45719">
            <a:noAutofit/>
          </a:bodyPr>
          <a:lstStyle/>
          <a:p>
            <a:r>
              <a:rPr lang="en-US"/>
              <a:t>Click icon to add picture</a:t>
            </a:r>
            <a:endParaRPr/>
          </a:p>
        </p:txBody>
      </p:sp>
      <p:sp>
        <p:nvSpPr>
          <p:cNvPr id="63" name="Slide Title"/>
          <p:cNvSpPr txBox="1">
            <a:spLocks noGrp="1"/>
          </p:cNvSpPr>
          <p:nvPr>
            <p:ph type="title" hasCustomPrompt="1"/>
          </p:nvPr>
        </p:nvSpPr>
        <p:spPr>
          <a:xfrm>
            <a:off x="603250" y="539750"/>
            <a:ext cx="4889500" cy="717550"/>
          </a:xfrm>
          <a:prstGeom prst="rect">
            <a:avLst/>
          </a:prstGeom>
        </p:spPr>
        <p:txBody>
          <a:bodyPr/>
          <a:lstStyle/>
          <a:p>
            <a:r>
              <a:t>Slide Title</a:t>
            </a:r>
          </a:p>
        </p:txBody>
      </p:sp>
      <p:sp>
        <p:nvSpPr>
          <p:cNvPr id="64" name="Slide Number"/>
          <p:cNvSpPr txBox="1">
            <a:spLocks noGrp="1"/>
          </p:cNvSpPr>
          <p:nvPr>
            <p:ph type="sldNum" sz="quarter" idx="2"/>
          </p:nvPr>
        </p:nvSpPr>
        <p:spPr>
          <a:prstGeom prst="rect">
            <a:avLst/>
          </a:prstGeom>
        </p:spPr>
        <p:txBody>
          <a:bodyPr/>
          <a:lstStyle/>
          <a:p>
            <a:fld id="{5FF10964-9730-4E5F-BBA5-B0CB71FA27DD}" type="slidenum">
              <a:rPr lang="en-US" smtClean="0"/>
              <a:t>‹#›</a:t>
            </a:fld>
            <a:endParaRPr lang="en-US"/>
          </a:p>
        </p:txBody>
      </p:sp>
    </p:spTree>
    <p:extLst>
      <p:ext uri="{BB962C8B-B14F-4D97-AF65-F5344CB8AC3E}">
        <p14:creationId xmlns:p14="http://schemas.microsoft.com/office/powerpoint/2010/main" val="720304850"/>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p:spTree>
      <p:nvGrpSpPr>
        <p:cNvPr id="1" name=""/>
        <p:cNvGrpSpPr/>
        <p:nvPr/>
      </p:nvGrpSpPr>
      <p:grpSpPr>
        <a:xfrm>
          <a:off x="0" y="0"/>
          <a:ext cx="0" cy="0"/>
          <a:chOff x="0" y="0"/>
          <a:chExt cx="0" cy="0"/>
        </a:xfrm>
      </p:grpSpPr>
      <p:sp>
        <p:nvSpPr>
          <p:cNvPr id="71" name="Section Title"/>
          <p:cNvSpPr txBox="1">
            <a:spLocks noGrp="1"/>
          </p:cNvSpPr>
          <p:nvPr>
            <p:ph type="title" hasCustomPrompt="1"/>
          </p:nvPr>
        </p:nvSpPr>
        <p:spPr>
          <a:xfrm>
            <a:off x="603248" y="2266950"/>
            <a:ext cx="10985502" cy="2324100"/>
          </a:xfrm>
          <a:prstGeom prst="rect">
            <a:avLst/>
          </a:prstGeom>
        </p:spPr>
        <p:txBody>
          <a:bodyPr anchor="ctr"/>
          <a:lstStyle>
            <a:lvl1pPr>
              <a:defRPr sz="5800" b="0" spc="-116">
                <a:latin typeface="Helvetica Neue Medium"/>
                <a:ea typeface="Helvetica Neue Medium"/>
                <a:cs typeface="Helvetica Neue Medium"/>
                <a:sym typeface="Helvetica Neue Medium"/>
              </a:defRPr>
            </a:lvl1pPr>
          </a:lstStyle>
          <a:p>
            <a:r>
              <a:t>Section Title</a:t>
            </a:r>
          </a:p>
        </p:txBody>
      </p:sp>
      <p:sp>
        <p:nvSpPr>
          <p:cNvPr id="72" name="Slide Number"/>
          <p:cNvSpPr txBox="1">
            <a:spLocks noGrp="1"/>
          </p:cNvSpPr>
          <p:nvPr>
            <p:ph type="sldNum" sz="quarter" idx="2"/>
          </p:nvPr>
        </p:nvSpPr>
        <p:spPr>
          <a:xfrm>
            <a:off x="5941347" y="6488825"/>
            <a:ext cx="243656" cy="241092"/>
          </a:xfrm>
          <a:prstGeom prst="rect">
            <a:avLst/>
          </a:prstGeom>
        </p:spPr>
        <p:txBody>
          <a:bodyPr/>
          <a:lstStyle/>
          <a:p>
            <a:fld id="{5FF10964-9730-4E5F-BBA5-B0CB71FA27DD}" type="slidenum">
              <a:rPr lang="en-US" smtClean="0"/>
              <a:t>‹#›</a:t>
            </a:fld>
            <a:endParaRPr lang="en-US"/>
          </a:p>
        </p:txBody>
      </p:sp>
    </p:spTree>
    <p:extLst>
      <p:ext uri="{BB962C8B-B14F-4D97-AF65-F5344CB8AC3E}">
        <p14:creationId xmlns:p14="http://schemas.microsoft.com/office/powerpoint/2010/main" val="1757662929"/>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Title Only">
    <p:spTree>
      <p:nvGrpSpPr>
        <p:cNvPr id="1" name=""/>
        <p:cNvGrpSpPr/>
        <p:nvPr/>
      </p:nvGrpSpPr>
      <p:grpSpPr>
        <a:xfrm>
          <a:off x="0" y="0"/>
          <a:ext cx="0" cy="0"/>
          <a:chOff x="0" y="0"/>
          <a:chExt cx="0" cy="0"/>
        </a:xfrm>
      </p:grpSpPr>
      <p:sp>
        <p:nvSpPr>
          <p:cNvPr id="79" name="Slide Title"/>
          <p:cNvSpPr txBox="1">
            <a:spLocks noGrp="1"/>
          </p:cNvSpPr>
          <p:nvPr>
            <p:ph type="title" hasCustomPrompt="1"/>
          </p:nvPr>
        </p:nvSpPr>
        <p:spPr>
          <a:xfrm>
            <a:off x="603250" y="539750"/>
            <a:ext cx="10985500" cy="717475"/>
          </a:xfrm>
          <a:prstGeom prst="rect">
            <a:avLst/>
          </a:prstGeom>
        </p:spPr>
        <p:txBody>
          <a:bodyPr/>
          <a:lstStyle/>
          <a:p>
            <a:r>
              <a:t>Slide Title</a:t>
            </a:r>
          </a:p>
        </p:txBody>
      </p:sp>
      <p:sp>
        <p:nvSpPr>
          <p:cNvPr id="80" name="Slide Subtitle"/>
          <p:cNvSpPr txBox="1">
            <a:spLocks noGrp="1"/>
          </p:cNvSpPr>
          <p:nvPr>
            <p:ph type="body" sz="quarter" idx="21" hasCustomPrompt="1"/>
          </p:nvPr>
        </p:nvSpPr>
        <p:spPr>
          <a:xfrm>
            <a:off x="603250" y="1186481"/>
            <a:ext cx="10985500" cy="467390"/>
          </a:xfrm>
          <a:prstGeom prst="rect">
            <a:avLst/>
          </a:prstGeom>
        </p:spPr>
        <p:txBody>
          <a:bodyPr lIns="45719" tIns="45719" rIns="45719" bIns="45719"/>
          <a:lstStyle>
            <a:lvl1pPr marL="0" indent="0" defTabSz="412750">
              <a:lnSpc>
                <a:spcPct val="100000"/>
              </a:lnSpc>
              <a:spcBef>
                <a:spcPts val="0"/>
              </a:spcBef>
              <a:buSzTx/>
              <a:buNone/>
              <a:defRPr sz="2750" b="1"/>
            </a:lvl1pPr>
          </a:lstStyle>
          <a:p>
            <a:r>
              <a:t>Slide Subtitle</a:t>
            </a:r>
          </a:p>
        </p:txBody>
      </p:sp>
      <p:sp>
        <p:nvSpPr>
          <p:cNvPr id="81" name="Slide Number"/>
          <p:cNvSpPr txBox="1">
            <a:spLocks noGrp="1"/>
          </p:cNvSpPr>
          <p:nvPr>
            <p:ph type="sldNum" sz="quarter" idx="2"/>
          </p:nvPr>
        </p:nvSpPr>
        <p:spPr>
          <a:prstGeom prst="rect">
            <a:avLst/>
          </a:prstGeom>
        </p:spPr>
        <p:txBody>
          <a:bodyPr/>
          <a:lstStyle/>
          <a:p>
            <a:fld id="{5FF10964-9730-4E5F-BBA5-B0CB71FA27DD}" type="slidenum">
              <a:rPr lang="en-US" smtClean="0"/>
              <a:t>‹#›</a:t>
            </a:fld>
            <a:endParaRPr lang="en-US"/>
          </a:p>
        </p:txBody>
      </p:sp>
    </p:spTree>
    <p:extLst>
      <p:ext uri="{BB962C8B-B14F-4D97-AF65-F5344CB8AC3E}">
        <p14:creationId xmlns:p14="http://schemas.microsoft.com/office/powerpoint/2010/main" val="1810869267"/>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Agenda">
    <p:spTree>
      <p:nvGrpSpPr>
        <p:cNvPr id="1" name=""/>
        <p:cNvGrpSpPr/>
        <p:nvPr/>
      </p:nvGrpSpPr>
      <p:grpSpPr>
        <a:xfrm>
          <a:off x="0" y="0"/>
          <a:ext cx="0" cy="0"/>
          <a:chOff x="0" y="0"/>
          <a:chExt cx="0" cy="0"/>
        </a:xfrm>
      </p:grpSpPr>
      <p:sp>
        <p:nvSpPr>
          <p:cNvPr id="88" name="Agenda Title"/>
          <p:cNvSpPr txBox="1">
            <a:spLocks noGrp="1"/>
          </p:cNvSpPr>
          <p:nvPr>
            <p:ph type="title" hasCustomPrompt="1"/>
          </p:nvPr>
        </p:nvSpPr>
        <p:spPr>
          <a:xfrm>
            <a:off x="603250" y="539750"/>
            <a:ext cx="10985500" cy="717550"/>
          </a:xfrm>
          <a:prstGeom prst="rect">
            <a:avLst/>
          </a:prstGeom>
        </p:spPr>
        <p:txBody>
          <a:bodyPr/>
          <a:lstStyle/>
          <a:p>
            <a:r>
              <a:t>Agenda Title</a:t>
            </a:r>
          </a:p>
        </p:txBody>
      </p:sp>
      <p:sp>
        <p:nvSpPr>
          <p:cNvPr id="89" name="Agenda Subtitle"/>
          <p:cNvSpPr txBox="1">
            <a:spLocks noGrp="1"/>
          </p:cNvSpPr>
          <p:nvPr>
            <p:ph type="body" sz="quarter" idx="21" hasCustomPrompt="1"/>
          </p:nvPr>
        </p:nvSpPr>
        <p:spPr>
          <a:xfrm>
            <a:off x="603250" y="1186481"/>
            <a:ext cx="10985500" cy="467390"/>
          </a:xfrm>
          <a:prstGeom prst="rect">
            <a:avLst/>
          </a:prstGeom>
        </p:spPr>
        <p:txBody>
          <a:bodyPr lIns="45719" tIns="45719" rIns="45719" bIns="45719"/>
          <a:lstStyle>
            <a:lvl1pPr marL="0" indent="0" defTabSz="412750">
              <a:lnSpc>
                <a:spcPct val="100000"/>
              </a:lnSpc>
              <a:spcBef>
                <a:spcPts val="0"/>
              </a:spcBef>
              <a:buSzTx/>
              <a:buNone/>
              <a:defRPr sz="2750" b="1"/>
            </a:lvl1pPr>
          </a:lstStyle>
          <a:p>
            <a:r>
              <a:t>Agenda Subtitle</a:t>
            </a:r>
          </a:p>
        </p:txBody>
      </p:sp>
      <p:sp>
        <p:nvSpPr>
          <p:cNvPr id="90" name="Body Level One…"/>
          <p:cNvSpPr txBox="1">
            <a:spLocks noGrp="1"/>
          </p:cNvSpPr>
          <p:nvPr>
            <p:ph type="body" idx="1" hasCustomPrompt="1"/>
          </p:nvPr>
        </p:nvSpPr>
        <p:spPr>
          <a:prstGeom prst="rect">
            <a:avLst/>
          </a:prstGeom>
        </p:spPr>
        <p:txBody>
          <a:bodyPr/>
          <a:lstStyle>
            <a:lvl1pPr marL="0" indent="0" defTabSz="412750">
              <a:lnSpc>
                <a:spcPct val="100000"/>
              </a:lnSpc>
              <a:spcBef>
                <a:spcPts val="900"/>
              </a:spcBef>
              <a:buSzTx/>
              <a:buNone/>
              <a:defRPr sz="2750" spc="-28"/>
            </a:lvl1pPr>
            <a:lvl2pPr marL="0" indent="228600" defTabSz="412750">
              <a:lnSpc>
                <a:spcPct val="100000"/>
              </a:lnSpc>
              <a:spcBef>
                <a:spcPts val="900"/>
              </a:spcBef>
              <a:buSzTx/>
              <a:buNone/>
              <a:defRPr sz="2750" spc="-28"/>
            </a:lvl2pPr>
            <a:lvl3pPr marL="0" indent="457200" defTabSz="412750">
              <a:lnSpc>
                <a:spcPct val="100000"/>
              </a:lnSpc>
              <a:spcBef>
                <a:spcPts val="900"/>
              </a:spcBef>
              <a:buSzTx/>
              <a:buNone/>
              <a:defRPr sz="2750" spc="-28"/>
            </a:lvl3pPr>
            <a:lvl4pPr marL="0" indent="685800" defTabSz="412750">
              <a:lnSpc>
                <a:spcPct val="100000"/>
              </a:lnSpc>
              <a:spcBef>
                <a:spcPts val="900"/>
              </a:spcBef>
              <a:buSzTx/>
              <a:buNone/>
              <a:defRPr sz="2750" spc="-28"/>
            </a:lvl4pPr>
            <a:lvl5pPr marL="0" indent="914400" defTabSz="412750">
              <a:lnSpc>
                <a:spcPct val="100000"/>
              </a:lnSpc>
              <a:spcBef>
                <a:spcPts val="900"/>
              </a:spcBef>
              <a:buSzTx/>
              <a:buNone/>
              <a:defRPr sz="2750" spc="-28"/>
            </a:lvl5pPr>
          </a:lstStyle>
          <a:p>
            <a:r>
              <a:t>Agenda Topics</a:t>
            </a:r>
          </a:p>
          <a:p>
            <a:pPr lvl="1"/>
            <a:endParaRPr/>
          </a:p>
          <a:p>
            <a:pPr lvl="2"/>
            <a:endParaRPr/>
          </a:p>
          <a:p>
            <a:pPr lvl="3"/>
            <a:endParaRPr/>
          </a:p>
          <a:p>
            <a:pPr lvl="4"/>
            <a:endParaRPr/>
          </a:p>
        </p:txBody>
      </p:sp>
      <p:sp>
        <p:nvSpPr>
          <p:cNvPr id="91" name="Slide Number"/>
          <p:cNvSpPr txBox="1">
            <a:spLocks noGrp="1"/>
          </p:cNvSpPr>
          <p:nvPr>
            <p:ph type="sldNum" sz="quarter" idx="2"/>
          </p:nvPr>
        </p:nvSpPr>
        <p:spPr>
          <a:prstGeom prst="rect">
            <a:avLst/>
          </a:prstGeom>
        </p:spPr>
        <p:txBody>
          <a:bodyPr/>
          <a:lstStyle/>
          <a:p>
            <a:fld id="{5FF10964-9730-4E5F-BBA5-B0CB71FA27DD}" type="slidenum">
              <a:rPr lang="en-US" smtClean="0"/>
              <a:t>‹#›</a:t>
            </a:fld>
            <a:endParaRPr lang="en-US"/>
          </a:p>
        </p:txBody>
      </p:sp>
    </p:spTree>
    <p:extLst>
      <p:ext uri="{BB962C8B-B14F-4D97-AF65-F5344CB8AC3E}">
        <p14:creationId xmlns:p14="http://schemas.microsoft.com/office/powerpoint/2010/main" val="1973422389"/>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tatement">
    <p:spTree>
      <p:nvGrpSpPr>
        <p:cNvPr id="1" name=""/>
        <p:cNvGrpSpPr/>
        <p:nvPr/>
      </p:nvGrpSpPr>
      <p:grpSpPr>
        <a:xfrm>
          <a:off x="0" y="0"/>
          <a:ext cx="0" cy="0"/>
          <a:chOff x="0" y="0"/>
          <a:chExt cx="0" cy="0"/>
        </a:xfrm>
      </p:grpSpPr>
      <p:sp>
        <p:nvSpPr>
          <p:cNvPr id="98" name="Body Level One…"/>
          <p:cNvSpPr txBox="1">
            <a:spLocks noGrp="1"/>
          </p:cNvSpPr>
          <p:nvPr>
            <p:ph type="body" sz="half" idx="1" hasCustomPrompt="1"/>
          </p:nvPr>
        </p:nvSpPr>
        <p:spPr>
          <a:xfrm>
            <a:off x="603250" y="2460422"/>
            <a:ext cx="10985500" cy="1937157"/>
          </a:xfrm>
          <a:prstGeom prst="rect">
            <a:avLst/>
          </a:prstGeom>
        </p:spPr>
        <p:txBody>
          <a:bodyPr anchor="ctr"/>
          <a:lstStyle>
            <a:lvl1pPr marL="0" indent="0" algn="ctr">
              <a:lnSpc>
                <a:spcPct val="80000"/>
              </a:lnSpc>
              <a:spcBef>
                <a:spcPts val="0"/>
              </a:spcBef>
              <a:buSzTx/>
              <a:buNone/>
              <a:defRPr sz="5800" spc="-116">
                <a:latin typeface="Helvetica Neue Medium"/>
                <a:ea typeface="Helvetica Neue Medium"/>
                <a:cs typeface="Helvetica Neue Medium"/>
                <a:sym typeface="Helvetica Neue Medium"/>
              </a:defRPr>
            </a:lvl1pPr>
            <a:lvl2pPr marL="0" indent="228600" algn="ctr">
              <a:lnSpc>
                <a:spcPct val="80000"/>
              </a:lnSpc>
              <a:spcBef>
                <a:spcPts val="0"/>
              </a:spcBef>
              <a:buSzTx/>
              <a:buNone/>
              <a:defRPr sz="5800" spc="-116">
                <a:latin typeface="Helvetica Neue Medium"/>
                <a:ea typeface="Helvetica Neue Medium"/>
                <a:cs typeface="Helvetica Neue Medium"/>
                <a:sym typeface="Helvetica Neue Medium"/>
              </a:defRPr>
            </a:lvl2pPr>
            <a:lvl3pPr marL="0" indent="457200" algn="ctr">
              <a:lnSpc>
                <a:spcPct val="80000"/>
              </a:lnSpc>
              <a:spcBef>
                <a:spcPts val="0"/>
              </a:spcBef>
              <a:buSzTx/>
              <a:buNone/>
              <a:defRPr sz="5800" spc="-116">
                <a:latin typeface="Helvetica Neue Medium"/>
                <a:ea typeface="Helvetica Neue Medium"/>
                <a:cs typeface="Helvetica Neue Medium"/>
                <a:sym typeface="Helvetica Neue Medium"/>
              </a:defRPr>
            </a:lvl3pPr>
            <a:lvl4pPr marL="0" indent="685800" algn="ctr">
              <a:lnSpc>
                <a:spcPct val="80000"/>
              </a:lnSpc>
              <a:spcBef>
                <a:spcPts val="0"/>
              </a:spcBef>
              <a:buSzTx/>
              <a:buNone/>
              <a:defRPr sz="5800" spc="-116">
                <a:latin typeface="Helvetica Neue Medium"/>
                <a:ea typeface="Helvetica Neue Medium"/>
                <a:cs typeface="Helvetica Neue Medium"/>
                <a:sym typeface="Helvetica Neue Medium"/>
              </a:defRPr>
            </a:lvl4pPr>
            <a:lvl5pPr marL="0" indent="914400" algn="ctr">
              <a:lnSpc>
                <a:spcPct val="80000"/>
              </a:lnSpc>
              <a:spcBef>
                <a:spcPts val="0"/>
              </a:spcBef>
              <a:buSzTx/>
              <a:buNone/>
              <a:defRPr sz="5800" spc="-116">
                <a:latin typeface="Helvetica Neue Medium"/>
                <a:ea typeface="Helvetica Neue Medium"/>
                <a:cs typeface="Helvetica Neue Medium"/>
                <a:sym typeface="Helvetica Neue Medium"/>
              </a:defRPr>
            </a:lvl5pPr>
          </a:lstStyle>
          <a:p>
            <a:r>
              <a:t>Statement</a:t>
            </a:r>
          </a:p>
          <a:p>
            <a:pPr lvl="1"/>
            <a:endParaRPr/>
          </a:p>
          <a:p>
            <a:pPr lvl="2"/>
            <a:endParaRPr/>
          </a:p>
          <a:p>
            <a:pPr lvl="3"/>
            <a:endParaRPr/>
          </a:p>
          <a:p>
            <a:pPr lvl="4"/>
            <a:endParaRPr/>
          </a:p>
        </p:txBody>
      </p:sp>
      <p:sp>
        <p:nvSpPr>
          <p:cNvPr id="99" name="Slide Number"/>
          <p:cNvSpPr txBox="1">
            <a:spLocks noGrp="1"/>
          </p:cNvSpPr>
          <p:nvPr>
            <p:ph type="sldNum" sz="quarter" idx="2"/>
          </p:nvPr>
        </p:nvSpPr>
        <p:spPr>
          <a:prstGeom prst="rect">
            <a:avLst/>
          </a:prstGeom>
        </p:spPr>
        <p:txBody>
          <a:bodyPr/>
          <a:lstStyle/>
          <a:p>
            <a:fld id="{5FF10964-9730-4E5F-BBA5-B0CB71FA27DD}" type="slidenum">
              <a:rPr lang="en-US" smtClean="0"/>
              <a:t>‹#›</a:t>
            </a:fld>
            <a:endParaRPr lang="en-US"/>
          </a:p>
        </p:txBody>
      </p:sp>
    </p:spTree>
    <p:extLst>
      <p:ext uri="{BB962C8B-B14F-4D97-AF65-F5344CB8AC3E}">
        <p14:creationId xmlns:p14="http://schemas.microsoft.com/office/powerpoint/2010/main" val="738944920"/>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reserve="1">
  <p:cSld name="Big Fact">
    <p:spTree>
      <p:nvGrpSpPr>
        <p:cNvPr id="1" name=""/>
        <p:cNvGrpSpPr/>
        <p:nvPr/>
      </p:nvGrpSpPr>
      <p:grpSpPr>
        <a:xfrm>
          <a:off x="0" y="0"/>
          <a:ext cx="0" cy="0"/>
          <a:chOff x="0" y="0"/>
          <a:chExt cx="0" cy="0"/>
        </a:xfrm>
      </p:grpSpPr>
      <p:sp>
        <p:nvSpPr>
          <p:cNvPr id="106" name="Body Level One…"/>
          <p:cNvSpPr txBox="1">
            <a:spLocks noGrp="1"/>
          </p:cNvSpPr>
          <p:nvPr>
            <p:ph type="body" idx="1" hasCustomPrompt="1"/>
          </p:nvPr>
        </p:nvSpPr>
        <p:spPr>
          <a:xfrm>
            <a:off x="603250" y="537964"/>
            <a:ext cx="10985500" cy="3620792"/>
          </a:xfrm>
          <a:prstGeom prst="rect">
            <a:avLst/>
          </a:prstGeom>
        </p:spPr>
        <p:txBody>
          <a:bodyPr anchor="b"/>
          <a:lstStyle>
            <a:lvl1pPr marL="0" indent="0" algn="ctr">
              <a:lnSpc>
                <a:spcPct val="80000"/>
              </a:lnSpc>
              <a:spcBef>
                <a:spcPts val="0"/>
              </a:spcBef>
              <a:buSzTx/>
              <a:buNone/>
              <a:defRPr sz="12500" b="1" spc="-125"/>
            </a:lvl1pPr>
            <a:lvl2pPr marL="0" indent="228600" algn="ctr">
              <a:lnSpc>
                <a:spcPct val="80000"/>
              </a:lnSpc>
              <a:spcBef>
                <a:spcPts val="0"/>
              </a:spcBef>
              <a:buSzTx/>
              <a:buNone/>
              <a:defRPr sz="12500" b="1" spc="-125"/>
            </a:lvl2pPr>
            <a:lvl3pPr marL="0" indent="457200" algn="ctr">
              <a:lnSpc>
                <a:spcPct val="80000"/>
              </a:lnSpc>
              <a:spcBef>
                <a:spcPts val="0"/>
              </a:spcBef>
              <a:buSzTx/>
              <a:buNone/>
              <a:defRPr sz="12500" b="1" spc="-125"/>
            </a:lvl3pPr>
            <a:lvl4pPr marL="0" indent="685800" algn="ctr">
              <a:lnSpc>
                <a:spcPct val="80000"/>
              </a:lnSpc>
              <a:spcBef>
                <a:spcPts val="0"/>
              </a:spcBef>
              <a:buSzTx/>
              <a:buNone/>
              <a:defRPr sz="12500" b="1" spc="-125"/>
            </a:lvl4pPr>
            <a:lvl5pPr marL="0" indent="914400" algn="ctr">
              <a:lnSpc>
                <a:spcPct val="80000"/>
              </a:lnSpc>
              <a:spcBef>
                <a:spcPts val="0"/>
              </a:spcBef>
              <a:buSzTx/>
              <a:buNone/>
              <a:defRPr sz="12500" b="1" spc="-125"/>
            </a:lvl5pPr>
          </a:lstStyle>
          <a:p>
            <a:r>
              <a:t>100%</a:t>
            </a:r>
          </a:p>
          <a:p>
            <a:pPr lvl="1"/>
            <a:endParaRPr/>
          </a:p>
          <a:p>
            <a:pPr lvl="2"/>
            <a:endParaRPr/>
          </a:p>
          <a:p>
            <a:pPr lvl="3"/>
            <a:endParaRPr/>
          </a:p>
          <a:p>
            <a:pPr lvl="4"/>
            <a:endParaRPr/>
          </a:p>
        </p:txBody>
      </p:sp>
      <p:sp>
        <p:nvSpPr>
          <p:cNvPr id="107" name="Fact information"/>
          <p:cNvSpPr txBox="1">
            <a:spLocks noGrp="1"/>
          </p:cNvSpPr>
          <p:nvPr>
            <p:ph type="body" sz="quarter" idx="21" hasCustomPrompt="1"/>
          </p:nvPr>
        </p:nvSpPr>
        <p:spPr>
          <a:xfrm>
            <a:off x="603250" y="4131090"/>
            <a:ext cx="10985500" cy="467390"/>
          </a:xfrm>
          <a:prstGeom prst="rect">
            <a:avLst/>
          </a:prstGeom>
        </p:spPr>
        <p:txBody>
          <a:bodyPr lIns="45719" tIns="45719" rIns="45719" bIns="45719"/>
          <a:lstStyle>
            <a:lvl1pPr marL="0" indent="0" algn="ctr" defTabSz="412750">
              <a:lnSpc>
                <a:spcPct val="100000"/>
              </a:lnSpc>
              <a:spcBef>
                <a:spcPts val="0"/>
              </a:spcBef>
              <a:buSzTx/>
              <a:buNone/>
              <a:defRPr sz="2750" b="1"/>
            </a:lvl1pPr>
          </a:lstStyle>
          <a:p>
            <a:r>
              <a:t>Fact information</a:t>
            </a:r>
          </a:p>
        </p:txBody>
      </p:sp>
      <p:sp>
        <p:nvSpPr>
          <p:cNvPr id="108" name="Slide Number"/>
          <p:cNvSpPr txBox="1">
            <a:spLocks noGrp="1"/>
          </p:cNvSpPr>
          <p:nvPr>
            <p:ph type="sldNum" sz="quarter" idx="2"/>
          </p:nvPr>
        </p:nvSpPr>
        <p:spPr>
          <a:prstGeom prst="rect">
            <a:avLst/>
          </a:prstGeom>
        </p:spPr>
        <p:txBody>
          <a:bodyPr/>
          <a:lstStyle/>
          <a:p>
            <a:fld id="{5FF10964-9730-4E5F-BBA5-B0CB71FA27DD}" type="slidenum">
              <a:rPr lang="en-US" smtClean="0"/>
              <a:t>‹#›</a:t>
            </a:fld>
            <a:endParaRPr lang="en-US"/>
          </a:p>
        </p:txBody>
      </p:sp>
    </p:spTree>
    <p:extLst>
      <p:ext uri="{BB962C8B-B14F-4D97-AF65-F5344CB8AC3E}">
        <p14:creationId xmlns:p14="http://schemas.microsoft.com/office/powerpoint/2010/main" val="45492998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Quote">
    <p:spTree>
      <p:nvGrpSpPr>
        <p:cNvPr id="1" name=""/>
        <p:cNvGrpSpPr/>
        <p:nvPr/>
      </p:nvGrpSpPr>
      <p:grpSpPr>
        <a:xfrm>
          <a:off x="0" y="0"/>
          <a:ext cx="0" cy="0"/>
          <a:chOff x="0" y="0"/>
          <a:chExt cx="0" cy="0"/>
        </a:xfrm>
      </p:grpSpPr>
      <p:sp>
        <p:nvSpPr>
          <p:cNvPr id="115" name="Attribution"/>
          <p:cNvSpPr txBox="1">
            <a:spLocks noGrp="1"/>
          </p:cNvSpPr>
          <p:nvPr>
            <p:ph type="body" sz="quarter" idx="21" hasCustomPrompt="1"/>
          </p:nvPr>
        </p:nvSpPr>
        <p:spPr>
          <a:xfrm>
            <a:off x="1215012" y="5337727"/>
            <a:ext cx="10100026" cy="318490"/>
          </a:xfrm>
          <a:prstGeom prst="rect">
            <a:avLst/>
          </a:prstGeom>
        </p:spPr>
        <p:txBody>
          <a:bodyPr lIns="45719" tIns="45719" rIns="45719" bIns="45719"/>
          <a:lstStyle>
            <a:lvl1pPr marL="0" indent="0" defTabSz="412750">
              <a:lnSpc>
                <a:spcPct val="100000"/>
              </a:lnSpc>
              <a:spcBef>
                <a:spcPts val="0"/>
              </a:spcBef>
              <a:buSzTx/>
              <a:buNone/>
              <a:defRPr sz="1800" b="1"/>
            </a:lvl1pPr>
          </a:lstStyle>
          <a:p>
            <a:r>
              <a:t>Attribution</a:t>
            </a:r>
          </a:p>
        </p:txBody>
      </p:sp>
      <p:sp>
        <p:nvSpPr>
          <p:cNvPr id="116" name="Body Level One…"/>
          <p:cNvSpPr txBox="1">
            <a:spLocks noGrp="1"/>
          </p:cNvSpPr>
          <p:nvPr>
            <p:ph type="body" sz="half" idx="1" hasCustomPrompt="1"/>
          </p:nvPr>
        </p:nvSpPr>
        <p:spPr>
          <a:xfrm>
            <a:off x="876962" y="2469930"/>
            <a:ext cx="10438077" cy="1918140"/>
          </a:xfrm>
          <a:prstGeom prst="rect">
            <a:avLst/>
          </a:prstGeom>
        </p:spPr>
        <p:txBody>
          <a:bodyPr/>
          <a:lstStyle>
            <a:lvl1pPr marL="319462" indent="-234950">
              <a:spcBef>
                <a:spcPts val="0"/>
              </a:spcBef>
              <a:buSzTx/>
              <a:buNone/>
              <a:defRPr sz="4250" spc="-85">
                <a:latin typeface="Helvetica Neue Medium"/>
                <a:ea typeface="Helvetica Neue Medium"/>
                <a:cs typeface="Helvetica Neue Medium"/>
                <a:sym typeface="Helvetica Neue Medium"/>
              </a:defRPr>
            </a:lvl1pPr>
            <a:lvl2pPr marL="319462" indent="-6350">
              <a:spcBef>
                <a:spcPts val="0"/>
              </a:spcBef>
              <a:buSzTx/>
              <a:buNone/>
              <a:defRPr sz="4250" spc="-85">
                <a:latin typeface="Helvetica Neue Medium"/>
                <a:ea typeface="Helvetica Neue Medium"/>
                <a:cs typeface="Helvetica Neue Medium"/>
                <a:sym typeface="Helvetica Neue Medium"/>
              </a:defRPr>
            </a:lvl2pPr>
            <a:lvl3pPr marL="319462" indent="222250">
              <a:spcBef>
                <a:spcPts val="0"/>
              </a:spcBef>
              <a:buSzTx/>
              <a:buNone/>
              <a:defRPr sz="4250" spc="-85">
                <a:latin typeface="Helvetica Neue Medium"/>
                <a:ea typeface="Helvetica Neue Medium"/>
                <a:cs typeface="Helvetica Neue Medium"/>
                <a:sym typeface="Helvetica Neue Medium"/>
              </a:defRPr>
            </a:lvl3pPr>
            <a:lvl4pPr marL="319462" indent="450850">
              <a:spcBef>
                <a:spcPts val="0"/>
              </a:spcBef>
              <a:buSzTx/>
              <a:buNone/>
              <a:defRPr sz="4250" spc="-85">
                <a:latin typeface="Helvetica Neue Medium"/>
                <a:ea typeface="Helvetica Neue Medium"/>
                <a:cs typeface="Helvetica Neue Medium"/>
                <a:sym typeface="Helvetica Neue Medium"/>
              </a:defRPr>
            </a:lvl4pPr>
            <a:lvl5pPr marL="319462" indent="679450">
              <a:spcBef>
                <a:spcPts val="0"/>
              </a:spcBef>
              <a:buSzTx/>
              <a:buNone/>
              <a:defRPr sz="4250" spc="-85">
                <a:latin typeface="Helvetica Neue Medium"/>
                <a:ea typeface="Helvetica Neue Medium"/>
                <a:cs typeface="Helvetica Neue Medium"/>
                <a:sym typeface="Helvetica Neue Medium"/>
              </a:defRPr>
            </a:lvl5pPr>
          </a:lstStyle>
          <a:p>
            <a:r>
              <a:t>“Notable Quote”</a:t>
            </a:r>
          </a:p>
          <a:p>
            <a:pPr lvl="1"/>
            <a:endParaRPr/>
          </a:p>
          <a:p>
            <a:pPr lvl="2"/>
            <a:endParaRPr/>
          </a:p>
          <a:p>
            <a:pPr lvl="3"/>
            <a:endParaRPr/>
          </a:p>
          <a:p>
            <a:pPr lvl="4"/>
            <a:endParaRPr/>
          </a:p>
        </p:txBody>
      </p:sp>
      <p:sp>
        <p:nvSpPr>
          <p:cNvPr id="117" name="Slide Number"/>
          <p:cNvSpPr txBox="1">
            <a:spLocks noGrp="1"/>
          </p:cNvSpPr>
          <p:nvPr>
            <p:ph type="sldNum" sz="quarter" idx="2"/>
          </p:nvPr>
        </p:nvSpPr>
        <p:spPr>
          <a:prstGeom prst="rect">
            <a:avLst/>
          </a:prstGeom>
        </p:spPr>
        <p:txBody>
          <a:bodyPr/>
          <a:lstStyle/>
          <a:p>
            <a:fld id="{5FF10964-9730-4E5F-BBA5-B0CB71FA27DD}" type="slidenum">
              <a:rPr lang="en-US" smtClean="0"/>
              <a:t>‹#›</a:t>
            </a:fld>
            <a:endParaRPr lang="en-US"/>
          </a:p>
        </p:txBody>
      </p:sp>
    </p:spTree>
    <p:extLst>
      <p:ext uri="{BB962C8B-B14F-4D97-AF65-F5344CB8AC3E}">
        <p14:creationId xmlns:p14="http://schemas.microsoft.com/office/powerpoint/2010/main" val="3847362629"/>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Photo - 3 Up">
    <p:spTree>
      <p:nvGrpSpPr>
        <p:cNvPr id="1" name=""/>
        <p:cNvGrpSpPr/>
        <p:nvPr/>
      </p:nvGrpSpPr>
      <p:grpSpPr>
        <a:xfrm>
          <a:off x="0" y="0"/>
          <a:ext cx="0" cy="0"/>
          <a:chOff x="0" y="0"/>
          <a:chExt cx="0" cy="0"/>
        </a:xfrm>
      </p:grpSpPr>
      <p:sp>
        <p:nvSpPr>
          <p:cNvPr id="124" name="Low angle exterior view of a modern building facade covered with aluminum discs under a clear, blue sky"/>
          <p:cNvSpPr>
            <a:spLocks noGrp="1"/>
          </p:cNvSpPr>
          <p:nvPr>
            <p:ph type="pic" sz="quarter" idx="21"/>
          </p:nvPr>
        </p:nvSpPr>
        <p:spPr>
          <a:xfrm>
            <a:off x="7708900" y="635000"/>
            <a:ext cx="4072467" cy="2705100"/>
          </a:xfrm>
          <a:prstGeom prst="rect">
            <a:avLst/>
          </a:prstGeom>
        </p:spPr>
        <p:txBody>
          <a:bodyPr lIns="91439" tIns="45719" rIns="91439" bIns="45719">
            <a:noAutofit/>
          </a:bodyPr>
          <a:lstStyle/>
          <a:p>
            <a:r>
              <a:rPr lang="en-US"/>
              <a:t>Click icon to add picture</a:t>
            </a:r>
            <a:endParaRPr/>
          </a:p>
        </p:txBody>
      </p:sp>
      <p:sp>
        <p:nvSpPr>
          <p:cNvPr id="125" name="Low angle view of a modern, curved building under a cloudy sky"/>
          <p:cNvSpPr>
            <a:spLocks noGrp="1"/>
          </p:cNvSpPr>
          <p:nvPr>
            <p:ph type="pic" sz="quarter" idx="22"/>
          </p:nvPr>
        </p:nvSpPr>
        <p:spPr>
          <a:xfrm>
            <a:off x="7721600" y="3543300"/>
            <a:ext cx="4069290" cy="2711450"/>
          </a:xfrm>
          <a:prstGeom prst="rect">
            <a:avLst/>
          </a:prstGeom>
        </p:spPr>
        <p:txBody>
          <a:bodyPr lIns="91439" tIns="45719" rIns="91439" bIns="45719">
            <a:noAutofit/>
          </a:bodyPr>
          <a:lstStyle/>
          <a:p>
            <a:r>
              <a:rPr lang="en-US"/>
              <a:t>Click icon to add picture</a:t>
            </a:r>
            <a:endParaRPr/>
          </a:p>
        </p:txBody>
      </p:sp>
      <p:sp>
        <p:nvSpPr>
          <p:cNvPr id="126" name="View from inside a modern white building with glass panels, looking up to a bright, partly cloudy sky"/>
          <p:cNvSpPr>
            <a:spLocks noGrp="1"/>
          </p:cNvSpPr>
          <p:nvPr>
            <p:ph type="pic" idx="23"/>
          </p:nvPr>
        </p:nvSpPr>
        <p:spPr>
          <a:xfrm>
            <a:off x="-62318" y="635000"/>
            <a:ext cx="8420085" cy="5621856"/>
          </a:xfrm>
          <a:prstGeom prst="rect">
            <a:avLst/>
          </a:prstGeom>
        </p:spPr>
        <p:txBody>
          <a:bodyPr lIns="91439" tIns="45719" rIns="91439" bIns="45719">
            <a:noAutofit/>
          </a:bodyPr>
          <a:lstStyle/>
          <a:p>
            <a:r>
              <a:rPr lang="en-US"/>
              <a:t>Click icon to add picture</a:t>
            </a:r>
            <a:endParaRPr/>
          </a:p>
        </p:txBody>
      </p:sp>
      <p:sp>
        <p:nvSpPr>
          <p:cNvPr id="127" name="Slide Number"/>
          <p:cNvSpPr txBox="1">
            <a:spLocks noGrp="1"/>
          </p:cNvSpPr>
          <p:nvPr>
            <p:ph type="sldNum" sz="quarter" idx="2"/>
          </p:nvPr>
        </p:nvSpPr>
        <p:spPr>
          <a:prstGeom prst="rect">
            <a:avLst/>
          </a:prstGeom>
        </p:spPr>
        <p:txBody>
          <a:bodyPr/>
          <a:lstStyle/>
          <a:p>
            <a:fld id="{5FF10964-9730-4E5F-BBA5-B0CB71FA27DD}" type="slidenum">
              <a:rPr lang="en-US" smtClean="0"/>
              <a:t>‹#›</a:t>
            </a:fld>
            <a:endParaRPr lang="en-US"/>
          </a:p>
        </p:txBody>
      </p:sp>
    </p:spTree>
    <p:extLst>
      <p:ext uri="{BB962C8B-B14F-4D97-AF65-F5344CB8AC3E}">
        <p14:creationId xmlns:p14="http://schemas.microsoft.com/office/powerpoint/2010/main" val="97911709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Photo">
    <p:bg>
      <p:bgPr>
        <a:solidFill>
          <a:srgbClr val="FFFFFF"/>
        </a:solidFill>
        <a:effectLst/>
      </p:bgPr>
    </p:bg>
    <p:spTree>
      <p:nvGrpSpPr>
        <p:cNvPr id="1" name=""/>
        <p:cNvGrpSpPr/>
        <p:nvPr/>
      </p:nvGrpSpPr>
      <p:grpSpPr>
        <a:xfrm>
          <a:off x="0" y="0"/>
          <a:ext cx="0" cy="0"/>
          <a:chOff x="0" y="0"/>
          <a:chExt cx="0" cy="0"/>
        </a:xfrm>
      </p:grpSpPr>
      <p:sp>
        <p:nvSpPr>
          <p:cNvPr id="134" name="Low angle view of the Azadi Tower in Tehran, Iran against a clear, bright sky"/>
          <p:cNvSpPr>
            <a:spLocks noGrp="1"/>
          </p:cNvSpPr>
          <p:nvPr>
            <p:ph type="pic" idx="21"/>
          </p:nvPr>
        </p:nvSpPr>
        <p:spPr>
          <a:xfrm>
            <a:off x="0" y="-641350"/>
            <a:ext cx="12192000" cy="8140700"/>
          </a:xfrm>
          <a:prstGeom prst="rect">
            <a:avLst/>
          </a:prstGeom>
        </p:spPr>
        <p:txBody>
          <a:bodyPr lIns="91439" tIns="45719" rIns="91439" bIns="45719">
            <a:noAutofit/>
          </a:bodyPr>
          <a:lstStyle/>
          <a:p>
            <a:r>
              <a:rPr lang="en-US"/>
              <a:t>Click icon to add picture</a:t>
            </a:r>
            <a:endParaRPr/>
          </a:p>
        </p:txBody>
      </p:sp>
      <p:sp>
        <p:nvSpPr>
          <p:cNvPr id="135" name="Slide Number"/>
          <p:cNvSpPr txBox="1">
            <a:spLocks noGrp="1"/>
          </p:cNvSpPr>
          <p:nvPr>
            <p:ph type="sldNum" sz="quarter" idx="2"/>
          </p:nvPr>
        </p:nvSpPr>
        <p:spPr>
          <a:prstGeom prst="rect">
            <a:avLst/>
          </a:prstGeom>
        </p:spPr>
        <p:txBody>
          <a:bodyPr/>
          <a:lstStyle>
            <a:lvl1pPr>
              <a:defRPr>
                <a:solidFill>
                  <a:srgbClr val="FFFFFF"/>
                </a:solidFill>
              </a:defRPr>
            </a:lvl1pPr>
          </a:lstStyle>
          <a:p>
            <a:fld id="{5FF10964-9730-4E5F-BBA5-B0CB71FA27DD}" type="slidenum">
              <a:rPr lang="en-US" smtClean="0"/>
              <a:t>‹#›</a:t>
            </a:fld>
            <a:endParaRPr lang="en-US"/>
          </a:p>
        </p:txBody>
      </p:sp>
    </p:spTree>
    <p:extLst>
      <p:ext uri="{BB962C8B-B14F-4D97-AF65-F5344CB8AC3E}">
        <p14:creationId xmlns:p14="http://schemas.microsoft.com/office/powerpoint/2010/main" val="1868168082"/>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Blank">
    <p:spTree>
      <p:nvGrpSpPr>
        <p:cNvPr id="1" name=""/>
        <p:cNvGrpSpPr/>
        <p:nvPr/>
      </p:nvGrpSpPr>
      <p:grpSpPr>
        <a:xfrm>
          <a:off x="0" y="0"/>
          <a:ext cx="0" cy="0"/>
          <a:chOff x="0" y="0"/>
          <a:chExt cx="0" cy="0"/>
        </a:xfrm>
      </p:grpSpPr>
      <p:sp>
        <p:nvSpPr>
          <p:cNvPr id="142" name="Slide Number"/>
          <p:cNvSpPr txBox="1">
            <a:spLocks noGrp="1"/>
          </p:cNvSpPr>
          <p:nvPr>
            <p:ph type="sldNum" sz="quarter" idx="2"/>
          </p:nvPr>
        </p:nvSpPr>
        <p:spPr>
          <a:prstGeom prst="rect">
            <a:avLst/>
          </a:prstGeom>
        </p:spPr>
        <p:txBody>
          <a:bodyPr/>
          <a:lstStyle/>
          <a:p>
            <a:fld id="{5FF10964-9730-4E5F-BBA5-B0CB71FA27DD}" type="slidenum">
              <a:rPr lang="en-US" smtClean="0"/>
              <a:t>‹#›</a:t>
            </a:fld>
            <a:endParaRPr lang="en-US"/>
          </a:p>
        </p:txBody>
      </p:sp>
    </p:spTree>
    <p:extLst>
      <p:ext uri="{BB962C8B-B14F-4D97-AF65-F5344CB8AC3E}">
        <p14:creationId xmlns:p14="http://schemas.microsoft.com/office/powerpoint/2010/main" val="21308650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a-I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a-IR"/>
          </a:p>
        </p:txBody>
      </p:sp>
      <p:sp>
        <p:nvSpPr>
          <p:cNvPr id="4" name="Date Placeholder 3"/>
          <p:cNvSpPr>
            <a:spLocks noGrp="1"/>
          </p:cNvSpPr>
          <p:nvPr>
            <p:ph type="dt" sz="half" idx="10"/>
          </p:nvPr>
        </p:nvSpPr>
        <p:spPr>
          <a:xfrm>
            <a:off x="8610600" y="6356350"/>
            <a:ext cx="2743200" cy="365125"/>
          </a:xfrm>
          <a:prstGeom prst="rect">
            <a:avLst/>
          </a:prstGeom>
        </p:spPr>
        <p:txBody>
          <a:bodyPr/>
          <a:lstStyle/>
          <a:p>
            <a:fld id="{B57CE29D-B7DB-4888-AD4B-7A102AA87321}" type="datetimeFigureOut">
              <a:rPr lang="en-US" smtClean="0"/>
              <a:t>10/12/2025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5FF10964-9730-4E5F-BBA5-B0CB71FA27DD}" type="slidenum">
              <a:rPr lang="en-US" smtClean="0"/>
              <a:t>‹#›</a:t>
            </a:fld>
            <a:endParaRPr lang="en-US"/>
          </a:p>
        </p:txBody>
      </p:sp>
    </p:spTree>
    <p:extLst>
      <p:ext uri="{BB962C8B-B14F-4D97-AF65-F5344CB8AC3E}">
        <p14:creationId xmlns:p14="http://schemas.microsoft.com/office/powerpoint/2010/main" val="674869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a-I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Date Placeholder 3"/>
          <p:cNvSpPr>
            <a:spLocks noGrp="1"/>
          </p:cNvSpPr>
          <p:nvPr>
            <p:ph type="dt" sz="half" idx="10"/>
          </p:nvPr>
        </p:nvSpPr>
        <p:spPr>
          <a:xfrm>
            <a:off x="8610600" y="6356350"/>
            <a:ext cx="2743200" cy="365125"/>
          </a:xfrm>
          <a:prstGeom prst="rect">
            <a:avLst/>
          </a:prstGeom>
        </p:spPr>
        <p:txBody>
          <a:bodyPr/>
          <a:lstStyle/>
          <a:p>
            <a:fld id="{B57CE29D-B7DB-4888-AD4B-7A102AA87321}" type="datetimeFigureOut">
              <a:rPr lang="en-US" smtClean="0"/>
              <a:t>10/12/2025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5FF10964-9730-4E5F-BBA5-B0CB71FA27DD}" type="slidenum">
              <a:rPr lang="en-US" smtClean="0"/>
              <a:t>‹#›</a:t>
            </a:fld>
            <a:endParaRPr lang="en-US"/>
          </a:p>
        </p:txBody>
      </p:sp>
    </p:spTree>
    <p:extLst>
      <p:ext uri="{BB962C8B-B14F-4D97-AF65-F5344CB8AC3E}">
        <p14:creationId xmlns:p14="http://schemas.microsoft.com/office/powerpoint/2010/main" val="1568183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19"/>
          <a:srcRect/>
          <a:stretch>
            <a:fillRect/>
          </a:stretch>
        </a:blip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603250" y="539750"/>
            <a:ext cx="10985500" cy="7165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Slide Title</a:t>
            </a:r>
          </a:p>
        </p:txBody>
      </p:sp>
      <p:sp>
        <p:nvSpPr>
          <p:cNvPr id="3" name="Body Level One…"/>
          <p:cNvSpPr txBox="1">
            <a:spLocks noGrp="1"/>
          </p:cNvSpPr>
          <p:nvPr>
            <p:ph type="body" idx="1" hasCustomPrompt="1"/>
          </p:nvPr>
        </p:nvSpPr>
        <p:spPr>
          <a:xfrm>
            <a:off x="603250" y="2124252"/>
            <a:ext cx="10985500" cy="41280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5941347" y="6486708"/>
            <a:ext cx="243656" cy="241092"/>
          </a:xfrm>
          <a:prstGeom prst="rect">
            <a:avLst/>
          </a:prstGeom>
          <a:ln w="12700">
            <a:miter lim="400000"/>
          </a:ln>
        </p:spPr>
        <p:txBody>
          <a:bodyPr wrap="none" lIns="50800" tIns="50800" rIns="50800" bIns="50800" anchor="b">
            <a:spAutoFit/>
          </a:bodyPr>
          <a:lstStyle>
            <a:lvl1pPr defTabSz="292100">
              <a:defRPr sz="900">
                <a:solidFill>
                  <a:srgbClr val="000000"/>
                </a:solidFill>
              </a:defRPr>
            </a:lvl1pPr>
          </a:lstStyle>
          <a:p>
            <a:fld id="{5FF10964-9730-4E5F-BBA5-B0CB71FA27DD}" type="slidenum">
              <a:rPr lang="en-US" smtClean="0"/>
              <a:t>‹#›</a:t>
            </a:fld>
            <a:endParaRPr lang="en-US"/>
          </a:p>
        </p:txBody>
      </p:sp>
    </p:spTree>
    <p:extLst>
      <p:ext uri="{BB962C8B-B14F-4D97-AF65-F5344CB8AC3E}">
        <p14:creationId xmlns:p14="http://schemas.microsoft.com/office/powerpoint/2010/main" val="4545215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ransition spd="med"/>
  <p:txStyles>
    <p:titleStyle>
      <a:lvl1pPr marL="0" marR="0" indent="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1pPr>
      <a:lvl2pPr marL="0" marR="0" indent="22860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2pPr>
      <a:lvl3pPr marL="0" marR="0" indent="45720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3pPr>
      <a:lvl4pPr marL="0" marR="0" indent="68580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4pPr>
      <a:lvl5pPr marL="0" marR="0" indent="91440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5pPr>
      <a:lvl6pPr marL="0" marR="0" indent="114300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6pPr>
      <a:lvl7pPr marL="0" marR="0" indent="137160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7pPr>
      <a:lvl8pPr marL="0" marR="0" indent="160020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8pPr>
      <a:lvl9pPr marL="0" marR="0" indent="182880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9pPr>
    </p:titleStyle>
    <p:bodyStyle>
      <a:lvl1pPr marL="304800" marR="0" indent="-304800" algn="l" defTabSz="1219169" rtl="0" eaLnBrk="1" latinLnBrk="0" hangingPunct="1">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1pPr>
      <a:lvl2pPr marL="609600" marR="0" indent="-304800" algn="l" defTabSz="1219169" rtl="0" eaLnBrk="1" latinLnBrk="0" hangingPunct="1">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2pPr>
      <a:lvl3pPr marL="914400" marR="0" indent="-304800" algn="l" defTabSz="1219169" rtl="0" eaLnBrk="1" latinLnBrk="0" hangingPunct="1">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3pPr>
      <a:lvl4pPr marL="1219200" marR="0" indent="-304800" algn="l" defTabSz="1219169" rtl="0" eaLnBrk="1" latinLnBrk="0" hangingPunct="1">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4pPr>
      <a:lvl5pPr marL="1524000" marR="0" indent="-304800" algn="l" defTabSz="1219169" rtl="0" eaLnBrk="1" latinLnBrk="0" hangingPunct="1">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5pPr>
      <a:lvl6pPr marL="1828800" marR="0" indent="-304800" algn="l" defTabSz="1219169" rtl="0" eaLnBrk="1" latinLnBrk="0" hangingPunct="1">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6pPr>
      <a:lvl7pPr marL="2133600" marR="0" indent="-304800" algn="l" defTabSz="1219169" rtl="0" eaLnBrk="1" latinLnBrk="0" hangingPunct="1">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7pPr>
      <a:lvl8pPr marL="2438400" marR="0" indent="-304800" algn="l" defTabSz="1219169" rtl="0" eaLnBrk="1" latinLnBrk="0" hangingPunct="1">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8pPr>
      <a:lvl9pPr marL="2743200" marR="0" indent="-304800" algn="l" defTabSz="1219169" rtl="0" eaLnBrk="1" latinLnBrk="0" hangingPunct="1">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9pPr>
    </p:bodyStyle>
    <p:otherStyle>
      <a:lvl1pPr marL="0" marR="0" indent="0" algn="ctr" defTabSz="2921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1pPr>
      <a:lvl2pPr marL="0" marR="0" indent="228600" algn="ctr" defTabSz="2921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2pPr>
      <a:lvl3pPr marL="0" marR="0" indent="457200" algn="ctr" defTabSz="2921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3pPr>
      <a:lvl4pPr marL="0" marR="0" indent="685800" algn="ctr" defTabSz="2921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4pPr>
      <a:lvl5pPr marL="0" marR="0" indent="914400" algn="ctr" defTabSz="2921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5pPr>
      <a:lvl6pPr marL="0" marR="0" indent="1143000" algn="ctr" defTabSz="2921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6pPr>
      <a:lvl7pPr marL="0" marR="0" indent="1371600" algn="ctr" defTabSz="2921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7pPr>
      <a:lvl8pPr marL="0" marR="0" indent="1600200" algn="ctr" defTabSz="2921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8pPr>
      <a:lvl9pPr marL="0" marR="0" indent="1828800" algn="ctr" defTabSz="2921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A470A-D934-4383-BC9F-30B5D7765528}"/>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CA324C00-3098-478F-9C4B-B8FD751722CB}"/>
              </a:ext>
            </a:extLst>
          </p:cNvPr>
          <p:cNvSpPr>
            <a:spLocks noGrp="1"/>
          </p:cNvSpPr>
          <p:nvPr>
            <p:ph type="subTitle" idx="1"/>
          </p:nvPr>
        </p:nvSpPr>
        <p:spPr/>
        <p:txBody>
          <a:bodyPr/>
          <a:lstStyle/>
          <a:p>
            <a:endParaRPr lang="en-US"/>
          </a:p>
        </p:txBody>
      </p:sp>
      <p:pic>
        <p:nvPicPr>
          <p:cNvPr id="4" name="Picture 3">
            <a:extLst>
              <a:ext uri="{FF2B5EF4-FFF2-40B4-BE49-F238E27FC236}">
                <a16:creationId xmlns:a16="http://schemas.microsoft.com/office/drawing/2014/main" id="{BA487581-927B-425F-CB09-D59DF4B1477B}"/>
              </a:ext>
            </a:extLst>
          </p:cNvPr>
          <p:cNvPicPr>
            <a:picLocks noChangeAspect="1"/>
          </p:cNvPicPr>
          <p:nvPr/>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E1D9C1A0-333C-5D12-91C2-DEAD5DA13912}"/>
              </a:ext>
            </a:extLst>
          </p:cNvPr>
          <p:cNvSpPr txBox="1"/>
          <p:nvPr/>
        </p:nvSpPr>
        <p:spPr>
          <a:xfrm>
            <a:off x="1106904" y="2418348"/>
            <a:ext cx="9561095"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en-US" sz="7200" b="1" dirty="0">
                <a:solidFill>
                  <a:srgbClr val="000000"/>
                </a:solidFill>
                <a:cs typeface="B Nazanin" panose="00000400000000000000" pitchFamily="2" charset="-78"/>
              </a:rPr>
              <a:t>pharmacology</a:t>
            </a:r>
            <a:endParaRPr lang="en-US" sz="7200" b="1" dirty="0">
              <a:cs typeface="B Nazanin" panose="00000400000000000000" pitchFamily="2" charset="-78"/>
            </a:endParaRPr>
          </a:p>
        </p:txBody>
      </p:sp>
      <p:sp>
        <p:nvSpPr>
          <p:cNvPr id="8" name="TextBox 7">
            <a:extLst>
              <a:ext uri="{FF2B5EF4-FFF2-40B4-BE49-F238E27FC236}">
                <a16:creationId xmlns:a16="http://schemas.microsoft.com/office/drawing/2014/main" id="{79779B9D-D488-7267-5267-99FE01EBDFDC}"/>
              </a:ext>
            </a:extLst>
          </p:cNvPr>
          <p:cNvSpPr txBox="1"/>
          <p:nvPr/>
        </p:nvSpPr>
        <p:spPr>
          <a:xfrm>
            <a:off x="3116179" y="5462337"/>
            <a:ext cx="5498430"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sz="2400" b="1" dirty="0">
                <a:solidFill>
                  <a:schemeClr val="bg2">
                    <a:lumMod val="10000"/>
                  </a:schemeClr>
                </a:solidFill>
              </a:rPr>
              <a:t>Dr Samira </a:t>
            </a:r>
            <a:r>
              <a:rPr lang="en-US" sz="2400" b="1" dirty="0" err="1">
                <a:solidFill>
                  <a:schemeClr val="bg2">
                    <a:lumMod val="10000"/>
                  </a:schemeClr>
                </a:solidFill>
              </a:rPr>
              <a:t>Radmand</a:t>
            </a:r>
            <a:endParaRPr lang="fa-IR" sz="2400" b="1" dirty="0">
              <a:solidFill>
                <a:schemeClr val="bg2">
                  <a:lumMod val="10000"/>
                </a:schemeClr>
              </a:solidFill>
            </a:endParaRPr>
          </a:p>
          <a:p>
            <a:pPr algn="l"/>
            <a:r>
              <a:rPr lang="en-US" sz="2400" b="1" dirty="0">
                <a:solidFill>
                  <a:schemeClr val="bg2">
                    <a:lumMod val="10000"/>
                  </a:schemeClr>
                </a:solidFill>
              </a:rPr>
              <a:t>Pharmacist</a:t>
            </a:r>
            <a:endParaRPr lang="fa-IR" sz="2400" b="1" dirty="0">
              <a:solidFill>
                <a:schemeClr val="bg2">
                  <a:lumMod val="10000"/>
                </a:schemeClr>
              </a:solidFill>
            </a:endParaRPr>
          </a:p>
        </p:txBody>
      </p:sp>
    </p:spTree>
    <p:extLst>
      <p:ext uri="{BB962C8B-B14F-4D97-AF65-F5344CB8AC3E}">
        <p14:creationId xmlns:p14="http://schemas.microsoft.com/office/powerpoint/2010/main" val="1824955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790E4-5FD2-434D-BBE9-350063C4FB2F}"/>
              </a:ext>
            </a:extLst>
          </p:cNvPr>
          <p:cNvSpPr>
            <a:spLocks noGrp="1"/>
          </p:cNvSpPr>
          <p:nvPr>
            <p:ph type="title"/>
          </p:nvPr>
        </p:nvSpPr>
        <p:spPr/>
        <p:txBody>
          <a:bodyPr>
            <a:normAutofit fontScale="90000"/>
          </a:bodyPr>
          <a:lstStyle/>
          <a:p>
            <a:pPr algn="r" rtl="1"/>
            <a:r>
              <a:rPr lang="fa-IR" sz="3200" dirty="0">
                <a:cs typeface="B Nazanin" panose="00000400000000000000" pitchFamily="2" charset="-78"/>
              </a:rPr>
              <a:t>فارماکوکینتیک</a:t>
            </a:r>
            <a:br>
              <a:rPr lang="fa-IR" sz="3200" dirty="0">
                <a:cs typeface="B Nazanin" panose="00000400000000000000" pitchFamily="2" charset="-78"/>
              </a:rPr>
            </a:br>
            <a:br>
              <a:rPr lang="fa-IR" sz="3200" dirty="0">
                <a:cs typeface="B Nazanin" panose="00000400000000000000" pitchFamily="2" charset="-78"/>
              </a:rPr>
            </a:br>
            <a:r>
              <a:rPr lang="fa-IR" sz="2200" b="0" dirty="0">
                <a:cs typeface="B Nazanin" panose="00000400000000000000" pitchFamily="2" charset="-78"/>
              </a:rPr>
              <a:t>فارماکوکینتیک به معنای «آنچه بدن با دارو انجام می‌دهد» است.</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به بیان دیگر، این علم بررسی می‌کند که چگونه بدن دارو را جذب، توزیع، متابولیزه و دفع می‌کند.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این فرآیندها تعیین می‌کنند که چه مقدار از دارو به محل اثر می‌رسد و چه زمانی اثر می‌کند</a:t>
            </a:r>
            <a:br>
              <a:rPr lang="fa-IR" sz="2200" b="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a:t>
            </a:r>
            <a:r>
              <a:rPr lang="fa-IR" sz="3100" dirty="0">
                <a:cs typeface="B Nazanin" panose="00000400000000000000" pitchFamily="2" charset="-78"/>
              </a:rPr>
              <a:t>مراحل اصلی فارماکوکینتیک</a:t>
            </a:r>
            <a:br>
              <a:rPr lang="fa-IR" sz="3100" dirty="0">
                <a:cs typeface="B Nazanin" panose="00000400000000000000" pitchFamily="2" charset="-78"/>
              </a:rPr>
            </a:br>
            <a:br>
              <a:rPr lang="fa-IR" sz="2700" dirty="0">
                <a:cs typeface="B Nazanin" panose="00000400000000000000" pitchFamily="2" charset="-78"/>
              </a:rPr>
            </a:br>
            <a:r>
              <a:rPr lang="fa-IR" sz="2700" dirty="0">
                <a:cs typeface="B Nazanin" panose="00000400000000000000" pitchFamily="2" charset="-78"/>
              </a:rPr>
              <a:t>1. جذب ( </a:t>
            </a:r>
            <a:r>
              <a:rPr lang="en-US" sz="2700" dirty="0">
                <a:cs typeface="B Nazanin" panose="00000400000000000000" pitchFamily="2" charset="-78"/>
              </a:rPr>
              <a:t>Absorption</a:t>
            </a:r>
            <a:r>
              <a:rPr lang="fa-IR" sz="2700" dirty="0">
                <a:cs typeface="B Nazanin" panose="00000400000000000000" pitchFamily="2" charset="-78"/>
              </a:rPr>
              <a:t>)</a:t>
            </a:r>
            <a:br>
              <a:rPr lang="fa-IR" sz="2700" dirty="0">
                <a:cs typeface="B Nazanin" panose="00000400000000000000" pitchFamily="2" charset="-78"/>
              </a:rPr>
            </a:br>
            <a:br>
              <a:rPr lang="fa-IR" sz="2700" dirty="0">
                <a:cs typeface="B Nazanin" panose="00000400000000000000" pitchFamily="2" charset="-78"/>
              </a:rPr>
            </a:br>
            <a:r>
              <a:rPr lang="fa-IR" sz="2700" dirty="0">
                <a:cs typeface="B Nazanin" panose="00000400000000000000" pitchFamily="2" charset="-78"/>
              </a:rPr>
              <a:t>2. توزیع  ( </a:t>
            </a:r>
            <a:r>
              <a:rPr lang="en-US" sz="2700" dirty="0">
                <a:cs typeface="B Nazanin" panose="00000400000000000000" pitchFamily="2" charset="-78"/>
              </a:rPr>
              <a:t>Distribution</a:t>
            </a:r>
            <a:r>
              <a:rPr lang="fa-IR" sz="2700" dirty="0">
                <a:cs typeface="B Nazanin" panose="00000400000000000000" pitchFamily="2" charset="-78"/>
              </a:rPr>
              <a:t>)</a:t>
            </a:r>
            <a:br>
              <a:rPr lang="en-US" sz="2700" dirty="0">
                <a:cs typeface="B Nazanin" panose="00000400000000000000" pitchFamily="2" charset="-78"/>
              </a:rPr>
            </a:br>
            <a:br>
              <a:rPr lang="en-US" sz="2700" dirty="0">
                <a:cs typeface="B Nazanin" panose="00000400000000000000" pitchFamily="2" charset="-78"/>
              </a:rPr>
            </a:br>
            <a:r>
              <a:rPr lang="fa-IR" sz="2700" dirty="0">
                <a:cs typeface="B Nazanin" panose="00000400000000000000" pitchFamily="2" charset="-78"/>
              </a:rPr>
              <a:t>3. متابولیسم (</a:t>
            </a:r>
            <a:r>
              <a:rPr lang="en-US" sz="2700" dirty="0">
                <a:cs typeface="B Nazanin" panose="00000400000000000000" pitchFamily="2" charset="-78"/>
              </a:rPr>
              <a:t>Metabolism</a:t>
            </a:r>
            <a:r>
              <a:rPr lang="fa-IR" sz="2700" dirty="0">
                <a:cs typeface="B Nazanin" panose="00000400000000000000" pitchFamily="2" charset="-78"/>
              </a:rPr>
              <a:t>)</a:t>
            </a:r>
            <a:br>
              <a:rPr lang="fa-IR" sz="2700" dirty="0">
                <a:cs typeface="B Nazanin" panose="00000400000000000000" pitchFamily="2" charset="-78"/>
              </a:rPr>
            </a:br>
            <a:br>
              <a:rPr lang="fa-IR" sz="2700" dirty="0">
                <a:cs typeface="B Nazanin" panose="00000400000000000000" pitchFamily="2" charset="-78"/>
              </a:rPr>
            </a:br>
            <a:r>
              <a:rPr lang="fa-IR" sz="2700" dirty="0">
                <a:cs typeface="B Nazanin" panose="00000400000000000000" pitchFamily="2" charset="-78"/>
              </a:rPr>
              <a:t>4.دفع (</a:t>
            </a:r>
            <a:r>
              <a:rPr lang="en-US" sz="2700" dirty="0">
                <a:cs typeface="B Nazanin" panose="00000400000000000000" pitchFamily="2" charset="-78"/>
              </a:rPr>
              <a:t>Excretion</a:t>
            </a:r>
            <a:r>
              <a:rPr lang="fa-IR" sz="2700" dirty="0">
                <a:cs typeface="B Nazanin" panose="00000400000000000000" pitchFamily="2" charset="-78"/>
              </a:rPr>
              <a:t>)</a:t>
            </a:r>
            <a:br>
              <a:rPr lang="fa-IR" sz="2200" b="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endParaRPr lang="en-US" sz="2200" b="0" dirty="0">
              <a:cs typeface="B Nazanin" panose="00000400000000000000" pitchFamily="2" charset="-78"/>
            </a:endParaRPr>
          </a:p>
        </p:txBody>
      </p:sp>
    </p:spTree>
    <p:extLst>
      <p:ext uri="{BB962C8B-B14F-4D97-AF65-F5344CB8AC3E}">
        <p14:creationId xmlns:p14="http://schemas.microsoft.com/office/powerpoint/2010/main" val="27162193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0BC85-AB03-4B83-BA8D-427D6927882E}"/>
              </a:ext>
            </a:extLst>
          </p:cNvPr>
          <p:cNvSpPr>
            <a:spLocks noGrp="1"/>
          </p:cNvSpPr>
          <p:nvPr>
            <p:ph type="title"/>
          </p:nvPr>
        </p:nvSpPr>
        <p:spPr/>
        <p:txBody>
          <a:bodyPr>
            <a:normAutofit fontScale="90000"/>
          </a:bodyPr>
          <a:lstStyle/>
          <a:p>
            <a:pPr algn="r" rtl="1"/>
            <a:r>
              <a:rPr lang="fa-IR" sz="2800" dirty="0">
                <a:cs typeface="B Nazanin" panose="00000400000000000000" pitchFamily="2" charset="-78"/>
              </a:rPr>
              <a:t>1. جذب ( </a:t>
            </a:r>
            <a:r>
              <a:rPr lang="en-US" sz="2800" dirty="0">
                <a:cs typeface="B Nazanin" panose="00000400000000000000" pitchFamily="2" charset="-78"/>
              </a:rPr>
              <a:t>Absorption</a:t>
            </a:r>
            <a:r>
              <a:rPr lang="fa-IR" sz="2800" dirty="0">
                <a:cs typeface="B Nazanin" panose="00000400000000000000" pitchFamily="2" charset="-78"/>
              </a:rPr>
              <a:t>)</a:t>
            </a:r>
            <a:br>
              <a:rPr lang="en-US" sz="2800" dirty="0">
                <a:cs typeface="B Nazanin" panose="00000400000000000000" pitchFamily="2" charset="-78"/>
              </a:rPr>
            </a:br>
            <a:br>
              <a:rPr lang="en-US" sz="2800" dirty="0">
                <a:cs typeface="B Nazanin" panose="00000400000000000000" pitchFamily="2" charset="-78"/>
              </a:rPr>
            </a:br>
            <a:r>
              <a:rPr lang="fa-IR" sz="2200" b="0" dirty="0">
                <a:cs typeface="B Nazanin" panose="00000400000000000000" pitchFamily="2" charset="-78"/>
              </a:rPr>
              <a:t>فرآیندی است که طی آن دارو از محل مصرف (مثلاً دهان، عضله، پوست و غیره) وارد جریان خون می‌شود.</a:t>
            </a:r>
            <a:br>
              <a:rPr lang="fa-IR" sz="2200" b="0" dirty="0">
                <a:cs typeface="B Nazanin" panose="00000400000000000000" pitchFamily="2" charset="-78"/>
              </a:rPr>
            </a:br>
            <a:br>
              <a:rPr lang="en-US" sz="2200" b="0" dirty="0">
                <a:cs typeface="B Nazanin" panose="00000400000000000000" pitchFamily="2" charset="-78"/>
              </a:rPr>
            </a:br>
            <a:r>
              <a:rPr lang="fa-IR" sz="2700" dirty="0">
                <a:cs typeface="B Nazanin" panose="00000400000000000000" pitchFamily="2" charset="-78"/>
              </a:rPr>
              <a:t>عوامل مؤثر بر جذب</a:t>
            </a:r>
            <a:r>
              <a:rPr lang="fa-IR" sz="2200" b="0" dirty="0">
                <a:cs typeface="B Nazanin" panose="00000400000000000000" pitchFamily="2" charset="-78"/>
              </a:rPr>
              <a:t>:</a:t>
            </a:r>
            <a:br>
              <a:rPr lang="fa-IR" sz="2200" b="0" dirty="0">
                <a:cs typeface="B Nazanin" panose="00000400000000000000" pitchFamily="2" charset="-78"/>
              </a:rPr>
            </a:br>
            <a:br>
              <a:rPr lang="en-US" sz="2200" b="0" dirty="0">
                <a:cs typeface="B Nazanin" panose="00000400000000000000" pitchFamily="2" charset="-78"/>
              </a:rPr>
            </a:br>
            <a:r>
              <a:rPr lang="fa-IR" sz="2200" b="0" dirty="0">
                <a:cs typeface="B Nazanin" panose="00000400000000000000" pitchFamily="2" charset="-78"/>
              </a:rPr>
              <a:t>1. مسیر تجویز (خوراکی، تزریقی، جلدی و...)</a:t>
            </a:r>
            <a:br>
              <a:rPr lang="fa-IR" sz="2200" b="0" dirty="0">
                <a:cs typeface="B Nazanin" panose="00000400000000000000" pitchFamily="2" charset="-78"/>
              </a:rPr>
            </a:br>
            <a:br>
              <a:rPr lang="en-US" sz="2200" b="0" dirty="0">
                <a:cs typeface="B Nazanin" panose="00000400000000000000" pitchFamily="2" charset="-78"/>
              </a:rPr>
            </a:br>
            <a:r>
              <a:rPr lang="fa-IR" sz="2200" b="0" dirty="0">
                <a:cs typeface="B Nazanin" panose="00000400000000000000" pitchFamily="2" charset="-78"/>
              </a:rPr>
              <a:t>2. جریان خون در محل جذب</a:t>
            </a:r>
            <a:br>
              <a:rPr lang="fa-IR" sz="2200" b="0" dirty="0">
                <a:cs typeface="B Nazanin" panose="00000400000000000000" pitchFamily="2" charset="-78"/>
              </a:rPr>
            </a:br>
            <a:br>
              <a:rPr lang="en-US" sz="2200" b="0" dirty="0">
                <a:cs typeface="B Nazanin" panose="00000400000000000000" pitchFamily="2" charset="-78"/>
              </a:rPr>
            </a:br>
            <a:r>
              <a:rPr lang="fa-IR" sz="2200" b="0" dirty="0">
                <a:cs typeface="B Nazanin" panose="00000400000000000000" pitchFamily="2" charset="-78"/>
              </a:rPr>
              <a:t>3. سطح تماس (مثلاً روده سطح بزرگ‌تری دارد → جذب بیشتر)</a:t>
            </a:r>
            <a:br>
              <a:rPr lang="fa-IR" sz="2200" b="0" dirty="0">
                <a:cs typeface="B Nazanin" panose="00000400000000000000" pitchFamily="2" charset="-78"/>
              </a:rPr>
            </a:br>
            <a:br>
              <a:rPr lang="en-US" sz="2200" b="0" dirty="0">
                <a:cs typeface="B Nazanin" panose="00000400000000000000" pitchFamily="2" charset="-78"/>
              </a:rPr>
            </a:br>
            <a:r>
              <a:rPr lang="fa-IR" sz="2200" b="0" dirty="0">
                <a:cs typeface="B Nazanin" panose="00000400000000000000" pitchFamily="2" charset="-78"/>
              </a:rPr>
              <a:t>4. وجود غذا یا داروهای دیگر در معده</a:t>
            </a:r>
            <a:br>
              <a:rPr lang="fa-IR" sz="2200" b="0" dirty="0">
                <a:cs typeface="B Nazanin" panose="00000400000000000000" pitchFamily="2" charset="-78"/>
              </a:rPr>
            </a:br>
            <a:br>
              <a:rPr lang="en-US" sz="2200" b="0" dirty="0">
                <a:cs typeface="B Nazanin" panose="00000400000000000000" pitchFamily="2" charset="-78"/>
              </a:rPr>
            </a:br>
            <a:r>
              <a:rPr lang="fa-IR" sz="2200" b="0" dirty="0">
                <a:cs typeface="B Nazanin" panose="00000400000000000000" pitchFamily="2" charset="-78"/>
              </a:rPr>
              <a:t>5. شکل دارویی (قرص، محلول، کپسول و غیره)</a:t>
            </a:r>
            <a:br>
              <a:rPr lang="fa-IR" sz="2200" b="0" dirty="0">
                <a:cs typeface="B Nazanin" panose="00000400000000000000" pitchFamily="2" charset="-78"/>
              </a:rPr>
            </a:br>
            <a:br>
              <a:rPr lang="fa-IR" sz="2200" b="0" dirty="0">
                <a:cs typeface="B Nazanin" panose="00000400000000000000" pitchFamily="2" charset="-78"/>
              </a:rPr>
            </a:br>
            <a:r>
              <a:rPr lang="fa-IR" sz="2200" b="0" dirty="0">
                <a:solidFill>
                  <a:srgbClr val="FF0000"/>
                </a:solidFill>
                <a:cs typeface="B Nazanin" panose="00000400000000000000" pitchFamily="2" charset="-78"/>
              </a:rPr>
              <a:t>* ( نکته مهم در  پرستاری ) </a:t>
            </a:r>
            <a:r>
              <a:rPr lang="fa-IR" sz="2200" b="0" dirty="0">
                <a:cs typeface="B Nazanin" panose="00000400000000000000" pitchFamily="2" charset="-78"/>
              </a:rPr>
              <a:t>: در تجویز خوراکی، وجود غذا ممکن است جذب را کند یا کم کند. بنابراین باید زمان مصرف دارو (قبل یا بعد از غذا) دقیق رعایت </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شود.</a:t>
            </a:r>
            <a:br>
              <a:rPr lang="fa-IR" sz="2200" b="0" dirty="0">
                <a:cs typeface="B Nazanin" panose="00000400000000000000" pitchFamily="2" charset="-78"/>
              </a:rPr>
            </a:br>
            <a:br>
              <a:rPr lang="fa-IR" sz="2200" b="0" dirty="0">
                <a:cs typeface="B Nazanin" panose="00000400000000000000" pitchFamily="2" charset="-78"/>
              </a:rPr>
            </a:br>
            <a:r>
              <a:rPr lang="fa-IR" sz="2200" dirty="0">
                <a:cs typeface="B Nazanin" panose="00000400000000000000" pitchFamily="2" charset="-78"/>
              </a:rPr>
              <a:t>فراهمی زیستی: </a:t>
            </a:r>
            <a:r>
              <a:rPr lang="fa-IR" sz="2200" b="0" dirty="0">
                <a:cs typeface="B Nazanin" panose="00000400000000000000" pitchFamily="2" charset="-78"/>
              </a:rPr>
              <a:t>نسبت مقدار داروی جذب شده به کل داروی تجویز شده را فراهمی زیستی می گویند و این مقدار متغییر است در </a:t>
            </a:r>
            <a:r>
              <a:rPr lang="en-US" sz="2200" b="0" dirty="0">
                <a:cs typeface="B Nazanin" panose="00000400000000000000" pitchFamily="2" charset="-78"/>
              </a:rPr>
              <a:t>IV </a:t>
            </a:r>
            <a:r>
              <a:rPr lang="fa-IR" sz="2200" b="0" dirty="0">
                <a:cs typeface="B Nazanin" panose="00000400000000000000" pitchFamily="2" charset="-78"/>
              </a:rPr>
              <a:t> این مقدار 100 % است </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ولی در بقیه ی روش ها کمتر است.</a:t>
            </a:r>
            <a:br>
              <a:rPr lang="fa-IR" sz="2200" b="0" dirty="0">
                <a:cs typeface="B Nazanin" panose="00000400000000000000" pitchFamily="2" charset="-78"/>
              </a:rPr>
            </a:br>
            <a:br>
              <a:rPr lang="en-US" sz="2800" dirty="0">
                <a:cs typeface="B Nazanin" panose="00000400000000000000" pitchFamily="2" charset="-78"/>
              </a:rPr>
            </a:br>
            <a:endParaRPr lang="en-US" sz="2800" dirty="0">
              <a:cs typeface="B Nazanin" panose="00000400000000000000" pitchFamily="2" charset="-78"/>
            </a:endParaRPr>
          </a:p>
        </p:txBody>
      </p:sp>
    </p:spTree>
    <p:extLst>
      <p:ext uri="{BB962C8B-B14F-4D97-AF65-F5344CB8AC3E}">
        <p14:creationId xmlns:p14="http://schemas.microsoft.com/office/powerpoint/2010/main" val="1638595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C2D9B-D828-4532-81FC-0B4BB8F81F21}"/>
              </a:ext>
            </a:extLst>
          </p:cNvPr>
          <p:cNvSpPr>
            <a:spLocks noGrp="1"/>
          </p:cNvSpPr>
          <p:nvPr>
            <p:ph type="title"/>
          </p:nvPr>
        </p:nvSpPr>
        <p:spPr>
          <a:xfrm>
            <a:off x="603250" y="497547"/>
            <a:ext cx="10985500" cy="716582"/>
          </a:xfrm>
        </p:spPr>
        <p:txBody>
          <a:bodyPr>
            <a:normAutofit fontScale="90000"/>
          </a:bodyPr>
          <a:lstStyle/>
          <a:p>
            <a:pPr algn="r" rtl="1"/>
            <a:r>
              <a:rPr lang="fa-IR" sz="2800" b="0" dirty="0">
                <a:cs typeface="B Nazanin" panose="00000400000000000000" pitchFamily="2" charset="-78"/>
              </a:rPr>
              <a:t>. عوامل مختلفی که باعث کاهش فراهمی زیستی میشود: </a:t>
            </a:r>
            <a:br>
              <a:rPr lang="fa-IR" sz="2800" b="0" dirty="0">
                <a:cs typeface="B Nazanin" panose="00000400000000000000" pitchFamily="2" charset="-78"/>
              </a:rPr>
            </a:br>
            <a:br>
              <a:rPr lang="fa-IR" sz="2800" b="0" dirty="0">
                <a:cs typeface="B Nazanin" panose="00000400000000000000" pitchFamily="2" charset="-78"/>
              </a:rPr>
            </a:br>
            <a:r>
              <a:rPr lang="fa-IR" sz="2200" b="0" dirty="0">
                <a:cs typeface="B Nazanin" panose="00000400000000000000" pitchFamily="2" charset="-78"/>
              </a:rPr>
              <a:t>جذب ناقص، متابولیسم عبور اول کبدی، توزیع دارو به بافت های دیگر</a:t>
            </a:r>
            <a:br>
              <a:rPr lang="fa-IR" sz="2800" dirty="0">
                <a:cs typeface="B Nazanin" panose="00000400000000000000" pitchFamily="2" charset="-78"/>
              </a:rPr>
            </a:br>
            <a:br>
              <a:rPr lang="fa-IR" sz="2800" dirty="0">
                <a:cs typeface="B Nazanin" panose="00000400000000000000" pitchFamily="2" charset="-78"/>
              </a:rPr>
            </a:br>
            <a:r>
              <a:rPr lang="fa-IR" sz="2800" dirty="0">
                <a:cs typeface="B Nazanin" panose="00000400000000000000" pitchFamily="2" charset="-78"/>
              </a:rPr>
              <a:t>2. توزیع (</a:t>
            </a:r>
            <a:r>
              <a:rPr lang="en-US" sz="2800" dirty="0">
                <a:cs typeface="B Nazanin" panose="00000400000000000000" pitchFamily="2" charset="-78"/>
              </a:rPr>
              <a:t>Distribution</a:t>
            </a:r>
            <a:r>
              <a:rPr lang="fa-IR" sz="2800" dirty="0">
                <a:cs typeface="B Nazanin" panose="00000400000000000000" pitchFamily="2" charset="-78"/>
              </a:rPr>
              <a:t>)</a:t>
            </a:r>
            <a:br>
              <a:rPr lang="fa-IR" sz="2800" dirty="0">
                <a:cs typeface="B Nazanin" panose="00000400000000000000" pitchFamily="2" charset="-78"/>
              </a:rPr>
            </a:br>
            <a:br>
              <a:rPr lang="fa-IR" sz="2800" dirty="0">
                <a:cs typeface="B Nazanin" panose="00000400000000000000" pitchFamily="2" charset="-78"/>
              </a:rPr>
            </a:br>
            <a:r>
              <a:rPr lang="fa-IR" sz="2200" b="0" dirty="0">
                <a:cs typeface="B Nazanin" panose="00000400000000000000" pitchFamily="2" charset="-78"/>
              </a:rPr>
              <a:t>پس از جذب، دارو از طریق خون به بافت‌ها و اندام‌های مختلف منتقل می‌شود</a:t>
            </a:r>
            <a:br>
              <a:rPr lang="fa-IR" sz="2200" b="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r>
              <a:rPr lang="fa-IR" sz="2700" dirty="0">
                <a:cs typeface="B Nazanin" panose="00000400000000000000" pitchFamily="2" charset="-78"/>
              </a:rPr>
              <a:t>عوامل مؤثر بر توزیع:</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1. جریان خون در بافت‌ها</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2. حلالیت دارو ( مثلا دارو های لیبوفیل مثل کورتون ها به راحتی وارد </a:t>
            </a:r>
            <a:r>
              <a:rPr lang="en-US" sz="2200" b="0" dirty="0">
                <a:cs typeface="B Nazanin" panose="00000400000000000000" pitchFamily="2" charset="-78"/>
              </a:rPr>
              <a:t>CNS </a:t>
            </a:r>
            <a:r>
              <a:rPr lang="fa-IR" sz="2200" b="0" dirty="0">
                <a:cs typeface="B Nazanin" panose="00000400000000000000" pitchFamily="2" charset="-78"/>
              </a:rPr>
              <a:t>میشوند) </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3. اتصال دارو به پروتئین‌های پلاسما (مثل آلبومین):  مثل وارفارین که جزو داروهایی با تمایل اتصال به بروتین های بلاسما هست تا بروتئین های بافتی</a:t>
            </a:r>
            <a:br>
              <a:rPr lang="fa-IR" sz="2200" b="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r>
              <a:rPr lang="fa-IR" sz="2200" b="0" dirty="0">
                <a:solidFill>
                  <a:srgbClr val="FF0000"/>
                </a:solidFill>
                <a:cs typeface="B Nazanin" panose="00000400000000000000" pitchFamily="2" charset="-78"/>
              </a:rPr>
              <a:t>* نکته پرستاری</a:t>
            </a:r>
            <a:r>
              <a:rPr lang="fa-IR" sz="2200" b="0" dirty="0">
                <a:solidFill>
                  <a:srgbClr val="C00000"/>
                </a:solidFill>
                <a:cs typeface="B Nazanin" panose="00000400000000000000" pitchFamily="2" charset="-78"/>
              </a:rPr>
              <a:t>: </a:t>
            </a:r>
            <a:r>
              <a:rPr lang="fa-IR" sz="2200" b="0" dirty="0">
                <a:cs typeface="B Nazanin" panose="00000400000000000000" pitchFamily="2" charset="-78"/>
              </a:rPr>
              <a:t>اگر بیمار دچار کاهش آلبومین باشد (مانند بیماران کبدی یا سالمندان)، داروی آزاد در خون افزایش یافته و احتمال مسمومیت بیشتر می‌شود</a:t>
            </a:r>
            <a:endParaRPr lang="en-US" sz="2200" b="0" dirty="0">
              <a:cs typeface="B Nazanin" panose="00000400000000000000" pitchFamily="2" charset="-78"/>
            </a:endParaRPr>
          </a:p>
        </p:txBody>
      </p:sp>
    </p:spTree>
    <p:extLst>
      <p:ext uri="{BB962C8B-B14F-4D97-AF65-F5344CB8AC3E}">
        <p14:creationId xmlns:p14="http://schemas.microsoft.com/office/powerpoint/2010/main" val="466818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B56B7-7368-439F-8B56-874F13D78D6E}"/>
              </a:ext>
            </a:extLst>
          </p:cNvPr>
          <p:cNvSpPr>
            <a:spLocks noGrp="1"/>
          </p:cNvSpPr>
          <p:nvPr>
            <p:ph type="title"/>
          </p:nvPr>
        </p:nvSpPr>
        <p:spPr>
          <a:xfrm>
            <a:off x="562708" y="239152"/>
            <a:ext cx="11026042" cy="520504"/>
          </a:xfrm>
        </p:spPr>
        <p:txBody>
          <a:bodyPr>
            <a:normAutofit fontScale="90000"/>
          </a:bodyPr>
          <a:lstStyle/>
          <a:p>
            <a:pPr algn="r" rtl="1"/>
            <a:r>
              <a:rPr lang="fa-IR" sz="2200" dirty="0">
                <a:cs typeface="B Nazanin" panose="00000400000000000000" pitchFamily="2" charset="-78"/>
              </a:rPr>
              <a:t>3. متابولیسم</a:t>
            </a:r>
            <a:r>
              <a:rPr lang="en-US" sz="2200" dirty="0">
                <a:cs typeface="B Nazanin" panose="00000400000000000000" pitchFamily="2" charset="-78"/>
              </a:rPr>
              <a:t> (Metabolism) </a:t>
            </a:r>
            <a:r>
              <a:rPr lang="fa-IR" sz="2200" dirty="0">
                <a:cs typeface="B Nazanin" panose="00000400000000000000" pitchFamily="2" charset="-78"/>
              </a:rPr>
              <a:t>:</a:t>
            </a:r>
            <a:br>
              <a:rPr lang="en-US" sz="2800" dirty="0">
                <a:cs typeface="B Nazanin" panose="00000400000000000000" pitchFamily="2" charset="-78"/>
              </a:rPr>
            </a:br>
            <a:br>
              <a:rPr lang="fa-IR" sz="2800" dirty="0">
                <a:cs typeface="B Nazanin" panose="00000400000000000000" pitchFamily="2" charset="-78"/>
              </a:rPr>
            </a:br>
            <a:r>
              <a:rPr lang="fa-IR" sz="2200" b="0" dirty="0">
                <a:cs typeface="B Nazanin" panose="00000400000000000000" pitchFamily="2" charset="-78"/>
              </a:rPr>
              <a:t>فرآیندی است که طی آن دارو در بدن به شکل‌های فعال یا غیرفعال تبدیل می‌شود</a:t>
            </a:r>
            <a:r>
              <a:rPr lang="fa-IR" sz="2800" dirty="0">
                <a:cs typeface="B Nazanin" panose="00000400000000000000" pitchFamily="2" charset="-78"/>
              </a:rPr>
              <a:t>.</a:t>
            </a:r>
            <a:br>
              <a:rPr lang="fa-IR" sz="2800" dirty="0">
                <a:cs typeface="B Nazanin" panose="00000400000000000000" pitchFamily="2" charset="-78"/>
              </a:rPr>
            </a:br>
            <a:br>
              <a:rPr lang="fa-IR" sz="2800" dirty="0">
                <a:cs typeface="B Nazanin" panose="00000400000000000000" pitchFamily="2" charset="-78"/>
              </a:rPr>
            </a:br>
            <a:r>
              <a:rPr lang="fa-IR" sz="2200" b="0" dirty="0">
                <a:cs typeface="B Nazanin" panose="00000400000000000000" pitchFamily="2" charset="-78"/>
              </a:rPr>
              <a:t>عضو اصلی متابولیسم: کبد (به‌ویژه آنزیم‌های خانواده </a:t>
            </a:r>
            <a:r>
              <a:rPr lang="en-US" sz="2200" b="0" dirty="0">
                <a:cs typeface="B Nazanin" panose="00000400000000000000" pitchFamily="2" charset="-78"/>
              </a:rPr>
              <a:t>CYP450</a:t>
            </a:r>
            <a:br>
              <a:rPr lang="en-US" sz="2800" dirty="0">
                <a:cs typeface="B Nazanin" panose="00000400000000000000" pitchFamily="2" charset="-78"/>
              </a:rPr>
            </a:br>
            <a:br>
              <a:rPr lang="fa-IR" sz="2800" dirty="0">
                <a:cs typeface="B Nazanin" panose="00000400000000000000" pitchFamily="2" charset="-78"/>
              </a:rPr>
            </a:br>
            <a:r>
              <a:rPr lang="fa-IR" sz="2200" dirty="0">
                <a:cs typeface="B Nazanin" panose="00000400000000000000" pitchFamily="2" charset="-78"/>
              </a:rPr>
              <a:t>عوامل مؤثر:</a:t>
            </a:r>
            <a:br>
              <a:rPr lang="fa-IR" sz="2800" dirty="0">
                <a:cs typeface="B Nazanin" panose="00000400000000000000" pitchFamily="2" charset="-78"/>
              </a:rPr>
            </a:br>
            <a:br>
              <a:rPr lang="fa-IR" sz="2800" dirty="0">
                <a:cs typeface="B Nazanin" panose="00000400000000000000" pitchFamily="2" charset="-78"/>
              </a:rPr>
            </a:br>
            <a:r>
              <a:rPr lang="fa-IR" sz="2800" dirty="0">
                <a:cs typeface="B Nazanin" panose="00000400000000000000" pitchFamily="2" charset="-78"/>
              </a:rPr>
              <a:t>. </a:t>
            </a:r>
            <a:r>
              <a:rPr lang="fa-IR" sz="2200" b="0" dirty="0">
                <a:cs typeface="B Nazanin" panose="00000400000000000000" pitchFamily="2" charset="-78"/>
              </a:rPr>
              <a:t>سن (نوزادان و سالمندان متابولیسم آهسته‌تری دارند)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بیماری‌های کبدی</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تداخلات دارویی (برخی داروها آنزیم‌های کبدی را تحریک یا مهار می‌کنند)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a:t>
            </a:r>
            <a:r>
              <a:rPr lang="fa-IR" sz="2200" dirty="0">
                <a:cs typeface="B Nazanin" panose="00000400000000000000" pitchFamily="2" charset="-78"/>
              </a:rPr>
              <a:t>متابولیسم دارو ها چندین تقسیم بندی دارد :</a:t>
            </a:r>
            <a:br>
              <a:rPr lang="fa-IR" sz="2200" dirty="0">
                <a:cs typeface="B Nazanin" panose="00000400000000000000" pitchFamily="2" charset="-78"/>
              </a:rPr>
            </a:br>
            <a:br>
              <a:rPr lang="fa-IR" sz="2200" dirty="0">
                <a:cs typeface="B Nazanin" panose="00000400000000000000" pitchFamily="2" charset="-78"/>
              </a:rPr>
            </a:br>
            <a:r>
              <a:rPr lang="fa-IR" sz="2200" b="0" dirty="0">
                <a:cs typeface="B Nazanin" panose="00000400000000000000" pitchFamily="2" charset="-78"/>
              </a:rPr>
              <a:t>1</a:t>
            </a:r>
            <a:r>
              <a:rPr lang="fa-IR" sz="2200" dirty="0">
                <a:cs typeface="B Nazanin" panose="00000400000000000000" pitchFamily="2" charset="-78"/>
              </a:rPr>
              <a:t>. </a:t>
            </a:r>
            <a:r>
              <a:rPr lang="fa-IR" sz="2200" b="0" dirty="0">
                <a:cs typeface="B Nazanin" panose="00000400000000000000" pitchFamily="2" charset="-78"/>
              </a:rPr>
              <a:t>بعضی از دارو ها با متابولیسم غیر فعال می شوند مثل فنوتیازین ها که برای اعصاب استفاده می شوند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2. بعضی از دارو ها با متابولیسم فعال می شوند </a:t>
            </a:r>
            <a:r>
              <a:rPr lang="en-US" sz="2200" b="0" dirty="0">
                <a:cs typeface="B Nazanin" panose="00000400000000000000" pitchFamily="2" charset="-78"/>
              </a:rPr>
              <a:t>Pro drug </a:t>
            </a:r>
            <a:r>
              <a:rPr lang="fa-IR" sz="2200" b="0" dirty="0">
                <a:cs typeface="B Nazanin" panose="00000400000000000000" pitchFamily="2" charset="-78"/>
              </a:rPr>
              <a:t>، در بدن دچار متابولیسم می شوند و به صورت فعال در می آیند مثل :</a:t>
            </a:r>
            <a:r>
              <a:rPr lang="fa-IR" sz="2200" b="0" dirty="0">
                <a:solidFill>
                  <a:srgbClr val="202122"/>
                </a:solidFill>
                <a:latin typeface="system-ui"/>
                <a:cs typeface="B Nazanin" panose="00000400000000000000" pitchFamily="2" charset="-78"/>
              </a:rPr>
              <a:t>لوودوپا</a:t>
            </a:r>
            <a:br>
              <a:rPr lang="fa-IR" sz="2200" b="0" dirty="0">
                <a:solidFill>
                  <a:srgbClr val="202122"/>
                </a:solidFill>
                <a:latin typeface="system-ui"/>
                <a:cs typeface="B Nazanin" panose="00000400000000000000" pitchFamily="2" charset="-78"/>
              </a:rPr>
            </a:br>
            <a:br>
              <a:rPr lang="fa-IR" sz="2200" b="0" dirty="0">
                <a:solidFill>
                  <a:srgbClr val="202122"/>
                </a:solidFill>
                <a:latin typeface="system-ui"/>
                <a:cs typeface="B Nazanin" panose="00000400000000000000" pitchFamily="2" charset="-78"/>
              </a:rPr>
            </a:br>
            <a:r>
              <a:rPr lang="fa-IR" sz="2200" b="0" dirty="0">
                <a:solidFill>
                  <a:srgbClr val="202122"/>
                </a:solidFill>
                <a:latin typeface="system-ui"/>
                <a:cs typeface="B Nazanin" panose="00000400000000000000" pitchFamily="2" charset="-78"/>
              </a:rPr>
              <a:t>3. بعضی از دارو ها خودشان فعال هستند و با متابولیسم به متابولیت فعال تبدیل می شوند مثل بنزودیازبین ها . این دارو ها دارای اثر طولانی تری نسبت به مورد 1 </a:t>
            </a:r>
            <a:br>
              <a:rPr lang="fa-IR" sz="2200" b="0" dirty="0">
                <a:solidFill>
                  <a:srgbClr val="202122"/>
                </a:solidFill>
                <a:latin typeface="system-ui"/>
                <a:cs typeface="B Nazanin" panose="00000400000000000000" pitchFamily="2" charset="-78"/>
              </a:rPr>
            </a:br>
            <a:br>
              <a:rPr lang="fa-IR" sz="2200" b="0" dirty="0">
                <a:solidFill>
                  <a:srgbClr val="202122"/>
                </a:solidFill>
                <a:latin typeface="system-ui"/>
                <a:cs typeface="B Nazanin" panose="00000400000000000000" pitchFamily="2" charset="-78"/>
              </a:rPr>
            </a:br>
            <a:r>
              <a:rPr lang="fa-IR" sz="2200" b="0" dirty="0">
                <a:solidFill>
                  <a:srgbClr val="202122"/>
                </a:solidFill>
                <a:latin typeface="system-ui"/>
                <a:cs typeface="B Nazanin" panose="00000400000000000000" pitchFamily="2" charset="-78"/>
              </a:rPr>
              <a:t>دارند.</a:t>
            </a:r>
            <a:r>
              <a:rPr lang="fa-IR" sz="2400" b="0" dirty="0">
                <a:solidFill>
                  <a:srgbClr val="202122"/>
                </a:solidFill>
                <a:latin typeface="system-ui"/>
              </a:rPr>
              <a:t> </a:t>
            </a:r>
            <a:br>
              <a:rPr lang="fa-IR" sz="2400" b="0" dirty="0">
                <a:solidFill>
                  <a:srgbClr val="202122"/>
                </a:solidFill>
                <a:latin typeface="system-ui"/>
              </a:rPr>
            </a:br>
            <a:br>
              <a:rPr lang="fa-IR" sz="2400" b="0" dirty="0">
                <a:solidFill>
                  <a:srgbClr val="202122"/>
                </a:solidFill>
                <a:latin typeface="system-ui"/>
              </a:rPr>
            </a:br>
            <a:r>
              <a:rPr lang="fa-IR" sz="2200" b="0" dirty="0">
                <a:cs typeface="B Nazanin" panose="00000400000000000000" pitchFamily="2" charset="-78"/>
              </a:rPr>
              <a:t>4. بعضی از دارو ها بدون متابولیسم دفع می شوند مثل : لیتیم </a:t>
            </a:r>
            <a:br>
              <a:rPr lang="fa-IR" sz="2400" b="0" dirty="0">
                <a:solidFill>
                  <a:srgbClr val="202122"/>
                </a:solidFill>
                <a:latin typeface="system-ui"/>
              </a:rPr>
            </a:br>
            <a:br>
              <a:rPr lang="fa-IR" sz="2400" b="0" dirty="0">
                <a:solidFill>
                  <a:srgbClr val="202122"/>
                </a:solidFill>
                <a:latin typeface="system-ui"/>
              </a:rPr>
            </a:br>
            <a:endParaRPr lang="en-US" sz="2200" dirty="0">
              <a:cs typeface="B Nazanin" panose="00000400000000000000" pitchFamily="2" charset="-78"/>
            </a:endParaRPr>
          </a:p>
        </p:txBody>
      </p:sp>
    </p:spTree>
    <p:extLst>
      <p:ext uri="{BB962C8B-B14F-4D97-AF65-F5344CB8AC3E}">
        <p14:creationId xmlns:p14="http://schemas.microsoft.com/office/powerpoint/2010/main" val="3049110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1B868-2A45-46ED-A89B-E237FD361D27}"/>
              </a:ext>
            </a:extLst>
          </p:cNvPr>
          <p:cNvSpPr>
            <a:spLocks noGrp="1"/>
          </p:cNvSpPr>
          <p:nvPr>
            <p:ph type="title"/>
          </p:nvPr>
        </p:nvSpPr>
        <p:spPr/>
        <p:txBody>
          <a:bodyPr>
            <a:normAutofit fontScale="90000"/>
          </a:bodyPr>
          <a:lstStyle/>
          <a:p>
            <a:pPr algn="r" rtl="1"/>
            <a:br>
              <a:rPr lang="fa-IR" sz="2200" b="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a:t>
            </a:r>
            <a:br>
              <a:rPr lang="fa-IR" sz="2000" b="0" dirty="0">
                <a:cs typeface="B Nazanin" panose="00000400000000000000" pitchFamily="2" charset="-78"/>
              </a:rPr>
            </a:br>
            <a:br>
              <a:rPr lang="fa-IR" sz="2000" b="0" dirty="0">
                <a:cs typeface="B Nazanin" panose="00000400000000000000" pitchFamily="2" charset="-78"/>
              </a:rPr>
            </a:br>
            <a:br>
              <a:rPr lang="fa-IR" sz="2000" b="0" dirty="0">
                <a:cs typeface="B Nazanin" panose="00000400000000000000" pitchFamily="2" charset="-78"/>
              </a:rPr>
            </a:br>
            <a:endParaRPr lang="en-US" sz="2000" b="0" dirty="0">
              <a:cs typeface="B Nazanin" panose="00000400000000000000" pitchFamily="2" charset="-78"/>
            </a:endParaRPr>
          </a:p>
        </p:txBody>
      </p:sp>
      <p:pic>
        <p:nvPicPr>
          <p:cNvPr id="4" name="Content Placeholder 3">
            <a:extLst>
              <a:ext uri="{FF2B5EF4-FFF2-40B4-BE49-F238E27FC236}">
                <a16:creationId xmlns:a16="http://schemas.microsoft.com/office/drawing/2014/main" id="{DCCB2D95-3DE3-4F53-80B7-6EDEE5E430F2}"/>
              </a:ext>
            </a:extLst>
          </p:cNvPr>
          <p:cNvPicPr>
            <a:picLocks noGrp="1" noChangeAspect="1"/>
          </p:cNvPicPr>
          <p:nvPr>
            <p:ph idx="1"/>
          </p:nvPr>
        </p:nvPicPr>
        <p:blipFill>
          <a:blip r:embed="rId2"/>
          <a:stretch>
            <a:fillRect/>
          </a:stretch>
        </p:blipFill>
        <p:spPr>
          <a:xfrm>
            <a:off x="0" y="0"/>
            <a:ext cx="12192000" cy="6838062"/>
          </a:xfrm>
          <a:prstGeom prst="rect">
            <a:avLst/>
          </a:prstGeom>
        </p:spPr>
      </p:pic>
    </p:spTree>
    <p:extLst>
      <p:ext uri="{BB962C8B-B14F-4D97-AF65-F5344CB8AC3E}">
        <p14:creationId xmlns:p14="http://schemas.microsoft.com/office/powerpoint/2010/main" val="3322678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6172B-6B80-470C-9F87-E0797A9B7596}"/>
              </a:ext>
            </a:extLst>
          </p:cNvPr>
          <p:cNvSpPr>
            <a:spLocks noGrp="1"/>
          </p:cNvSpPr>
          <p:nvPr>
            <p:ph type="title"/>
          </p:nvPr>
        </p:nvSpPr>
        <p:spPr/>
        <p:txBody>
          <a:bodyPr>
            <a:normAutofit fontScale="90000"/>
          </a:bodyPr>
          <a:lstStyle/>
          <a:p>
            <a:pPr algn="r" rtl="1"/>
            <a:r>
              <a:rPr lang="fa-IR" sz="2800" dirty="0">
                <a:cs typeface="B Nazanin" panose="00000400000000000000" pitchFamily="2" charset="-78"/>
              </a:rPr>
              <a:t>4. دفع (</a:t>
            </a:r>
            <a:r>
              <a:rPr lang="en-US" sz="2800" dirty="0">
                <a:cs typeface="B Nazanin" panose="00000400000000000000" pitchFamily="2" charset="-78"/>
              </a:rPr>
              <a:t>Excretion</a:t>
            </a:r>
            <a:r>
              <a:rPr lang="fa-IR" sz="2800" dirty="0">
                <a:cs typeface="B Nazanin" panose="00000400000000000000" pitchFamily="2" charset="-78"/>
              </a:rPr>
              <a:t>)</a:t>
            </a:r>
            <a:br>
              <a:rPr lang="fa-IR" sz="2800" dirty="0">
                <a:cs typeface="B Nazanin" panose="00000400000000000000" pitchFamily="2" charset="-78"/>
              </a:rPr>
            </a:br>
            <a:br>
              <a:rPr lang="fa-IR" sz="2800" dirty="0">
                <a:cs typeface="B Nazanin" panose="00000400000000000000" pitchFamily="2" charset="-78"/>
              </a:rPr>
            </a:br>
            <a:r>
              <a:rPr lang="fa-IR" sz="2200" b="0" dirty="0">
                <a:cs typeface="B Nazanin" panose="00000400000000000000" pitchFamily="2" charset="-78"/>
              </a:rPr>
              <a:t>آخرین مرحله، حذف دارو و متابولیت‌های آن از بدن است.</a:t>
            </a:r>
            <a:br>
              <a:rPr lang="fa-IR" sz="2200" b="0" dirty="0">
                <a:cs typeface="B Nazanin" panose="00000400000000000000" pitchFamily="2" charset="-78"/>
              </a:rPr>
            </a:br>
            <a:br>
              <a:rPr lang="fa-IR" sz="2200" b="0" dirty="0">
                <a:cs typeface="B Nazanin" panose="00000400000000000000" pitchFamily="2" charset="-78"/>
              </a:rPr>
            </a:br>
            <a:r>
              <a:rPr lang="fa-IR" sz="2700" dirty="0">
                <a:cs typeface="B Nazanin" panose="00000400000000000000" pitchFamily="2" charset="-78"/>
              </a:rPr>
              <a:t>راه‌های اصلی دفع:</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1. کلیه‌ها (ادرار)</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2. کبد (صفرا)</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3. ریه‌ها (برای داروهای فرّار)</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4. عرق، شیر، مدفوع</a:t>
            </a:r>
            <a:br>
              <a:rPr lang="fa-IR" sz="2200" b="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r>
              <a:rPr lang="fa-IR" sz="2200" b="0" dirty="0">
                <a:solidFill>
                  <a:srgbClr val="FF0000"/>
                </a:solidFill>
                <a:cs typeface="B Nazanin" panose="00000400000000000000" pitchFamily="2" charset="-78"/>
              </a:rPr>
              <a:t>* نکته پرستاری: </a:t>
            </a:r>
            <a:r>
              <a:rPr lang="fa-IR" sz="2200" b="0" dirty="0">
                <a:cs typeface="B Nazanin" panose="00000400000000000000" pitchFamily="2" charset="-78"/>
              </a:rPr>
              <a:t>در بیماران با نارسایی کلیه باید سطح دارو (مثل دیگوکسین، جنتامایسین) کنترل شود تا از سمیت جلوگیری گردد</a:t>
            </a:r>
            <a:br>
              <a:rPr lang="fa-IR" sz="2200" b="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r>
              <a:rPr lang="fa-IR" sz="2200" dirty="0">
                <a:cs typeface="B Nazanin" panose="00000400000000000000" pitchFamily="2" charset="-78"/>
              </a:rPr>
              <a:t>. به مجموع مراحل متابولیسم و دفع دارو ها اصطلاحا حذف یا </a:t>
            </a:r>
            <a:r>
              <a:rPr lang="en-US" sz="2200" dirty="0">
                <a:cs typeface="B Nazanin" panose="00000400000000000000" pitchFamily="2" charset="-78"/>
              </a:rPr>
              <a:t>elimination </a:t>
            </a:r>
            <a:r>
              <a:rPr lang="fa-IR" sz="2200" dirty="0">
                <a:cs typeface="B Nazanin" panose="00000400000000000000" pitchFamily="2" charset="-78"/>
              </a:rPr>
              <a:t>  گفته میشود.</a:t>
            </a:r>
            <a:br>
              <a:rPr lang="fa-IR" sz="2200" b="0" dirty="0">
                <a:cs typeface="B Nazanin" panose="00000400000000000000" pitchFamily="2" charset="-78"/>
              </a:rPr>
            </a:br>
            <a:endParaRPr lang="en-US" sz="2200" b="0" dirty="0">
              <a:cs typeface="B Nazanin" panose="00000400000000000000" pitchFamily="2" charset="-78"/>
            </a:endParaRPr>
          </a:p>
        </p:txBody>
      </p:sp>
    </p:spTree>
    <p:extLst>
      <p:ext uri="{BB962C8B-B14F-4D97-AF65-F5344CB8AC3E}">
        <p14:creationId xmlns:p14="http://schemas.microsoft.com/office/powerpoint/2010/main" val="596662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762FC-AE4E-4B5A-9732-2C517CACF38D}"/>
              </a:ext>
            </a:extLst>
          </p:cNvPr>
          <p:cNvSpPr>
            <a:spLocks noGrp="1"/>
          </p:cNvSpPr>
          <p:nvPr>
            <p:ph type="title"/>
          </p:nvPr>
        </p:nvSpPr>
        <p:spPr>
          <a:xfrm>
            <a:off x="603250" y="295422"/>
            <a:ext cx="10985500" cy="590843"/>
          </a:xfrm>
        </p:spPr>
        <p:txBody>
          <a:bodyPr>
            <a:normAutofit fontScale="90000"/>
          </a:bodyPr>
          <a:lstStyle/>
          <a:p>
            <a:pPr algn="r" rtl="1"/>
            <a:r>
              <a:rPr lang="fa-IR" sz="2800" dirty="0">
                <a:cs typeface="B Nazanin" panose="00000400000000000000" pitchFamily="2" charset="-78"/>
              </a:rPr>
              <a:t>اشکال دارویی (</a:t>
            </a:r>
            <a:r>
              <a:rPr lang="en-US" sz="2800" dirty="0">
                <a:cs typeface="B Nazanin" panose="00000400000000000000" pitchFamily="2" charset="-78"/>
              </a:rPr>
              <a:t>Dosage Forms</a:t>
            </a:r>
            <a:r>
              <a:rPr lang="fa-IR" sz="2800" dirty="0">
                <a:cs typeface="B Nazanin" panose="00000400000000000000" pitchFamily="2" charset="-78"/>
              </a:rPr>
              <a:t>)</a:t>
            </a:r>
            <a:br>
              <a:rPr lang="fa-IR" sz="2800" dirty="0">
                <a:cs typeface="B Nazanin" panose="00000400000000000000" pitchFamily="2" charset="-78"/>
              </a:rPr>
            </a:br>
            <a:br>
              <a:rPr lang="fa-IR" sz="2800" dirty="0">
                <a:cs typeface="B Nazanin" panose="00000400000000000000" pitchFamily="2" charset="-78"/>
              </a:rPr>
            </a:br>
            <a:r>
              <a:rPr lang="fa-IR" sz="2200" b="0" dirty="0">
                <a:cs typeface="B Nazanin" panose="00000400000000000000" pitchFamily="2" charset="-78"/>
              </a:rPr>
              <a:t>اشکال دارویی به فرم فیزیکی دارو گفته می‌شود که برای تجویز به بیمار ساخته می‌شود. هر شکل دارویی به گونه‌ای طراحی شده تا جذب، اثر، و راحتی مصرف را بهینه کند</a:t>
            </a:r>
            <a:br>
              <a:rPr lang="fa-IR" sz="2200" b="0" dirty="0">
                <a:cs typeface="B Nazanin" panose="00000400000000000000" pitchFamily="2" charset="-78"/>
              </a:rPr>
            </a:br>
            <a:br>
              <a:rPr lang="fa-IR" sz="2200" b="0" dirty="0">
                <a:cs typeface="B Nazanin" panose="00000400000000000000" pitchFamily="2" charset="-78"/>
              </a:rPr>
            </a:br>
            <a:r>
              <a:rPr lang="fa-IR" sz="2700" dirty="0">
                <a:cs typeface="B Nazanin" panose="00000400000000000000" pitchFamily="2" charset="-78"/>
              </a:rPr>
              <a:t>راه های تجویز دارو ها:</a:t>
            </a:r>
            <a:br>
              <a:rPr lang="en-US" sz="3100" dirty="0">
                <a:cs typeface="B Nazanin" panose="00000400000000000000" pitchFamily="2" charset="-78"/>
              </a:rPr>
            </a:br>
            <a:br>
              <a:rPr lang="fa-IR" sz="3100" dirty="0">
                <a:cs typeface="B Nazanin" panose="00000400000000000000" pitchFamily="2" charset="-78"/>
              </a:rPr>
            </a:br>
            <a:r>
              <a:rPr lang="fa-IR" sz="2700" dirty="0">
                <a:cs typeface="B Nazanin" panose="00000400000000000000" pitchFamily="2" charset="-78"/>
              </a:rPr>
              <a:t>1.خوراکی ( </a:t>
            </a:r>
            <a:r>
              <a:rPr lang="en-US" sz="2700" dirty="0">
                <a:cs typeface="B Nazanin" panose="00000400000000000000" pitchFamily="2" charset="-78"/>
              </a:rPr>
              <a:t>Oral</a:t>
            </a:r>
            <a:r>
              <a:rPr lang="fa-IR" sz="2700" dirty="0">
                <a:cs typeface="B Nazanin" panose="00000400000000000000" pitchFamily="2" charset="-78"/>
              </a:rPr>
              <a:t>)</a:t>
            </a:r>
            <a:br>
              <a:rPr lang="fa-IR" sz="3100" dirty="0">
                <a:cs typeface="B Nazanin" panose="00000400000000000000" pitchFamily="2" charset="-78"/>
              </a:rPr>
            </a:br>
            <a:br>
              <a:rPr lang="fa-IR" sz="3100" dirty="0">
                <a:cs typeface="B Nazanin" panose="00000400000000000000" pitchFamily="2" charset="-78"/>
              </a:rPr>
            </a:br>
            <a:r>
              <a:rPr lang="fa-IR" sz="2000" b="0" dirty="0">
                <a:cs typeface="B Nazanin" panose="00000400000000000000" pitchFamily="2" charset="-78"/>
              </a:rPr>
              <a:t>این روش معمولا آسان ترین روش مصرف داروست. بعضی از دارو ها در مصرف </a:t>
            </a:r>
            <a:r>
              <a:rPr lang="en-US" sz="2000" b="0" dirty="0">
                <a:cs typeface="B Nazanin" panose="00000400000000000000" pitchFamily="2" charset="-78"/>
              </a:rPr>
              <a:t>Oral </a:t>
            </a:r>
            <a:r>
              <a:rPr lang="fa-IR" sz="2000" b="0" dirty="0">
                <a:cs typeface="B Nazanin" panose="00000400000000000000" pitchFamily="2" charset="-78"/>
              </a:rPr>
              <a:t> دچار متابولیسم گذر اول کبدی </a:t>
            </a:r>
            <a:r>
              <a:rPr lang="en-US" sz="2000" b="0" dirty="0">
                <a:cs typeface="B Nazanin" panose="00000400000000000000" pitchFamily="2" charset="-78"/>
              </a:rPr>
              <a:t>First pass effect </a:t>
            </a:r>
            <a:r>
              <a:rPr lang="fa-IR" sz="2000" b="0" dirty="0">
                <a:cs typeface="B Nazanin" panose="00000400000000000000" pitchFamily="2" charset="-78"/>
              </a:rPr>
              <a:t> می شوند . یعنی قبل از ورود به جریان </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خون دچار متابولیسم می شوند و فراهمی زیستی کاهش پیدا می کند مثل : </a:t>
            </a:r>
            <a:r>
              <a:rPr lang="fa-IR" sz="2200" b="0" dirty="0">
                <a:cs typeface="B Nazanin" panose="00000400000000000000" pitchFamily="2" charset="-78"/>
              </a:rPr>
              <a:t>پروپرانولول</a:t>
            </a:r>
            <a:br>
              <a:rPr lang="fa-IR" sz="2200" b="0" dirty="0">
                <a:cs typeface="B Nazanin" panose="00000400000000000000" pitchFamily="2" charset="-78"/>
              </a:rPr>
            </a:br>
            <a:br>
              <a:rPr lang="fa-IR" sz="2200" dirty="0">
                <a:cs typeface="B Nazanin" panose="00000400000000000000" pitchFamily="2" charset="-78"/>
              </a:rPr>
            </a:br>
            <a:r>
              <a:rPr lang="fa-IR" sz="2200" dirty="0">
                <a:cs typeface="B Nazanin" panose="00000400000000000000" pitchFamily="2" charset="-78"/>
              </a:rPr>
              <a:t>. قرص</a:t>
            </a:r>
            <a:r>
              <a:rPr lang="en-US" sz="2200" dirty="0">
                <a:cs typeface="B Nazanin" panose="00000400000000000000" pitchFamily="2" charset="-78"/>
              </a:rPr>
              <a:t>: (Tablet) </a:t>
            </a:r>
            <a:r>
              <a:rPr lang="fa-IR" sz="2200" b="0" dirty="0">
                <a:cs typeface="B Nazanin" panose="00000400000000000000" pitchFamily="2" charset="-78"/>
              </a:rPr>
              <a:t>داروی جامد فشرده. ممکن است پوشش‌دار </a:t>
            </a:r>
            <a:r>
              <a:rPr lang="en-US" sz="2200" b="0" dirty="0">
                <a:cs typeface="B Nazanin" panose="00000400000000000000" pitchFamily="2" charset="-78"/>
              </a:rPr>
              <a:t> ( coated) </a:t>
            </a:r>
            <a:r>
              <a:rPr lang="fa-IR" sz="2200" b="0" dirty="0">
                <a:cs typeface="B Nazanin" panose="00000400000000000000" pitchFamily="2" charset="-78"/>
              </a:rPr>
              <a:t>یا بدون پوشش باشد. راحت مصرف می‌شود، نباید خرد شود مگر پزشک دستور </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دهد (به‌ویژه در قرص‌های آهسته‌رهش).</a:t>
            </a:r>
            <a:br>
              <a:rPr lang="fa-IR" sz="2200" b="0" dirty="0">
                <a:cs typeface="B Nazanin" panose="00000400000000000000" pitchFamily="2" charset="-78"/>
              </a:rPr>
            </a:br>
            <a:br>
              <a:rPr lang="fa-IR" sz="2200" b="0" dirty="0">
                <a:cs typeface="B Nazanin" panose="00000400000000000000" pitchFamily="2" charset="-78"/>
              </a:rPr>
            </a:br>
            <a:r>
              <a:rPr lang="fa-IR" sz="2200" dirty="0">
                <a:cs typeface="B Nazanin" panose="00000400000000000000" pitchFamily="2" charset="-78"/>
              </a:rPr>
              <a:t>. کپسول </a:t>
            </a:r>
            <a:r>
              <a:rPr lang="en-US" sz="2200" dirty="0">
                <a:cs typeface="B Nazanin" panose="00000400000000000000" pitchFamily="2" charset="-78"/>
              </a:rPr>
              <a:t>( Capsule) </a:t>
            </a:r>
            <a:r>
              <a:rPr lang="fa-IR" sz="2200" dirty="0">
                <a:cs typeface="B Nazanin" panose="00000400000000000000" pitchFamily="2" charset="-78"/>
              </a:rPr>
              <a:t>: </a:t>
            </a:r>
            <a:r>
              <a:rPr lang="fa-IR" sz="2200" b="0" dirty="0">
                <a:cs typeface="B Nazanin" panose="00000400000000000000" pitchFamily="2" charset="-78"/>
              </a:rPr>
              <a:t>پودر یا مایع دارویی در پوشش ژلاتینی. پوشش ژلاتینی در معده حل می‌شود؛ در فرم‌های  </a:t>
            </a:r>
            <a:r>
              <a:rPr lang="en-US" sz="2200" b="0" dirty="0">
                <a:cs typeface="B Nazanin" panose="00000400000000000000" pitchFamily="2" charset="-78"/>
              </a:rPr>
              <a:t>enteric coated </a:t>
            </a:r>
            <a:r>
              <a:rPr lang="fa-IR" sz="2200" b="0" dirty="0">
                <a:cs typeface="B Nazanin" panose="00000400000000000000" pitchFamily="2" charset="-78"/>
              </a:rPr>
              <a:t> نباید باز یا شکسته </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شوند.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a:t>
            </a:r>
            <a:r>
              <a:rPr lang="fa-IR" sz="2200" dirty="0">
                <a:cs typeface="B Nazanin" panose="00000400000000000000" pitchFamily="2" charset="-78"/>
              </a:rPr>
              <a:t>شربت</a:t>
            </a:r>
            <a:r>
              <a:rPr lang="en-US" sz="2200" dirty="0">
                <a:cs typeface="B Nazanin" panose="00000400000000000000" pitchFamily="2" charset="-78"/>
              </a:rPr>
              <a:t>: ( Syrup) </a:t>
            </a:r>
            <a:r>
              <a:rPr lang="fa-IR" sz="2200" b="0" dirty="0">
                <a:cs typeface="B Nazanin" panose="00000400000000000000" pitchFamily="2" charset="-78"/>
              </a:rPr>
              <a:t>محلول دارویی در آب و شکر. طعم مطبوع دارد؛ در کودکان پرکاربرد است. مراقب بیماران دیابتی باشید</a:t>
            </a:r>
            <a:br>
              <a:rPr lang="en-US" sz="2200" b="0" dirty="0">
                <a:cs typeface="B Nazanin" panose="00000400000000000000" pitchFamily="2" charset="-78"/>
              </a:rPr>
            </a:br>
            <a:br>
              <a:rPr lang="en-US" sz="2200" b="0" dirty="0">
                <a:cs typeface="B Nazanin" panose="00000400000000000000" pitchFamily="2" charset="-78"/>
              </a:rPr>
            </a:br>
            <a:br>
              <a:rPr lang="en-US" sz="2200" b="0" dirty="0">
                <a:cs typeface="B Nazanin" panose="00000400000000000000" pitchFamily="2" charset="-78"/>
              </a:rPr>
            </a:br>
            <a:r>
              <a:rPr lang="en-US" sz="2200" b="0" dirty="0">
                <a:cs typeface="B Nazanin" panose="00000400000000000000" pitchFamily="2" charset="-78"/>
              </a:rPr>
              <a:t> </a:t>
            </a:r>
            <a:r>
              <a:rPr lang="en-US" sz="2200" dirty="0">
                <a:cs typeface="B Nazanin" panose="00000400000000000000" pitchFamily="2" charset="-78"/>
              </a:rPr>
              <a:t>. </a:t>
            </a:r>
            <a:r>
              <a:rPr lang="fa-IR" sz="2200" dirty="0">
                <a:cs typeface="B Nazanin" panose="00000400000000000000" pitchFamily="2" charset="-78"/>
              </a:rPr>
              <a:t>سوسپانسیون (</a:t>
            </a:r>
            <a:r>
              <a:rPr lang="en-US" sz="2200" dirty="0">
                <a:cs typeface="B Nazanin" panose="00000400000000000000" pitchFamily="2" charset="-78"/>
              </a:rPr>
              <a:t>: ( Suspension)</a:t>
            </a:r>
            <a:r>
              <a:rPr lang="en-US" sz="2200" b="0" dirty="0">
                <a:cs typeface="B Nazanin" panose="00000400000000000000" pitchFamily="2" charset="-78"/>
              </a:rPr>
              <a:t> </a:t>
            </a:r>
            <a:r>
              <a:rPr lang="fa-IR" sz="2200" b="0" dirty="0">
                <a:cs typeface="B Nazanin" panose="00000400000000000000" pitchFamily="2" charset="-78"/>
              </a:rPr>
              <a:t>ذرات دارو در مایع پخش شده‌اند. قبل از مصرف باید تکان داده شود تا دارو یکنواخت شود</a:t>
            </a:r>
            <a:br>
              <a:rPr lang="fa-IR" sz="2200" b="0" dirty="0">
                <a:cs typeface="B Nazanin" panose="00000400000000000000" pitchFamily="2" charset="-78"/>
              </a:rPr>
            </a:br>
            <a:br>
              <a:rPr lang="fa-IR" sz="2200" b="0" dirty="0">
                <a:cs typeface="B Nazanin" panose="00000400000000000000" pitchFamily="2" charset="-78"/>
              </a:rPr>
            </a:br>
            <a:br>
              <a:rPr lang="fa-IR" sz="2700" dirty="0">
                <a:cs typeface="B Nazanin" panose="00000400000000000000" pitchFamily="2" charset="-78"/>
              </a:rPr>
            </a:br>
            <a:br>
              <a:rPr lang="fa-IR" sz="3100" dirty="0">
                <a:cs typeface="B Nazanin" panose="00000400000000000000" pitchFamily="2" charset="-78"/>
              </a:rPr>
            </a:br>
            <a:br>
              <a:rPr lang="fa-IR" sz="2200" b="0" dirty="0">
                <a:cs typeface="B Nazanin" panose="00000400000000000000" pitchFamily="2" charset="-78"/>
              </a:rPr>
            </a:br>
            <a:endParaRPr lang="en-US" sz="2200" b="0" dirty="0">
              <a:cs typeface="B Nazanin" panose="00000400000000000000" pitchFamily="2" charset="-78"/>
            </a:endParaRPr>
          </a:p>
        </p:txBody>
      </p:sp>
    </p:spTree>
    <p:extLst>
      <p:ext uri="{BB962C8B-B14F-4D97-AF65-F5344CB8AC3E}">
        <p14:creationId xmlns:p14="http://schemas.microsoft.com/office/powerpoint/2010/main" val="1788401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F95AC-1334-48A9-BCA7-42F2867D39D0}"/>
              </a:ext>
            </a:extLst>
          </p:cNvPr>
          <p:cNvSpPr>
            <a:spLocks noGrp="1"/>
          </p:cNvSpPr>
          <p:nvPr>
            <p:ph type="title"/>
          </p:nvPr>
        </p:nvSpPr>
        <p:spPr>
          <a:xfrm>
            <a:off x="603250" y="441276"/>
            <a:ext cx="10985500" cy="599733"/>
          </a:xfrm>
        </p:spPr>
        <p:txBody>
          <a:bodyPr>
            <a:normAutofit fontScale="90000"/>
          </a:bodyPr>
          <a:lstStyle/>
          <a:p>
            <a:pPr algn="r" rtl="1"/>
            <a:r>
              <a:rPr lang="fa-IR" sz="2000" dirty="0">
                <a:cs typeface="B Nazanin" panose="00000400000000000000" pitchFamily="2" charset="-78"/>
              </a:rPr>
              <a:t>. الگزیر (</a:t>
            </a:r>
            <a:r>
              <a:rPr lang="en-US" sz="2000" dirty="0">
                <a:cs typeface="B Nazanin" panose="00000400000000000000" pitchFamily="2" charset="-78"/>
              </a:rPr>
              <a:t>Elixir) </a:t>
            </a:r>
            <a:r>
              <a:rPr lang="fa-IR" sz="2000" dirty="0">
                <a:cs typeface="B Nazanin" panose="00000400000000000000" pitchFamily="2" charset="-78"/>
              </a:rPr>
              <a:t>) :</a:t>
            </a:r>
            <a:r>
              <a:rPr lang="fa-IR" sz="2000" b="0" dirty="0">
                <a:cs typeface="B Nazanin" panose="00000400000000000000" pitchFamily="2" charset="-78"/>
              </a:rPr>
              <a:t>م</a:t>
            </a:r>
            <a:r>
              <a:rPr lang="fa-IR" sz="2200" b="0" dirty="0">
                <a:cs typeface="B Nazanin" panose="00000400000000000000" pitchFamily="2" charset="-78"/>
              </a:rPr>
              <a:t>حلول دارویی در الکل و آب. حاوی الکل است، در کودکان و بیماران کبدی باید با احتیاط مصرف شود</a:t>
            </a:r>
            <a:br>
              <a:rPr lang="en-US" sz="2000" b="0" dirty="0">
                <a:cs typeface="B Nazanin" panose="00000400000000000000" pitchFamily="2" charset="-78"/>
              </a:rPr>
            </a:br>
            <a:br>
              <a:rPr lang="en-US" sz="2000" b="0" dirty="0">
                <a:cs typeface="B Nazanin" panose="00000400000000000000" pitchFamily="2" charset="-78"/>
              </a:rPr>
            </a:br>
            <a:br>
              <a:rPr lang="fa-IR" sz="2000" b="0" dirty="0">
                <a:cs typeface="B Nazanin" panose="00000400000000000000" pitchFamily="2" charset="-78"/>
              </a:rPr>
            </a:br>
            <a:r>
              <a:rPr lang="fa-IR" sz="3100" dirty="0">
                <a:cs typeface="B Nazanin" panose="00000400000000000000" pitchFamily="2" charset="-78"/>
              </a:rPr>
              <a:t>2. تزریقی </a:t>
            </a:r>
            <a:r>
              <a:rPr lang="fa-IR" sz="2000" dirty="0">
                <a:cs typeface="B Nazanin" panose="00000400000000000000" pitchFamily="2" charset="-78"/>
              </a:rPr>
              <a:t>-------  وریدی (</a:t>
            </a:r>
            <a:r>
              <a:rPr lang="en-US" sz="2000" dirty="0">
                <a:cs typeface="B Nazanin" panose="00000400000000000000" pitchFamily="2" charset="-78"/>
              </a:rPr>
              <a:t>IV</a:t>
            </a:r>
            <a:r>
              <a:rPr lang="fa-IR" sz="2000" dirty="0">
                <a:cs typeface="B Nazanin" panose="00000400000000000000" pitchFamily="2" charset="-78"/>
              </a:rPr>
              <a:t>) </a:t>
            </a:r>
            <a:r>
              <a:rPr lang="fa-IR" sz="2200" b="0" dirty="0">
                <a:cs typeface="B Nazanin" panose="00000400000000000000" pitchFamily="2" charset="-78"/>
              </a:rPr>
              <a:t>( فراهمی زیستی 100%، اثر سریع اما خطر سمیت بالاست)</a:t>
            </a:r>
            <a:br>
              <a:rPr lang="fa-IR" sz="2000" dirty="0">
                <a:cs typeface="B Nazanin" panose="00000400000000000000" pitchFamily="2" charset="-78"/>
              </a:rPr>
            </a:br>
            <a:r>
              <a:rPr lang="fa-IR" sz="2000" dirty="0">
                <a:cs typeface="B Nazanin" panose="00000400000000000000" pitchFamily="2" charset="-78"/>
              </a:rPr>
              <a:t>                           </a:t>
            </a:r>
            <a:br>
              <a:rPr lang="fa-IR" sz="2000" dirty="0">
                <a:cs typeface="B Nazanin" panose="00000400000000000000" pitchFamily="2" charset="-78"/>
              </a:rPr>
            </a:br>
            <a:r>
              <a:rPr lang="fa-IR" sz="2000" dirty="0">
                <a:cs typeface="B Nazanin" panose="00000400000000000000" pitchFamily="2" charset="-78"/>
              </a:rPr>
              <a:t>                                                 عضلانی ( </a:t>
            </a:r>
            <a:r>
              <a:rPr lang="en-US" sz="2000" dirty="0">
                <a:cs typeface="B Nazanin" panose="00000400000000000000" pitchFamily="2" charset="-78"/>
              </a:rPr>
              <a:t>IM</a:t>
            </a:r>
            <a:r>
              <a:rPr lang="fa-IR" sz="2200" dirty="0">
                <a:cs typeface="B Nazanin" panose="00000400000000000000" pitchFamily="2" charset="-78"/>
              </a:rPr>
              <a:t>) </a:t>
            </a:r>
            <a:r>
              <a:rPr lang="fa-IR" sz="2200" b="0" dirty="0">
                <a:cs typeface="B Nazanin" panose="00000400000000000000" pitchFamily="2" charset="-78"/>
              </a:rPr>
              <a:t>(فراهمی زیستی کمتر از </a:t>
            </a:r>
            <a:r>
              <a:rPr lang="en-US" sz="2200" b="0" dirty="0">
                <a:cs typeface="B Nazanin" panose="00000400000000000000" pitchFamily="2" charset="-78"/>
              </a:rPr>
              <a:t>IV </a:t>
            </a:r>
            <a:r>
              <a:rPr lang="fa-IR" sz="2200" b="0" dirty="0">
                <a:cs typeface="B Nazanin" panose="00000400000000000000" pitchFamily="2" charset="-78"/>
              </a:rPr>
              <a:t>، حجم محدود 2-5 میلی لیتر،  جذب سریع تر و کامل تر از</a:t>
            </a:r>
            <a:r>
              <a:rPr lang="en-US" sz="2200" b="0" dirty="0">
                <a:cs typeface="B Nazanin" panose="00000400000000000000" pitchFamily="2" charset="-78"/>
              </a:rPr>
              <a:t>oral </a:t>
            </a:r>
            <a:r>
              <a:rPr lang="fa-IR" sz="2200" b="0" dirty="0">
                <a:cs typeface="B Nazanin" panose="00000400000000000000" pitchFamily="2" charset="-78"/>
              </a:rPr>
              <a:t>)</a:t>
            </a:r>
            <a:br>
              <a:rPr lang="fa-IR" sz="2200" dirty="0">
                <a:cs typeface="B Nazanin" panose="00000400000000000000" pitchFamily="2" charset="-78"/>
              </a:rPr>
            </a:br>
            <a:r>
              <a:rPr lang="fa-IR" sz="2200" dirty="0">
                <a:cs typeface="B Nazanin" panose="00000400000000000000" pitchFamily="2" charset="-78"/>
              </a:rPr>
              <a:t>    </a:t>
            </a:r>
            <a:br>
              <a:rPr lang="fa-IR" sz="2000" dirty="0">
                <a:cs typeface="B Nazanin" panose="00000400000000000000" pitchFamily="2" charset="-78"/>
              </a:rPr>
            </a:br>
            <a:r>
              <a:rPr lang="fa-IR" sz="2000" dirty="0">
                <a:cs typeface="B Nazanin" panose="00000400000000000000" pitchFamily="2" charset="-78"/>
              </a:rPr>
              <a:t>                                                 زیرجلدی (</a:t>
            </a:r>
            <a:r>
              <a:rPr lang="en-US" sz="2000" dirty="0">
                <a:cs typeface="B Nazanin" panose="00000400000000000000" pitchFamily="2" charset="-78"/>
              </a:rPr>
              <a:t>SC</a:t>
            </a:r>
            <a:r>
              <a:rPr lang="fa-IR" sz="2200" dirty="0">
                <a:cs typeface="B Nazanin" panose="00000400000000000000" pitchFamily="2" charset="-78"/>
              </a:rPr>
              <a:t>)</a:t>
            </a:r>
            <a:r>
              <a:rPr lang="fa-IR" sz="2200" b="0" dirty="0">
                <a:cs typeface="B Nazanin" panose="00000400000000000000" pitchFamily="2" charset="-78"/>
              </a:rPr>
              <a:t>(جذب کند تر از </a:t>
            </a:r>
            <a:r>
              <a:rPr lang="en-US" sz="2200" b="0" dirty="0">
                <a:cs typeface="B Nazanin" panose="00000400000000000000" pitchFamily="2" charset="-78"/>
              </a:rPr>
              <a:t>IM </a:t>
            </a:r>
            <a:r>
              <a:rPr lang="fa-IR" sz="2200" b="0" dirty="0">
                <a:cs typeface="B Nazanin" panose="00000400000000000000" pitchFamily="2" charset="-78"/>
              </a:rPr>
              <a:t> و اینکه نمی توان مقدار زیادی دارو را تجویزکرد، تجویز به بافت چربی زیر پوست، رایج برای     </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انسولین و هپارین)</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a:t>
            </a:r>
            <a:r>
              <a:rPr lang="fa-IR" sz="2200" dirty="0">
                <a:cs typeface="B Nazanin" panose="00000400000000000000" pitchFamily="2" charset="-78"/>
              </a:rPr>
              <a:t>داخل جلدی( </a:t>
            </a:r>
            <a:r>
              <a:rPr lang="en-US" sz="2200" dirty="0">
                <a:cs typeface="B Nazanin" panose="00000400000000000000" pitchFamily="2" charset="-78"/>
              </a:rPr>
              <a:t>ID</a:t>
            </a:r>
            <a:r>
              <a:rPr lang="fa-IR" sz="2200" dirty="0">
                <a:cs typeface="B Nazanin" panose="00000400000000000000" pitchFamily="2" charset="-78"/>
              </a:rPr>
              <a:t>)</a:t>
            </a:r>
            <a:r>
              <a:rPr lang="fa-IR" sz="2200" b="0" dirty="0">
                <a:cs typeface="B Nazanin" panose="00000400000000000000" pitchFamily="2" charset="-78"/>
              </a:rPr>
              <a:t> (تزریق بین لایه‌های پوست. برای تست حساسیت (مانند تست توبرکولین) استفاده می‌شود)</a:t>
            </a:r>
            <a:br>
              <a:rPr lang="fa-IR" sz="2200" b="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r>
              <a:rPr lang="fa-IR" sz="3100" dirty="0">
                <a:cs typeface="B Nazanin" panose="00000400000000000000" pitchFamily="2" charset="-78"/>
              </a:rPr>
              <a:t>3.اشکال موضعی </a:t>
            </a:r>
            <a:r>
              <a:rPr lang="en-US" sz="3100" dirty="0">
                <a:cs typeface="B Nazanin" panose="00000400000000000000" pitchFamily="2" charset="-78"/>
              </a:rPr>
              <a:t>(Topical Forms)</a:t>
            </a:r>
            <a:br>
              <a:rPr lang="en-US" sz="2200" b="0" dirty="0">
                <a:cs typeface="B Nazanin" panose="00000400000000000000" pitchFamily="2" charset="-78"/>
              </a:rPr>
            </a:br>
            <a:br>
              <a:rPr lang="fa-IR" sz="2200" b="0" dirty="0">
                <a:cs typeface="B Nazanin" panose="00000400000000000000" pitchFamily="2" charset="-78"/>
              </a:rPr>
            </a:br>
            <a:r>
              <a:rPr lang="en-US" sz="2200" b="0" dirty="0">
                <a:cs typeface="B Nazanin" panose="00000400000000000000" pitchFamily="2" charset="-78"/>
              </a:rPr>
              <a:t>.</a:t>
            </a:r>
            <a:r>
              <a:rPr lang="fa-IR" sz="2000" dirty="0">
                <a:cs typeface="B Nazanin" panose="00000400000000000000" pitchFamily="2" charset="-78"/>
              </a:rPr>
              <a:t>پماد (</a:t>
            </a:r>
            <a:r>
              <a:rPr lang="en-US" sz="2000" dirty="0">
                <a:cs typeface="B Nazanin" panose="00000400000000000000" pitchFamily="2" charset="-78"/>
              </a:rPr>
              <a:t>Ointment</a:t>
            </a:r>
            <a:r>
              <a:rPr lang="fa-IR" sz="2000" dirty="0">
                <a:cs typeface="B Nazanin" panose="00000400000000000000" pitchFamily="2" charset="-78"/>
              </a:rPr>
              <a:t>):  </a:t>
            </a:r>
            <a:r>
              <a:rPr lang="fa-IR" sz="2200" b="0" dirty="0">
                <a:cs typeface="B Nazanin" panose="00000400000000000000" pitchFamily="2" charset="-78"/>
              </a:rPr>
              <a:t>پایه چرب روی پوست باقی می‌ماند. برای اثر موضعی (مثل ضد التهاب یا ضد قارچ).</a:t>
            </a:r>
            <a:br>
              <a:rPr lang="fa-IR" sz="2200" b="0" dirty="0">
                <a:cs typeface="B Nazanin" panose="00000400000000000000" pitchFamily="2" charset="-78"/>
              </a:rPr>
            </a:br>
            <a:br>
              <a:rPr lang="fa-IR" sz="2200" b="0" dirty="0">
                <a:cs typeface="B Nazanin" panose="00000400000000000000" pitchFamily="2" charset="-78"/>
              </a:rPr>
            </a:br>
            <a:r>
              <a:rPr lang="fa-IR" sz="2200" dirty="0">
                <a:cs typeface="B Nazanin" panose="00000400000000000000" pitchFamily="2" charset="-78"/>
              </a:rPr>
              <a:t>کرم (</a:t>
            </a:r>
            <a:r>
              <a:rPr lang="en-US" sz="2200" dirty="0">
                <a:cs typeface="B Nazanin" panose="00000400000000000000" pitchFamily="2" charset="-78"/>
              </a:rPr>
              <a:t>Cream) </a:t>
            </a:r>
            <a:r>
              <a:rPr lang="fa-IR" sz="2200" dirty="0">
                <a:cs typeface="B Nazanin" panose="00000400000000000000" pitchFamily="2" charset="-78"/>
              </a:rPr>
              <a:t>): </a:t>
            </a:r>
            <a:r>
              <a:rPr lang="fa-IR" sz="2200" b="0" dirty="0">
                <a:cs typeface="B Nazanin" panose="00000400000000000000" pitchFamily="2" charset="-78"/>
              </a:rPr>
              <a:t>مخلوط آب و چربی جذب بهتر از پماد. در مناطق مرطوب بدن استفاده می‌شود.</a:t>
            </a:r>
            <a:br>
              <a:rPr lang="fa-IR" sz="2200" b="0" dirty="0">
                <a:cs typeface="B Nazanin" panose="00000400000000000000" pitchFamily="2" charset="-78"/>
              </a:rPr>
            </a:br>
            <a:br>
              <a:rPr lang="fa-IR" sz="2200" b="0" dirty="0">
                <a:cs typeface="B Nazanin" panose="00000400000000000000" pitchFamily="2" charset="-78"/>
              </a:rPr>
            </a:br>
            <a:r>
              <a:rPr lang="fa-IR" sz="2200" dirty="0">
                <a:cs typeface="B Nazanin" panose="00000400000000000000" pitchFamily="2" charset="-78"/>
              </a:rPr>
              <a:t>ژل</a:t>
            </a:r>
            <a:r>
              <a:rPr lang="en-US" sz="2200" dirty="0">
                <a:cs typeface="B Nazanin" panose="00000400000000000000" pitchFamily="2" charset="-78"/>
              </a:rPr>
              <a:t>Gel) </a:t>
            </a:r>
            <a:r>
              <a:rPr lang="fa-IR" sz="2200" dirty="0">
                <a:cs typeface="B Nazanin" panose="00000400000000000000" pitchFamily="2" charset="-78"/>
              </a:rPr>
              <a:t>):</a:t>
            </a:r>
            <a:r>
              <a:rPr lang="fa-IR" sz="2200" b="0" dirty="0">
                <a:cs typeface="B Nazanin" panose="00000400000000000000" pitchFamily="2" charset="-78"/>
              </a:rPr>
              <a:t>پایه آبی شفاف. جذب سریع‌تر برای داروهای پوستی یا موضعی مفید است.</a:t>
            </a:r>
            <a:br>
              <a:rPr lang="fa-IR" sz="2200" b="0" dirty="0">
                <a:cs typeface="B Nazanin" panose="00000400000000000000" pitchFamily="2" charset="-78"/>
              </a:rPr>
            </a:br>
            <a:br>
              <a:rPr lang="fa-IR" sz="2200" b="0" dirty="0">
                <a:cs typeface="B Nazanin" panose="00000400000000000000" pitchFamily="2" charset="-78"/>
              </a:rPr>
            </a:br>
            <a:r>
              <a:rPr lang="fa-IR" sz="2200" dirty="0">
                <a:cs typeface="B Nazanin" panose="00000400000000000000" pitchFamily="2" charset="-78"/>
              </a:rPr>
              <a:t>چسب پوستی </a:t>
            </a:r>
            <a:r>
              <a:rPr lang="en-US" sz="2200" dirty="0">
                <a:cs typeface="B Nazanin" panose="00000400000000000000" pitchFamily="2" charset="-78"/>
              </a:rPr>
              <a:t>Transdermal Patch) </a:t>
            </a:r>
            <a:r>
              <a:rPr lang="fa-IR" sz="2200" dirty="0">
                <a:cs typeface="B Nazanin" panose="00000400000000000000" pitchFamily="2" charset="-78"/>
              </a:rPr>
              <a:t>): </a:t>
            </a:r>
            <a:r>
              <a:rPr lang="fa-IR" sz="2200" b="0" dirty="0">
                <a:cs typeface="B Nazanin" panose="00000400000000000000" pitchFamily="2" charset="-78"/>
              </a:rPr>
              <a:t>دارو از طریق پوست جذب و وارد خون می‌شود. آزادسازی آهسته و مداوم؛ مثل نیکوتین یا فنتانیل</a:t>
            </a:r>
            <a:br>
              <a:rPr lang="fa-IR" sz="2200" b="0" dirty="0">
                <a:cs typeface="B Nazanin" panose="00000400000000000000" pitchFamily="2" charset="-78"/>
              </a:rPr>
            </a:br>
            <a:r>
              <a:rPr lang="fa-IR" sz="2200" b="0" dirty="0">
                <a:cs typeface="B Nazanin" panose="00000400000000000000" pitchFamily="2" charset="-78"/>
              </a:rPr>
              <a:t> </a:t>
            </a:r>
            <a:endParaRPr lang="en-US" sz="2200" b="0" dirty="0">
              <a:cs typeface="B Nazanin" panose="00000400000000000000" pitchFamily="2" charset="-78"/>
            </a:endParaRPr>
          </a:p>
        </p:txBody>
      </p:sp>
    </p:spTree>
    <p:extLst>
      <p:ext uri="{BB962C8B-B14F-4D97-AF65-F5344CB8AC3E}">
        <p14:creationId xmlns:p14="http://schemas.microsoft.com/office/powerpoint/2010/main" val="2412244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D7C8B-D035-400C-A970-6FA86997FF07}"/>
              </a:ext>
            </a:extLst>
          </p:cNvPr>
          <p:cNvSpPr>
            <a:spLocks noGrp="1"/>
          </p:cNvSpPr>
          <p:nvPr>
            <p:ph type="title"/>
          </p:nvPr>
        </p:nvSpPr>
        <p:spPr>
          <a:xfrm>
            <a:off x="603250" y="497547"/>
            <a:ext cx="10985500" cy="716582"/>
          </a:xfrm>
        </p:spPr>
        <p:txBody>
          <a:bodyPr>
            <a:normAutofit fontScale="90000"/>
          </a:bodyPr>
          <a:lstStyle/>
          <a:p>
            <a:pPr algn="r" rtl="1"/>
            <a:r>
              <a:rPr lang="fa-IR" sz="3100" dirty="0">
                <a:cs typeface="B Nazanin" panose="00000400000000000000" pitchFamily="2" charset="-78"/>
              </a:rPr>
              <a:t>4.اشکال استنشاقی </a:t>
            </a:r>
            <a:r>
              <a:rPr lang="en-US" sz="3100" dirty="0">
                <a:cs typeface="B Nazanin" panose="00000400000000000000" pitchFamily="2" charset="-78"/>
              </a:rPr>
              <a:t>Inhalation Forms)</a:t>
            </a:r>
            <a:r>
              <a:rPr lang="fa-IR" sz="3100" dirty="0">
                <a:cs typeface="B Nazanin" panose="00000400000000000000" pitchFamily="2" charset="-78"/>
              </a:rPr>
              <a:t>)</a:t>
            </a:r>
            <a:br>
              <a:rPr lang="en-US" dirty="0">
                <a:cs typeface="B Nazanin" panose="00000400000000000000" pitchFamily="2" charset="-78"/>
              </a:rPr>
            </a:br>
            <a:br>
              <a:rPr lang="fa-IR" dirty="0">
                <a:cs typeface="B Nazanin" panose="00000400000000000000" pitchFamily="2" charset="-78"/>
              </a:rPr>
            </a:br>
            <a:r>
              <a:rPr lang="fa-IR" dirty="0">
                <a:cs typeface="B Nazanin" panose="00000400000000000000" pitchFamily="2" charset="-78"/>
              </a:rPr>
              <a:t>.</a:t>
            </a:r>
            <a:r>
              <a:rPr lang="fa-IR" sz="2200" dirty="0">
                <a:cs typeface="B Nazanin" panose="00000400000000000000" pitchFamily="2" charset="-78"/>
              </a:rPr>
              <a:t>اسپری یا آئروسل</a:t>
            </a:r>
            <a:r>
              <a:rPr lang="en-US" sz="2200" dirty="0">
                <a:cs typeface="B Nazanin" panose="00000400000000000000" pitchFamily="2" charset="-78"/>
              </a:rPr>
              <a:t>:(Inhaler) </a:t>
            </a:r>
            <a:r>
              <a:rPr lang="fa-IR" sz="2200" b="0" dirty="0">
                <a:cs typeface="B Nazanin" panose="00000400000000000000" pitchFamily="2" charset="-78"/>
              </a:rPr>
              <a:t>ذرات ریز دارویی برای جذب در مجاری تنفسی. </a:t>
            </a:r>
            <a:br>
              <a:rPr lang="fa-IR" dirty="0">
                <a:cs typeface="B Nazanin" panose="00000400000000000000" pitchFamily="2" charset="-78"/>
              </a:rPr>
            </a:br>
            <a:br>
              <a:rPr lang="en-US" dirty="0">
                <a:cs typeface="B Nazanin" panose="00000400000000000000" pitchFamily="2" charset="-78"/>
              </a:rPr>
            </a:br>
            <a:r>
              <a:rPr lang="en-US" sz="2200" dirty="0">
                <a:cs typeface="B Nazanin" panose="00000400000000000000" pitchFamily="2" charset="-78"/>
              </a:rPr>
              <a:t>.</a:t>
            </a:r>
            <a:r>
              <a:rPr lang="fa-IR" sz="2200" dirty="0">
                <a:cs typeface="B Nazanin" panose="00000400000000000000" pitchFamily="2" charset="-78"/>
              </a:rPr>
              <a:t>نِبولایزر</a:t>
            </a:r>
            <a:r>
              <a:rPr lang="en-US" sz="2200" dirty="0">
                <a:cs typeface="B Nazanin" panose="00000400000000000000" pitchFamily="2" charset="-78"/>
              </a:rPr>
              <a:t>Nebulizer) </a:t>
            </a:r>
            <a:r>
              <a:rPr lang="fa-IR" sz="2200" dirty="0">
                <a:cs typeface="B Nazanin" panose="00000400000000000000" pitchFamily="2" charset="-78"/>
              </a:rPr>
              <a:t>) :</a:t>
            </a:r>
            <a:r>
              <a:rPr lang="fa-IR" sz="2200" b="0" dirty="0">
                <a:cs typeface="B Nazanin" panose="00000400000000000000" pitchFamily="2" charset="-78"/>
              </a:rPr>
              <a:t>تبدیل محلول دارویی به بخار قابل استنشاق. برای بیماران تنفسی مزمن مانند آسم یا </a:t>
            </a:r>
            <a:r>
              <a:rPr lang="en-US" sz="2200" b="0" dirty="0">
                <a:cs typeface="B Nazanin" panose="00000400000000000000" pitchFamily="2" charset="-78"/>
              </a:rPr>
              <a:t>COPD</a:t>
            </a:r>
            <a:br>
              <a:rPr lang="en-US" sz="2200" b="0" dirty="0">
                <a:cs typeface="B Nazanin" panose="00000400000000000000" pitchFamily="2" charset="-78"/>
              </a:rPr>
            </a:br>
            <a:br>
              <a:rPr lang="en-US" sz="2200" b="0" dirty="0">
                <a:cs typeface="B Nazanin" panose="00000400000000000000" pitchFamily="2" charset="-78"/>
              </a:rPr>
            </a:br>
            <a:r>
              <a:rPr lang="fa-IR" sz="3100" dirty="0">
                <a:cs typeface="B Nazanin" panose="00000400000000000000" pitchFamily="2" charset="-78"/>
              </a:rPr>
              <a:t> </a:t>
            </a:r>
            <a:br>
              <a:rPr lang="fa-IR" sz="3100" dirty="0">
                <a:cs typeface="B Nazanin" panose="00000400000000000000" pitchFamily="2" charset="-78"/>
              </a:rPr>
            </a:br>
            <a:r>
              <a:rPr lang="fa-IR" sz="3100" dirty="0">
                <a:cs typeface="B Nazanin" panose="00000400000000000000" pitchFamily="2" charset="-78"/>
              </a:rPr>
              <a:t>5.اشکال مهبلی و مقعدی</a:t>
            </a:r>
            <a:r>
              <a:rPr lang="en-US" sz="2200" dirty="0">
                <a:cs typeface="B Nazanin" panose="00000400000000000000" pitchFamily="2" charset="-78"/>
              </a:rPr>
              <a:t>Suppositories)</a:t>
            </a:r>
            <a:r>
              <a:rPr lang="fa-IR" sz="2200" dirty="0">
                <a:cs typeface="B Nazanin" panose="00000400000000000000" pitchFamily="2" charset="-78"/>
              </a:rPr>
              <a:t>)</a:t>
            </a:r>
            <a:br>
              <a:rPr lang="en-US"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a:t>
            </a:r>
            <a:r>
              <a:rPr lang="fa-IR" sz="2200" dirty="0">
                <a:cs typeface="B Nazanin" panose="00000400000000000000" pitchFamily="2" charset="-78"/>
              </a:rPr>
              <a:t>شیاف </a:t>
            </a:r>
            <a:r>
              <a:rPr lang="en-US" sz="2200" dirty="0">
                <a:cs typeface="B Nazanin" panose="00000400000000000000" pitchFamily="2" charset="-78"/>
              </a:rPr>
              <a:t>: (Suppository) </a:t>
            </a:r>
            <a:r>
              <a:rPr lang="fa-IR" sz="2200" b="0" dirty="0">
                <a:cs typeface="B Nazanin" panose="00000400000000000000" pitchFamily="2" charset="-78"/>
              </a:rPr>
              <a:t>دارو در پایه نرم (چربی یا گلیسیرین) که در دمای بدن ذوب می‌شود. برای بیمارانی که نمی‌توانند داروی خوراکی مصرف کنند؛ </a:t>
            </a:r>
            <a:br>
              <a:rPr lang="en-US" sz="2200" b="0" dirty="0">
                <a:cs typeface="B Nazanin" panose="00000400000000000000" pitchFamily="2" charset="-78"/>
              </a:rPr>
            </a:br>
            <a:br>
              <a:rPr lang="en-US" sz="2200" b="0" dirty="0">
                <a:cs typeface="B Nazanin" panose="00000400000000000000" pitchFamily="2" charset="-78"/>
              </a:rPr>
            </a:br>
            <a:r>
              <a:rPr lang="fa-IR" sz="2200" b="0" dirty="0">
                <a:cs typeface="B Nazanin" panose="00000400000000000000" pitchFamily="2" charset="-78"/>
              </a:rPr>
              <a:t>جذب از وریدهای رکتال.</a:t>
            </a:r>
            <a:br>
              <a:rPr lang="fa-IR" sz="2200" b="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br>
              <a:rPr lang="en-US" sz="2200" b="0" dirty="0">
                <a:cs typeface="B Nazanin" panose="00000400000000000000" pitchFamily="2" charset="-78"/>
              </a:rPr>
            </a:br>
            <a:br>
              <a:rPr lang="en-US" sz="2200" b="0" dirty="0">
                <a:cs typeface="B Nazanin" panose="00000400000000000000" pitchFamily="2" charset="-78"/>
              </a:rPr>
            </a:br>
            <a:endParaRPr lang="en-US" sz="2200" b="0" dirty="0">
              <a:cs typeface="B Nazanin" panose="00000400000000000000" pitchFamily="2" charset="-78"/>
            </a:endParaRPr>
          </a:p>
        </p:txBody>
      </p:sp>
    </p:spTree>
    <p:extLst>
      <p:ext uri="{BB962C8B-B14F-4D97-AF65-F5344CB8AC3E}">
        <p14:creationId xmlns:p14="http://schemas.microsoft.com/office/powerpoint/2010/main" val="753782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D1CB4-6857-41CD-AFD7-4214E643B760}"/>
              </a:ext>
            </a:extLst>
          </p:cNvPr>
          <p:cNvSpPr>
            <a:spLocks noGrp="1"/>
          </p:cNvSpPr>
          <p:nvPr>
            <p:ph type="title"/>
          </p:nvPr>
        </p:nvSpPr>
        <p:spPr>
          <a:xfrm>
            <a:off x="618978" y="539750"/>
            <a:ext cx="10969772" cy="487192"/>
          </a:xfrm>
        </p:spPr>
        <p:txBody>
          <a:bodyPr>
            <a:noAutofit/>
          </a:bodyPr>
          <a:lstStyle/>
          <a:p>
            <a:pPr algn="r" rtl="1"/>
            <a:r>
              <a:rPr lang="ar-SA" sz="2800" dirty="0">
                <a:cs typeface="B Nazanin" panose="00000400000000000000" pitchFamily="2" charset="-78"/>
              </a:rPr>
              <a:t>پاسخهای مضر و غیر قابل پیش بینی داروها </a:t>
            </a:r>
            <a:r>
              <a:rPr lang="en-US" sz="2800" dirty="0">
                <a:cs typeface="B Nazanin" panose="00000400000000000000" pitchFamily="2" charset="-78"/>
              </a:rPr>
              <a:t>:</a:t>
            </a:r>
            <a:br>
              <a:rPr lang="en-US" sz="2000" b="0" dirty="0">
                <a:cs typeface="B Nazanin" panose="00000400000000000000" pitchFamily="2" charset="-78"/>
              </a:rPr>
            </a:br>
            <a:r>
              <a:rPr lang="en-US" sz="2000" b="0" dirty="0">
                <a:cs typeface="B Nazanin" panose="00000400000000000000" pitchFamily="2" charset="-78"/>
              </a:rPr>
              <a:t> </a:t>
            </a:r>
            <a:br>
              <a:rPr lang="fa-IR" sz="2000" b="0" dirty="0">
                <a:cs typeface="B Nazanin" panose="00000400000000000000" pitchFamily="2" charset="-78"/>
              </a:rPr>
            </a:br>
            <a:br>
              <a:rPr lang="en-US" sz="2000" b="0" dirty="0">
                <a:cs typeface="B Nazanin" panose="00000400000000000000" pitchFamily="2" charset="-78"/>
              </a:rPr>
            </a:br>
            <a:r>
              <a:rPr lang="en-US" sz="2000" dirty="0">
                <a:cs typeface="B Nazanin" panose="00000400000000000000" pitchFamily="2" charset="-78"/>
              </a:rPr>
              <a:t></a:t>
            </a:r>
            <a:r>
              <a:rPr lang="ar-SA" sz="2000" dirty="0">
                <a:cs typeface="B Nazanin" panose="00000400000000000000" pitchFamily="2" charset="-78"/>
              </a:rPr>
              <a:t>  </a:t>
            </a:r>
            <a:r>
              <a:rPr lang="en-US" sz="2000" dirty="0">
                <a:cs typeface="B Nazanin" panose="00000400000000000000" pitchFamily="2" charset="-78"/>
              </a:rPr>
              <a:t>-1 </a:t>
            </a:r>
            <a:r>
              <a:rPr lang="ar-SA" sz="2000" dirty="0">
                <a:cs typeface="B Nazanin" panose="00000400000000000000" pitchFamily="2" charset="-78"/>
              </a:rPr>
              <a:t>آلرژی دارویی</a:t>
            </a:r>
            <a:r>
              <a:rPr lang="en-US" sz="2000" dirty="0">
                <a:cs typeface="B Nazanin" panose="00000400000000000000" pitchFamily="2" charset="-78"/>
              </a:rPr>
              <a:t>:  </a:t>
            </a:r>
            <a:r>
              <a:rPr lang="en-US" sz="2000" b="0" dirty="0">
                <a:cs typeface="B Nazanin" panose="00000400000000000000" pitchFamily="2" charset="-78"/>
              </a:rPr>
              <a:t>(</a:t>
            </a:r>
            <a:r>
              <a:rPr lang="en-US" sz="2000" b="0" dirty="0" err="1">
                <a:cs typeface="B Nazanin" panose="00000400000000000000" pitchFamily="2" charset="-78"/>
              </a:rPr>
              <a:t>Alergy</a:t>
            </a:r>
            <a:r>
              <a:rPr lang="en-US" sz="2000" b="0" dirty="0">
                <a:cs typeface="B Nazanin" panose="00000400000000000000" pitchFamily="2" charset="-78"/>
              </a:rPr>
              <a:t> )</a:t>
            </a:r>
            <a:r>
              <a:rPr lang="ar-SA" sz="2000" b="0" dirty="0">
                <a:cs typeface="B Nazanin" panose="00000400000000000000" pitchFamily="2" charset="-78"/>
              </a:rPr>
              <a:t>در مواردحاد این آلرژی تبدیل می شود به واکنش های آنافی</a:t>
            </a:r>
            <a:r>
              <a:rPr lang="fa-IR" sz="2000" b="0" dirty="0">
                <a:cs typeface="B Nazanin" panose="00000400000000000000" pitchFamily="2" charset="-78"/>
              </a:rPr>
              <a:t>لا</a:t>
            </a:r>
            <a:r>
              <a:rPr lang="ar-SA" sz="2000" b="0" dirty="0">
                <a:cs typeface="B Nazanin" panose="00000400000000000000" pitchFamily="2" charset="-78"/>
              </a:rPr>
              <a:t>کسی مانند هیپوتانسیون و اسپاسم برونش </a:t>
            </a:r>
            <a:r>
              <a:rPr lang="en-US" sz="2000" b="0" dirty="0">
                <a:cs typeface="B Nazanin" panose="00000400000000000000" pitchFamily="2" charset="-78"/>
              </a:rPr>
              <a:t>.</a:t>
            </a:r>
            <a:br>
              <a:rPr lang="en-US" sz="2000" b="0" dirty="0">
                <a:cs typeface="B Nazanin" panose="00000400000000000000" pitchFamily="2" charset="-78"/>
              </a:rPr>
            </a:br>
            <a:r>
              <a:rPr lang="en-US" sz="2000" b="0" dirty="0">
                <a:cs typeface="B Nazanin" panose="00000400000000000000" pitchFamily="2" charset="-78"/>
              </a:rPr>
              <a:t> </a:t>
            </a:r>
            <a:br>
              <a:rPr lang="en-US" sz="2000" b="0" dirty="0">
                <a:cs typeface="B Nazanin" panose="00000400000000000000" pitchFamily="2" charset="-78"/>
              </a:rPr>
            </a:br>
            <a:br>
              <a:rPr lang="en-US" sz="2000" b="0" dirty="0">
                <a:cs typeface="B Nazanin" panose="00000400000000000000" pitchFamily="2" charset="-78"/>
              </a:rPr>
            </a:br>
            <a:r>
              <a:rPr lang="en-US" sz="2000" dirty="0">
                <a:cs typeface="B Nazanin" panose="00000400000000000000" pitchFamily="2" charset="-78"/>
              </a:rPr>
              <a:t></a:t>
            </a:r>
            <a:r>
              <a:rPr lang="ar-SA" sz="2000" dirty="0">
                <a:cs typeface="B Nazanin" panose="00000400000000000000" pitchFamily="2" charset="-78"/>
              </a:rPr>
              <a:t>  </a:t>
            </a:r>
            <a:r>
              <a:rPr lang="en-US" sz="2000" dirty="0">
                <a:cs typeface="B Nazanin" panose="00000400000000000000" pitchFamily="2" charset="-78"/>
              </a:rPr>
              <a:t>-2 </a:t>
            </a:r>
            <a:r>
              <a:rPr lang="ar-SA" sz="2000" dirty="0">
                <a:cs typeface="B Nazanin" panose="00000400000000000000" pitchFamily="2" charset="-78"/>
              </a:rPr>
              <a:t>تحمل یا </a:t>
            </a:r>
            <a:r>
              <a:rPr lang="en-US" sz="2000" dirty="0">
                <a:cs typeface="B Nazanin" panose="00000400000000000000" pitchFamily="2" charset="-78"/>
              </a:rPr>
              <a:t>: </a:t>
            </a:r>
            <a:r>
              <a:rPr lang="en-US" sz="2000" dirty="0" err="1">
                <a:cs typeface="B Nazanin" panose="00000400000000000000" pitchFamily="2" charset="-78"/>
              </a:rPr>
              <a:t>Tolenroce</a:t>
            </a:r>
            <a:r>
              <a:rPr lang="en-US" sz="2000" b="0" dirty="0">
                <a:cs typeface="B Nazanin" panose="00000400000000000000" pitchFamily="2" charset="-78"/>
              </a:rPr>
              <a:t> </a:t>
            </a:r>
            <a:r>
              <a:rPr lang="ar-SA" sz="2000" b="0" dirty="0">
                <a:cs typeface="B Nazanin" panose="00000400000000000000" pitchFamily="2" charset="-78"/>
              </a:rPr>
              <a:t>کاهش اثرات فارماکولوژیکی داروها در اثر تجویز زیاد که بیشتر در داروهای مخدروجود دارد مثل دیازپام </a:t>
            </a:r>
            <a:r>
              <a:rPr lang="fa-IR" sz="2000" b="0" dirty="0">
                <a:cs typeface="B Nazanin" panose="00000400000000000000" pitchFamily="2" charset="-78"/>
              </a:rPr>
              <a:t>، </a:t>
            </a:r>
            <a:r>
              <a:rPr lang="ar-SA" sz="2000" b="0" dirty="0">
                <a:cs typeface="B Nazanin" panose="00000400000000000000" pitchFamily="2" charset="-78"/>
              </a:rPr>
              <a:t>مواد </a:t>
            </a:r>
            <a:r>
              <a:rPr lang="fa-IR" sz="2000" b="0" dirty="0">
                <a:cs typeface="B Nazanin" panose="00000400000000000000" pitchFamily="2" charset="-78"/>
              </a:rPr>
              <a:t>مخدر و الکل </a:t>
            </a:r>
            <a:br>
              <a:rPr lang="fa-IR" sz="2000" b="0" dirty="0">
                <a:cs typeface="B Nazanin" panose="00000400000000000000" pitchFamily="2" charset="-78"/>
              </a:rPr>
            </a:br>
            <a:br>
              <a:rPr lang="fa-IR" sz="2000" b="0" dirty="0">
                <a:cs typeface="B Nazanin" panose="00000400000000000000" pitchFamily="2" charset="-78"/>
              </a:rPr>
            </a:br>
            <a:r>
              <a:rPr lang="ar-SA" sz="2000" b="0" dirty="0">
                <a:cs typeface="B Nazanin" panose="00000400000000000000" pitchFamily="2" charset="-78"/>
              </a:rPr>
              <a:t>گاهاً این تحمل سریع اتفاق می افتد که به آن تاکی فی</a:t>
            </a:r>
            <a:r>
              <a:rPr lang="fa-IR" sz="2000" b="0" dirty="0">
                <a:cs typeface="B Nazanin" panose="00000400000000000000" pitchFamily="2" charset="-78"/>
              </a:rPr>
              <a:t>لا</a:t>
            </a:r>
            <a:r>
              <a:rPr lang="ar-SA" sz="2000" b="0" dirty="0">
                <a:cs typeface="B Nazanin" panose="00000400000000000000" pitchFamily="2" charset="-78"/>
              </a:rPr>
              <a:t>کسی گفته می شود مثل بی حس کننده های موضعی که تحمل دارویی در آنها گاهاً سریع اتفاق می افتد</a:t>
            </a:r>
            <a:br>
              <a:rPr lang="en-US" sz="2000" b="0" dirty="0">
                <a:cs typeface="B Nazanin" panose="00000400000000000000" pitchFamily="2" charset="-78"/>
              </a:rPr>
            </a:br>
            <a:r>
              <a:rPr lang="en-US" sz="2000" b="0" dirty="0">
                <a:cs typeface="B Nazanin" panose="00000400000000000000" pitchFamily="2" charset="-78"/>
              </a:rPr>
              <a:t> </a:t>
            </a:r>
            <a:br>
              <a:rPr lang="en-US" sz="2000" b="0" dirty="0">
                <a:cs typeface="B Nazanin" panose="00000400000000000000" pitchFamily="2" charset="-78"/>
              </a:rPr>
            </a:br>
            <a:r>
              <a:rPr lang="en-US" sz="2000" b="0" dirty="0">
                <a:cs typeface="B Nazanin" panose="00000400000000000000" pitchFamily="2" charset="-78"/>
              </a:rPr>
              <a:t></a:t>
            </a:r>
            <a:r>
              <a:rPr lang="ar-SA" sz="2000" b="0" dirty="0">
                <a:cs typeface="B Nazanin" panose="00000400000000000000" pitchFamily="2" charset="-78"/>
              </a:rPr>
              <a:t>  </a:t>
            </a:r>
            <a:r>
              <a:rPr lang="en-US" sz="2000" b="0" dirty="0">
                <a:cs typeface="B Nazanin" panose="00000400000000000000" pitchFamily="2" charset="-78"/>
              </a:rPr>
              <a:t>-</a:t>
            </a:r>
            <a:r>
              <a:rPr lang="en-US" sz="2000" dirty="0">
                <a:cs typeface="B Nazanin" panose="00000400000000000000" pitchFamily="2" charset="-78"/>
              </a:rPr>
              <a:t>3 </a:t>
            </a:r>
            <a:r>
              <a:rPr lang="ar-SA" sz="2000" dirty="0">
                <a:cs typeface="B Nazanin" panose="00000400000000000000" pitchFamily="2" charset="-78"/>
              </a:rPr>
              <a:t>وابستگی دارویی </a:t>
            </a:r>
            <a:r>
              <a:rPr lang="en-US" sz="2000" dirty="0">
                <a:cs typeface="B Nazanin" panose="00000400000000000000" pitchFamily="2" charset="-78"/>
              </a:rPr>
              <a:t>: </a:t>
            </a:r>
            <a:r>
              <a:rPr lang="ar-SA" sz="2000" b="0" dirty="0">
                <a:cs typeface="B Nazanin" panose="00000400000000000000" pitchFamily="2" charset="-78"/>
              </a:rPr>
              <a:t>گاهاً به داروها وابستگی یا </a:t>
            </a:r>
            <a:r>
              <a:rPr lang="fa-IR" sz="2000" b="0" dirty="0">
                <a:cs typeface="B Nazanin" panose="00000400000000000000" pitchFamily="2" charset="-78"/>
              </a:rPr>
              <a:t> </a:t>
            </a:r>
            <a:r>
              <a:rPr lang="en-US" sz="2000" b="0" dirty="0">
                <a:cs typeface="B Nazanin" panose="00000400000000000000" pitchFamily="2" charset="-78"/>
              </a:rPr>
              <a:t> dependence</a:t>
            </a:r>
            <a:r>
              <a:rPr lang="ar-SA" sz="2000" b="0" dirty="0">
                <a:cs typeface="B Nazanin" panose="00000400000000000000" pitchFamily="2" charset="-78"/>
              </a:rPr>
              <a:t>ایجاد می شود </a:t>
            </a:r>
            <a:r>
              <a:rPr lang="en-US" sz="2000" b="0" dirty="0">
                <a:cs typeface="B Nazanin" panose="00000400000000000000" pitchFamily="2" charset="-78"/>
              </a:rPr>
              <a:t>.</a:t>
            </a:r>
            <a:r>
              <a:rPr lang="ar-SA" sz="2000" b="0" dirty="0">
                <a:cs typeface="B Nazanin" panose="00000400000000000000" pitchFamily="2" charset="-78"/>
              </a:rPr>
              <a:t>این وابستگی ممکن است روانی</a:t>
            </a:r>
            <a:r>
              <a:rPr lang="en-US" sz="2000" b="0" dirty="0">
                <a:cs typeface="B Nazanin" panose="00000400000000000000" pitchFamily="2" charset="-78"/>
              </a:rPr>
              <a:t> </a:t>
            </a:r>
            <a:r>
              <a:rPr lang="ar-SA" sz="2000" b="0" dirty="0">
                <a:cs typeface="B Nazanin" panose="00000400000000000000" pitchFamily="2" charset="-78"/>
              </a:rPr>
              <a:t>یا جسمی باشد </a:t>
            </a:r>
            <a:r>
              <a:rPr lang="en-US" sz="2000" b="0" dirty="0">
                <a:cs typeface="B Nazanin" panose="00000400000000000000" pitchFamily="2" charset="-78"/>
              </a:rPr>
              <a:t>. </a:t>
            </a:r>
            <a:r>
              <a:rPr lang="ar-SA" sz="2000" b="0" dirty="0">
                <a:cs typeface="B Nazanin" panose="00000400000000000000" pitchFamily="2" charset="-78"/>
              </a:rPr>
              <a:t>مث</a:t>
            </a:r>
            <a:r>
              <a:rPr lang="fa-IR" sz="2000" b="0" dirty="0">
                <a:cs typeface="B Nazanin" panose="00000400000000000000" pitchFamily="2" charset="-78"/>
              </a:rPr>
              <a:t>لا</a:t>
            </a:r>
            <a:r>
              <a:rPr lang="en-US" sz="2000" b="0" dirty="0">
                <a:cs typeface="B Nazanin" panose="00000400000000000000" pitchFamily="2" charset="-78"/>
              </a:rPr>
              <a:t> </a:t>
            </a:r>
            <a:r>
              <a:rPr lang="ar-SA" sz="2000" b="0" dirty="0">
                <a:cs typeface="B Nazanin" panose="00000400000000000000" pitchFamily="2" charset="-78"/>
              </a:rPr>
              <a:t>در مورد مواد </a:t>
            </a:r>
            <a:br>
              <a:rPr lang="fa-IR" sz="2000" b="0" dirty="0">
                <a:cs typeface="B Nazanin" panose="00000400000000000000" pitchFamily="2" charset="-78"/>
              </a:rPr>
            </a:br>
            <a:br>
              <a:rPr lang="fa-IR" sz="2000" b="0" dirty="0">
                <a:cs typeface="B Nazanin" panose="00000400000000000000" pitchFamily="2" charset="-78"/>
              </a:rPr>
            </a:br>
            <a:r>
              <a:rPr lang="ar-SA" sz="2000" b="0" dirty="0">
                <a:cs typeface="B Nazanin" panose="00000400000000000000" pitchFamily="2" charset="-78"/>
              </a:rPr>
              <a:t>مخدر هم وابستگی جسمی و هم وابستگی روانی داریم </a:t>
            </a:r>
            <a:r>
              <a:rPr lang="en-US" sz="2000" b="0" dirty="0">
                <a:cs typeface="B Nazanin" panose="00000400000000000000" pitchFamily="2" charset="-78"/>
              </a:rPr>
              <a:t>. </a:t>
            </a:r>
            <a:r>
              <a:rPr lang="ar-SA" sz="2000" b="0" dirty="0">
                <a:cs typeface="B Nazanin" panose="00000400000000000000" pitchFamily="2" charset="-78"/>
              </a:rPr>
              <a:t>در وابستگی جسمی اگر مصرف دارو را قطع کنیم آبریزش ، اسهال ، استفراغ ، درد و </a:t>
            </a:r>
            <a:r>
              <a:rPr lang="en-US" sz="2000" b="0" dirty="0">
                <a:cs typeface="B Nazanin" panose="00000400000000000000" pitchFamily="2" charset="-78"/>
              </a:rPr>
              <a:t>... </a:t>
            </a:r>
            <a:r>
              <a:rPr lang="ar-SA" sz="2000" b="0" dirty="0">
                <a:cs typeface="B Nazanin" panose="00000400000000000000" pitchFamily="2" charset="-78"/>
              </a:rPr>
              <a:t>بوجود می آید ولی </a:t>
            </a:r>
            <a:br>
              <a:rPr lang="fa-IR" sz="2000" b="0" dirty="0">
                <a:cs typeface="B Nazanin" panose="00000400000000000000" pitchFamily="2" charset="-78"/>
              </a:rPr>
            </a:br>
            <a:br>
              <a:rPr lang="fa-IR" sz="2000" b="0" dirty="0">
                <a:cs typeface="B Nazanin" panose="00000400000000000000" pitchFamily="2" charset="-78"/>
              </a:rPr>
            </a:br>
            <a:r>
              <a:rPr lang="ar-SA" sz="2000" b="0" dirty="0">
                <a:cs typeface="B Nazanin" panose="00000400000000000000" pitchFamily="2" charset="-78"/>
              </a:rPr>
              <a:t>وابستگی روانی شدید تر و بدتر است </a:t>
            </a:r>
            <a:r>
              <a:rPr lang="en-US" sz="2000" b="0" dirty="0">
                <a:cs typeface="B Nazanin" panose="00000400000000000000" pitchFamily="2" charset="-78"/>
              </a:rPr>
              <a:t>.</a:t>
            </a:r>
            <a:br>
              <a:rPr lang="en-US" sz="2000" b="0" dirty="0">
                <a:cs typeface="B Nazanin" panose="00000400000000000000" pitchFamily="2" charset="-78"/>
              </a:rPr>
            </a:br>
            <a:r>
              <a:rPr lang="en-US" sz="2000" b="0" dirty="0">
                <a:cs typeface="B Nazanin" panose="00000400000000000000" pitchFamily="2" charset="-78"/>
              </a:rPr>
              <a:t> </a:t>
            </a:r>
            <a:br>
              <a:rPr lang="en-US" sz="2000" b="0" dirty="0">
                <a:cs typeface="B Nazanin" panose="00000400000000000000" pitchFamily="2" charset="-78"/>
              </a:rPr>
            </a:br>
            <a:r>
              <a:rPr lang="en-US" sz="2000" dirty="0">
                <a:cs typeface="B Nazanin" panose="00000400000000000000" pitchFamily="2" charset="-78"/>
              </a:rPr>
              <a:t></a:t>
            </a:r>
            <a:r>
              <a:rPr lang="ar-SA" sz="2000" dirty="0">
                <a:cs typeface="B Nazanin" panose="00000400000000000000" pitchFamily="2" charset="-78"/>
              </a:rPr>
              <a:t>  </a:t>
            </a:r>
            <a:r>
              <a:rPr lang="en-US" sz="2000" dirty="0">
                <a:cs typeface="B Nazanin" panose="00000400000000000000" pitchFamily="2" charset="-78"/>
              </a:rPr>
              <a:t>-4 </a:t>
            </a:r>
            <a:r>
              <a:rPr lang="ar-SA" sz="2000" dirty="0">
                <a:cs typeface="B Nazanin" panose="00000400000000000000" pitchFamily="2" charset="-78"/>
              </a:rPr>
              <a:t>تداخل دارویی یا </a:t>
            </a:r>
            <a:r>
              <a:rPr lang="en-US" sz="2000" dirty="0">
                <a:cs typeface="B Nazanin" panose="00000400000000000000" pitchFamily="2" charset="-78"/>
              </a:rPr>
              <a:t>(  Drug </a:t>
            </a:r>
            <a:r>
              <a:rPr lang="en-US" sz="2000" dirty="0" err="1">
                <a:cs typeface="B Nazanin" panose="00000400000000000000" pitchFamily="2" charset="-78"/>
              </a:rPr>
              <a:t>Intraetion</a:t>
            </a:r>
            <a:r>
              <a:rPr lang="en-US" sz="2000" dirty="0">
                <a:cs typeface="B Nazanin" panose="00000400000000000000" pitchFamily="2" charset="-78"/>
              </a:rPr>
              <a:t> )</a:t>
            </a:r>
            <a:r>
              <a:rPr lang="fa-IR" sz="2000" dirty="0">
                <a:cs typeface="B Nazanin" panose="00000400000000000000" pitchFamily="2" charset="-78"/>
              </a:rPr>
              <a:t>: </a:t>
            </a:r>
            <a:r>
              <a:rPr lang="ar-SA" sz="2000" b="0" dirty="0">
                <a:cs typeface="B Nazanin" panose="00000400000000000000" pitchFamily="2" charset="-78"/>
              </a:rPr>
              <a:t>حالتی است که آثار ناشی از یک دارو توسط دارویی قبلی یا</a:t>
            </a:r>
            <a:r>
              <a:rPr lang="fa-IR" sz="2000" b="0" dirty="0">
                <a:cs typeface="B Nazanin" panose="00000400000000000000" pitchFamily="2" charset="-78"/>
              </a:rPr>
              <a:t> </a:t>
            </a:r>
            <a:r>
              <a:rPr lang="ar-SA" sz="2000" b="0" dirty="0">
                <a:cs typeface="B Nazanin" panose="00000400000000000000" pitchFamily="2" charset="-78"/>
              </a:rPr>
              <a:t>دارویی که همزمان مصرف می شود تغییر پیدا </a:t>
            </a:r>
            <a:br>
              <a:rPr lang="en-US" sz="2000" b="0" dirty="0">
                <a:cs typeface="B Nazanin" panose="00000400000000000000" pitchFamily="2" charset="-78"/>
              </a:rPr>
            </a:br>
            <a:br>
              <a:rPr lang="en-US" sz="2000" b="0" dirty="0">
                <a:cs typeface="B Nazanin" panose="00000400000000000000" pitchFamily="2" charset="-78"/>
              </a:rPr>
            </a:br>
            <a:r>
              <a:rPr lang="ar-SA" sz="2000" b="0" dirty="0">
                <a:cs typeface="B Nazanin" panose="00000400000000000000" pitchFamily="2" charset="-78"/>
              </a:rPr>
              <a:t>می</a:t>
            </a:r>
            <a:r>
              <a:rPr lang="en-US" sz="2000" b="0" dirty="0">
                <a:cs typeface="B Nazanin" panose="00000400000000000000" pitchFamily="2" charset="-78"/>
              </a:rPr>
              <a:t> </a:t>
            </a:r>
            <a:r>
              <a:rPr lang="fa-IR" sz="2000" b="0" dirty="0">
                <a:cs typeface="B Nazanin" panose="00000400000000000000" pitchFamily="2" charset="-78"/>
              </a:rPr>
              <a:t>کند</a:t>
            </a:r>
            <a:r>
              <a:rPr lang="ar-SA" sz="2000" b="0" dirty="0">
                <a:cs typeface="B Nazanin" panose="00000400000000000000" pitchFamily="2" charset="-78"/>
              </a:rPr>
              <a:t> </a:t>
            </a:r>
            <a:br>
              <a:rPr lang="fa-IR" sz="2000" b="0" dirty="0">
                <a:cs typeface="B Nazanin" panose="00000400000000000000" pitchFamily="2" charset="-78"/>
              </a:rPr>
            </a:br>
            <a:br>
              <a:rPr lang="fa-IR" sz="2000" b="0" dirty="0">
                <a:cs typeface="B Nazanin" panose="00000400000000000000" pitchFamily="2" charset="-78"/>
              </a:rPr>
            </a:br>
            <a:br>
              <a:rPr lang="en-US" sz="2000" b="0" dirty="0">
                <a:cs typeface="B Nazanin" panose="00000400000000000000" pitchFamily="2" charset="-78"/>
              </a:rPr>
            </a:br>
            <a:endParaRPr lang="en-US" sz="2000" b="0" dirty="0">
              <a:cs typeface="B Nazanin" panose="00000400000000000000" pitchFamily="2" charset="-78"/>
            </a:endParaRPr>
          </a:p>
        </p:txBody>
      </p:sp>
    </p:spTree>
    <p:extLst>
      <p:ext uri="{BB962C8B-B14F-4D97-AF65-F5344CB8AC3E}">
        <p14:creationId xmlns:p14="http://schemas.microsoft.com/office/powerpoint/2010/main" val="50160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99456-C9B3-4EDF-8479-29B7A488268B}"/>
              </a:ext>
            </a:extLst>
          </p:cNvPr>
          <p:cNvSpPr>
            <a:spLocks noGrp="1"/>
          </p:cNvSpPr>
          <p:nvPr>
            <p:ph type="title"/>
          </p:nvPr>
        </p:nvSpPr>
        <p:spPr>
          <a:xfrm>
            <a:off x="675248" y="539750"/>
            <a:ext cx="10913501" cy="459056"/>
          </a:xfrm>
        </p:spPr>
        <p:txBody>
          <a:bodyPr>
            <a:normAutofit fontScale="90000"/>
          </a:bodyPr>
          <a:lstStyle/>
          <a:p>
            <a:pPr algn="r" rtl="1"/>
            <a:r>
              <a:rPr lang="fa-IR" sz="2700" dirty="0">
                <a:cs typeface="B Nazanin" panose="00000400000000000000" pitchFamily="2" charset="-78"/>
              </a:rPr>
              <a:t>انواع تداخلات دارویی:</a:t>
            </a:r>
            <a:br>
              <a:rPr lang="fa-IR" sz="2700" dirty="0">
                <a:cs typeface="B Nazanin" panose="00000400000000000000" pitchFamily="2" charset="-78"/>
              </a:rPr>
            </a:br>
            <a:br>
              <a:rPr lang="fa-IR" sz="2700" dirty="0">
                <a:cs typeface="B Nazanin" panose="00000400000000000000" pitchFamily="2" charset="-78"/>
              </a:rPr>
            </a:br>
            <a:r>
              <a:rPr lang="fa-IR" sz="2700" dirty="0">
                <a:cs typeface="B Nazanin" panose="00000400000000000000" pitchFamily="2" charset="-78"/>
              </a:rPr>
              <a:t>الف -</a:t>
            </a:r>
            <a:r>
              <a:rPr lang="ar-SA" sz="2700" dirty="0">
                <a:cs typeface="B Nazanin" panose="00000400000000000000" pitchFamily="2" charset="-78"/>
              </a:rPr>
              <a:t>اثر سینرژیسم </a:t>
            </a:r>
            <a:r>
              <a:rPr lang="en-US" sz="2700" dirty="0">
                <a:cs typeface="B Nazanin" panose="00000400000000000000" pitchFamily="2" charset="-78"/>
              </a:rPr>
              <a:t>: </a:t>
            </a:r>
            <a:r>
              <a:rPr lang="ar-SA" sz="2200" b="0" dirty="0">
                <a:cs typeface="B Nazanin" panose="00000400000000000000" pitchFamily="2" charset="-78"/>
              </a:rPr>
              <a:t>نمونه ای از تداخل دارویی است که در آن آثار بوجود آمده</a:t>
            </a:r>
            <a:r>
              <a:rPr lang="fa-IR" sz="2200" b="0" dirty="0">
                <a:cs typeface="B Nazanin" panose="00000400000000000000" pitchFamily="2" charset="-78"/>
              </a:rPr>
              <a:t> </a:t>
            </a:r>
            <a:r>
              <a:rPr lang="ar-SA" sz="2200" b="0" dirty="0">
                <a:cs typeface="B Nazanin" panose="00000400000000000000" pitchFamily="2" charset="-78"/>
              </a:rPr>
              <a:t>ناشی از مصرف دو دارو با هم بیشتر از مصرف هر یک از آنها به تنهایی </a:t>
            </a:r>
            <a:br>
              <a:rPr lang="fa-IR"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است </a:t>
            </a:r>
            <a:r>
              <a:rPr lang="en-US" sz="2200" b="0" dirty="0">
                <a:cs typeface="B Nazanin" panose="00000400000000000000" pitchFamily="2" charset="-78"/>
              </a:rPr>
              <a:t>. </a:t>
            </a:r>
            <a:r>
              <a:rPr lang="ar-SA" sz="2200" b="0" dirty="0">
                <a:cs typeface="B Nazanin" panose="00000400000000000000" pitchFamily="2" charset="-78"/>
              </a:rPr>
              <a:t>مثلًا پنی سیلین و جنتامایسین با هم اثر سینرژیسم دارند و اثر همدیگر را تقویت می کنند </a:t>
            </a:r>
            <a:r>
              <a:rPr lang="en-US" sz="2200" b="0" dirty="0"/>
              <a:t>.</a:t>
            </a:r>
            <a:br>
              <a:rPr lang="en-US" sz="2200" b="0" dirty="0"/>
            </a:br>
            <a:r>
              <a:rPr lang="en-US" sz="2200" b="0" dirty="0"/>
              <a:t> </a:t>
            </a:r>
            <a:br>
              <a:rPr lang="en-US" sz="2200" b="0" dirty="0"/>
            </a:br>
            <a:r>
              <a:rPr lang="ar-SA" sz="2700" dirty="0">
                <a:cs typeface="B Nazanin" panose="00000400000000000000" pitchFamily="2" charset="-78"/>
              </a:rPr>
              <a:t>ب </a:t>
            </a:r>
            <a:r>
              <a:rPr lang="en-US" sz="2700" dirty="0">
                <a:cs typeface="B Nazanin" panose="00000400000000000000" pitchFamily="2" charset="-78"/>
              </a:rPr>
              <a:t>- </a:t>
            </a:r>
            <a:r>
              <a:rPr lang="ar-SA" sz="2700" dirty="0">
                <a:cs typeface="B Nazanin" panose="00000400000000000000" pitchFamily="2" charset="-78"/>
              </a:rPr>
              <a:t>اثر تجمعی </a:t>
            </a:r>
            <a:r>
              <a:rPr lang="en-US" sz="2200" b="0" dirty="0">
                <a:cs typeface="B Nazanin" panose="00000400000000000000" pitchFamily="2" charset="-78"/>
              </a:rPr>
              <a:t>: </a:t>
            </a:r>
            <a:r>
              <a:rPr lang="ar-SA" sz="2200" b="0" dirty="0">
                <a:cs typeface="B Nazanin" panose="00000400000000000000" pitchFamily="2" charset="-78"/>
              </a:rPr>
              <a:t>در این حالت اثر بوجود آمده توسط دو دارو با هم ، مساوی اثر هریک از داروها به تنهایی است </a:t>
            </a:r>
            <a:r>
              <a:rPr lang="en-US" sz="2200" b="0" dirty="0">
                <a:cs typeface="B Nazanin" panose="00000400000000000000" pitchFamily="2" charset="-78"/>
              </a:rPr>
              <a:t>. </a:t>
            </a:r>
            <a:r>
              <a:rPr lang="ar-SA" sz="2200" b="0" dirty="0">
                <a:cs typeface="B Nazanin" panose="00000400000000000000" pitchFamily="2" charset="-78"/>
              </a:rPr>
              <a:t>مثلًا کدئین یا بروفن</a:t>
            </a:r>
            <a:r>
              <a:rPr lang="en-US" sz="2200" b="0" dirty="0"/>
              <a:t>.</a:t>
            </a:r>
            <a:br>
              <a:rPr lang="en-US" sz="2200" b="0" dirty="0"/>
            </a:br>
            <a:r>
              <a:rPr lang="en-US" sz="2200" b="0" dirty="0"/>
              <a:t> </a:t>
            </a:r>
            <a:br>
              <a:rPr lang="en-US" sz="2200" b="0" dirty="0"/>
            </a:br>
            <a:r>
              <a:rPr lang="ar-SA" sz="2700" dirty="0">
                <a:cs typeface="B Nazanin" panose="00000400000000000000" pitchFamily="2" charset="-78"/>
              </a:rPr>
              <a:t>ج </a:t>
            </a:r>
            <a:r>
              <a:rPr lang="en-US" sz="2700" dirty="0">
                <a:cs typeface="B Nazanin" panose="00000400000000000000" pitchFamily="2" charset="-78"/>
              </a:rPr>
              <a:t>- </a:t>
            </a:r>
            <a:r>
              <a:rPr lang="ar-SA" sz="2700" dirty="0">
                <a:cs typeface="B Nazanin" panose="00000400000000000000" pitchFamily="2" charset="-78"/>
              </a:rPr>
              <a:t>تشدید اثر </a:t>
            </a:r>
            <a:r>
              <a:rPr lang="fa-IR" sz="2200" dirty="0">
                <a:cs typeface="B Nazanin" panose="00000400000000000000" pitchFamily="2" charset="-78"/>
              </a:rPr>
              <a:t>: </a:t>
            </a:r>
            <a:r>
              <a:rPr lang="ar-SA" sz="2200" b="0" dirty="0"/>
              <a:t>ا</a:t>
            </a:r>
            <a:r>
              <a:rPr lang="ar-SA" sz="2200" b="0" dirty="0">
                <a:cs typeface="B Nazanin" panose="00000400000000000000" pitchFamily="2" charset="-78"/>
              </a:rPr>
              <a:t>ثر داروی اولی با دادن داروی دومی بیشتر می شود </a:t>
            </a:r>
            <a:r>
              <a:rPr lang="en-US" sz="2200" b="0" dirty="0">
                <a:cs typeface="B Nazanin" panose="00000400000000000000" pitchFamily="2" charset="-78"/>
              </a:rPr>
              <a:t>)</a:t>
            </a:r>
            <a:r>
              <a:rPr lang="fa-IR" sz="2200" b="0" dirty="0">
                <a:cs typeface="B Nazanin" panose="00000400000000000000" pitchFamily="2" charset="-78"/>
              </a:rPr>
              <a:t>یک ماده به‌تنهایی هیچ اثر دارویی مشخصی ندارد</a:t>
            </a:r>
            <a:r>
              <a:rPr lang="en-US" sz="2200" b="0" dirty="0">
                <a:cs typeface="B Nazanin" panose="00000400000000000000" pitchFamily="2" charset="-78"/>
              </a:rPr>
              <a:t> </a:t>
            </a:r>
            <a:r>
              <a:rPr lang="fa-IR" sz="2200" b="0" dirty="0">
                <a:cs typeface="B Nazanin" panose="00000400000000000000" pitchFamily="2" charset="-78"/>
              </a:rPr>
              <a:t>اما وقتی با یک ماده فعال ترکی</a:t>
            </a:r>
            <a:br>
              <a:rPr lang="en-US" sz="2200" b="0" dirty="0">
                <a:cs typeface="B Nazanin" panose="00000400000000000000" pitchFamily="2" charset="-78"/>
              </a:rPr>
            </a:br>
            <a:br>
              <a:rPr lang="en-US" sz="2200" b="0" dirty="0">
                <a:cs typeface="B Nazanin" panose="00000400000000000000" pitchFamily="2" charset="-78"/>
              </a:rPr>
            </a:br>
            <a:r>
              <a:rPr lang="fa-IR" sz="2200" b="0" dirty="0">
                <a:cs typeface="B Nazanin" panose="00000400000000000000" pitchFamily="2" charset="-78"/>
              </a:rPr>
              <a:t> شود، اثر آن ماده فعال را چند برابر می‌کند.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مثل:</a:t>
            </a:r>
            <a:br>
              <a:rPr lang="fa-IR" sz="2200" b="0" dirty="0">
                <a:cs typeface="B Nazanin" panose="00000400000000000000" pitchFamily="2" charset="-78"/>
              </a:rPr>
            </a:br>
            <a:br>
              <a:rPr lang="fa-IR" sz="2200" b="0" dirty="0">
                <a:cs typeface="B Nazanin" panose="00000400000000000000" pitchFamily="2" charset="-78"/>
              </a:rPr>
            </a:br>
            <a:r>
              <a:rPr lang="fa-IR" sz="2000" dirty="0">
                <a:cs typeface="B Nazanin" panose="00000400000000000000" pitchFamily="2" charset="-78"/>
              </a:rPr>
              <a:t>۱. پروبنسید </a:t>
            </a:r>
            <a:r>
              <a:rPr lang="en-US" sz="2000" dirty="0">
                <a:cs typeface="B Nazanin" panose="00000400000000000000" pitchFamily="2" charset="-78"/>
              </a:rPr>
              <a:t>Probenecid)</a:t>
            </a:r>
            <a:r>
              <a:rPr lang="fa-IR" sz="2000" dirty="0">
                <a:cs typeface="B Nazanin" panose="00000400000000000000" pitchFamily="2" charset="-78"/>
              </a:rPr>
              <a:t>) + پنی‌سیلین </a:t>
            </a:r>
            <a:r>
              <a:rPr lang="en-US" sz="2000" dirty="0">
                <a:cs typeface="B Nazanin" panose="00000400000000000000" pitchFamily="2" charset="-78"/>
              </a:rPr>
              <a:t>Penicillin)</a:t>
            </a:r>
            <a:r>
              <a:rPr lang="fa-IR" sz="2000" dirty="0">
                <a:cs typeface="B Nazanin" panose="00000400000000000000" pitchFamily="2" charset="-78"/>
              </a:rPr>
              <a:t>)</a:t>
            </a:r>
            <a:br>
              <a:rPr lang="en-US"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پروبنسید به‌تنهایی اثری بر عفونت ندارد. اما وقتی با پنی‌سیلین مصرف شود، دفع کلیوی پنی‌سیلین را کاهش می‌دهد. در نتیجه سطح خونی پنی‌سیلین بالاتر </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می‌ماند و اثرش تشدید می‌شود.</a:t>
            </a:r>
            <a:br>
              <a:rPr lang="fa-IR" sz="2200" b="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br>
              <a:rPr lang="en-US" dirty="0"/>
            </a:br>
            <a:br>
              <a:rPr lang="en-US" dirty="0"/>
            </a:br>
            <a:r>
              <a:rPr lang="en-US" dirty="0"/>
              <a:t> </a:t>
            </a:r>
            <a:br>
              <a:rPr lang="en-US" dirty="0"/>
            </a:br>
            <a:br>
              <a:rPr lang="en-US" dirty="0"/>
            </a:br>
            <a:br>
              <a:rPr lang="en-US" dirty="0"/>
            </a:br>
            <a:endParaRPr lang="en-US" dirty="0"/>
          </a:p>
        </p:txBody>
      </p:sp>
    </p:spTree>
    <p:extLst>
      <p:ext uri="{BB962C8B-B14F-4D97-AF65-F5344CB8AC3E}">
        <p14:creationId xmlns:p14="http://schemas.microsoft.com/office/powerpoint/2010/main" val="34561376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E4F4-7A66-9CB0-B484-C1700F22BABE}"/>
              </a:ext>
            </a:extLst>
          </p:cNvPr>
          <p:cNvSpPr>
            <a:spLocks noGrp="1"/>
          </p:cNvSpPr>
          <p:nvPr>
            <p:ph type="title"/>
          </p:nvPr>
        </p:nvSpPr>
        <p:spPr>
          <a:xfrm>
            <a:off x="689316" y="520506"/>
            <a:ext cx="10899433" cy="815925"/>
          </a:xfrm>
        </p:spPr>
        <p:txBody>
          <a:bodyPr>
            <a:normAutofit fontScale="90000"/>
          </a:bodyPr>
          <a:lstStyle/>
          <a:p>
            <a:pPr algn="r" rtl="1"/>
            <a:r>
              <a:rPr lang="fa-IR" sz="2000" dirty="0">
                <a:cs typeface="B Nazanin" panose="00000400000000000000" pitchFamily="2" charset="-78"/>
              </a:rPr>
              <a:t>۲. کافئین + ارگوتامین (در درمان میگرن)</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کافئین به‌تنهایی اثر ضد میگرن ندارد، اما وقتی با ارگوتامین ترکیب شود، جذب ارگوتامین را افزایش می‌دهد و اثر ضد‌میگرنی آن را تشدید می‌کند.</a:t>
            </a:r>
            <a:br>
              <a:rPr lang="fa-IR" sz="2000" dirty="0">
                <a:cs typeface="B Nazanin" panose="00000400000000000000" pitchFamily="2" charset="-78"/>
              </a:rPr>
            </a:br>
            <a:br>
              <a:rPr lang="fa-IR" sz="2000" dirty="0">
                <a:cs typeface="B Nazanin" panose="00000400000000000000" pitchFamily="2" charset="-78"/>
              </a:rPr>
            </a:br>
            <a:br>
              <a:rPr lang="fa-IR" sz="2000" dirty="0">
                <a:cs typeface="B Nazanin" panose="00000400000000000000" pitchFamily="2" charset="-78"/>
              </a:rPr>
            </a:br>
            <a:r>
              <a:rPr lang="fa-IR" sz="2000" dirty="0">
                <a:cs typeface="B Nazanin" panose="00000400000000000000" pitchFamily="2" charset="-78"/>
              </a:rPr>
              <a:t> 3. اسید آسکوربیک (ویتامین </a:t>
            </a:r>
            <a:r>
              <a:rPr lang="en-US" sz="2000" dirty="0">
                <a:cs typeface="B Nazanin" panose="00000400000000000000" pitchFamily="2" charset="-78"/>
              </a:rPr>
              <a:t>C</a:t>
            </a:r>
            <a:r>
              <a:rPr lang="fa-IR" sz="2000" dirty="0">
                <a:cs typeface="B Nazanin" panose="00000400000000000000" pitchFamily="2" charset="-78"/>
              </a:rPr>
              <a:t>) + آهن خوراکی</a:t>
            </a:r>
            <a:br>
              <a:rPr lang="fa-IR" sz="1800" b="0" dirty="0">
                <a:cs typeface="B Nazanin" panose="00000400000000000000" pitchFamily="2" charset="-78"/>
              </a:rPr>
            </a:br>
            <a:br>
              <a:rPr lang="fa-IR" sz="1800" b="0" dirty="0">
                <a:cs typeface="B Nazanin" panose="00000400000000000000" pitchFamily="2" charset="-78"/>
              </a:rPr>
            </a:br>
            <a:br>
              <a:rPr lang="fa-IR" sz="1800" b="0" dirty="0">
                <a:cs typeface="B Nazanin" panose="00000400000000000000" pitchFamily="2" charset="-78"/>
              </a:rPr>
            </a:br>
            <a:r>
              <a:rPr lang="fa-IR" sz="2200" b="0" dirty="0">
                <a:cs typeface="B Nazanin" panose="00000400000000000000" pitchFamily="2" charset="-78"/>
              </a:rPr>
              <a:t>ویتامین </a:t>
            </a:r>
            <a:r>
              <a:rPr lang="en-US" sz="2200" b="0" dirty="0">
                <a:cs typeface="B Nazanin" panose="00000400000000000000" pitchFamily="2" charset="-78"/>
              </a:rPr>
              <a:t>C </a:t>
            </a:r>
            <a:r>
              <a:rPr lang="fa-IR" sz="2200" b="0" dirty="0">
                <a:cs typeface="B Nazanin" panose="00000400000000000000" pitchFamily="2" charset="-78"/>
              </a:rPr>
              <a:t>به‌تنهایی در درمان کم‌خونی اثری ندارد، اما جذب آهن را از دستگاه گوارش افزایش می‌دهد. بنابراین اثر آهن بر افزایش هموگلوبین تشدید می‌شود</a:t>
            </a:r>
            <a:br>
              <a:rPr lang="fa-IR" sz="2200" b="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r>
              <a:rPr lang="ar-SA" sz="2700" dirty="0">
                <a:cs typeface="B Nazanin" panose="00000400000000000000" pitchFamily="2" charset="-78"/>
              </a:rPr>
              <a:t>د </a:t>
            </a:r>
            <a:r>
              <a:rPr lang="en-US" sz="2700" dirty="0">
                <a:cs typeface="B Nazanin" panose="00000400000000000000" pitchFamily="2" charset="-78"/>
              </a:rPr>
              <a:t>-</a:t>
            </a:r>
            <a:r>
              <a:rPr lang="ar-SA" sz="2700" dirty="0">
                <a:cs typeface="B Nazanin" panose="00000400000000000000" pitchFamily="2" charset="-78"/>
              </a:rPr>
              <a:t>کاهش اثر </a:t>
            </a:r>
            <a:r>
              <a:rPr lang="en-US" sz="2700" dirty="0">
                <a:cs typeface="B Nazanin" panose="00000400000000000000" pitchFamily="2" charset="-78"/>
              </a:rPr>
              <a:t>:</a:t>
            </a:r>
            <a:r>
              <a:rPr lang="fa-IR" sz="2700" dirty="0">
                <a:cs typeface="B Nazanin" panose="00000400000000000000" pitchFamily="2" charset="-78"/>
              </a:rPr>
              <a:t> </a:t>
            </a:r>
            <a:r>
              <a:rPr lang="fa-IR" sz="2200" b="0" dirty="0">
                <a:cs typeface="B Nazanin" panose="00000400000000000000" pitchFamily="2" charset="-78"/>
              </a:rPr>
              <a:t>گا</a:t>
            </a:r>
            <a:r>
              <a:rPr lang="ar-SA" sz="2200" b="0" dirty="0">
                <a:cs typeface="B Nazanin" panose="00000400000000000000" pitchFamily="2" charset="-78"/>
              </a:rPr>
              <a:t>هاً یک دارو اثرش با داروی دیگر کمتر می شود</a:t>
            </a:r>
            <a:br>
              <a:rPr lang="fa-IR" sz="2200" b="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br>
              <a:rPr lang="fa-IR" sz="2700" b="0" dirty="0">
                <a:cs typeface="B Nazanin" panose="00000400000000000000" pitchFamily="2" charset="-78"/>
              </a:rPr>
            </a:br>
            <a:r>
              <a:rPr lang="ar-SA" sz="2700" dirty="0">
                <a:cs typeface="B Nazanin" panose="00000400000000000000" pitchFamily="2" charset="-78"/>
              </a:rPr>
              <a:t>آثار مضر داروها </a:t>
            </a:r>
            <a:br>
              <a:rPr lang="fa-IR" sz="2700" dirty="0">
                <a:cs typeface="B Nazanin" panose="00000400000000000000" pitchFamily="2" charset="-78"/>
              </a:rPr>
            </a:br>
            <a:br>
              <a:rPr lang="fa-IR" sz="2700" dirty="0">
                <a:cs typeface="B Nazanin" panose="00000400000000000000" pitchFamily="2" charset="-78"/>
              </a:rPr>
            </a:br>
            <a:r>
              <a:rPr lang="ar-SA" sz="2200" dirty="0">
                <a:cs typeface="B Nazanin" panose="00000400000000000000" pitchFamily="2" charset="-78"/>
              </a:rPr>
              <a:t>تجمع داروها در بدن </a:t>
            </a:r>
            <a:r>
              <a:rPr lang="en-US" sz="2200" dirty="0">
                <a:cs typeface="B Nazanin" panose="00000400000000000000" pitchFamily="2" charset="-78"/>
              </a:rPr>
              <a:t>:</a:t>
            </a:r>
            <a:r>
              <a:rPr lang="fa-IR" sz="2200" dirty="0">
                <a:cs typeface="B Nazanin" panose="00000400000000000000" pitchFamily="2" charset="-78"/>
              </a:rPr>
              <a:t> </a:t>
            </a:r>
            <a:r>
              <a:rPr lang="ar-SA" sz="2200" b="0" dirty="0">
                <a:cs typeface="B Nazanin" panose="00000400000000000000" pitchFamily="2" charset="-78"/>
              </a:rPr>
              <a:t>داروها در بدن تجمع پیدا می کنند </a:t>
            </a:r>
            <a:r>
              <a:rPr lang="fa-IR" sz="2200" b="0" dirty="0">
                <a:cs typeface="B Nazanin" panose="00000400000000000000" pitchFamily="2" charset="-78"/>
              </a:rPr>
              <a:t>، یعنی بیمار دوز اولیه را متابولیزه کرده و از بین می برد ولی نمیتواند دوز های بعدی را متابولیزه کند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و در نتیجه دارو در بدن تجمع می یابد ( مسمومیت دارویی)</a:t>
            </a:r>
            <a:endParaRPr lang="en-US" sz="2200" dirty="0">
              <a:cs typeface="B Nazanin" panose="00000400000000000000" pitchFamily="2" charset="-78"/>
            </a:endParaRPr>
          </a:p>
        </p:txBody>
      </p:sp>
    </p:spTree>
    <p:extLst>
      <p:ext uri="{BB962C8B-B14F-4D97-AF65-F5344CB8AC3E}">
        <p14:creationId xmlns:p14="http://schemas.microsoft.com/office/powerpoint/2010/main" val="9551303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2DEBF-98BB-4FD3-8D84-9AC74936DA18}"/>
              </a:ext>
            </a:extLst>
          </p:cNvPr>
          <p:cNvSpPr>
            <a:spLocks noGrp="1"/>
          </p:cNvSpPr>
          <p:nvPr>
            <p:ph type="title"/>
          </p:nvPr>
        </p:nvSpPr>
        <p:spPr>
          <a:xfrm>
            <a:off x="743927" y="281354"/>
            <a:ext cx="10985500" cy="801858"/>
          </a:xfrm>
        </p:spPr>
        <p:txBody>
          <a:bodyPr>
            <a:noAutofit/>
          </a:bodyPr>
          <a:lstStyle/>
          <a:p>
            <a:pPr algn="r" rtl="1"/>
            <a:r>
              <a:rPr lang="fa-IR" sz="2400" dirty="0">
                <a:cs typeface="B Nazanin" panose="00000400000000000000" pitchFamily="2" charset="-78"/>
              </a:rPr>
              <a:t>. سیستم عصبی به طور کلی به دو بخش اصلی تقسیم می‌شود:</a:t>
            </a:r>
            <a:br>
              <a:rPr lang="fa-IR" sz="2000" b="0" dirty="0">
                <a:cs typeface="B Nazanin" panose="00000400000000000000" pitchFamily="2" charset="-78"/>
              </a:rPr>
            </a:br>
            <a:br>
              <a:rPr lang="fa-IR" sz="2000" b="0" dirty="0">
                <a:cs typeface="B Nazanin" panose="00000400000000000000" pitchFamily="2" charset="-78"/>
              </a:rPr>
            </a:br>
            <a:r>
              <a:rPr lang="fa-IR" sz="2000" dirty="0">
                <a:cs typeface="B Nazanin" panose="00000400000000000000" pitchFamily="2" charset="-78"/>
              </a:rPr>
              <a:t>الف) سیستم عصبی مرکزی </a:t>
            </a:r>
            <a:r>
              <a:rPr lang="en-US" sz="2000" dirty="0">
                <a:cs typeface="B Nazanin" panose="00000400000000000000" pitchFamily="2" charset="-78"/>
              </a:rPr>
              <a:t>Central Nervous System </a:t>
            </a:r>
            <a:r>
              <a:rPr lang="fa-IR" sz="2000" dirty="0">
                <a:cs typeface="B Nazanin" panose="00000400000000000000" pitchFamily="2" charset="-78"/>
              </a:rPr>
              <a:t>(</a:t>
            </a:r>
            <a:r>
              <a:rPr lang="en-US" sz="2000" dirty="0">
                <a:cs typeface="B Nazanin" panose="00000400000000000000" pitchFamily="2" charset="-78"/>
              </a:rPr>
              <a:t>CNS</a:t>
            </a:r>
            <a:r>
              <a:rPr lang="fa-IR" sz="2000" dirty="0">
                <a:cs typeface="B Nazanin" panose="00000400000000000000" pitchFamily="2" charset="-78"/>
              </a:rPr>
              <a:t>)</a:t>
            </a:r>
            <a:br>
              <a:rPr lang="en-US" sz="2000" b="0" dirty="0">
                <a:cs typeface="B Nazanin" panose="00000400000000000000" pitchFamily="2" charset="-78"/>
              </a:rPr>
            </a:br>
            <a:br>
              <a:rPr lang="fa-IR" sz="2000" b="0" dirty="0">
                <a:cs typeface="B Nazanin" panose="00000400000000000000" pitchFamily="2" charset="-78"/>
              </a:rPr>
            </a:br>
            <a:r>
              <a:rPr lang="fa-IR" sz="1800" dirty="0">
                <a:cs typeface="B Nazanin" panose="00000400000000000000" pitchFamily="2" charset="-78"/>
              </a:rPr>
              <a:t>اجزاء: </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 مغز (</a:t>
            </a:r>
            <a:r>
              <a:rPr lang="en-US" sz="2000" b="0" dirty="0">
                <a:cs typeface="B Nazanin" panose="00000400000000000000" pitchFamily="2" charset="-78"/>
              </a:rPr>
              <a:t>Brain</a:t>
            </a:r>
            <a:r>
              <a:rPr lang="fa-IR" sz="2000" b="0" dirty="0">
                <a:cs typeface="B Nazanin" panose="00000400000000000000" pitchFamily="2" charset="-78"/>
              </a:rPr>
              <a:t>)</a:t>
            </a:r>
            <a:br>
              <a:rPr lang="en-US"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 طناب نخاعی</a:t>
            </a:r>
            <a:r>
              <a:rPr lang="en-US" sz="2000" b="0" dirty="0">
                <a:cs typeface="B Nazanin" panose="00000400000000000000" pitchFamily="2" charset="-78"/>
              </a:rPr>
              <a:t>Spinal cord)</a:t>
            </a:r>
            <a:r>
              <a:rPr lang="fa-IR" sz="2000" b="0" dirty="0">
                <a:cs typeface="B Nazanin" panose="00000400000000000000" pitchFamily="2" charset="-78"/>
              </a:rPr>
              <a:t>)</a:t>
            </a:r>
            <a:br>
              <a:rPr lang="en-US"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وظیفه: مرکز کنترل و پردازش اطلاعات بدن است. تمام ورودی‌های حسی را تفسیر و پاسخ‌های حرکتی، احساسی و شناختی را هماهنگ می‌کند. در واقع، </a:t>
            </a:r>
            <a:r>
              <a:rPr lang="en-US" sz="2000" b="0" dirty="0">
                <a:cs typeface="B Nazanin" panose="00000400000000000000" pitchFamily="2" charset="-78"/>
              </a:rPr>
              <a:t>CNS </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تصمیم می‌گیرد که بدن چگونه به محرک‌ها پاسخ دهد.</a:t>
            </a:r>
            <a:br>
              <a:rPr lang="fa-IR" sz="2000" b="0" dirty="0">
                <a:cs typeface="B Nazanin" panose="00000400000000000000" pitchFamily="2" charset="-78"/>
              </a:rPr>
            </a:br>
            <a:br>
              <a:rPr lang="fa-IR" sz="2000" dirty="0">
                <a:cs typeface="B Nazanin" panose="00000400000000000000" pitchFamily="2" charset="-78"/>
              </a:rPr>
            </a:br>
            <a:r>
              <a:rPr lang="fa-IR" sz="2000" dirty="0">
                <a:cs typeface="B Nazanin" panose="00000400000000000000" pitchFamily="2" charset="-78"/>
              </a:rPr>
              <a:t>ب) سیستم عصبی محیطی </a:t>
            </a:r>
            <a:r>
              <a:rPr lang="en-US" sz="2000" dirty="0">
                <a:cs typeface="B Nazanin" panose="00000400000000000000" pitchFamily="2" charset="-78"/>
              </a:rPr>
              <a:t>Peripheral Nervous System – PNS)</a:t>
            </a:r>
            <a:r>
              <a:rPr lang="fa-IR" sz="2000" dirty="0">
                <a:cs typeface="B Nazanin" panose="00000400000000000000" pitchFamily="2" charset="-78"/>
              </a:rPr>
              <a:t>)</a:t>
            </a:r>
            <a:br>
              <a:rPr lang="en-US" sz="2000" b="0" dirty="0">
                <a:cs typeface="B Nazanin" panose="00000400000000000000" pitchFamily="2" charset="-78"/>
              </a:rPr>
            </a:br>
            <a:br>
              <a:rPr lang="fa-IR" sz="2000" b="0" dirty="0">
                <a:cs typeface="B Nazanin" panose="00000400000000000000" pitchFamily="2" charset="-78"/>
              </a:rPr>
            </a:br>
            <a:r>
              <a:rPr lang="fa-IR" sz="1800" dirty="0">
                <a:cs typeface="B Nazanin" panose="00000400000000000000" pitchFamily="2" charset="-78"/>
              </a:rPr>
              <a:t>اجزاء</a:t>
            </a:r>
            <a:r>
              <a:rPr lang="fa-IR" sz="2000" b="0" dirty="0">
                <a:cs typeface="B Nazanin" panose="00000400000000000000" pitchFamily="2" charset="-78"/>
              </a:rPr>
              <a:t>:</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 اعصاب جمجمه‌ای (</a:t>
            </a:r>
            <a:r>
              <a:rPr lang="en-US" sz="2000" b="0" dirty="0">
                <a:cs typeface="B Nazanin" panose="00000400000000000000" pitchFamily="2" charset="-78"/>
              </a:rPr>
              <a:t>Cranial nerves)</a:t>
            </a:r>
            <a:br>
              <a:rPr lang="en-US"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 اعصاب نخاعی (</a:t>
            </a:r>
            <a:r>
              <a:rPr lang="en-US" sz="2000" b="0" dirty="0">
                <a:cs typeface="B Nazanin" panose="00000400000000000000" pitchFamily="2" charset="-78"/>
              </a:rPr>
              <a:t>Spinal nerves)</a:t>
            </a:r>
            <a:br>
              <a:rPr lang="en-US"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.گانگلیون‌ها و گیرنده‌های عصبی محیطی</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وظیفه: انتقال پیام‌ها بین سیستم عصبی مرکزی و بقیه بدن (اندام‌ها، عضلات و غدد)</a:t>
            </a:r>
            <a:endParaRPr lang="en-US" sz="2000" b="0" dirty="0">
              <a:cs typeface="B Nazanin" panose="00000400000000000000" pitchFamily="2" charset="-78"/>
            </a:endParaRPr>
          </a:p>
        </p:txBody>
      </p:sp>
    </p:spTree>
    <p:extLst>
      <p:ext uri="{BB962C8B-B14F-4D97-AF65-F5344CB8AC3E}">
        <p14:creationId xmlns:p14="http://schemas.microsoft.com/office/powerpoint/2010/main" val="9660834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9BEE9-32A3-42A6-BA66-8C172606E2D4}"/>
              </a:ext>
            </a:extLst>
          </p:cNvPr>
          <p:cNvSpPr>
            <a:spLocks noGrp="1"/>
          </p:cNvSpPr>
          <p:nvPr>
            <p:ph type="title"/>
          </p:nvPr>
        </p:nvSpPr>
        <p:spPr>
          <a:xfrm>
            <a:off x="603250" y="539750"/>
            <a:ext cx="10985500" cy="557530"/>
          </a:xfrm>
        </p:spPr>
        <p:txBody>
          <a:bodyPr>
            <a:noAutofit/>
          </a:bodyPr>
          <a:lstStyle/>
          <a:p>
            <a:pPr algn="r" rtl="1"/>
            <a:r>
              <a:rPr lang="fa-IR" sz="2800" dirty="0">
                <a:cs typeface="B Nazanin" panose="00000400000000000000" pitchFamily="2" charset="-78"/>
              </a:rPr>
              <a:t>تقسیم‌بندی سیستم عصبی محیطی (</a:t>
            </a:r>
            <a:r>
              <a:rPr lang="en-US" sz="2800" dirty="0">
                <a:cs typeface="B Nazanin" panose="00000400000000000000" pitchFamily="2" charset="-78"/>
              </a:rPr>
              <a:t>PNS</a:t>
            </a:r>
            <a:r>
              <a:rPr lang="fa-IR" sz="2800" dirty="0">
                <a:cs typeface="B Nazanin" panose="00000400000000000000" pitchFamily="2" charset="-78"/>
              </a:rPr>
              <a:t>)</a:t>
            </a:r>
            <a:br>
              <a:rPr lang="en-US"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سیستم عصبی محیطی به دو شاخهٔ اصلی تقسیم می‌شود:</a:t>
            </a:r>
            <a:br>
              <a:rPr lang="fa-IR" sz="2000" b="0" dirty="0">
                <a:cs typeface="B Nazanin" panose="00000400000000000000" pitchFamily="2" charset="-78"/>
              </a:rPr>
            </a:br>
            <a:br>
              <a:rPr lang="fa-IR" sz="2000" b="0" dirty="0">
                <a:cs typeface="B Nazanin" panose="00000400000000000000" pitchFamily="2" charset="-78"/>
              </a:rPr>
            </a:br>
            <a:r>
              <a:rPr lang="fa-IR" sz="1800" dirty="0">
                <a:cs typeface="B Nazanin" panose="00000400000000000000" pitchFamily="2" charset="-78"/>
              </a:rPr>
              <a:t>۱) سیستم عصبی پیکری </a:t>
            </a:r>
            <a:r>
              <a:rPr lang="en-US" sz="1800" dirty="0">
                <a:cs typeface="B Nazanin" panose="00000400000000000000" pitchFamily="2" charset="-78"/>
              </a:rPr>
              <a:t>Somatic Nervous System – SNS</a:t>
            </a:r>
            <a:r>
              <a:rPr lang="fa-IR" sz="1800" dirty="0">
                <a:cs typeface="B Nazanin" panose="00000400000000000000" pitchFamily="2" charset="-78"/>
              </a:rPr>
              <a:t>: </a:t>
            </a:r>
            <a:r>
              <a:rPr lang="fa-IR" sz="2000" b="0" dirty="0">
                <a:cs typeface="B Nazanin" panose="00000400000000000000" pitchFamily="2" charset="-78"/>
              </a:rPr>
              <a:t>کنترل ارادی حرکات عضلات اسکلتی.</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یک نورون حرکتی از </a:t>
            </a:r>
            <a:r>
              <a:rPr lang="en-US" sz="2000" b="0" dirty="0">
                <a:cs typeface="B Nazanin" panose="00000400000000000000" pitchFamily="2" charset="-78"/>
              </a:rPr>
              <a:t>CNS </a:t>
            </a:r>
            <a:r>
              <a:rPr lang="fa-IR" sz="2000" b="0" dirty="0">
                <a:cs typeface="B Nazanin" panose="00000400000000000000" pitchFamily="2" charset="-78"/>
              </a:rPr>
              <a:t>تا عضله هدف وجود دارد.</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پیام‌رسان شیمیایی اصلی: استیل‌کولین </a:t>
            </a:r>
            <a:r>
              <a:rPr lang="en-US" sz="2000" b="0" dirty="0">
                <a:cs typeface="B Nazanin" panose="00000400000000000000" pitchFamily="2" charset="-78"/>
              </a:rPr>
              <a:t>(Acetylcholine - </a:t>
            </a:r>
            <a:r>
              <a:rPr lang="en-US" sz="2000" b="0" dirty="0" err="1">
                <a:cs typeface="B Nazanin" panose="00000400000000000000" pitchFamily="2" charset="-78"/>
              </a:rPr>
              <a:t>ACh</a:t>
            </a:r>
            <a:r>
              <a:rPr lang="en-US" sz="2000" b="0" dirty="0">
                <a:cs typeface="B Nazanin" panose="00000400000000000000" pitchFamily="2" charset="-78"/>
              </a:rPr>
              <a:t>)</a:t>
            </a:r>
            <a:br>
              <a:rPr lang="en-US" sz="2000" b="0" dirty="0">
                <a:cs typeface="B Nazanin" panose="00000400000000000000" pitchFamily="2" charset="-78"/>
              </a:rPr>
            </a:br>
            <a:br>
              <a:rPr lang="en-US" sz="2000" b="0" dirty="0">
                <a:cs typeface="B Nazanin" panose="00000400000000000000" pitchFamily="2" charset="-78"/>
              </a:rPr>
            </a:br>
            <a:r>
              <a:rPr lang="fa-IR" sz="2000" b="0" dirty="0">
                <a:cs typeface="B Nazanin" panose="00000400000000000000" pitchFamily="2" charset="-78"/>
              </a:rPr>
              <a:t>گیرنده اصلی: نیکوتینی </a:t>
            </a:r>
            <a:r>
              <a:rPr lang="en-US" sz="2000" b="0" dirty="0">
                <a:cs typeface="B Nazanin" panose="00000400000000000000" pitchFamily="2" charset="-78"/>
              </a:rPr>
              <a:t>Nicotinic receptor)</a:t>
            </a:r>
            <a:r>
              <a:rPr lang="fa-IR" sz="2000" b="0" dirty="0">
                <a:cs typeface="B Nazanin" panose="00000400000000000000" pitchFamily="2" charset="-78"/>
              </a:rPr>
              <a:t>)</a:t>
            </a:r>
            <a:br>
              <a:rPr lang="en-US"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مثال: حرکت دادن دست یا راه رفتن.</a:t>
            </a:r>
            <a:br>
              <a:rPr lang="fa-IR" sz="2000" b="0" dirty="0">
                <a:cs typeface="B Nazanin" panose="00000400000000000000" pitchFamily="2" charset="-78"/>
              </a:rPr>
            </a:br>
            <a:br>
              <a:rPr lang="fa-IR" sz="2000" b="0" dirty="0">
                <a:cs typeface="B Nazanin" panose="00000400000000000000" pitchFamily="2" charset="-78"/>
              </a:rPr>
            </a:br>
            <a:r>
              <a:rPr lang="fa-IR" sz="1800" dirty="0">
                <a:cs typeface="B Nazanin" panose="00000400000000000000" pitchFamily="2" charset="-78"/>
              </a:rPr>
              <a:t>۲) سیستم عصبی خودمختار </a:t>
            </a:r>
            <a:r>
              <a:rPr lang="en-US" sz="1800" dirty="0">
                <a:cs typeface="B Nazanin" panose="00000400000000000000" pitchFamily="2" charset="-78"/>
              </a:rPr>
              <a:t>Autonomic Nervous System - ANS)</a:t>
            </a:r>
            <a:r>
              <a:rPr lang="fa-IR" sz="1800" dirty="0">
                <a:cs typeface="B Nazanin" panose="00000400000000000000" pitchFamily="2" charset="-78"/>
              </a:rPr>
              <a:t>)</a:t>
            </a:r>
            <a:br>
              <a:rPr lang="en-US"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کنترل غیرارادی فعالیت‌های حیاتی مانند ضربان قلب، فشار خون، تنفس، گوارش، ترشح غدد و دمای بدن.</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شامل دو نورون است: نورون پیش‌گانگلیونی و پس‌گانگلیونی</a:t>
            </a:r>
            <a:endParaRPr lang="en-US" sz="2000" b="0" dirty="0">
              <a:cs typeface="B Nazanin" panose="00000400000000000000" pitchFamily="2" charset="-78"/>
            </a:endParaRPr>
          </a:p>
        </p:txBody>
      </p:sp>
    </p:spTree>
    <p:extLst>
      <p:ext uri="{BB962C8B-B14F-4D97-AF65-F5344CB8AC3E}">
        <p14:creationId xmlns:p14="http://schemas.microsoft.com/office/powerpoint/2010/main" val="2695002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3DD27-7C21-45F1-BCB8-6EAFF84D5E6B}"/>
              </a:ext>
            </a:extLst>
          </p:cNvPr>
          <p:cNvSpPr>
            <a:spLocks noGrp="1"/>
          </p:cNvSpPr>
          <p:nvPr>
            <p:ph type="title"/>
          </p:nvPr>
        </p:nvSpPr>
        <p:spPr>
          <a:xfrm>
            <a:off x="603250" y="253219"/>
            <a:ext cx="10985500" cy="393896"/>
          </a:xfrm>
        </p:spPr>
        <p:txBody>
          <a:bodyPr>
            <a:noAutofit/>
          </a:bodyPr>
          <a:lstStyle/>
          <a:p>
            <a:pPr algn="r" rtl="1"/>
            <a:r>
              <a:rPr lang="fa-IR" sz="2400" dirty="0">
                <a:cs typeface="B Nazanin" panose="00000400000000000000" pitchFamily="2" charset="-78"/>
              </a:rPr>
              <a:t>سیستم عصبی خودمختار به دو بخش تقسیم می شود</a:t>
            </a:r>
            <a:r>
              <a:rPr lang="fa-IR" sz="2000" b="0" dirty="0">
                <a:cs typeface="B Nazanin" panose="00000400000000000000" pitchFamily="2" charset="-78"/>
              </a:rPr>
              <a:t>:</a:t>
            </a:r>
            <a:br>
              <a:rPr lang="fa-IR" sz="2000" b="0" dirty="0">
                <a:cs typeface="B Nazanin" panose="00000400000000000000" pitchFamily="2" charset="-78"/>
              </a:rPr>
            </a:br>
            <a:br>
              <a:rPr lang="fa-IR" sz="2000" b="0" dirty="0">
                <a:cs typeface="B Nazanin" panose="00000400000000000000" pitchFamily="2" charset="-78"/>
              </a:rPr>
            </a:br>
            <a:r>
              <a:rPr lang="fa-IR" sz="2000" dirty="0">
                <a:cs typeface="B Nazanin" panose="00000400000000000000" pitchFamily="2" charset="-78"/>
              </a:rPr>
              <a:t>الف) سیستم سمپاتیک</a:t>
            </a:r>
            <a:r>
              <a:rPr lang="en-US" sz="2000" dirty="0">
                <a:cs typeface="B Nazanin" panose="00000400000000000000" pitchFamily="2" charset="-78"/>
              </a:rPr>
              <a:t>Sympathetic Nervous System)</a:t>
            </a:r>
            <a:r>
              <a:rPr lang="fa-IR" sz="2000" dirty="0">
                <a:cs typeface="B Nazanin" panose="00000400000000000000" pitchFamily="2" charset="-78"/>
              </a:rPr>
              <a:t>)</a:t>
            </a:r>
            <a:br>
              <a:rPr lang="en-US"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فعال در شرایط استرس یا اضطراب</a:t>
            </a:r>
            <a:br>
              <a:rPr lang="en-US"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افزایش ضربان قلب، گشاد شدن مردمک، افزایش قند خون، کاهش فعالیت گوارشی.</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انتقال‌دهنده‌های عصبی:</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استیل‌کولین (در نورون پیش‌گانگلیونی)</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نوراپی‌نفرین یا اپی‌نفرین (در نورون پس‌گانگلیونی)</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گیرنده‌ها: آلفا (</a:t>
            </a:r>
            <a:r>
              <a:rPr lang="el-GR" sz="2000" b="0" dirty="0">
                <a:cs typeface="B Nazanin" panose="00000400000000000000" pitchFamily="2" charset="-78"/>
              </a:rPr>
              <a:t>α</a:t>
            </a:r>
            <a:r>
              <a:rPr lang="fa-IR" sz="2000" b="0" dirty="0">
                <a:cs typeface="B Nazanin" panose="00000400000000000000" pitchFamily="2" charset="-78"/>
              </a:rPr>
              <a:t>) و بتا (</a:t>
            </a:r>
            <a:r>
              <a:rPr lang="el-GR" sz="2000" b="0" dirty="0">
                <a:cs typeface="B Nazanin" panose="00000400000000000000" pitchFamily="2" charset="-78"/>
              </a:rPr>
              <a:t>β </a:t>
            </a:r>
            <a:r>
              <a:rPr lang="fa-IR" sz="2000" b="0" dirty="0">
                <a:cs typeface="B Nazanin" panose="00000400000000000000" pitchFamily="2" charset="-78"/>
              </a:rPr>
              <a:t>) آدرنرژیک</a:t>
            </a:r>
            <a:br>
              <a:rPr lang="fa-IR" sz="2000" b="0" dirty="0">
                <a:cs typeface="B Nazanin" panose="00000400000000000000" pitchFamily="2" charset="-78"/>
              </a:rPr>
            </a:br>
            <a:br>
              <a:rPr lang="fa-IR" sz="2000" b="0" dirty="0">
                <a:cs typeface="B Nazanin" panose="00000400000000000000" pitchFamily="2" charset="-78"/>
              </a:rPr>
            </a:br>
            <a:r>
              <a:rPr lang="fa-IR" sz="2000" dirty="0">
                <a:cs typeface="B Nazanin" panose="00000400000000000000" pitchFamily="2" charset="-78"/>
              </a:rPr>
              <a:t>ب) سیستم پاراسمپاتیک </a:t>
            </a:r>
            <a:r>
              <a:rPr lang="en-US" sz="2000" dirty="0">
                <a:cs typeface="B Nazanin" panose="00000400000000000000" pitchFamily="2" charset="-78"/>
              </a:rPr>
              <a:t>Parasympathetic Nervous System)</a:t>
            </a:r>
            <a:r>
              <a:rPr lang="fa-IR" sz="2000" dirty="0">
                <a:cs typeface="B Nazanin" panose="00000400000000000000" pitchFamily="2" charset="-78"/>
              </a:rPr>
              <a:t>)</a:t>
            </a:r>
            <a:br>
              <a:rPr lang="en-US"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فعال در شرایط استراحت و حفظ انرژی</a:t>
            </a:r>
            <a:br>
              <a:rPr lang="en-US"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کاهش ضربان قلب، افزایش ترشح بزاق و فعالیت گوارشی، تنگ شدن مردمک.</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انتقال‌دهنده عصبی: استیل‌کولین در هر دو نورون.</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گیرنده‌ها: نیکوتینی و موسکارینی</a:t>
            </a:r>
            <a:r>
              <a:rPr lang="en-US" sz="2000" b="0" dirty="0">
                <a:cs typeface="B Nazanin" panose="00000400000000000000" pitchFamily="2" charset="-78"/>
              </a:rPr>
              <a:t>Cholinergic receptors)</a:t>
            </a:r>
            <a:r>
              <a:rPr lang="fa-IR" sz="2000" b="0" dirty="0">
                <a:cs typeface="B Nazanin" panose="00000400000000000000" pitchFamily="2" charset="-78"/>
              </a:rPr>
              <a:t>)</a:t>
            </a:r>
            <a:endParaRPr lang="en-US" sz="2000" b="0" dirty="0">
              <a:cs typeface="B Nazanin" panose="00000400000000000000" pitchFamily="2" charset="-78"/>
            </a:endParaRPr>
          </a:p>
        </p:txBody>
      </p:sp>
    </p:spTree>
    <p:extLst>
      <p:ext uri="{BB962C8B-B14F-4D97-AF65-F5344CB8AC3E}">
        <p14:creationId xmlns:p14="http://schemas.microsoft.com/office/powerpoint/2010/main" val="256938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3D57ECD-5092-4B36-B252-B8DCF2D9D8CA}"/>
              </a:ext>
            </a:extLst>
          </p:cNvPr>
          <p:cNvSpPr>
            <a:spLocks noGrp="1"/>
          </p:cNvSpPr>
          <p:nvPr>
            <p:ph idx="1"/>
          </p:nvPr>
        </p:nvSpPr>
        <p:spPr>
          <a:xfrm>
            <a:off x="421105" y="397302"/>
            <a:ext cx="11393070" cy="5666614"/>
          </a:xfrm>
        </p:spPr>
        <p:txBody>
          <a:bodyPr>
            <a:normAutofit fontScale="97500"/>
          </a:bodyPr>
          <a:lstStyle/>
          <a:p>
            <a:pPr algn="r" rtl="1"/>
            <a:r>
              <a:rPr lang="ar-SA" b="1" dirty="0"/>
              <a:t>داروهای موثر بر سیستم عصبی خودکار </a:t>
            </a:r>
            <a:r>
              <a:rPr lang="en-US" b="1" dirty="0"/>
              <a:t>: (ANS)</a:t>
            </a:r>
          </a:p>
          <a:p>
            <a:pPr marL="0" indent="0" algn="r" rtl="1">
              <a:buNone/>
            </a:pPr>
            <a:r>
              <a:rPr lang="fa-IR" b="1" dirty="0">
                <a:solidFill>
                  <a:srgbClr val="C00000"/>
                </a:solidFill>
              </a:rPr>
              <a:t>سیستم عصبی           مرکزی ( </a:t>
            </a:r>
            <a:r>
              <a:rPr lang="en-US" b="1" dirty="0" err="1">
                <a:solidFill>
                  <a:srgbClr val="C00000"/>
                </a:solidFill>
              </a:rPr>
              <a:t>cns</a:t>
            </a:r>
            <a:r>
              <a:rPr lang="fa-IR" b="1" dirty="0">
                <a:solidFill>
                  <a:srgbClr val="C00000"/>
                </a:solidFill>
              </a:rPr>
              <a:t>)</a:t>
            </a:r>
          </a:p>
          <a:p>
            <a:pPr marL="0" indent="0" algn="r" rtl="1">
              <a:buNone/>
            </a:pPr>
            <a:r>
              <a:rPr lang="fa-IR" b="1" dirty="0">
                <a:solidFill>
                  <a:srgbClr val="C00000"/>
                </a:solidFill>
              </a:rPr>
              <a:t>                           محیطی            حسی            ارادی                           عقده ها</a:t>
            </a:r>
          </a:p>
          <a:p>
            <a:pPr marL="0" indent="0" algn="r" rtl="1">
              <a:buNone/>
            </a:pPr>
            <a:r>
              <a:rPr lang="fa-IR" b="1" dirty="0">
                <a:solidFill>
                  <a:srgbClr val="C00000"/>
                </a:solidFill>
              </a:rPr>
              <a:t>                                               حرکتی                                          </a:t>
            </a:r>
          </a:p>
          <a:p>
            <a:pPr marL="0" indent="0" algn="r" rtl="1">
              <a:buNone/>
            </a:pPr>
            <a:r>
              <a:rPr lang="fa-IR" b="1" dirty="0">
                <a:solidFill>
                  <a:srgbClr val="C00000"/>
                </a:solidFill>
              </a:rPr>
              <a:t>                                                                غیر ارادی ( </a:t>
            </a:r>
            <a:r>
              <a:rPr lang="en-US" b="1" dirty="0">
                <a:solidFill>
                  <a:srgbClr val="C00000"/>
                </a:solidFill>
              </a:rPr>
              <a:t>ANS</a:t>
            </a:r>
            <a:r>
              <a:rPr lang="fa-IR" b="1" dirty="0">
                <a:solidFill>
                  <a:srgbClr val="C00000"/>
                </a:solidFill>
              </a:rPr>
              <a:t>)           </a:t>
            </a:r>
            <a:r>
              <a:rPr lang="fa-IR" b="1" dirty="0">
                <a:solidFill>
                  <a:srgbClr val="C00000"/>
                </a:solidFill>
                <a:cs typeface="B Nazanin" panose="00000400000000000000" pitchFamily="2" charset="-78"/>
              </a:rPr>
              <a:t>الیاف </a:t>
            </a:r>
            <a:r>
              <a:rPr lang="ar-SA" b="1" dirty="0">
                <a:solidFill>
                  <a:srgbClr val="C00000"/>
                </a:solidFill>
                <a:cs typeface="B Nazanin" panose="00000400000000000000" pitchFamily="2" charset="-78"/>
              </a:rPr>
              <a:t>پیش</a:t>
            </a:r>
            <a:r>
              <a:rPr lang="fa-IR" b="1" dirty="0">
                <a:solidFill>
                  <a:srgbClr val="C00000"/>
                </a:solidFill>
                <a:cs typeface="B Nazanin" panose="00000400000000000000" pitchFamily="2" charset="-78"/>
              </a:rPr>
              <a:t> عقده ای </a:t>
            </a:r>
          </a:p>
          <a:p>
            <a:pPr marL="0" indent="0" algn="r" rtl="1">
              <a:buNone/>
            </a:pPr>
            <a:endParaRPr lang="fa-IR" b="1" dirty="0">
              <a:solidFill>
                <a:srgbClr val="C00000"/>
              </a:solidFill>
              <a:cs typeface="B Nazanin" panose="00000400000000000000" pitchFamily="2" charset="-78"/>
            </a:endParaRPr>
          </a:p>
          <a:p>
            <a:pPr marL="0" indent="0" algn="r" rtl="1">
              <a:buNone/>
            </a:pPr>
            <a:r>
              <a:rPr lang="fa-IR" b="1" dirty="0">
                <a:solidFill>
                  <a:srgbClr val="C00000"/>
                </a:solidFill>
                <a:cs typeface="B Nazanin" panose="00000400000000000000" pitchFamily="2" charset="-78"/>
              </a:rPr>
              <a:t>                                                                                                                             الیاف </a:t>
            </a:r>
            <a:r>
              <a:rPr lang="ar-SA" b="1" dirty="0">
                <a:solidFill>
                  <a:srgbClr val="C00000"/>
                </a:solidFill>
                <a:cs typeface="B Nazanin" panose="00000400000000000000" pitchFamily="2" charset="-78"/>
              </a:rPr>
              <a:t>پس</a:t>
            </a:r>
            <a:r>
              <a:rPr lang="fa-IR" b="1" dirty="0">
                <a:solidFill>
                  <a:srgbClr val="C00000"/>
                </a:solidFill>
                <a:cs typeface="B Nazanin" panose="00000400000000000000" pitchFamily="2" charset="-78"/>
              </a:rPr>
              <a:t> عقده ای</a:t>
            </a:r>
            <a:endParaRPr lang="en-US" b="1" dirty="0">
              <a:solidFill>
                <a:srgbClr val="C00000"/>
              </a:solidFill>
              <a:cs typeface="B Nazanin" panose="00000400000000000000" pitchFamily="2" charset="-78"/>
            </a:endParaRPr>
          </a:p>
        </p:txBody>
      </p:sp>
      <p:cxnSp>
        <p:nvCxnSpPr>
          <p:cNvPr id="10" name="Straight Connector 9">
            <a:extLst>
              <a:ext uri="{FF2B5EF4-FFF2-40B4-BE49-F238E27FC236}">
                <a16:creationId xmlns:a16="http://schemas.microsoft.com/office/drawing/2014/main" id="{97844E88-B385-1520-B42F-5A6675EC028F}"/>
              </a:ext>
            </a:extLst>
          </p:cNvPr>
          <p:cNvCxnSpPr/>
          <p:nvPr/>
        </p:nvCxnSpPr>
        <p:spPr>
          <a:xfrm flipH="1">
            <a:off x="9720775" y="1519311"/>
            <a:ext cx="604911" cy="49236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2" name="Straight Connector 11">
            <a:extLst>
              <a:ext uri="{FF2B5EF4-FFF2-40B4-BE49-F238E27FC236}">
                <a16:creationId xmlns:a16="http://schemas.microsoft.com/office/drawing/2014/main" id="{B2FE7981-6885-9652-A3AA-5CAD7F1286C9}"/>
              </a:ext>
            </a:extLst>
          </p:cNvPr>
          <p:cNvCxnSpPr/>
          <p:nvPr/>
        </p:nvCxnSpPr>
        <p:spPr>
          <a:xfrm>
            <a:off x="10325686" y="1322363"/>
            <a:ext cx="0"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4" name="Straight Connector 13">
            <a:extLst>
              <a:ext uri="{FF2B5EF4-FFF2-40B4-BE49-F238E27FC236}">
                <a16:creationId xmlns:a16="http://schemas.microsoft.com/office/drawing/2014/main" id="{E753C356-1FBB-98B5-340F-EF8ED0151BE9}"/>
              </a:ext>
            </a:extLst>
          </p:cNvPr>
          <p:cNvCxnSpPr/>
          <p:nvPr/>
        </p:nvCxnSpPr>
        <p:spPr>
          <a:xfrm flipH="1">
            <a:off x="9720775" y="1308295"/>
            <a:ext cx="604911"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6" name="Straight Connector 15">
            <a:extLst>
              <a:ext uri="{FF2B5EF4-FFF2-40B4-BE49-F238E27FC236}">
                <a16:creationId xmlns:a16="http://schemas.microsoft.com/office/drawing/2014/main" id="{E2AD8EEA-6E2C-C836-EF68-53795A62EA6D}"/>
              </a:ext>
            </a:extLst>
          </p:cNvPr>
          <p:cNvCxnSpPr>
            <a:cxnSpLocks/>
          </p:cNvCxnSpPr>
          <p:nvPr/>
        </p:nvCxnSpPr>
        <p:spPr>
          <a:xfrm flipH="1" flipV="1">
            <a:off x="8074855" y="1814732"/>
            <a:ext cx="703385" cy="196948"/>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FCA6E984-30C0-F9A4-EE6A-22A86EE19254}"/>
              </a:ext>
            </a:extLst>
          </p:cNvPr>
          <p:cNvCxnSpPr/>
          <p:nvPr/>
        </p:nvCxnSpPr>
        <p:spPr>
          <a:xfrm flipH="1">
            <a:off x="8074855" y="2138289"/>
            <a:ext cx="703385" cy="43609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1" name="Straight Connector 20">
            <a:extLst>
              <a:ext uri="{FF2B5EF4-FFF2-40B4-BE49-F238E27FC236}">
                <a16:creationId xmlns:a16="http://schemas.microsoft.com/office/drawing/2014/main" id="{F7B40690-B2EA-D200-36C7-BCD67309309F}"/>
              </a:ext>
            </a:extLst>
          </p:cNvPr>
          <p:cNvCxnSpPr/>
          <p:nvPr/>
        </p:nvCxnSpPr>
        <p:spPr>
          <a:xfrm flipH="1" flipV="1">
            <a:off x="6639951" y="2138289"/>
            <a:ext cx="590843" cy="323557"/>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3" name="Straight Connector 22">
            <a:extLst>
              <a:ext uri="{FF2B5EF4-FFF2-40B4-BE49-F238E27FC236}">
                <a16:creationId xmlns:a16="http://schemas.microsoft.com/office/drawing/2014/main" id="{7B5C57BA-CA75-5685-22C9-1D818712A8FA}"/>
              </a:ext>
            </a:extLst>
          </p:cNvPr>
          <p:cNvCxnSpPr>
            <a:cxnSpLocks/>
          </p:cNvCxnSpPr>
          <p:nvPr/>
        </p:nvCxnSpPr>
        <p:spPr>
          <a:xfrm flipH="1">
            <a:off x="6639951" y="2574388"/>
            <a:ext cx="590843" cy="464234"/>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6" name="Straight Connector 25">
            <a:extLst>
              <a:ext uri="{FF2B5EF4-FFF2-40B4-BE49-F238E27FC236}">
                <a16:creationId xmlns:a16="http://schemas.microsoft.com/office/drawing/2014/main" id="{97BBA734-F332-1993-A318-1F2C1C5BEE61}"/>
              </a:ext>
            </a:extLst>
          </p:cNvPr>
          <p:cNvCxnSpPr/>
          <p:nvPr/>
        </p:nvCxnSpPr>
        <p:spPr>
          <a:xfrm flipH="1" flipV="1">
            <a:off x="4023361" y="2110153"/>
            <a:ext cx="548640" cy="90033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 name="Straight Connector 27">
            <a:extLst>
              <a:ext uri="{FF2B5EF4-FFF2-40B4-BE49-F238E27FC236}">
                <a16:creationId xmlns:a16="http://schemas.microsoft.com/office/drawing/2014/main" id="{D7642E11-7FE9-787E-1C96-7126693C64C4}"/>
              </a:ext>
            </a:extLst>
          </p:cNvPr>
          <p:cNvCxnSpPr/>
          <p:nvPr/>
        </p:nvCxnSpPr>
        <p:spPr>
          <a:xfrm flipH="1">
            <a:off x="3826412" y="3038622"/>
            <a:ext cx="604911"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0" name="Straight Connector 29">
            <a:extLst>
              <a:ext uri="{FF2B5EF4-FFF2-40B4-BE49-F238E27FC236}">
                <a16:creationId xmlns:a16="http://schemas.microsoft.com/office/drawing/2014/main" id="{E4F38D30-B651-32F0-1C5F-462EA3DD6430}"/>
              </a:ext>
            </a:extLst>
          </p:cNvPr>
          <p:cNvCxnSpPr/>
          <p:nvPr/>
        </p:nvCxnSpPr>
        <p:spPr>
          <a:xfrm flipH="1">
            <a:off x="3910818" y="3221502"/>
            <a:ext cx="675250" cy="1304887"/>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746697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A5B00-756D-4CEB-BFD6-8E23D5440888}"/>
              </a:ext>
            </a:extLst>
          </p:cNvPr>
          <p:cNvSpPr>
            <a:spLocks noGrp="1"/>
          </p:cNvSpPr>
          <p:nvPr>
            <p:ph type="title"/>
          </p:nvPr>
        </p:nvSpPr>
        <p:spPr>
          <a:xfrm>
            <a:off x="603250" y="0"/>
            <a:ext cx="10985500" cy="506437"/>
          </a:xfrm>
        </p:spPr>
        <p:txBody>
          <a:bodyPr>
            <a:normAutofit/>
          </a:bodyPr>
          <a:lstStyle/>
          <a:p>
            <a:pPr algn="r"/>
            <a:r>
              <a:rPr lang="ar-SA" sz="2000" dirty="0">
                <a:cs typeface="B Nazanin" panose="00000400000000000000" pitchFamily="2" charset="-78"/>
              </a:rPr>
              <a:t>تاثیر اعصاب سمپاتیک و پاراسمپاتیک بر اندام های مختلف بدن</a:t>
            </a:r>
            <a:endParaRPr lang="en-US" sz="2000" dirty="0">
              <a:cs typeface="B Nazanin" panose="00000400000000000000" pitchFamily="2" charset="-78"/>
            </a:endParaRPr>
          </a:p>
        </p:txBody>
      </p:sp>
      <p:graphicFrame>
        <p:nvGraphicFramePr>
          <p:cNvPr id="4" name="Table 4">
            <a:extLst>
              <a:ext uri="{FF2B5EF4-FFF2-40B4-BE49-F238E27FC236}">
                <a16:creationId xmlns:a16="http://schemas.microsoft.com/office/drawing/2014/main" id="{E4DAB998-1A0A-4CE0-9B4C-A62038D6E1E0}"/>
              </a:ext>
            </a:extLst>
          </p:cNvPr>
          <p:cNvGraphicFramePr>
            <a:graphicFrameLocks noGrp="1"/>
          </p:cNvGraphicFramePr>
          <p:nvPr>
            <p:ph idx="1"/>
            <p:extLst>
              <p:ext uri="{D42A27DB-BD31-4B8C-83A1-F6EECF244321}">
                <p14:modId xmlns:p14="http://schemas.microsoft.com/office/powerpoint/2010/main" val="1709567316"/>
              </p:ext>
            </p:extLst>
          </p:nvPr>
        </p:nvGraphicFramePr>
        <p:xfrm>
          <a:off x="942535" y="506437"/>
          <a:ext cx="10800957" cy="6091311"/>
        </p:xfrm>
        <a:graphic>
          <a:graphicData uri="http://schemas.openxmlformats.org/drawingml/2006/table">
            <a:tbl>
              <a:tblPr firstRow="1" bandRow="1">
                <a:tableStyleId>{5C22544A-7EE6-4342-B048-85BDC9FD1C3A}</a:tableStyleId>
              </a:tblPr>
              <a:tblGrid>
                <a:gridCol w="3600319">
                  <a:extLst>
                    <a:ext uri="{9D8B030D-6E8A-4147-A177-3AD203B41FA5}">
                      <a16:colId xmlns:a16="http://schemas.microsoft.com/office/drawing/2014/main" val="1446518746"/>
                    </a:ext>
                  </a:extLst>
                </a:gridCol>
                <a:gridCol w="3600319">
                  <a:extLst>
                    <a:ext uri="{9D8B030D-6E8A-4147-A177-3AD203B41FA5}">
                      <a16:colId xmlns:a16="http://schemas.microsoft.com/office/drawing/2014/main" val="3290009262"/>
                    </a:ext>
                  </a:extLst>
                </a:gridCol>
                <a:gridCol w="3600319">
                  <a:extLst>
                    <a:ext uri="{9D8B030D-6E8A-4147-A177-3AD203B41FA5}">
                      <a16:colId xmlns:a16="http://schemas.microsoft.com/office/drawing/2014/main" val="2009755355"/>
                    </a:ext>
                  </a:extLst>
                </a:gridCol>
              </a:tblGrid>
              <a:tr h="546401">
                <a:tc>
                  <a:txBody>
                    <a:bodyPr/>
                    <a:lstStyle/>
                    <a:p>
                      <a:r>
                        <a:rPr lang="ar-SA" sz="2000" b="1" i="0" u="none" strike="noStrike" cap="none" spc="0" baseline="0" dirty="0">
                          <a:solidFill>
                            <a:schemeClr val="lt1"/>
                          </a:solidFill>
                          <a:effectLst/>
                          <a:uFillTx/>
                          <a:latin typeface="+mn-lt"/>
                          <a:ea typeface="+mn-ea"/>
                          <a:cs typeface="B Nazanin" panose="00000400000000000000" pitchFamily="2" charset="-78"/>
                          <a:sym typeface="Helvetica Neue"/>
                        </a:rPr>
                        <a:t>پاراسمپاتیک</a:t>
                      </a:r>
                      <a:endParaRPr lang="en-US" sz="2000" dirty="0">
                        <a:cs typeface="B Nazanin" panose="00000400000000000000" pitchFamily="2" charset="-78"/>
                      </a:endParaRPr>
                    </a:p>
                  </a:txBody>
                  <a:tcPr/>
                </a:tc>
                <a:tc>
                  <a:txBody>
                    <a:bodyPr/>
                    <a:lstStyle/>
                    <a:p>
                      <a:r>
                        <a:rPr lang="ar-SA" sz="2000" b="1" i="0" u="none" strike="noStrike" cap="none" spc="0" baseline="0" dirty="0">
                          <a:solidFill>
                            <a:schemeClr val="lt1"/>
                          </a:solidFill>
                          <a:effectLst/>
                          <a:uFillTx/>
                          <a:latin typeface="+mn-lt"/>
                          <a:ea typeface="+mn-ea"/>
                          <a:cs typeface="B Nazanin" panose="00000400000000000000" pitchFamily="2" charset="-78"/>
                          <a:sym typeface="Helvetica Neue"/>
                        </a:rPr>
                        <a:t>سمپاتیک</a:t>
                      </a:r>
                      <a:endParaRPr lang="en-US" sz="2000" dirty="0">
                        <a:cs typeface="B Nazanin" panose="00000400000000000000" pitchFamily="2" charset="-78"/>
                      </a:endParaRPr>
                    </a:p>
                  </a:txBody>
                  <a:tcPr/>
                </a:tc>
                <a:tc>
                  <a:txBody>
                    <a:bodyPr/>
                    <a:lstStyle/>
                    <a:p>
                      <a:r>
                        <a:rPr lang="fa-IR" sz="2000" b="1" dirty="0">
                          <a:cs typeface="B Nazanin" panose="00000400000000000000" pitchFamily="2" charset="-78"/>
                        </a:rPr>
                        <a:t>اندام</a:t>
                      </a:r>
                      <a:endParaRPr lang="en-US" sz="2000" b="1" dirty="0">
                        <a:cs typeface="B Nazanin" panose="00000400000000000000" pitchFamily="2" charset="-78"/>
                      </a:endParaRPr>
                    </a:p>
                  </a:txBody>
                  <a:tcPr/>
                </a:tc>
                <a:extLst>
                  <a:ext uri="{0D108BD9-81ED-4DB2-BD59-A6C34878D82A}">
                    <a16:rowId xmlns:a16="http://schemas.microsoft.com/office/drawing/2014/main" val="3538462778"/>
                  </a:ext>
                </a:extLst>
              </a:tr>
              <a:tr h="647955">
                <a:tc>
                  <a:txBody>
                    <a:bodyPr/>
                    <a:lstStyle/>
                    <a:p>
                      <a:r>
                        <a:rPr lang="ar-SA" sz="1800" b="1" i="0" u="none" strike="noStrike" cap="none" spc="0" baseline="0" dirty="0">
                          <a:solidFill>
                            <a:schemeClr val="dk1"/>
                          </a:solidFill>
                          <a:effectLst/>
                          <a:uFillTx/>
                          <a:latin typeface="+mn-lt"/>
                          <a:ea typeface="+mn-ea"/>
                          <a:cs typeface="B Nazanin" panose="00000400000000000000" pitchFamily="2" charset="-78"/>
                          <a:sym typeface="Helvetica Neue"/>
                        </a:rPr>
                        <a:t>ریت قلب را کاهش میدهد روی قدرت قلب تاثیری ندارد</a:t>
                      </a:r>
                      <a:endParaRPr lang="en-US" sz="1800" b="1" dirty="0">
                        <a:cs typeface="B Nazanin" panose="00000400000000000000" pitchFamily="2" charset="-78"/>
                      </a:endParaRPr>
                    </a:p>
                  </a:txBody>
                  <a:tcPr/>
                </a:tc>
                <a:tc>
                  <a:txBody>
                    <a:bodyPr/>
                    <a:lstStyle/>
                    <a:p>
                      <a:r>
                        <a:rPr lang="ar-SA" sz="1800" b="1" i="0" u="none" strike="noStrike" cap="none" spc="0" baseline="0" dirty="0">
                          <a:solidFill>
                            <a:schemeClr val="dk1"/>
                          </a:solidFill>
                          <a:effectLst/>
                          <a:uFillTx/>
                          <a:latin typeface="+mn-lt"/>
                          <a:ea typeface="+mn-ea"/>
                          <a:cs typeface="B Nazanin" panose="00000400000000000000" pitchFamily="2" charset="-78"/>
                          <a:sym typeface="Helvetica Neue"/>
                        </a:rPr>
                        <a:t>ریت قلب را افزاش می دهد</a:t>
                      </a:r>
                      <a:r>
                        <a:rPr lang="fa-IR" sz="1800" b="1" i="0" u="none" strike="noStrike" cap="none" spc="0" baseline="0" dirty="0">
                          <a:solidFill>
                            <a:schemeClr val="dk1"/>
                          </a:solidFill>
                          <a:effectLst/>
                          <a:uFillTx/>
                          <a:latin typeface="+mn-lt"/>
                          <a:ea typeface="+mn-ea"/>
                          <a:cs typeface="B Nazanin" panose="00000400000000000000" pitchFamily="2" charset="-78"/>
                          <a:sym typeface="Helvetica Neue"/>
                        </a:rPr>
                        <a:t>،</a:t>
                      </a:r>
                      <a:r>
                        <a:rPr lang="ar-SA" sz="1800" b="1" i="0" u="none" strike="noStrike" cap="none" spc="0" baseline="0" dirty="0">
                          <a:solidFill>
                            <a:schemeClr val="dk1"/>
                          </a:solidFill>
                          <a:effectLst/>
                          <a:uFillTx/>
                          <a:latin typeface="+mn-lt"/>
                          <a:ea typeface="+mn-ea"/>
                          <a:cs typeface="B Nazanin" panose="00000400000000000000" pitchFamily="2" charset="-78"/>
                          <a:sym typeface="Helvetica Neue"/>
                        </a:rPr>
                        <a:t> قدرت قلب را افزایش می دهد</a:t>
                      </a:r>
                      <a:endParaRPr lang="en-US" sz="1800" b="1" dirty="0">
                        <a:cs typeface="B Nazanin" panose="00000400000000000000" pitchFamily="2" charset="-78"/>
                      </a:endParaRPr>
                    </a:p>
                  </a:txBody>
                  <a:tcPr/>
                </a:tc>
                <a:tc>
                  <a:txBody>
                    <a:bodyPr/>
                    <a:lstStyle/>
                    <a:p>
                      <a:r>
                        <a:rPr lang="fa-IR" sz="2000" b="1" dirty="0">
                          <a:cs typeface="B Nazanin" panose="00000400000000000000" pitchFamily="2" charset="-78"/>
                        </a:rPr>
                        <a:t>قلب</a:t>
                      </a:r>
                      <a:endParaRPr lang="en-US" sz="2000" b="1" dirty="0">
                        <a:cs typeface="B Nazanin" panose="00000400000000000000" pitchFamily="2" charset="-78"/>
                      </a:endParaRPr>
                    </a:p>
                  </a:txBody>
                  <a:tcPr/>
                </a:tc>
                <a:extLst>
                  <a:ext uri="{0D108BD9-81ED-4DB2-BD59-A6C34878D82A}">
                    <a16:rowId xmlns:a16="http://schemas.microsoft.com/office/drawing/2014/main" val="2046660063"/>
                  </a:ext>
                </a:extLst>
              </a:tr>
              <a:tr h="1481039">
                <a:tc>
                  <a:txBody>
                    <a:bodyPr/>
                    <a:lstStyle/>
                    <a:p>
                      <a:pPr algn="r" rtl="1"/>
                      <a:r>
                        <a:rPr lang="ar-SA" sz="1800" b="1" i="0" u="none" strike="noStrike" cap="none" spc="0" baseline="0" dirty="0">
                          <a:solidFill>
                            <a:schemeClr val="dk1"/>
                          </a:solidFill>
                          <a:effectLst/>
                          <a:uFillTx/>
                          <a:latin typeface="+mn-lt"/>
                          <a:ea typeface="+mn-ea"/>
                          <a:cs typeface="B Nazanin" panose="00000400000000000000" pitchFamily="2" charset="-78"/>
                          <a:sym typeface="Helvetica Neue"/>
                        </a:rPr>
                        <a:t>باعث گشاد شدن عروق می شود </a:t>
                      </a:r>
                      <a:r>
                        <a:rPr lang="fa-IR" sz="1800" b="1" i="0" u="none" strike="noStrike" cap="none" spc="0" baseline="0" dirty="0">
                          <a:solidFill>
                            <a:schemeClr val="dk1"/>
                          </a:solidFill>
                          <a:effectLst/>
                          <a:uFillTx/>
                          <a:latin typeface="+mn-lt"/>
                          <a:ea typeface="+mn-ea"/>
                          <a:cs typeface="B Nazanin" panose="00000400000000000000" pitchFamily="2" charset="-78"/>
                          <a:sym typeface="Helvetica Neue"/>
                        </a:rPr>
                        <a:t>،</a:t>
                      </a:r>
                      <a:r>
                        <a:rPr lang="ar-SA" sz="1800" b="1" i="0" u="none" strike="noStrike" cap="none" spc="0" baseline="0" dirty="0">
                          <a:solidFill>
                            <a:schemeClr val="dk1"/>
                          </a:solidFill>
                          <a:effectLst/>
                          <a:uFillTx/>
                          <a:latin typeface="+mn-lt"/>
                          <a:ea typeface="+mn-ea"/>
                          <a:cs typeface="B Nazanin" panose="00000400000000000000" pitchFamily="2" charset="-78"/>
                          <a:sym typeface="Helvetica Neue"/>
                        </a:rPr>
                        <a:t>باعث ترشح</a:t>
                      </a:r>
                      <a:r>
                        <a:rPr lang="en-US" sz="1800" b="1" i="0" u="none" strike="noStrike" cap="none" spc="0" baseline="0" dirty="0">
                          <a:solidFill>
                            <a:schemeClr val="dk1"/>
                          </a:solidFill>
                          <a:effectLst/>
                          <a:uFillTx/>
                          <a:latin typeface="+mn-lt"/>
                          <a:ea typeface="+mn-ea"/>
                          <a:cs typeface="B Nazanin" panose="00000400000000000000" pitchFamily="2" charset="-78"/>
                          <a:sym typeface="Helvetica Neue"/>
                        </a:rPr>
                        <a:t>NO</a:t>
                      </a:r>
                      <a:r>
                        <a:rPr lang="ar-SA" sz="1800" b="1" i="0" u="none" strike="noStrike" cap="none" spc="0" baseline="0" dirty="0">
                          <a:solidFill>
                            <a:schemeClr val="dk1"/>
                          </a:solidFill>
                          <a:effectLst/>
                          <a:uFillTx/>
                          <a:latin typeface="+mn-lt"/>
                          <a:ea typeface="+mn-ea"/>
                          <a:cs typeface="B Nazanin" panose="00000400000000000000" pitchFamily="2" charset="-78"/>
                          <a:sym typeface="Helvetica Neue"/>
                        </a:rPr>
                        <a:t> از دیواره رگ میشود که باعث گشاد شدن رگ می شود</a:t>
                      </a:r>
                      <a:r>
                        <a:rPr lang="en-US" sz="1800" b="0" i="0" u="none" strike="noStrike" cap="none" spc="0" baseline="0" dirty="0">
                          <a:solidFill>
                            <a:schemeClr val="dk1"/>
                          </a:solidFill>
                          <a:effectLst/>
                          <a:uFillTx/>
                          <a:latin typeface="+mn-lt"/>
                          <a:ea typeface="+mn-ea"/>
                          <a:cs typeface="B Nazanin" panose="00000400000000000000" pitchFamily="2" charset="-78"/>
                          <a:sym typeface="Helvetica Neue"/>
                        </a:rPr>
                        <a:t>.</a:t>
                      </a:r>
                      <a:endParaRPr lang="en-US" sz="1800" dirty="0">
                        <a:cs typeface="B Nazanin" panose="00000400000000000000" pitchFamily="2" charset="-78"/>
                      </a:endParaRPr>
                    </a:p>
                  </a:txBody>
                  <a:tcPr/>
                </a:tc>
                <a:tc>
                  <a:txBody>
                    <a:bodyPr/>
                    <a:lstStyle/>
                    <a:p>
                      <a:pPr algn="r" rtl="1"/>
                      <a:r>
                        <a:rPr lang="ar-SA" sz="1800" b="1" i="0" u="none" strike="noStrike" cap="none" spc="0" baseline="0" dirty="0">
                          <a:solidFill>
                            <a:schemeClr val="dk1"/>
                          </a:solidFill>
                          <a:effectLst/>
                          <a:uFillTx/>
                          <a:latin typeface="+mn-lt"/>
                          <a:ea typeface="+mn-ea"/>
                          <a:cs typeface="B Nazanin" panose="00000400000000000000" pitchFamily="2" charset="-78"/>
                          <a:sym typeface="Helvetica Neue"/>
                        </a:rPr>
                        <a:t>عروق پوست،احشا و مخاطات منقبض می شود</a:t>
                      </a:r>
                      <a:endParaRPr lang="en-US" sz="1800" b="1" i="0" u="none" strike="noStrike" cap="none" spc="0" baseline="0" dirty="0">
                        <a:solidFill>
                          <a:schemeClr val="dk1"/>
                        </a:solidFill>
                        <a:effectLst/>
                        <a:uFillTx/>
                        <a:latin typeface="+mn-lt"/>
                        <a:ea typeface="+mn-ea"/>
                        <a:cs typeface="B Nazanin" panose="00000400000000000000" pitchFamily="2" charset="-78"/>
                        <a:sym typeface="Helvetica Neue"/>
                      </a:endParaRPr>
                    </a:p>
                    <a:p>
                      <a:pPr algn="r" rtl="1"/>
                      <a:r>
                        <a:rPr lang="ar-SA" sz="1800" b="1" i="0" u="none" strike="noStrike" cap="none" spc="0" baseline="0" dirty="0">
                          <a:solidFill>
                            <a:schemeClr val="dk1"/>
                          </a:solidFill>
                          <a:effectLst/>
                          <a:uFillTx/>
                          <a:latin typeface="+mn-lt"/>
                          <a:ea typeface="+mn-ea"/>
                          <a:cs typeface="B Nazanin" panose="00000400000000000000" pitchFamily="2" charset="-78"/>
                          <a:sym typeface="Helvetica Neue"/>
                        </a:rPr>
                        <a:t>ولی عروق عضلات اسکلتی گشاد می شود</a:t>
                      </a:r>
                      <a:r>
                        <a:rPr lang="en-US" sz="1800" b="1" i="0" u="none" strike="noStrike" cap="none" spc="0" baseline="0" dirty="0">
                          <a:solidFill>
                            <a:schemeClr val="dk1"/>
                          </a:solidFill>
                          <a:effectLst/>
                          <a:uFillTx/>
                          <a:latin typeface="+mn-lt"/>
                          <a:ea typeface="+mn-ea"/>
                          <a:cs typeface="B Nazanin" panose="00000400000000000000" pitchFamily="2" charset="-78"/>
                          <a:sym typeface="Helvetica Neue"/>
                        </a:rPr>
                        <a:t>.</a:t>
                      </a:r>
                      <a:r>
                        <a:rPr lang="en-US" sz="1800" b="0" i="0" u="none" strike="noStrike" cap="none" spc="0" baseline="0" dirty="0">
                          <a:solidFill>
                            <a:schemeClr val="dk1"/>
                          </a:solidFill>
                          <a:effectLst/>
                          <a:uFillTx/>
                          <a:latin typeface="+mn-lt"/>
                          <a:ea typeface="+mn-ea"/>
                          <a:cs typeface="B Nazanin" panose="00000400000000000000" pitchFamily="2" charset="-78"/>
                          <a:sym typeface="Helvetica Neue"/>
                        </a:rPr>
                        <a:t> </a:t>
                      </a:r>
                      <a:r>
                        <a:rPr lang="en-US" sz="1800" b="1" i="0" u="none" strike="noStrike" cap="none" spc="0" baseline="0" dirty="0">
                          <a:solidFill>
                            <a:schemeClr val="dk1"/>
                          </a:solidFill>
                          <a:effectLst/>
                          <a:uFillTx/>
                          <a:latin typeface="+mn-lt"/>
                          <a:ea typeface="+mn-ea"/>
                          <a:cs typeface="B Nazanin" panose="00000400000000000000" pitchFamily="2" charset="-78"/>
                          <a:sym typeface="Helvetica Neue"/>
                        </a:rPr>
                        <a:t>(VASODILATATOR)</a:t>
                      </a:r>
                    </a:p>
                    <a:p>
                      <a:pPr algn="r"/>
                      <a:endParaRPr lang="en-US" sz="1800" dirty="0">
                        <a:cs typeface="B Nazanin" panose="00000400000000000000" pitchFamily="2" charset="-78"/>
                      </a:endParaRPr>
                    </a:p>
                  </a:txBody>
                  <a:tcPr/>
                </a:tc>
                <a:tc>
                  <a:txBody>
                    <a:bodyPr/>
                    <a:lstStyle/>
                    <a:p>
                      <a:r>
                        <a:rPr lang="fa-IR" sz="2000" b="1" dirty="0">
                          <a:cs typeface="B Nazanin" panose="00000400000000000000" pitchFamily="2" charset="-78"/>
                        </a:rPr>
                        <a:t>عروق</a:t>
                      </a:r>
                      <a:endParaRPr lang="en-US" sz="2000" b="1" dirty="0">
                        <a:cs typeface="B Nazanin" panose="00000400000000000000" pitchFamily="2" charset="-78"/>
                      </a:endParaRPr>
                    </a:p>
                  </a:txBody>
                  <a:tcPr/>
                </a:tc>
                <a:extLst>
                  <a:ext uri="{0D108BD9-81ED-4DB2-BD59-A6C34878D82A}">
                    <a16:rowId xmlns:a16="http://schemas.microsoft.com/office/drawing/2014/main" val="858835642"/>
                  </a:ext>
                </a:extLst>
              </a:tr>
              <a:tr h="647955">
                <a:tc>
                  <a:txBody>
                    <a:bodyPr/>
                    <a:lstStyle/>
                    <a:p>
                      <a:r>
                        <a:rPr lang="ar-SA" sz="1800" b="1" i="0" u="none" strike="noStrike" cap="none" spc="0" baseline="0" dirty="0">
                          <a:solidFill>
                            <a:schemeClr val="dk1"/>
                          </a:solidFill>
                          <a:effectLst/>
                          <a:uFillTx/>
                          <a:latin typeface="+mn-lt"/>
                          <a:ea typeface="+mn-ea"/>
                          <a:cs typeface="B Nazanin" panose="00000400000000000000" pitchFamily="2" charset="-78"/>
                          <a:sym typeface="Helvetica Neue"/>
                        </a:rPr>
                        <a:t>حرکات را افزایش می دهد ترشحات را افزایش می دهد تاثیری روی اسفنگترندارد</a:t>
                      </a:r>
                      <a:endParaRPr lang="en-US" sz="1800" b="1" dirty="0">
                        <a:cs typeface="B Nazanin" panose="00000400000000000000" pitchFamily="2" charset="-78"/>
                      </a:endParaRPr>
                    </a:p>
                  </a:txBody>
                  <a:tcPr/>
                </a:tc>
                <a:tc>
                  <a:txBody>
                    <a:bodyPr/>
                    <a:lstStyle/>
                    <a:p>
                      <a:pPr algn="r"/>
                      <a:r>
                        <a:rPr lang="ar-SA" sz="1800" b="1" i="0" u="none" strike="noStrike" cap="none" spc="0" baseline="0" dirty="0">
                          <a:solidFill>
                            <a:schemeClr val="dk1"/>
                          </a:solidFill>
                          <a:effectLst/>
                          <a:uFillTx/>
                          <a:latin typeface="+mn-lt"/>
                          <a:ea typeface="+mn-ea"/>
                          <a:cs typeface="B Nazanin" panose="00000400000000000000" pitchFamily="2" charset="-78"/>
                          <a:sym typeface="Helvetica Neue"/>
                        </a:rPr>
                        <a:t>حرکات را کاهش می دهد ترشحات را کاهش میدهد اسفنگترها را منقبض می کند</a:t>
                      </a:r>
                      <a:endParaRPr lang="en-US" sz="1800" b="1" dirty="0">
                        <a:cs typeface="B Nazanin" panose="00000400000000000000" pitchFamily="2" charset="-78"/>
                      </a:endParaRPr>
                    </a:p>
                  </a:txBody>
                  <a:tcPr/>
                </a:tc>
                <a:tc>
                  <a:txBody>
                    <a:bodyPr/>
                    <a:lstStyle/>
                    <a:p>
                      <a:r>
                        <a:rPr lang="fa-IR" sz="2000" b="1" dirty="0">
                          <a:cs typeface="B Nazanin" panose="00000400000000000000" pitchFamily="2" charset="-78"/>
                        </a:rPr>
                        <a:t>گوارش</a:t>
                      </a:r>
                      <a:endParaRPr lang="en-US" sz="2000" b="1" dirty="0">
                        <a:cs typeface="B Nazanin" panose="00000400000000000000" pitchFamily="2" charset="-78"/>
                      </a:endParaRPr>
                    </a:p>
                  </a:txBody>
                  <a:tcPr/>
                </a:tc>
                <a:extLst>
                  <a:ext uri="{0D108BD9-81ED-4DB2-BD59-A6C34878D82A}">
                    <a16:rowId xmlns:a16="http://schemas.microsoft.com/office/drawing/2014/main" val="3365370981"/>
                  </a:ext>
                </a:extLst>
              </a:tr>
              <a:tr h="647955">
                <a:tc>
                  <a:txBody>
                    <a:bodyPr/>
                    <a:lstStyle/>
                    <a:p>
                      <a:pPr rtl="1"/>
                      <a:r>
                        <a:rPr lang="ar-SA" sz="1800" b="1" i="0" u="none" strike="noStrike" cap="none" spc="0" baseline="0" dirty="0">
                          <a:solidFill>
                            <a:schemeClr val="dk1"/>
                          </a:solidFill>
                          <a:effectLst/>
                          <a:uFillTx/>
                          <a:latin typeface="+mn-lt"/>
                          <a:ea typeface="+mn-ea"/>
                          <a:cs typeface="B Nazanin" panose="00000400000000000000" pitchFamily="2" charset="-78"/>
                          <a:sym typeface="Helvetica Neue"/>
                        </a:rPr>
                        <a:t>باعث انقباض برونش ها می شود</a:t>
                      </a:r>
                      <a:endParaRPr lang="en-US" sz="1800" b="1" i="0" u="none" strike="noStrike" cap="none" spc="0" baseline="0" dirty="0">
                        <a:solidFill>
                          <a:schemeClr val="dk1"/>
                        </a:solidFill>
                        <a:effectLst/>
                        <a:uFillTx/>
                        <a:latin typeface="+mn-lt"/>
                        <a:ea typeface="+mn-ea"/>
                        <a:cs typeface="B Nazanin" panose="00000400000000000000" pitchFamily="2" charset="-78"/>
                        <a:sym typeface="Helvetica Neue"/>
                      </a:endParaRPr>
                    </a:p>
                    <a:p>
                      <a:r>
                        <a:rPr lang="ar-SA" sz="1800" b="1" i="0" u="none" strike="noStrike" cap="none" spc="0" baseline="0" dirty="0">
                          <a:solidFill>
                            <a:schemeClr val="dk1"/>
                          </a:solidFill>
                          <a:effectLst/>
                          <a:uFillTx/>
                          <a:latin typeface="+mn-lt"/>
                          <a:ea typeface="+mn-ea"/>
                          <a:cs typeface="B Nazanin" panose="00000400000000000000" pitchFamily="2" charset="-78"/>
                          <a:sym typeface="Helvetica Neue"/>
                        </a:rPr>
                        <a:t>برونکوکانستریکشن</a:t>
                      </a:r>
                      <a:endParaRPr lang="en-US" sz="1800" dirty="0">
                        <a:cs typeface="B Nazanin" panose="00000400000000000000" pitchFamily="2" charset="-78"/>
                      </a:endParaRPr>
                    </a:p>
                  </a:txBody>
                  <a:tcPr/>
                </a:tc>
                <a:tc>
                  <a:txBody>
                    <a:bodyPr/>
                    <a:lstStyle/>
                    <a:p>
                      <a:pPr algn="r" rtl="1"/>
                      <a:r>
                        <a:rPr lang="ar-SA" sz="1800" b="1" i="0" u="none" strike="noStrike" cap="none" spc="0" baseline="0" dirty="0">
                          <a:solidFill>
                            <a:schemeClr val="dk1"/>
                          </a:solidFill>
                          <a:effectLst/>
                          <a:uFillTx/>
                          <a:latin typeface="+mn-lt"/>
                          <a:ea typeface="+mn-ea"/>
                          <a:cs typeface="B Nazanin" panose="00000400000000000000" pitchFamily="2" charset="-78"/>
                          <a:sym typeface="Helvetica Neue"/>
                        </a:rPr>
                        <a:t>گشاد شدن راه تنفسی</a:t>
                      </a:r>
                      <a:r>
                        <a:rPr lang="en-US" sz="1800" b="1" i="0" u="none" strike="noStrike" cap="none" spc="0" baseline="0" dirty="0">
                          <a:solidFill>
                            <a:schemeClr val="dk1"/>
                          </a:solidFill>
                          <a:effectLst/>
                          <a:uFillTx/>
                          <a:latin typeface="+mn-lt"/>
                          <a:ea typeface="+mn-ea"/>
                          <a:cs typeface="B Nazanin" panose="00000400000000000000" pitchFamily="2" charset="-78"/>
                          <a:sym typeface="Helvetica Neue"/>
                        </a:rPr>
                        <a:t>)</a:t>
                      </a:r>
                      <a:r>
                        <a:rPr lang="ar-SA" sz="1800" b="1" i="0" u="none" strike="noStrike" cap="none" spc="0" baseline="0" dirty="0">
                          <a:solidFill>
                            <a:schemeClr val="dk1"/>
                          </a:solidFill>
                          <a:effectLst/>
                          <a:uFillTx/>
                          <a:latin typeface="+mn-lt"/>
                          <a:ea typeface="+mn-ea"/>
                          <a:cs typeface="B Nazanin" panose="00000400000000000000" pitchFamily="2" charset="-78"/>
                          <a:sym typeface="Helvetica Neue"/>
                        </a:rPr>
                        <a:t>بروش</a:t>
                      </a:r>
                      <a:r>
                        <a:rPr lang="en-US" sz="1800" b="1" i="0" u="none" strike="noStrike" cap="none" spc="0" baseline="0" dirty="0">
                          <a:solidFill>
                            <a:schemeClr val="dk1"/>
                          </a:solidFill>
                          <a:effectLst/>
                          <a:uFillTx/>
                          <a:latin typeface="+mn-lt"/>
                          <a:ea typeface="+mn-ea"/>
                          <a:cs typeface="B Nazanin" panose="00000400000000000000" pitchFamily="2" charset="-78"/>
                          <a:sym typeface="Helvetica Neue"/>
                        </a:rPr>
                        <a:t>(</a:t>
                      </a:r>
                    </a:p>
                    <a:p>
                      <a:pPr algn="r"/>
                      <a:r>
                        <a:rPr lang="ar-SA" sz="1800" b="1" i="0" u="none" strike="noStrike" cap="none" spc="0" baseline="0" dirty="0">
                          <a:solidFill>
                            <a:schemeClr val="dk1"/>
                          </a:solidFill>
                          <a:effectLst/>
                          <a:uFillTx/>
                          <a:latin typeface="+mn-lt"/>
                          <a:ea typeface="+mn-ea"/>
                          <a:cs typeface="B Nazanin" panose="00000400000000000000" pitchFamily="2" charset="-78"/>
                          <a:sym typeface="Helvetica Neue"/>
                        </a:rPr>
                        <a:t>برونکودیلاتیش</a:t>
                      </a:r>
                      <a:endParaRPr lang="en-US" sz="1800" dirty="0">
                        <a:cs typeface="B Nazanin" panose="00000400000000000000" pitchFamily="2" charset="-78"/>
                      </a:endParaRPr>
                    </a:p>
                  </a:txBody>
                  <a:tcPr/>
                </a:tc>
                <a:tc>
                  <a:txBody>
                    <a:bodyPr/>
                    <a:lstStyle/>
                    <a:p>
                      <a:r>
                        <a:rPr lang="fa-IR" sz="2000" b="1" dirty="0">
                          <a:cs typeface="B Nazanin" panose="00000400000000000000" pitchFamily="2" charset="-78"/>
                        </a:rPr>
                        <a:t>تنفس </a:t>
                      </a:r>
                      <a:endParaRPr lang="en-US" sz="2000" b="1" dirty="0">
                        <a:cs typeface="B Nazanin" panose="00000400000000000000" pitchFamily="2" charset="-78"/>
                      </a:endParaRPr>
                    </a:p>
                  </a:txBody>
                  <a:tcPr/>
                </a:tc>
                <a:extLst>
                  <a:ext uri="{0D108BD9-81ED-4DB2-BD59-A6C34878D82A}">
                    <a16:rowId xmlns:a16="http://schemas.microsoft.com/office/drawing/2014/main" val="3962987971"/>
                  </a:ext>
                </a:extLst>
              </a:tr>
              <a:tr h="647955">
                <a:tc>
                  <a:txBody>
                    <a:bodyPr/>
                    <a:lstStyle/>
                    <a:p>
                      <a:r>
                        <a:rPr lang="ar-SA" sz="1800" b="1" i="0" u="none" strike="noStrike" cap="none" spc="0" baseline="0" dirty="0">
                          <a:solidFill>
                            <a:schemeClr val="dk1"/>
                          </a:solidFill>
                          <a:effectLst/>
                          <a:uFillTx/>
                          <a:latin typeface="+mn-lt"/>
                          <a:ea typeface="+mn-ea"/>
                          <a:cs typeface="B Nazanin" panose="00000400000000000000" pitchFamily="2" charset="-78"/>
                          <a:sym typeface="Helvetica Neue"/>
                        </a:rPr>
                        <a:t>عضله دتروسور را منقبض می کند اسفنگتر را شل می کند</a:t>
                      </a:r>
                      <a:r>
                        <a:rPr lang="en-US" sz="1800" b="0" i="0" u="none" strike="noStrike" cap="none" spc="0" baseline="0" dirty="0">
                          <a:solidFill>
                            <a:schemeClr val="dk1"/>
                          </a:solidFill>
                          <a:effectLst/>
                          <a:uFillTx/>
                          <a:latin typeface="+mn-lt"/>
                          <a:ea typeface="+mn-ea"/>
                          <a:cs typeface="B Nazanin" panose="00000400000000000000" pitchFamily="2" charset="-78"/>
                          <a:sym typeface="Helvetica Neue"/>
                        </a:rPr>
                        <a:t>.</a:t>
                      </a:r>
                      <a:endParaRPr lang="en-US" sz="1800" dirty="0">
                        <a:cs typeface="B Nazanin" panose="00000400000000000000" pitchFamily="2" charset="-78"/>
                      </a:endParaRPr>
                    </a:p>
                  </a:txBody>
                  <a:tcPr/>
                </a:tc>
                <a:tc>
                  <a:txBody>
                    <a:bodyPr/>
                    <a:lstStyle/>
                    <a:p>
                      <a:r>
                        <a:rPr lang="ar-SA" sz="1800" b="1" i="0" u="none" strike="noStrike" cap="none" spc="0" baseline="0" dirty="0">
                          <a:solidFill>
                            <a:schemeClr val="dk1"/>
                          </a:solidFill>
                          <a:effectLst/>
                          <a:uFillTx/>
                          <a:latin typeface="+mn-lt"/>
                          <a:ea typeface="+mn-ea"/>
                          <a:cs typeface="B Nazanin" panose="00000400000000000000" pitchFamily="2" charset="-78"/>
                          <a:sym typeface="Helvetica Neue"/>
                        </a:rPr>
                        <a:t>عضله دتروسور را شل می کند اسفنگتررا منقبض می کند</a:t>
                      </a:r>
                      <a:endParaRPr lang="en-US" sz="1800" b="1" dirty="0">
                        <a:cs typeface="B Nazanin" panose="00000400000000000000" pitchFamily="2" charset="-78"/>
                      </a:endParaRPr>
                    </a:p>
                  </a:txBody>
                  <a:tcPr/>
                </a:tc>
                <a:tc>
                  <a:txBody>
                    <a:bodyPr/>
                    <a:lstStyle/>
                    <a:p>
                      <a:r>
                        <a:rPr lang="fa-IR" sz="2000" b="1" dirty="0">
                          <a:cs typeface="B Nazanin" panose="00000400000000000000" pitchFamily="2" charset="-78"/>
                        </a:rPr>
                        <a:t>مثانه</a:t>
                      </a:r>
                      <a:endParaRPr lang="en-US" sz="2000" b="1" dirty="0">
                        <a:cs typeface="B Nazanin" panose="00000400000000000000" pitchFamily="2" charset="-78"/>
                      </a:endParaRPr>
                    </a:p>
                  </a:txBody>
                  <a:tcPr/>
                </a:tc>
                <a:extLst>
                  <a:ext uri="{0D108BD9-81ED-4DB2-BD59-A6C34878D82A}">
                    <a16:rowId xmlns:a16="http://schemas.microsoft.com/office/drawing/2014/main" val="777290567"/>
                  </a:ext>
                </a:extLst>
              </a:tr>
              <a:tr h="546401">
                <a:tc>
                  <a:txBody>
                    <a:bodyPr/>
                    <a:lstStyle/>
                    <a:p>
                      <a:r>
                        <a:rPr lang="ar-SA" sz="1800" b="1" i="0" u="none" strike="noStrike" cap="none" spc="0" baseline="0" dirty="0">
                          <a:solidFill>
                            <a:schemeClr val="dk1"/>
                          </a:solidFill>
                          <a:effectLst/>
                          <a:uFillTx/>
                          <a:latin typeface="+mn-lt"/>
                          <a:ea typeface="+mn-ea"/>
                          <a:cs typeface="B Nazanin" panose="00000400000000000000" pitchFamily="2" charset="-78"/>
                          <a:sym typeface="Helvetica Neue"/>
                        </a:rPr>
                        <a:t>هیچ تاثیری روی رحم ندارد</a:t>
                      </a:r>
                      <a:endParaRPr lang="en-US" sz="1800" b="1" dirty="0">
                        <a:cs typeface="B Nazanin" panose="00000400000000000000" pitchFamily="2" charset="-78"/>
                      </a:endParaRPr>
                    </a:p>
                  </a:txBody>
                  <a:tcPr/>
                </a:tc>
                <a:tc>
                  <a:txBody>
                    <a:bodyPr/>
                    <a:lstStyle/>
                    <a:p>
                      <a:r>
                        <a:rPr lang="ar-SA" sz="1800" b="1" i="0" u="none" strike="noStrike" cap="none" spc="0" baseline="0" dirty="0">
                          <a:solidFill>
                            <a:schemeClr val="dk1"/>
                          </a:solidFill>
                          <a:effectLst/>
                          <a:uFillTx/>
                          <a:latin typeface="+mn-lt"/>
                          <a:ea typeface="+mn-ea"/>
                          <a:cs typeface="B Nazanin" panose="00000400000000000000" pitchFamily="2" charset="-78"/>
                          <a:sym typeface="Helvetica Neue"/>
                        </a:rPr>
                        <a:t>باعث شل شدن رحم می شود</a:t>
                      </a:r>
                      <a:endParaRPr lang="en-US" sz="1800" b="1" dirty="0">
                        <a:cs typeface="B Nazanin" panose="00000400000000000000" pitchFamily="2" charset="-78"/>
                      </a:endParaRPr>
                    </a:p>
                  </a:txBody>
                  <a:tcPr/>
                </a:tc>
                <a:tc>
                  <a:txBody>
                    <a:bodyPr/>
                    <a:lstStyle/>
                    <a:p>
                      <a:r>
                        <a:rPr lang="fa-IR" sz="2000" b="1" dirty="0">
                          <a:cs typeface="B Nazanin" panose="00000400000000000000" pitchFamily="2" charset="-78"/>
                        </a:rPr>
                        <a:t>رحم</a:t>
                      </a:r>
                      <a:endParaRPr lang="en-US" sz="2000" b="1" dirty="0">
                        <a:cs typeface="B Nazanin" panose="00000400000000000000" pitchFamily="2" charset="-78"/>
                      </a:endParaRPr>
                    </a:p>
                  </a:txBody>
                  <a:tcPr/>
                </a:tc>
                <a:extLst>
                  <a:ext uri="{0D108BD9-81ED-4DB2-BD59-A6C34878D82A}">
                    <a16:rowId xmlns:a16="http://schemas.microsoft.com/office/drawing/2014/main" val="396052981"/>
                  </a:ext>
                </a:extLst>
              </a:tr>
              <a:tr h="925650">
                <a:tc>
                  <a:txBody>
                    <a:bodyPr/>
                    <a:lstStyle/>
                    <a:p>
                      <a:r>
                        <a:rPr lang="ar-SA" sz="1800" b="1" i="0" u="none" strike="noStrike" cap="none" spc="0" baseline="0" dirty="0">
                          <a:solidFill>
                            <a:schemeClr val="dk1"/>
                          </a:solidFill>
                          <a:effectLst/>
                          <a:uFillTx/>
                          <a:latin typeface="+mn-lt"/>
                          <a:ea typeface="+mn-ea"/>
                          <a:cs typeface="B Nazanin" panose="00000400000000000000" pitchFamily="2" charset="-78"/>
                          <a:sym typeface="Helvetica Neue"/>
                        </a:rPr>
                        <a:t>با انقباض عضلات حلقوی چشم باعث جمع شدن مردمک می شود که به آن میوزیس گویند</a:t>
                      </a:r>
                      <a:endParaRPr lang="en-US" sz="1800" b="1" dirty="0">
                        <a:cs typeface="B Nazanin" panose="00000400000000000000" pitchFamily="2" charset="-78"/>
                      </a:endParaRPr>
                    </a:p>
                  </a:txBody>
                  <a:tcPr/>
                </a:tc>
                <a:tc>
                  <a:txBody>
                    <a:bodyPr/>
                    <a:lstStyle/>
                    <a:p>
                      <a:r>
                        <a:rPr lang="ar-SA" sz="1800" b="1" i="0" u="none" strike="noStrike" cap="none" spc="0" baseline="0" dirty="0">
                          <a:solidFill>
                            <a:schemeClr val="dk1"/>
                          </a:solidFill>
                          <a:effectLst/>
                          <a:uFillTx/>
                          <a:latin typeface="+mn-lt"/>
                          <a:ea typeface="+mn-ea"/>
                          <a:cs typeface="B Nazanin" panose="00000400000000000000" pitchFamily="2" charset="-78"/>
                          <a:sym typeface="Helvetica Neue"/>
                        </a:rPr>
                        <a:t>با انقباض عضلات شعاعی چشم مردمک را گشاد می کند که به آن میدرازیس گویند</a:t>
                      </a:r>
                      <a:endParaRPr lang="en-US" sz="1800" b="1" dirty="0">
                        <a:cs typeface="B Nazanin" panose="00000400000000000000" pitchFamily="2" charset="-78"/>
                      </a:endParaRPr>
                    </a:p>
                  </a:txBody>
                  <a:tcPr/>
                </a:tc>
                <a:tc>
                  <a:txBody>
                    <a:bodyPr/>
                    <a:lstStyle/>
                    <a:p>
                      <a:r>
                        <a:rPr lang="fa-IR" sz="2000" b="1" dirty="0">
                          <a:cs typeface="B Nazanin" panose="00000400000000000000" pitchFamily="2" charset="-78"/>
                        </a:rPr>
                        <a:t>چشم</a:t>
                      </a:r>
                      <a:endParaRPr lang="en-US" sz="2000" b="1" dirty="0">
                        <a:cs typeface="B Nazanin" panose="00000400000000000000" pitchFamily="2" charset="-78"/>
                      </a:endParaRPr>
                    </a:p>
                  </a:txBody>
                  <a:tcPr/>
                </a:tc>
                <a:extLst>
                  <a:ext uri="{0D108BD9-81ED-4DB2-BD59-A6C34878D82A}">
                    <a16:rowId xmlns:a16="http://schemas.microsoft.com/office/drawing/2014/main" val="3316417513"/>
                  </a:ext>
                </a:extLst>
              </a:tr>
            </a:tbl>
          </a:graphicData>
        </a:graphic>
      </p:graphicFrame>
    </p:spTree>
    <p:extLst>
      <p:ext uri="{BB962C8B-B14F-4D97-AF65-F5344CB8AC3E}">
        <p14:creationId xmlns:p14="http://schemas.microsoft.com/office/powerpoint/2010/main" val="41939449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DC280-D391-4571-9DF5-F068B167D669}"/>
              </a:ext>
            </a:extLst>
          </p:cNvPr>
          <p:cNvSpPr>
            <a:spLocks noGrp="1"/>
          </p:cNvSpPr>
          <p:nvPr>
            <p:ph type="title"/>
          </p:nvPr>
        </p:nvSpPr>
        <p:spPr/>
        <p:txBody>
          <a:bodyPr>
            <a:normAutofit fontScale="90000"/>
          </a:bodyPr>
          <a:lstStyle/>
          <a:p>
            <a:pPr algn="r" rtl="1"/>
            <a:r>
              <a:rPr lang="en-US" sz="2200" dirty="0">
                <a:cs typeface="B Nazanin" panose="00000400000000000000" pitchFamily="2" charset="-78"/>
              </a:rPr>
              <a:t> *</a:t>
            </a:r>
            <a:r>
              <a:rPr lang="ar-SA" sz="2200" dirty="0">
                <a:cs typeface="B Nazanin" panose="00000400000000000000" pitchFamily="2" charset="-78"/>
              </a:rPr>
              <a:t>ازانتهای عصب پیش عقده ای هم در سمپاتیک و هم پاراسمپاتیک نوروترنسمیتری</a:t>
            </a:r>
            <a:r>
              <a:rPr lang="en-US" sz="2200" dirty="0">
                <a:cs typeface="B Nazanin" panose="00000400000000000000" pitchFamily="2" charset="-78"/>
              </a:rPr>
              <a:t> </a:t>
            </a:r>
            <a:r>
              <a:rPr lang="ar-SA" sz="2200" dirty="0">
                <a:cs typeface="B Nazanin" panose="00000400000000000000" pitchFamily="2" charset="-78"/>
              </a:rPr>
              <a:t>بنام استیل کولین آزاد می شود</a:t>
            </a:r>
            <a:r>
              <a:rPr lang="en-US" sz="2200" dirty="0">
                <a:cs typeface="B Nazanin" panose="00000400000000000000" pitchFamily="2" charset="-78"/>
              </a:rPr>
              <a:t>. </a:t>
            </a:r>
            <a:r>
              <a:rPr lang="ar-SA" sz="2200" dirty="0">
                <a:cs typeface="B Nazanin" panose="00000400000000000000" pitchFamily="2" charset="-78"/>
              </a:rPr>
              <a:t>ولی ازانتهای عصب پس </a:t>
            </a:r>
            <a:br>
              <a:rPr lang="en-US" sz="2200" dirty="0">
                <a:cs typeface="B Nazanin" panose="00000400000000000000" pitchFamily="2" charset="-78"/>
              </a:rPr>
            </a:br>
            <a:br>
              <a:rPr lang="en-US" sz="2200" dirty="0">
                <a:cs typeface="B Nazanin" panose="00000400000000000000" pitchFamily="2" charset="-78"/>
              </a:rPr>
            </a:br>
            <a:r>
              <a:rPr lang="ar-SA" sz="2200" dirty="0">
                <a:cs typeface="B Nazanin" panose="00000400000000000000" pitchFamily="2" charset="-78"/>
              </a:rPr>
              <a:t>عقده ای، عصب اگرپاراسمپاتیک باشد،استیل کولین ولی اگر سمپاتیک باشد نور اپی نفرین آزاد میشود</a:t>
            </a:r>
            <a:r>
              <a:rPr lang="en-US" sz="2200" dirty="0">
                <a:cs typeface="B Nazanin" panose="00000400000000000000" pitchFamily="2" charset="-78"/>
              </a:rPr>
              <a:t>.</a:t>
            </a:r>
            <a:br>
              <a:rPr lang="en-US" sz="2200" dirty="0">
                <a:cs typeface="B Nazanin" panose="00000400000000000000" pitchFamily="2" charset="-78"/>
              </a:rPr>
            </a:br>
            <a:br>
              <a:rPr lang="en-US" sz="2200" dirty="0">
                <a:cs typeface="B Nazanin" panose="00000400000000000000" pitchFamily="2" charset="-78"/>
              </a:rPr>
            </a:br>
            <a:br>
              <a:rPr lang="en-US" sz="2200" dirty="0">
                <a:cs typeface="B Nazanin" panose="00000400000000000000" pitchFamily="2" charset="-78"/>
              </a:rPr>
            </a:br>
            <a:r>
              <a:rPr lang="en-US" sz="3100" dirty="0">
                <a:cs typeface="B Nazanin" panose="00000400000000000000" pitchFamily="2" charset="-78"/>
              </a:rPr>
              <a:t>*</a:t>
            </a:r>
            <a:r>
              <a:rPr lang="ar-SA" sz="3100" dirty="0">
                <a:cs typeface="B Nazanin" panose="00000400000000000000" pitchFamily="2" charset="-78"/>
              </a:rPr>
              <a:t>مراحل انتقال پیام عصبی</a:t>
            </a:r>
            <a:br>
              <a:rPr lang="en-US" sz="3100" dirty="0">
                <a:cs typeface="B Nazanin" panose="00000400000000000000" pitchFamily="2" charset="-78"/>
              </a:rPr>
            </a:br>
            <a:br>
              <a:rPr lang="en-US" sz="3100" dirty="0">
                <a:cs typeface="B Nazanin" panose="00000400000000000000" pitchFamily="2" charset="-78"/>
              </a:rPr>
            </a:br>
            <a:r>
              <a:rPr lang="fa-IR" sz="2700" dirty="0">
                <a:cs typeface="B Nazanin" panose="00000400000000000000" pitchFamily="2" charset="-78"/>
              </a:rPr>
              <a:t>1. مرحله ی سنتز استیل کولین:</a:t>
            </a:r>
            <a:br>
              <a:rPr lang="fa-IR" sz="2700" dirty="0">
                <a:cs typeface="B Nazanin" panose="00000400000000000000" pitchFamily="2" charset="-78"/>
              </a:rPr>
            </a:br>
            <a:br>
              <a:rPr lang="fa-IR" sz="2700" dirty="0">
                <a:cs typeface="B Nazanin" panose="00000400000000000000" pitchFamily="2" charset="-78"/>
              </a:rPr>
            </a:br>
            <a:r>
              <a:rPr lang="fa-IR" sz="2200" b="0" dirty="0">
                <a:cs typeface="B Nazanin" panose="00000400000000000000" pitchFamily="2" charset="-78"/>
              </a:rPr>
              <a:t>استیل کولین دو </a:t>
            </a:r>
            <a:r>
              <a:rPr lang="ar-SA" sz="2200" b="0" dirty="0">
                <a:cs typeface="B Nazanin" panose="00000400000000000000" pitchFamily="2" charset="-78"/>
              </a:rPr>
              <a:t>پیش ساز </a:t>
            </a:r>
            <a:r>
              <a:rPr lang="fa-IR" sz="2200" b="0" dirty="0">
                <a:cs typeface="B Nazanin" panose="00000400000000000000" pitchFamily="2" charset="-78"/>
              </a:rPr>
              <a:t>دارد. یکی کولین که به صورت هم انتقالی با سدیم وارد انتهای عصب </a:t>
            </a:r>
            <a:r>
              <a:rPr lang="ar-SA" sz="2200" b="0" dirty="0">
                <a:cs typeface="B Nazanin" panose="00000400000000000000" pitchFamily="2" charset="-78"/>
              </a:rPr>
              <a:t>پاراسمپاتیک</a:t>
            </a:r>
            <a:r>
              <a:rPr lang="fa-IR" sz="2200" b="0" dirty="0">
                <a:cs typeface="B Nazanin" panose="00000400000000000000" pitchFamily="2" charset="-78"/>
              </a:rPr>
              <a:t> می شود و دیگری استیل کو آنزیم </a:t>
            </a:r>
            <a:r>
              <a:rPr lang="en-US" sz="2200" b="0" dirty="0">
                <a:cs typeface="B Nazanin" panose="00000400000000000000" pitchFamily="2" charset="-78"/>
              </a:rPr>
              <a:t>A </a:t>
            </a:r>
            <a:br>
              <a:rPr lang="en-US" sz="2200" b="0" dirty="0">
                <a:cs typeface="B Nazanin" panose="00000400000000000000" pitchFamily="2" charset="-78"/>
              </a:rPr>
            </a:br>
            <a:br>
              <a:rPr lang="en-US" sz="2200" b="0" dirty="0">
                <a:cs typeface="B Nazanin" panose="00000400000000000000" pitchFamily="2" charset="-78"/>
              </a:rPr>
            </a:br>
            <a:r>
              <a:rPr lang="fa-IR" sz="2200" b="0" dirty="0">
                <a:cs typeface="B Nazanin" panose="00000400000000000000" pitchFamily="2" charset="-78"/>
              </a:rPr>
              <a:t>این دو ماده در داخل عصب تحت تاثیر آنزیمی به نام استیل کولین ترانسفراز قرار می گیرند و استیل کولین را می سازند.</a:t>
            </a:r>
            <a:br>
              <a:rPr lang="fa-IR"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داروی</a:t>
            </a:r>
            <a:r>
              <a:rPr lang="fa-IR" sz="2200" b="0" dirty="0">
                <a:cs typeface="B Nazanin" panose="00000400000000000000" pitchFamily="2" charset="-78"/>
              </a:rPr>
              <a:t> </a:t>
            </a:r>
            <a:r>
              <a:rPr lang="en-US" sz="2200" b="0" dirty="0">
                <a:cs typeface="B Nazanin" panose="00000400000000000000" pitchFamily="2" charset="-78"/>
              </a:rPr>
              <a:t>)</a:t>
            </a:r>
            <a:r>
              <a:rPr lang="ar-SA" sz="2200" b="0" dirty="0">
                <a:cs typeface="B Nazanin" panose="00000400000000000000" pitchFamily="2" charset="-78"/>
              </a:rPr>
              <a:t>همی کولینیوم</a:t>
            </a:r>
            <a:r>
              <a:rPr lang="en-US" sz="2200" b="0" dirty="0">
                <a:cs typeface="B Nazanin" panose="00000400000000000000" pitchFamily="2" charset="-78"/>
              </a:rPr>
              <a:t>(</a:t>
            </a:r>
            <a:r>
              <a:rPr lang="ar-SA" sz="2200" b="0" dirty="0">
                <a:cs typeface="B Nazanin" panose="00000400000000000000" pitchFamily="2" charset="-78"/>
              </a:rPr>
              <a:t>کارش مهار ورود کولین به داخل عصب پاراسمپاتیک</a:t>
            </a:r>
            <a:r>
              <a:rPr lang="fa-IR" sz="2200" b="0" dirty="0">
                <a:cs typeface="B Nazanin" panose="00000400000000000000" pitchFamily="2" charset="-78"/>
              </a:rPr>
              <a:t> </a:t>
            </a:r>
            <a:r>
              <a:rPr lang="ar-SA" sz="2200" b="0" dirty="0">
                <a:cs typeface="B Nazanin" panose="00000400000000000000" pitchFamily="2" charset="-78"/>
              </a:rPr>
              <a:t>می باشد پس همی کولینیوم یک ضد پاراسمپاتیک است</a:t>
            </a:r>
            <a:br>
              <a:rPr lang="en-US" dirty="0"/>
            </a:br>
            <a:r>
              <a:rPr lang="fa-IR" dirty="0"/>
              <a:t> </a:t>
            </a:r>
            <a:br>
              <a:rPr lang="fa-IR" dirty="0"/>
            </a:br>
            <a:r>
              <a:rPr lang="fa-IR" sz="2700" dirty="0">
                <a:cs typeface="B Nazanin" panose="00000400000000000000" pitchFamily="2" charset="-78"/>
              </a:rPr>
              <a:t>2. </a:t>
            </a:r>
            <a:r>
              <a:rPr lang="ar-SA" sz="2700" dirty="0">
                <a:cs typeface="B Nazanin" panose="00000400000000000000" pitchFamily="2" charset="-78"/>
              </a:rPr>
              <a:t>مرحله ذخیره شدن</a:t>
            </a:r>
            <a:r>
              <a:rPr lang="en-US" sz="2700" dirty="0">
                <a:cs typeface="B Nazanin" panose="00000400000000000000" pitchFamily="2" charset="-78"/>
              </a:rPr>
              <a:t>:</a:t>
            </a:r>
            <a:br>
              <a:rPr lang="fa-IR" sz="2700" dirty="0">
                <a:cs typeface="B Nazanin" panose="00000400000000000000" pitchFamily="2" charset="-78"/>
              </a:rPr>
            </a:br>
            <a:br>
              <a:rPr lang="fa-IR" sz="2700" dirty="0">
                <a:cs typeface="B Nazanin" panose="00000400000000000000" pitchFamily="2" charset="-78"/>
              </a:rPr>
            </a:br>
            <a:r>
              <a:rPr lang="ar-SA" sz="2200" b="0" dirty="0">
                <a:cs typeface="B Nazanin" panose="00000400000000000000" pitchFamily="2" charset="-78"/>
              </a:rPr>
              <a:t>استیل کولین بعد از تولید در داخل وزیکول ها با یک روند انتقال فعال ذخیره میشود</a:t>
            </a:r>
            <a:r>
              <a:rPr lang="en-US" sz="2200" b="0" dirty="0">
                <a:cs typeface="B Nazanin" panose="00000400000000000000" pitchFamily="2" charset="-78"/>
              </a:rPr>
              <a:t>.</a:t>
            </a:r>
            <a:r>
              <a:rPr lang="ar-SA" sz="2200" b="0" dirty="0">
                <a:cs typeface="B Nazanin" panose="00000400000000000000" pitchFamily="2" charset="-78"/>
              </a:rPr>
              <a:t>داروی وزامیکول، ذخیره شدن استیل کولین را مهار می کند</a:t>
            </a:r>
            <a:r>
              <a:rPr lang="en-US" sz="2200" b="0" dirty="0">
                <a:cs typeface="B Nazanin" panose="00000400000000000000" pitchFamily="2" charset="-78"/>
              </a:rPr>
              <a:t>.</a:t>
            </a:r>
            <a:r>
              <a:rPr lang="ar-SA" sz="2200" b="0" dirty="0">
                <a:cs typeface="B Nazanin" panose="00000400000000000000" pitchFamily="2" charset="-78"/>
              </a:rPr>
              <a:t>پس ضد</a:t>
            </a:r>
            <a:br>
              <a:rPr lang="en-US"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پاراسمپاتیک است</a:t>
            </a:r>
            <a:r>
              <a:rPr lang="en-US" sz="2200" b="0" dirty="0">
                <a:cs typeface="B Nazanin" panose="00000400000000000000" pitchFamily="2" charset="-78"/>
              </a:rPr>
              <a:t>. </a:t>
            </a:r>
            <a:r>
              <a:rPr lang="ar-SA" sz="2200" b="0" dirty="0">
                <a:cs typeface="B Nazanin" panose="00000400000000000000" pitchFamily="2" charset="-78"/>
              </a:rPr>
              <a:t>این دو دارو کاربرد بالینی ندارند</a:t>
            </a:r>
            <a:r>
              <a:rPr lang="en-US" sz="2200" b="0" dirty="0">
                <a:cs typeface="B Nazanin" panose="00000400000000000000" pitchFamily="2" charset="-78"/>
              </a:rPr>
              <a:t>.</a:t>
            </a:r>
            <a:br>
              <a:rPr lang="en-US" dirty="0"/>
            </a:br>
            <a:endParaRPr lang="en-US" sz="2700" b="0" dirty="0">
              <a:cs typeface="B Nazanin" panose="00000400000000000000" pitchFamily="2" charset="-78"/>
            </a:endParaRPr>
          </a:p>
        </p:txBody>
      </p:sp>
    </p:spTree>
    <p:extLst>
      <p:ext uri="{BB962C8B-B14F-4D97-AF65-F5344CB8AC3E}">
        <p14:creationId xmlns:p14="http://schemas.microsoft.com/office/powerpoint/2010/main" val="21186097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D42D9-0877-44F2-8BBB-676A939D966C}"/>
              </a:ext>
            </a:extLst>
          </p:cNvPr>
          <p:cNvSpPr>
            <a:spLocks noGrp="1"/>
          </p:cNvSpPr>
          <p:nvPr>
            <p:ph type="title"/>
          </p:nvPr>
        </p:nvSpPr>
        <p:spPr>
          <a:xfrm>
            <a:off x="603250" y="497547"/>
            <a:ext cx="11002596" cy="529395"/>
          </a:xfrm>
        </p:spPr>
        <p:txBody>
          <a:bodyPr>
            <a:normAutofit fontScale="90000"/>
          </a:bodyPr>
          <a:lstStyle/>
          <a:p>
            <a:pPr algn="r" rtl="1"/>
            <a:r>
              <a:rPr lang="fa-IR" sz="2400" dirty="0">
                <a:cs typeface="B Nazanin" panose="00000400000000000000" pitchFamily="2" charset="-78"/>
              </a:rPr>
              <a:t>3. </a:t>
            </a:r>
            <a:r>
              <a:rPr lang="ar-SA" sz="2400" dirty="0">
                <a:cs typeface="B Nazanin" panose="00000400000000000000" pitchFamily="2" charset="-78"/>
              </a:rPr>
              <a:t>آزاد شدن استیل کولین</a:t>
            </a:r>
            <a:r>
              <a:rPr lang="fa-IR" sz="2400" dirty="0">
                <a:cs typeface="B Nazanin" panose="00000400000000000000" pitchFamily="2" charset="-78"/>
              </a:rPr>
              <a:t>:</a:t>
            </a:r>
            <a:br>
              <a:rPr lang="fa-IR" sz="2400" dirty="0">
                <a:cs typeface="B Nazanin" panose="00000400000000000000" pitchFamily="2" charset="-78"/>
              </a:rPr>
            </a:br>
            <a:br>
              <a:rPr lang="fa-IR" sz="2400" dirty="0">
                <a:cs typeface="B Nazanin" panose="00000400000000000000" pitchFamily="2" charset="-78"/>
              </a:rPr>
            </a:br>
            <a:r>
              <a:rPr lang="ar-SA" sz="2200" b="0" dirty="0">
                <a:cs typeface="B Nazanin" panose="00000400000000000000" pitchFamily="2" charset="-78"/>
              </a:rPr>
              <a:t>در این مرحله کانال های  کلسیمی باز می شوند</a:t>
            </a:r>
            <a:r>
              <a:rPr lang="en-US" sz="2200" b="0" dirty="0">
                <a:cs typeface="B Nazanin" panose="00000400000000000000" pitchFamily="2" charset="-78"/>
              </a:rPr>
              <a:t>.</a:t>
            </a:r>
            <a:r>
              <a:rPr lang="ar-SA" sz="2200" b="0" dirty="0">
                <a:cs typeface="B Nazanin" panose="00000400000000000000" pitchFamily="2" charset="-78"/>
              </a:rPr>
              <a:t>که باعث ورود کلسیم به داخل</a:t>
            </a:r>
            <a:r>
              <a:rPr lang="fa-IR" sz="2200" b="0" dirty="0">
                <a:cs typeface="B Nazanin" panose="00000400000000000000" pitchFamily="2" charset="-78"/>
              </a:rPr>
              <a:t> </a:t>
            </a:r>
            <a:r>
              <a:rPr lang="ar-SA" sz="2200" b="0" dirty="0">
                <a:cs typeface="B Nazanin" panose="00000400000000000000" pitchFamily="2" charset="-78"/>
              </a:rPr>
              <a:t>سلول شده  و ورزیکول های حاوی استیل کولین را به سمت غشا در سلول می</a:t>
            </a:r>
            <a:br>
              <a:rPr lang="en-US"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کشانند</a:t>
            </a:r>
            <a:r>
              <a:rPr lang="en-US" sz="2200" b="0" dirty="0">
                <a:cs typeface="B Nazanin" panose="00000400000000000000" pitchFamily="2" charset="-78"/>
              </a:rPr>
              <a:t>)</a:t>
            </a:r>
            <a:r>
              <a:rPr lang="ar-SA" sz="2200" b="0" dirty="0">
                <a:cs typeface="B Nazanin" panose="00000400000000000000" pitchFamily="2" charset="-78"/>
              </a:rPr>
              <a:t>با انقباض فیلامان های انقباضی</a:t>
            </a:r>
            <a:r>
              <a:rPr lang="en-US" sz="2200" b="0" dirty="0">
                <a:cs typeface="B Nazanin" panose="00000400000000000000" pitchFamily="2" charset="-78"/>
              </a:rPr>
              <a:t>( </a:t>
            </a:r>
            <a:r>
              <a:rPr lang="ar-SA" sz="2200" b="0" dirty="0">
                <a:cs typeface="B Nazanin" panose="00000400000000000000" pitchFamily="2" charset="-78"/>
              </a:rPr>
              <a:t>که این کار باعث اگزوسیتوز استیل کولین</a:t>
            </a:r>
            <a:r>
              <a:rPr lang="fa-IR" sz="2200" b="0" dirty="0">
                <a:cs typeface="B Nazanin" panose="00000400000000000000" pitchFamily="2" charset="-78"/>
              </a:rPr>
              <a:t> </a:t>
            </a:r>
            <a:r>
              <a:rPr lang="ar-SA" sz="2200" b="0" dirty="0">
                <a:cs typeface="B Nazanin" panose="00000400000000000000" pitchFamily="2" charset="-78"/>
              </a:rPr>
              <a:t>به فضای سیناپسی می شود</a:t>
            </a:r>
            <a:r>
              <a:rPr lang="en-US" sz="2200" b="0" dirty="0">
                <a:cs typeface="B Nazanin" panose="00000400000000000000" pitchFamily="2" charset="-78"/>
              </a:rPr>
              <a:t>. </a:t>
            </a:r>
            <a:r>
              <a:rPr lang="ar-SA" sz="2200" b="0" dirty="0">
                <a:cs typeface="B Nazanin" panose="00000400000000000000" pitchFamily="2" charset="-78"/>
              </a:rPr>
              <a:t>سمی بنام </a:t>
            </a:r>
            <a:r>
              <a:rPr lang="en-US" sz="2200" b="0" dirty="0">
                <a:cs typeface="B Nazanin" panose="00000400000000000000" pitchFamily="2" charset="-78"/>
              </a:rPr>
              <a:t>))</a:t>
            </a:r>
            <a:r>
              <a:rPr lang="ar-SA" sz="2200" b="0" dirty="0">
                <a:cs typeface="B Nazanin" panose="00000400000000000000" pitchFamily="2" charset="-78"/>
              </a:rPr>
              <a:t>بوتولینوم</a:t>
            </a:r>
            <a:r>
              <a:rPr lang="en-US" sz="2200" b="0" dirty="0">
                <a:cs typeface="B Nazanin" panose="00000400000000000000" pitchFamily="2" charset="-78"/>
              </a:rPr>
              <a:t>(( </a:t>
            </a:r>
            <a:r>
              <a:rPr lang="ar-SA" sz="2200" b="0" dirty="0">
                <a:cs typeface="B Nazanin" panose="00000400000000000000" pitchFamily="2" charset="-78"/>
              </a:rPr>
              <a:t>که یک توکسین است باعث</a:t>
            </a:r>
            <a:r>
              <a:rPr lang="fa-IR" sz="2200" b="0" dirty="0">
                <a:cs typeface="B Nazanin" panose="00000400000000000000" pitchFamily="2" charset="-78"/>
              </a:rPr>
              <a:t> </a:t>
            </a:r>
            <a:r>
              <a:rPr lang="ar-SA" sz="2200" b="0" dirty="0">
                <a:cs typeface="B Nazanin" panose="00000400000000000000" pitchFamily="2" charset="-78"/>
              </a:rPr>
              <a:t>مهار اگزوسیتوز استیل کولین می شود</a:t>
            </a:r>
            <a:r>
              <a:rPr lang="en-US" dirty="0"/>
              <a:t>.</a:t>
            </a:r>
            <a:br>
              <a:rPr lang="fa-IR" dirty="0"/>
            </a:br>
            <a:br>
              <a:rPr lang="fa-IR" dirty="0"/>
            </a:br>
            <a:r>
              <a:rPr lang="fa-IR" sz="2700" dirty="0">
                <a:cs typeface="B Nazanin" panose="00000400000000000000" pitchFamily="2" charset="-78"/>
              </a:rPr>
              <a:t>4. از بین رفتن اثر استیل کولین:</a:t>
            </a:r>
            <a:br>
              <a:rPr lang="fa-IR" sz="2700" dirty="0">
                <a:cs typeface="B Nazanin" panose="00000400000000000000" pitchFamily="2" charset="-78"/>
              </a:rPr>
            </a:br>
            <a:br>
              <a:rPr lang="fa-IR" sz="2700" dirty="0">
                <a:cs typeface="B Nazanin" panose="00000400000000000000" pitchFamily="2" charset="-78"/>
              </a:rPr>
            </a:br>
            <a:r>
              <a:rPr lang="fa-IR" sz="2200" b="0" dirty="0">
                <a:cs typeface="B Nazanin" panose="00000400000000000000" pitchFamily="2" charset="-78"/>
              </a:rPr>
              <a:t>این کار تحت تاثیر آنزیم استیل کولین استراز انجام می شود ، این آنزیم استیل کولین را به استات و کولین تجزیه می کند که کولین به داخل اعصاب باز جذب می</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شود و استات با جریان خون </a:t>
            </a:r>
            <a:r>
              <a:rPr lang="ar-SA" sz="2200" b="0" dirty="0">
                <a:cs typeface="B Nazanin" panose="00000400000000000000" pitchFamily="2" charset="-78"/>
              </a:rPr>
              <a:t>پاک</a:t>
            </a:r>
            <a:r>
              <a:rPr lang="fa-IR" sz="2200" b="0" dirty="0">
                <a:cs typeface="B Nazanin" panose="00000400000000000000" pitchFamily="2" charset="-78"/>
              </a:rPr>
              <a:t> می شود</a:t>
            </a:r>
            <a:br>
              <a:rPr lang="fa-IR" sz="2400" dirty="0">
                <a:cs typeface="B Nazanin" panose="00000400000000000000" pitchFamily="2" charset="-78"/>
              </a:rPr>
            </a:br>
            <a:br>
              <a:rPr lang="fa-IR" sz="2400" dirty="0">
                <a:cs typeface="B Nazanin" panose="00000400000000000000" pitchFamily="2" charset="-78"/>
              </a:rPr>
            </a:br>
            <a:br>
              <a:rPr lang="fa-IR" sz="2400" dirty="0">
                <a:cs typeface="B Nazanin" panose="00000400000000000000" pitchFamily="2" charset="-78"/>
              </a:rPr>
            </a:br>
            <a:r>
              <a:rPr lang="ar-SA" sz="2400" dirty="0">
                <a:cs typeface="B Nazanin" panose="00000400000000000000" pitchFamily="2" charset="-78"/>
              </a:rPr>
              <a:t> </a:t>
            </a:r>
            <a:endParaRPr lang="en-US" sz="2400" dirty="0">
              <a:cs typeface="B Nazanin" panose="00000400000000000000" pitchFamily="2" charset="-78"/>
            </a:endParaRPr>
          </a:p>
        </p:txBody>
      </p:sp>
    </p:spTree>
    <p:extLst>
      <p:ext uri="{BB962C8B-B14F-4D97-AF65-F5344CB8AC3E}">
        <p14:creationId xmlns:p14="http://schemas.microsoft.com/office/powerpoint/2010/main" val="2665880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24FA5-7D97-4BD6-AEAB-65F8F8BD3581}"/>
              </a:ext>
            </a:extLst>
          </p:cNvPr>
          <p:cNvSpPr>
            <a:spLocks noGrp="1"/>
          </p:cNvSpPr>
          <p:nvPr>
            <p:ph type="title"/>
          </p:nvPr>
        </p:nvSpPr>
        <p:spPr>
          <a:xfrm>
            <a:off x="603250" y="539750"/>
            <a:ext cx="10985500" cy="446839"/>
          </a:xfrm>
        </p:spPr>
        <p:txBody>
          <a:bodyPr>
            <a:normAutofit fontScale="90000"/>
          </a:bodyPr>
          <a:lstStyle/>
          <a:p>
            <a:pPr algn="r" rtl="1"/>
            <a:r>
              <a:rPr lang="fa-IR" sz="3100" dirty="0">
                <a:cs typeface="B Nazanin" panose="00000400000000000000" pitchFamily="2" charset="-78"/>
              </a:rPr>
              <a:t>د</a:t>
            </a:r>
            <a:r>
              <a:rPr lang="ar-SA" sz="3100" dirty="0">
                <a:cs typeface="B Nazanin" panose="00000400000000000000" pitchFamily="2" charset="-78"/>
              </a:rPr>
              <a:t>اروهای موثر بر سیستم عصبی خودکار </a:t>
            </a:r>
            <a:r>
              <a:rPr lang="en-US" sz="3100" dirty="0">
                <a:cs typeface="B Nazanin" panose="00000400000000000000" pitchFamily="2" charset="-78"/>
              </a:rPr>
              <a:t>ANS) </a:t>
            </a:r>
            <a:r>
              <a:rPr lang="fa-IR" sz="3100" dirty="0">
                <a:cs typeface="B Nazanin" panose="00000400000000000000" pitchFamily="2" charset="-78"/>
              </a:rPr>
              <a:t>)</a:t>
            </a:r>
            <a:r>
              <a:rPr lang="en-US" sz="3100" dirty="0">
                <a:cs typeface="B Nazanin" panose="00000400000000000000" pitchFamily="2" charset="-78"/>
              </a:rPr>
              <a:t>:</a:t>
            </a:r>
            <a:br>
              <a:rPr lang="fa-IR" sz="3100" dirty="0">
                <a:cs typeface="B Nazanin" panose="00000400000000000000" pitchFamily="2" charset="-78"/>
              </a:rPr>
            </a:br>
            <a:br>
              <a:rPr lang="fa-IR" sz="3100" dirty="0">
                <a:cs typeface="B Nazanin" panose="00000400000000000000" pitchFamily="2" charset="-78"/>
              </a:rPr>
            </a:br>
            <a:r>
              <a:rPr lang="fa-IR" sz="2700" dirty="0">
                <a:cs typeface="B Nazanin" panose="00000400000000000000" pitchFamily="2" charset="-78"/>
              </a:rPr>
              <a:t>   . سیستم پاراسمپاتیک</a:t>
            </a:r>
            <a:br>
              <a:rPr lang="fa-IR" sz="3100" dirty="0">
                <a:cs typeface="B Nazanin" panose="00000400000000000000" pitchFamily="2" charset="-78"/>
              </a:rPr>
            </a:br>
            <a:br>
              <a:rPr lang="fa-IR" sz="3100" dirty="0">
                <a:cs typeface="B Nazanin" panose="00000400000000000000" pitchFamily="2" charset="-78"/>
              </a:rPr>
            </a:br>
            <a:br>
              <a:rPr lang="en-US" dirty="0"/>
            </a:br>
            <a:br>
              <a:rPr lang="en-US" dirty="0"/>
            </a:br>
            <a:br>
              <a:rPr lang="en-US" dirty="0"/>
            </a:br>
            <a:endParaRPr lang="en-US" dirty="0"/>
          </a:p>
        </p:txBody>
      </p:sp>
      <p:sp>
        <p:nvSpPr>
          <p:cNvPr id="3" name="Content Placeholder 2">
            <a:extLst>
              <a:ext uri="{FF2B5EF4-FFF2-40B4-BE49-F238E27FC236}">
                <a16:creationId xmlns:a16="http://schemas.microsoft.com/office/drawing/2014/main" id="{8AADD933-6D87-485D-BBC7-CA5660111B55}"/>
              </a:ext>
            </a:extLst>
          </p:cNvPr>
          <p:cNvSpPr>
            <a:spLocks noGrp="1"/>
          </p:cNvSpPr>
          <p:nvPr>
            <p:ph idx="1"/>
          </p:nvPr>
        </p:nvSpPr>
        <p:spPr>
          <a:xfrm>
            <a:off x="603250" y="1792704"/>
            <a:ext cx="10985500" cy="4459553"/>
          </a:xfrm>
        </p:spPr>
        <p:txBody>
          <a:bodyPr>
            <a:normAutofit/>
          </a:bodyPr>
          <a:lstStyle/>
          <a:p>
            <a:pPr marL="0" indent="0" algn="r" rtl="1">
              <a:buNone/>
            </a:pPr>
            <a:r>
              <a:rPr lang="fa-IR" sz="2000" dirty="0">
                <a:cs typeface="B Nazanin" panose="00000400000000000000" pitchFamily="2" charset="-78"/>
              </a:rPr>
              <a:t>سیستم پاراسمپاتیک، بخشی از سیستم عصبی خودمختار</a:t>
            </a:r>
            <a:r>
              <a:rPr lang="en-US" sz="2000" dirty="0">
                <a:cs typeface="B Nazanin" panose="00000400000000000000" pitchFamily="2" charset="-78"/>
              </a:rPr>
              <a:t>ANS) </a:t>
            </a:r>
            <a:r>
              <a:rPr lang="fa-IR" sz="2000" dirty="0">
                <a:cs typeface="B Nazanin" panose="00000400000000000000" pitchFamily="2" charset="-78"/>
              </a:rPr>
              <a:t>) است که وظیفه‌اش حفظ انرژی و بازگرداندن بدن به حالت آرامش و </a:t>
            </a:r>
          </a:p>
          <a:p>
            <a:pPr marL="0" indent="0" algn="r" rtl="1">
              <a:buNone/>
            </a:pPr>
            <a:r>
              <a:rPr lang="fa-IR" sz="2000" dirty="0">
                <a:cs typeface="B Nazanin" panose="00000400000000000000" pitchFamily="2" charset="-78"/>
              </a:rPr>
              <a:t>استراحت است </a:t>
            </a:r>
          </a:p>
          <a:p>
            <a:pPr marL="0" indent="0" algn="r" rtl="1">
              <a:buNone/>
            </a:pPr>
            <a:r>
              <a:rPr lang="fa-IR" sz="2000" dirty="0">
                <a:cs typeface="B Nazanin" panose="00000400000000000000" pitchFamily="2" charset="-78"/>
              </a:rPr>
              <a:t>انتقال‌دهنده عصبی اصلی آن: استیل‌کولین </a:t>
            </a:r>
            <a:r>
              <a:rPr lang="en-US" sz="2000" dirty="0" err="1">
                <a:cs typeface="B Nazanin" panose="00000400000000000000" pitchFamily="2" charset="-78"/>
              </a:rPr>
              <a:t>ACh</a:t>
            </a:r>
            <a:r>
              <a:rPr lang="en-US" sz="2000" dirty="0">
                <a:cs typeface="B Nazanin" panose="00000400000000000000" pitchFamily="2" charset="-78"/>
              </a:rPr>
              <a:t>)</a:t>
            </a:r>
            <a:r>
              <a:rPr lang="fa-IR" sz="2000" dirty="0">
                <a:cs typeface="B Nazanin" panose="00000400000000000000" pitchFamily="2" charset="-78"/>
              </a:rPr>
              <a:t>)</a:t>
            </a:r>
            <a:endParaRPr lang="en-US" sz="2000" dirty="0">
              <a:cs typeface="B Nazanin" panose="00000400000000000000" pitchFamily="2" charset="-78"/>
            </a:endParaRPr>
          </a:p>
          <a:p>
            <a:pPr marL="0" indent="0" algn="r" rtl="1">
              <a:buNone/>
            </a:pPr>
            <a:r>
              <a:rPr lang="fa-IR" sz="2000" dirty="0">
                <a:cs typeface="B Nazanin" panose="00000400000000000000" pitchFamily="2" charset="-78"/>
              </a:rPr>
              <a:t>گیرنده‌های اصلی: موسکارینی </a:t>
            </a:r>
            <a:r>
              <a:rPr lang="en-US" sz="2000" dirty="0">
                <a:cs typeface="B Nazanin" panose="00000400000000000000" pitchFamily="2" charset="-78"/>
              </a:rPr>
              <a:t>( Muscarinic) </a:t>
            </a:r>
            <a:r>
              <a:rPr lang="fa-IR" sz="2000" dirty="0">
                <a:cs typeface="B Nazanin" panose="00000400000000000000" pitchFamily="2" charset="-78"/>
              </a:rPr>
              <a:t>و نیکوتینی </a:t>
            </a:r>
            <a:r>
              <a:rPr lang="en-US" sz="2000" dirty="0">
                <a:cs typeface="B Nazanin" panose="00000400000000000000" pitchFamily="2" charset="-78"/>
              </a:rPr>
              <a:t>(Nicotinic)</a:t>
            </a:r>
          </a:p>
          <a:p>
            <a:pPr marL="0" indent="0" algn="r" rtl="1">
              <a:buNone/>
            </a:pPr>
            <a:r>
              <a:rPr lang="fa-IR" sz="2000" dirty="0">
                <a:cs typeface="B Nazanin" panose="00000400000000000000" pitchFamily="2" charset="-78"/>
              </a:rPr>
              <a:t>به همین دلیل، داروهای مؤثر بر این سیستم را کولینرژیک (</a:t>
            </a:r>
            <a:r>
              <a:rPr lang="en-US" sz="2000" dirty="0">
                <a:cs typeface="B Nazanin" panose="00000400000000000000" pitchFamily="2" charset="-78"/>
              </a:rPr>
              <a:t>Cholinergic) </a:t>
            </a:r>
            <a:r>
              <a:rPr lang="fa-IR" sz="2000" dirty="0">
                <a:cs typeface="B Nazanin" panose="00000400000000000000" pitchFamily="2" charset="-78"/>
              </a:rPr>
              <a:t>نیز می‌نامند.</a:t>
            </a:r>
            <a:endParaRPr lang="en-US" sz="2000" dirty="0">
              <a:cs typeface="B Nazanin" panose="00000400000000000000" pitchFamily="2" charset="-78"/>
            </a:endParaRPr>
          </a:p>
          <a:p>
            <a:pPr marL="0" indent="0" algn="r" rtl="1">
              <a:buNone/>
            </a:pPr>
            <a:r>
              <a:rPr lang="fa-IR" b="1" dirty="0">
                <a:cs typeface="B Nazanin" panose="00000400000000000000" pitchFamily="2" charset="-78"/>
              </a:rPr>
              <a:t>. دارو های موثر بر سیستم پاراسمپاتیک دو نوع هستند :</a:t>
            </a:r>
          </a:p>
          <a:p>
            <a:pPr marL="0" indent="0" algn="r" rtl="1">
              <a:buNone/>
            </a:pPr>
            <a:r>
              <a:rPr lang="fa-IR" b="1" dirty="0">
                <a:cs typeface="B Nazanin" panose="00000400000000000000" pitchFamily="2" charset="-78"/>
              </a:rPr>
              <a:t>1</a:t>
            </a:r>
            <a:r>
              <a:rPr lang="fa-IR" sz="2000" b="1" dirty="0">
                <a:cs typeface="B Nazanin" panose="00000400000000000000" pitchFamily="2" charset="-78"/>
              </a:rPr>
              <a:t>. داروهای پاراسمپاتومیمتیک (</a:t>
            </a:r>
            <a:r>
              <a:rPr lang="en-US" sz="2000" b="1" dirty="0">
                <a:cs typeface="B Nazanin" panose="00000400000000000000" pitchFamily="2" charset="-78"/>
              </a:rPr>
              <a:t>Parasympathomimetic drugs</a:t>
            </a:r>
            <a:r>
              <a:rPr lang="fa-IR" sz="2000" b="1" dirty="0">
                <a:cs typeface="B Nazanin" panose="00000400000000000000" pitchFamily="2" charset="-78"/>
              </a:rPr>
              <a:t>)</a:t>
            </a:r>
          </a:p>
          <a:p>
            <a:pPr marL="0" indent="0" algn="r" rtl="1">
              <a:buNone/>
            </a:pPr>
            <a:r>
              <a:rPr lang="fa-IR" sz="2000" b="1" dirty="0">
                <a:cs typeface="B Nazanin" panose="00000400000000000000" pitchFamily="2" charset="-78"/>
              </a:rPr>
              <a:t>2. داروهای پاراسمپاتولیتیک </a:t>
            </a:r>
            <a:r>
              <a:rPr lang="en-US" sz="2000" b="1" dirty="0">
                <a:cs typeface="B Nazanin" panose="00000400000000000000" pitchFamily="2" charset="-78"/>
              </a:rPr>
              <a:t>Parasympatholytic drugs)</a:t>
            </a:r>
            <a:r>
              <a:rPr lang="fa-IR" sz="2000" b="1" dirty="0">
                <a:cs typeface="B Nazanin" panose="00000400000000000000" pitchFamily="2" charset="-78"/>
              </a:rPr>
              <a:t>)</a:t>
            </a:r>
            <a:endParaRPr lang="en-US" sz="2000" b="1" dirty="0">
              <a:cs typeface="B Nazanin" panose="00000400000000000000" pitchFamily="2" charset="-78"/>
            </a:endParaRPr>
          </a:p>
        </p:txBody>
      </p:sp>
    </p:spTree>
    <p:extLst>
      <p:ext uri="{BB962C8B-B14F-4D97-AF65-F5344CB8AC3E}">
        <p14:creationId xmlns:p14="http://schemas.microsoft.com/office/powerpoint/2010/main" val="17318554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CE599-411D-8E87-72C7-A1E1CA76B311}"/>
              </a:ext>
            </a:extLst>
          </p:cNvPr>
          <p:cNvSpPr>
            <a:spLocks noGrp="1"/>
          </p:cNvSpPr>
          <p:nvPr>
            <p:ph type="title"/>
          </p:nvPr>
        </p:nvSpPr>
        <p:spPr>
          <a:xfrm>
            <a:off x="409074" y="539750"/>
            <a:ext cx="11179676" cy="879976"/>
          </a:xfrm>
        </p:spPr>
        <p:txBody>
          <a:bodyPr>
            <a:normAutofit fontScale="90000"/>
          </a:bodyPr>
          <a:lstStyle/>
          <a:p>
            <a:pPr algn="r" rtl="1"/>
            <a:r>
              <a:rPr lang="fa-IR" sz="2700" dirty="0">
                <a:cs typeface="B Nazanin" panose="00000400000000000000" pitchFamily="2" charset="-78"/>
              </a:rPr>
              <a:t>1. داروهای پاراسمپاتومیمتیک </a:t>
            </a:r>
            <a:r>
              <a:rPr lang="en-US" sz="2700" dirty="0">
                <a:cs typeface="B Nazanin" panose="00000400000000000000" pitchFamily="2" charset="-78"/>
              </a:rPr>
              <a:t>Parasympathomimetic drugs)</a:t>
            </a:r>
            <a:r>
              <a:rPr lang="fa-IR" sz="2700" dirty="0">
                <a:cs typeface="B Nazanin" panose="00000400000000000000" pitchFamily="2" charset="-78"/>
              </a:rPr>
              <a:t>)</a:t>
            </a:r>
            <a:r>
              <a:rPr lang="fa-IR" sz="2200" dirty="0">
                <a:cs typeface="B Nazanin" panose="00000400000000000000" pitchFamily="2" charset="-78"/>
              </a:rPr>
              <a:t>(داروهای کولینرژیک </a:t>
            </a:r>
            <a:r>
              <a:rPr lang="en-US" sz="2200" dirty="0">
                <a:cs typeface="B Nazanin" panose="00000400000000000000" pitchFamily="2" charset="-78"/>
              </a:rPr>
              <a:t>Cholinergic drugs)</a:t>
            </a:r>
            <a:r>
              <a:rPr lang="fa-IR" sz="2200" dirty="0">
                <a:cs typeface="B Nazanin" panose="00000400000000000000" pitchFamily="2" charset="-78"/>
              </a:rPr>
              <a:t>)</a:t>
            </a:r>
            <a:br>
              <a:rPr lang="fa-IR" sz="2000" dirty="0">
                <a:cs typeface="B Nazanin" panose="00000400000000000000" pitchFamily="2" charset="-78"/>
              </a:rPr>
            </a:br>
            <a:br>
              <a:rPr lang="fa-IR" sz="2000" dirty="0">
                <a:cs typeface="B Nazanin" panose="00000400000000000000" pitchFamily="2" charset="-78"/>
              </a:rPr>
            </a:br>
            <a:br>
              <a:rPr lang="fa-IR" sz="2000" dirty="0">
                <a:cs typeface="B Nazanin" panose="00000400000000000000" pitchFamily="2" charset="-78"/>
              </a:rPr>
            </a:br>
            <a:r>
              <a:rPr lang="fa-IR" sz="2200" b="0" dirty="0">
                <a:cs typeface="B Nazanin" panose="00000400000000000000" pitchFamily="2" charset="-78"/>
              </a:rPr>
              <a:t>از دو واژه ساخته شده:</a:t>
            </a:r>
            <a:r>
              <a:rPr lang="en-US" sz="2200" b="0" dirty="0">
                <a:cs typeface="B Nazanin" panose="00000400000000000000" pitchFamily="2" charset="-78"/>
              </a:rPr>
              <a:t>Parasympathetic" + "mimetic" </a:t>
            </a:r>
            <a:r>
              <a:rPr lang="fa-IR" sz="2200" b="0" dirty="0">
                <a:cs typeface="B Nazanin" panose="00000400000000000000" pitchFamily="2" charset="-78"/>
              </a:rPr>
              <a:t> به معنی تقلید کننده یعنی داروهایی که اثرات سیستم پاراسمپاتیک را تقلید می‌کنند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a:t>
            </a:r>
            <a:r>
              <a:rPr lang="fa-IR" sz="2200" dirty="0">
                <a:cs typeface="B Nazanin" panose="00000400000000000000" pitchFamily="2" charset="-78"/>
              </a:rPr>
              <a:t>عملکرد: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این داروها با افزایش اثر استیل‌کولین یا تحریک گیرنده‌های کولینرژیک باعث بروز اثرات پاراسمپاتیک می‌شوند، از جمله:</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کاهش ضربان قلب </a:t>
            </a:r>
            <a:r>
              <a:rPr lang="en-US" sz="2200" b="0" dirty="0">
                <a:cs typeface="B Nazanin" panose="00000400000000000000" pitchFamily="2" charset="-78"/>
              </a:rPr>
              <a:t>(Bradycardia)</a:t>
            </a:r>
            <a:r>
              <a:rPr lang="fa-IR" sz="2200" b="0" dirty="0">
                <a:cs typeface="B Nazanin" panose="00000400000000000000" pitchFamily="2" charset="-78"/>
              </a:rPr>
              <a:t>، تنگ شدن مردمک </a:t>
            </a:r>
            <a:r>
              <a:rPr lang="en-US" sz="2200" b="0" dirty="0">
                <a:cs typeface="B Nazanin" panose="00000400000000000000" pitchFamily="2" charset="-78"/>
              </a:rPr>
              <a:t>Miosis)</a:t>
            </a:r>
            <a:r>
              <a:rPr lang="fa-IR" sz="2200" b="0" dirty="0">
                <a:cs typeface="B Nazanin" panose="00000400000000000000" pitchFamily="2" charset="-78"/>
              </a:rPr>
              <a:t>) ، افزایش ترشح بزاق و اشک ، افزایش حرکات و ترشحات گوارشی ، انقباض مثانه و </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تسهیل ادرار</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a:t>
            </a:r>
            <a:r>
              <a:rPr lang="ar-SA" sz="2700" dirty="0">
                <a:cs typeface="B Nazanin" panose="00000400000000000000" pitchFamily="2" charset="-78"/>
              </a:rPr>
              <a:t>داروهای مقلد پاراسمپاتیک </a:t>
            </a:r>
            <a:r>
              <a:rPr lang="fa-IR" sz="2700" dirty="0">
                <a:cs typeface="B Nazanin" panose="00000400000000000000" pitchFamily="2" charset="-78"/>
              </a:rPr>
              <a:t> دو </a:t>
            </a:r>
            <a:r>
              <a:rPr lang="ar-SA" sz="2700" dirty="0">
                <a:cs typeface="B Nazanin" panose="00000400000000000000" pitchFamily="2" charset="-78"/>
              </a:rPr>
              <a:t>نوع اند</a:t>
            </a:r>
            <a:r>
              <a:rPr lang="fa-IR" sz="2700" dirty="0">
                <a:cs typeface="B Nazanin" panose="00000400000000000000" pitchFamily="2" charset="-78"/>
              </a:rPr>
              <a:t>:</a:t>
            </a:r>
            <a:br>
              <a:rPr lang="fa-IR" sz="2700" dirty="0">
                <a:cs typeface="B Nazanin" panose="00000400000000000000" pitchFamily="2" charset="-78"/>
              </a:rPr>
            </a:br>
            <a:br>
              <a:rPr lang="fa-IR" sz="2700" dirty="0">
                <a:cs typeface="B Nazanin" panose="00000400000000000000" pitchFamily="2" charset="-78"/>
              </a:rPr>
            </a:br>
            <a:r>
              <a:rPr lang="fa-IR" sz="2700" dirty="0">
                <a:cs typeface="B Nazanin" panose="00000400000000000000" pitchFamily="2" charset="-78"/>
              </a:rPr>
              <a:t>1. مستقیم الاثر : </a:t>
            </a:r>
            <a:r>
              <a:rPr lang="fa-IR" sz="2200" b="0" dirty="0">
                <a:cs typeface="B Nazanin" panose="00000400000000000000" pitchFamily="2" charset="-78"/>
              </a:rPr>
              <a:t>با تحریک مستقیم گیرنده های </a:t>
            </a:r>
            <a:r>
              <a:rPr lang="ar-SA" sz="2200" b="0" dirty="0">
                <a:cs typeface="B Nazanin" panose="00000400000000000000" pitchFamily="2" charset="-78"/>
              </a:rPr>
              <a:t>پاراسمپاتیکی</a:t>
            </a:r>
            <a:r>
              <a:rPr lang="fa-IR" sz="2200" b="0" dirty="0">
                <a:cs typeface="B Nazanin" panose="00000400000000000000" pitchFamily="2" charset="-78"/>
              </a:rPr>
              <a:t> ( موسکارینی و نیکوتینی) باعث تحریک سیستم </a:t>
            </a:r>
            <a:r>
              <a:rPr lang="ar-SA" sz="2200" b="0" dirty="0">
                <a:cs typeface="B Nazanin" panose="00000400000000000000" pitchFamily="2" charset="-78"/>
              </a:rPr>
              <a:t>پاراسمپاتیکی</a:t>
            </a:r>
            <a:r>
              <a:rPr lang="fa-IR" sz="2200" b="0" dirty="0">
                <a:cs typeface="B Nazanin" panose="00000400000000000000" pitchFamily="2" charset="-78"/>
              </a:rPr>
              <a:t> می شود .</a:t>
            </a:r>
            <a:br>
              <a:rPr lang="fa-IR" sz="2200" b="0" dirty="0">
                <a:cs typeface="B Nazanin" panose="00000400000000000000" pitchFamily="2" charset="-78"/>
              </a:rPr>
            </a:br>
            <a:br>
              <a:rPr lang="fa-IR" sz="2700" b="0" dirty="0">
                <a:cs typeface="B Nazanin" panose="00000400000000000000" pitchFamily="2" charset="-78"/>
              </a:rPr>
            </a:br>
            <a:r>
              <a:rPr lang="fa-IR" sz="2700" dirty="0">
                <a:cs typeface="B Nazanin" panose="00000400000000000000" pitchFamily="2" charset="-78"/>
              </a:rPr>
              <a:t>2. غیر مستقیم الاثر:</a:t>
            </a:r>
            <a:r>
              <a:rPr lang="ar-SA" sz="2200" b="0" dirty="0">
                <a:cs typeface="B Nazanin" panose="00000400000000000000" pitchFamily="2" charset="-78"/>
              </a:rPr>
              <a:t>با مهار گیرنده های آنزیم استیل کولین استراز از تخریب استیل کولین</a:t>
            </a:r>
            <a:r>
              <a:rPr lang="fa-IR" sz="2200" b="0" dirty="0">
                <a:cs typeface="B Nazanin" panose="00000400000000000000" pitchFamily="2" charset="-78"/>
              </a:rPr>
              <a:t> </a:t>
            </a:r>
            <a:r>
              <a:rPr lang="ar-SA" sz="2200" b="0" dirty="0">
                <a:cs typeface="B Nazanin" panose="00000400000000000000" pitchFamily="2" charset="-78"/>
              </a:rPr>
              <a:t>جلوگیری کرده و باعث تحریک مداوم و مستمر گیرنده های </a:t>
            </a:r>
            <a:br>
              <a:rPr lang="fa-IR" sz="2200" b="0" dirty="0">
                <a:cs typeface="B Nazanin" panose="00000400000000000000" pitchFamily="2" charset="-78"/>
              </a:rPr>
            </a:br>
            <a:br>
              <a:rPr lang="fa-IR" sz="2200" b="0" dirty="0">
                <a:cs typeface="B Nazanin" panose="00000400000000000000" pitchFamily="2" charset="-78"/>
              </a:rPr>
            </a:br>
            <a:r>
              <a:rPr lang="ar-SA" sz="2200" b="0" dirty="0">
                <a:cs typeface="B Nazanin" panose="00000400000000000000" pitchFamily="2" charset="-78"/>
              </a:rPr>
              <a:t>پاراسمپاتیک می شود </a:t>
            </a:r>
            <a:br>
              <a:rPr lang="fa-IR" sz="2200" b="0" dirty="0">
                <a:cs typeface="B Nazanin" panose="00000400000000000000" pitchFamily="2" charset="-78"/>
              </a:rPr>
            </a:br>
            <a:br>
              <a:rPr lang="fa-IR" sz="2000" dirty="0">
                <a:cs typeface="B Nazanin" panose="00000400000000000000" pitchFamily="2" charset="-78"/>
              </a:rPr>
            </a:br>
            <a:br>
              <a:rPr lang="fa-IR" sz="2000" dirty="0">
                <a:cs typeface="B Nazanin" panose="00000400000000000000" pitchFamily="2" charset="-78"/>
              </a:rPr>
            </a:br>
            <a:endParaRPr lang="en-US" sz="2000" dirty="0">
              <a:cs typeface="B Nazanin" panose="00000400000000000000" pitchFamily="2" charset="-78"/>
            </a:endParaRPr>
          </a:p>
        </p:txBody>
      </p:sp>
    </p:spTree>
    <p:extLst>
      <p:ext uri="{BB962C8B-B14F-4D97-AF65-F5344CB8AC3E}">
        <p14:creationId xmlns:p14="http://schemas.microsoft.com/office/powerpoint/2010/main" val="26926724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8DF7C-C6B7-A907-C5B4-5124ADBB70E1}"/>
              </a:ext>
            </a:extLst>
          </p:cNvPr>
          <p:cNvSpPr>
            <a:spLocks noGrp="1"/>
          </p:cNvSpPr>
          <p:nvPr>
            <p:ph type="title"/>
          </p:nvPr>
        </p:nvSpPr>
        <p:spPr>
          <a:xfrm>
            <a:off x="603250" y="204537"/>
            <a:ext cx="10985500" cy="1051795"/>
          </a:xfrm>
        </p:spPr>
        <p:txBody>
          <a:bodyPr>
            <a:normAutofit fontScale="90000"/>
          </a:bodyPr>
          <a:lstStyle/>
          <a:p>
            <a:pPr algn="r" rtl="1"/>
            <a:r>
              <a:rPr lang="en-US" dirty="0"/>
              <a:t> </a:t>
            </a:r>
            <a:r>
              <a:rPr lang="en-US" sz="2400" dirty="0">
                <a:solidFill>
                  <a:srgbClr val="C00000"/>
                </a:solidFill>
                <a:cs typeface="B Nazanin" panose="00000400000000000000" pitchFamily="2" charset="-78"/>
              </a:rPr>
              <a:t>*</a:t>
            </a:r>
            <a:r>
              <a:rPr lang="ar-SA" sz="2400" dirty="0">
                <a:solidFill>
                  <a:srgbClr val="C00000"/>
                </a:solidFill>
                <a:cs typeface="B Nazanin" panose="00000400000000000000" pitchFamily="2" charset="-78"/>
              </a:rPr>
              <a:t>داروهای مستقیم الاثر خودشان دو دسته اند </a:t>
            </a:r>
            <a:r>
              <a:rPr lang="fa-IR" sz="2400" dirty="0">
                <a:cs typeface="B Nazanin" panose="00000400000000000000" pitchFamily="2" charset="-78"/>
              </a:rPr>
              <a:t>:</a:t>
            </a:r>
            <a:br>
              <a:rPr lang="fa-IR" sz="2400" dirty="0">
                <a:cs typeface="B Nazanin" panose="00000400000000000000" pitchFamily="2" charset="-78"/>
              </a:rPr>
            </a:br>
            <a:br>
              <a:rPr lang="fa-IR" sz="2400" dirty="0">
                <a:cs typeface="B Nazanin" panose="00000400000000000000" pitchFamily="2" charset="-78"/>
              </a:rPr>
            </a:br>
            <a:r>
              <a:rPr lang="fa-IR" sz="2200" dirty="0">
                <a:solidFill>
                  <a:srgbClr val="C00000"/>
                </a:solidFill>
                <a:cs typeface="B Nazanin" panose="00000400000000000000" pitchFamily="2" charset="-78"/>
              </a:rPr>
              <a:t>1.</a:t>
            </a:r>
            <a:r>
              <a:rPr lang="ar-SA" sz="2200" dirty="0">
                <a:solidFill>
                  <a:srgbClr val="C00000"/>
                </a:solidFill>
                <a:cs typeface="B Nazanin" panose="00000400000000000000" pitchFamily="2" charset="-78"/>
              </a:rPr>
              <a:t>سنتتیک </a:t>
            </a:r>
            <a:r>
              <a:rPr lang="en-US" sz="2200" dirty="0">
                <a:cs typeface="B Nazanin" panose="00000400000000000000" pitchFamily="2" charset="-78"/>
              </a:rPr>
              <a:t>: </a:t>
            </a:r>
            <a:r>
              <a:rPr lang="ar-SA" sz="2200" dirty="0">
                <a:cs typeface="B Nazanin" panose="00000400000000000000" pitchFamily="2" charset="-78"/>
              </a:rPr>
              <a:t>استیل کولین </a:t>
            </a:r>
            <a:r>
              <a:rPr lang="en-US" sz="2200" dirty="0">
                <a:cs typeface="B Nazanin" panose="00000400000000000000" pitchFamily="2" charset="-78"/>
              </a:rPr>
              <a:t>_</a:t>
            </a:r>
            <a:r>
              <a:rPr lang="ar-SA" sz="2200" dirty="0">
                <a:cs typeface="B Nazanin" panose="00000400000000000000" pitchFamily="2" charset="-78"/>
              </a:rPr>
              <a:t>متاکولین </a:t>
            </a:r>
            <a:r>
              <a:rPr lang="en-US" sz="2200" dirty="0">
                <a:cs typeface="B Nazanin" panose="00000400000000000000" pitchFamily="2" charset="-78"/>
              </a:rPr>
              <a:t>_</a:t>
            </a:r>
            <a:r>
              <a:rPr lang="ar-SA" sz="2200" dirty="0">
                <a:cs typeface="B Nazanin" panose="00000400000000000000" pitchFamily="2" charset="-78"/>
              </a:rPr>
              <a:t>کارباکول </a:t>
            </a:r>
            <a:r>
              <a:rPr lang="en-US" sz="2200" dirty="0">
                <a:cs typeface="B Nazanin" panose="00000400000000000000" pitchFamily="2" charset="-78"/>
              </a:rPr>
              <a:t>_</a:t>
            </a:r>
            <a:r>
              <a:rPr lang="ar-SA" sz="2200" dirty="0">
                <a:cs typeface="B Nazanin" panose="00000400000000000000" pitchFamily="2" charset="-78"/>
              </a:rPr>
              <a:t>بتانکول</a:t>
            </a:r>
            <a:br>
              <a:rPr lang="fa-IR" sz="2200" dirty="0">
                <a:cs typeface="B Nazanin" panose="00000400000000000000" pitchFamily="2" charset="-78"/>
              </a:rPr>
            </a:br>
            <a:br>
              <a:rPr lang="fa-IR" sz="2200" dirty="0">
                <a:cs typeface="B Nazanin" panose="00000400000000000000" pitchFamily="2" charset="-78"/>
              </a:rPr>
            </a:br>
            <a:r>
              <a:rPr lang="fa-IR" sz="2200" dirty="0">
                <a:solidFill>
                  <a:srgbClr val="C00000"/>
                </a:solidFill>
                <a:cs typeface="B Nazanin" panose="00000400000000000000" pitchFamily="2" charset="-78"/>
              </a:rPr>
              <a:t>2.</a:t>
            </a:r>
            <a:r>
              <a:rPr lang="ar-SA" sz="2200" dirty="0">
                <a:solidFill>
                  <a:srgbClr val="C00000"/>
                </a:solidFill>
                <a:cs typeface="B Nazanin" panose="00000400000000000000" pitchFamily="2" charset="-78"/>
              </a:rPr>
              <a:t>طبیعی </a:t>
            </a:r>
            <a:r>
              <a:rPr lang="en-US" sz="2200" dirty="0">
                <a:cs typeface="B Nazanin" panose="00000400000000000000" pitchFamily="2" charset="-78"/>
              </a:rPr>
              <a:t>: </a:t>
            </a:r>
            <a:r>
              <a:rPr lang="ar-SA" sz="2200" dirty="0">
                <a:cs typeface="B Nazanin" panose="00000400000000000000" pitchFamily="2" charset="-78"/>
              </a:rPr>
              <a:t>آلکالوئید های گیاهی</a:t>
            </a:r>
            <a:r>
              <a:rPr lang="en-US" sz="2200" dirty="0">
                <a:cs typeface="B Nazanin" panose="00000400000000000000" pitchFamily="2" charset="-78"/>
              </a:rPr>
              <a:t>- </a:t>
            </a:r>
            <a:r>
              <a:rPr lang="ar-SA" sz="2200" dirty="0">
                <a:cs typeface="B Nazanin" panose="00000400000000000000" pitchFamily="2" charset="-78"/>
              </a:rPr>
              <a:t>پیلوکارپین </a:t>
            </a:r>
            <a:r>
              <a:rPr lang="en-US" sz="2200" dirty="0">
                <a:cs typeface="B Nazanin" panose="00000400000000000000" pitchFamily="2" charset="-78"/>
              </a:rPr>
              <a:t>- </a:t>
            </a:r>
            <a:r>
              <a:rPr lang="ar-SA" sz="2200" dirty="0">
                <a:cs typeface="B Nazanin" panose="00000400000000000000" pitchFamily="2" charset="-78"/>
              </a:rPr>
              <a:t>وارنیکلین </a:t>
            </a:r>
            <a:r>
              <a:rPr lang="en-US" sz="2200" dirty="0">
                <a:cs typeface="B Nazanin" panose="00000400000000000000" pitchFamily="2" charset="-78"/>
              </a:rPr>
              <a:t>– </a:t>
            </a:r>
            <a:r>
              <a:rPr lang="ar-SA" sz="2200" dirty="0">
                <a:cs typeface="B Nazanin" panose="00000400000000000000" pitchFamily="2" charset="-78"/>
              </a:rPr>
              <a:t>نیکوتین </a:t>
            </a:r>
            <a:r>
              <a:rPr lang="en-US" sz="2200" dirty="0">
                <a:cs typeface="B Nazanin" panose="00000400000000000000" pitchFamily="2" charset="-78"/>
              </a:rPr>
              <a:t>– </a:t>
            </a:r>
            <a:r>
              <a:rPr lang="ar-SA" sz="2200" dirty="0">
                <a:cs typeface="B Nazanin" panose="00000400000000000000" pitchFamily="2" charset="-78"/>
              </a:rPr>
              <a:t>موسکارین</a:t>
            </a:r>
            <a:br>
              <a:rPr lang="fa-IR" sz="2200" dirty="0">
                <a:cs typeface="B Nazanin" panose="00000400000000000000" pitchFamily="2" charset="-78"/>
              </a:rPr>
            </a:br>
            <a:br>
              <a:rPr lang="fa-IR" sz="2200" dirty="0">
                <a:cs typeface="B Nazanin" panose="00000400000000000000" pitchFamily="2" charset="-78"/>
              </a:rPr>
            </a:br>
            <a:r>
              <a:rPr lang="fa-IR" sz="2700" dirty="0">
                <a:solidFill>
                  <a:srgbClr val="C00000"/>
                </a:solidFill>
                <a:cs typeface="B Nazanin" panose="00000400000000000000" pitchFamily="2" charset="-78"/>
              </a:rPr>
              <a:t>* </a:t>
            </a:r>
            <a:r>
              <a:rPr lang="ar-SA" sz="2700" dirty="0">
                <a:solidFill>
                  <a:srgbClr val="C00000"/>
                </a:solidFill>
                <a:cs typeface="B Nazanin" panose="00000400000000000000" pitchFamily="2" charset="-78"/>
              </a:rPr>
              <a:t>دارو های غیرمستقیم الاثر هم خودشان </a:t>
            </a:r>
            <a:r>
              <a:rPr lang="en-US" sz="2700" dirty="0">
                <a:solidFill>
                  <a:srgbClr val="C00000"/>
                </a:solidFill>
                <a:cs typeface="B Nazanin" panose="00000400000000000000" pitchFamily="2" charset="-78"/>
              </a:rPr>
              <a:t>2 </a:t>
            </a:r>
            <a:r>
              <a:rPr lang="ar-SA" sz="2700" dirty="0">
                <a:solidFill>
                  <a:srgbClr val="C00000"/>
                </a:solidFill>
                <a:cs typeface="B Nazanin" panose="00000400000000000000" pitchFamily="2" charset="-78"/>
              </a:rPr>
              <a:t>دسته اند</a:t>
            </a:r>
            <a:r>
              <a:rPr lang="en-US" sz="2700" dirty="0">
                <a:solidFill>
                  <a:srgbClr val="C00000"/>
                </a:solidFill>
                <a:cs typeface="B Nazanin" panose="00000400000000000000" pitchFamily="2" charset="-78"/>
              </a:rPr>
              <a:t>:</a:t>
            </a:r>
            <a:br>
              <a:rPr lang="fa-IR" sz="2700" dirty="0">
                <a:cs typeface="B Nazanin" panose="00000400000000000000" pitchFamily="2" charset="-78"/>
              </a:rPr>
            </a:br>
            <a:br>
              <a:rPr lang="fa-IR" sz="2700" dirty="0">
                <a:cs typeface="B Nazanin" panose="00000400000000000000" pitchFamily="2" charset="-78"/>
              </a:rPr>
            </a:br>
            <a:r>
              <a:rPr lang="fa-IR" sz="2700" dirty="0">
                <a:solidFill>
                  <a:srgbClr val="C00000"/>
                </a:solidFill>
                <a:cs typeface="B Nazanin" panose="00000400000000000000" pitchFamily="2" charset="-78"/>
              </a:rPr>
              <a:t>1</a:t>
            </a:r>
            <a:r>
              <a:rPr lang="fa-IR" sz="2200" dirty="0">
                <a:solidFill>
                  <a:srgbClr val="C00000"/>
                </a:solidFill>
                <a:cs typeface="B Nazanin" panose="00000400000000000000" pitchFamily="2" charset="-78"/>
              </a:rPr>
              <a:t>.</a:t>
            </a:r>
            <a:r>
              <a:rPr lang="ar-SA" sz="2200" dirty="0">
                <a:solidFill>
                  <a:srgbClr val="C00000"/>
                </a:solidFill>
                <a:cs typeface="B Nazanin" panose="00000400000000000000" pitchFamily="2" charset="-78"/>
              </a:rPr>
              <a:t>با اثربرگشت پذیر</a:t>
            </a:r>
            <a:r>
              <a:rPr lang="en-US" sz="2200" dirty="0">
                <a:solidFill>
                  <a:srgbClr val="C00000"/>
                </a:solidFill>
                <a:cs typeface="B Nazanin" panose="00000400000000000000" pitchFamily="2" charset="-78"/>
              </a:rPr>
              <a:t>:</a:t>
            </a:r>
            <a:br>
              <a:rPr lang="fa-IR" sz="2200" dirty="0">
                <a:cs typeface="B Nazanin" panose="00000400000000000000" pitchFamily="2" charset="-78"/>
              </a:rPr>
            </a:br>
            <a:br>
              <a:rPr lang="fa-IR" sz="2200" dirty="0">
                <a:cs typeface="B Nazanin" panose="00000400000000000000" pitchFamily="2" charset="-78"/>
              </a:rPr>
            </a:br>
            <a:r>
              <a:rPr lang="fa-IR" sz="2200" dirty="0">
                <a:solidFill>
                  <a:srgbClr val="C00000"/>
                </a:solidFill>
                <a:cs typeface="B Nazanin" panose="00000400000000000000" pitchFamily="2" charset="-78"/>
              </a:rPr>
              <a:t>.</a:t>
            </a:r>
            <a:r>
              <a:rPr lang="ar-SA" sz="2200" dirty="0">
                <a:solidFill>
                  <a:srgbClr val="C00000"/>
                </a:solidFill>
                <a:cs typeface="B Nazanin" panose="00000400000000000000" pitchFamily="2" charset="-78"/>
              </a:rPr>
              <a:t>کاربامات ها </a:t>
            </a:r>
            <a:r>
              <a:rPr lang="en-US" sz="2200" dirty="0">
                <a:cs typeface="B Nazanin" panose="00000400000000000000" pitchFamily="2" charset="-78"/>
              </a:rPr>
              <a:t>)</a:t>
            </a:r>
            <a:r>
              <a:rPr lang="ar-SA" sz="2200" dirty="0">
                <a:cs typeface="B Nazanin" panose="00000400000000000000" pitchFamily="2" charset="-78"/>
              </a:rPr>
              <a:t>فیزوستگمین </a:t>
            </a:r>
            <a:r>
              <a:rPr lang="en-US" sz="2200" dirty="0">
                <a:cs typeface="B Nazanin" panose="00000400000000000000" pitchFamily="2" charset="-78"/>
              </a:rPr>
              <a:t>– </a:t>
            </a:r>
            <a:r>
              <a:rPr lang="ar-SA" sz="2200" dirty="0">
                <a:cs typeface="B Nazanin" panose="00000400000000000000" pitchFamily="2" charset="-78"/>
              </a:rPr>
              <a:t>نئوستگمین </a:t>
            </a:r>
            <a:r>
              <a:rPr lang="en-US" sz="2200" dirty="0">
                <a:cs typeface="B Nazanin" panose="00000400000000000000" pitchFamily="2" charset="-78"/>
              </a:rPr>
              <a:t>- </a:t>
            </a:r>
            <a:r>
              <a:rPr lang="ar-SA" sz="2200" dirty="0">
                <a:cs typeface="B Nazanin" panose="00000400000000000000" pitchFamily="2" charset="-78"/>
              </a:rPr>
              <a:t>پریدوستگمین</a:t>
            </a:r>
            <a:r>
              <a:rPr lang="en-US" sz="2200" dirty="0">
                <a:cs typeface="B Nazanin" panose="00000400000000000000" pitchFamily="2" charset="-78"/>
              </a:rPr>
              <a:t>(</a:t>
            </a:r>
            <a:br>
              <a:rPr lang="en-US" sz="2200" dirty="0">
                <a:cs typeface="B Nazanin" panose="00000400000000000000" pitchFamily="2" charset="-78"/>
              </a:rPr>
            </a:br>
            <a:br>
              <a:rPr lang="fa-IR" sz="2200" dirty="0">
                <a:cs typeface="B Nazanin" panose="00000400000000000000" pitchFamily="2" charset="-78"/>
              </a:rPr>
            </a:br>
            <a:r>
              <a:rPr lang="fa-IR" sz="2200" dirty="0">
                <a:cs typeface="B Nazanin" panose="00000400000000000000" pitchFamily="2" charset="-78"/>
              </a:rPr>
              <a:t>. </a:t>
            </a:r>
            <a:r>
              <a:rPr lang="ar-SA" sz="2200" dirty="0">
                <a:solidFill>
                  <a:srgbClr val="C00000"/>
                </a:solidFill>
                <a:cs typeface="B Nazanin" panose="00000400000000000000" pitchFamily="2" charset="-78"/>
              </a:rPr>
              <a:t>غیر کاربامات ها </a:t>
            </a:r>
            <a:r>
              <a:rPr lang="en-US" sz="2200" dirty="0">
                <a:cs typeface="B Nazanin" panose="00000400000000000000" pitchFamily="2" charset="-78"/>
              </a:rPr>
              <a:t>)</a:t>
            </a:r>
            <a:r>
              <a:rPr lang="ar-SA" sz="2200" dirty="0">
                <a:cs typeface="B Nazanin" panose="00000400000000000000" pitchFamily="2" charset="-78"/>
              </a:rPr>
              <a:t>گالانتامین </a:t>
            </a:r>
            <a:r>
              <a:rPr lang="en-US" sz="2200" dirty="0">
                <a:cs typeface="B Nazanin" panose="00000400000000000000" pitchFamily="2" charset="-78"/>
              </a:rPr>
              <a:t>–</a:t>
            </a:r>
            <a:r>
              <a:rPr lang="ar-SA" sz="2200" dirty="0">
                <a:cs typeface="B Nazanin" panose="00000400000000000000" pitchFamily="2" charset="-78"/>
              </a:rPr>
              <a:t>  دونپزیل</a:t>
            </a:r>
            <a:r>
              <a:rPr lang="en-US" sz="2200" dirty="0">
                <a:cs typeface="B Nazanin" panose="00000400000000000000" pitchFamily="2" charset="-78"/>
              </a:rPr>
              <a:t>– </a:t>
            </a:r>
            <a:r>
              <a:rPr lang="ar-SA" sz="2200" dirty="0">
                <a:cs typeface="B Nazanin" panose="00000400000000000000" pitchFamily="2" charset="-78"/>
              </a:rPr>
              <a:t>تاکرین </a:t>
            </a:r>
            <a:r>
              <a:rPr lang="en-US" sz="2200" dirty="0">
                <a:cs typeface="B Nazanin" panose="00000400000000000000" pitchFamily="2" charset="-78"/>
              </a:rPr>
              <a:t>–</a:t>
            </a:r>
            <a:r>
              <a:rPr lang="ar-SA" sz="2200" dirty="0">
                <a:cs typeface="B Nazanin" panose="00000400000000000000" pitchFamily="2" charset="-78"/>
              </a:rPr>
              <a:t>ریواستگمین</a:t>
            </a:r>
            <a:r>
              <a:rPr lang="fa-IR" sz="2200" dirty="0">
                <a:cs typeface="B Nazanin" panose="00000400000000000000" pitchFamily="2" charset="-78"/>
              </a:rPr>
              <a:t>)</a:t>
            </a:r>
            <a:br>
              <a:rPr lang="fa-IR" sz="2200" dirty="0">
                <a:cs typeface="B Nazanin" panose="00000400000000000000" pitchFamily="2" charset="-78"/>
              </a:rPr>
            </a:br>
            <a:br>
              <a:rPr lang="fa-IR" sz="2200" dirty="0">
                <a:solidFill>
                  <a:srgbClr val="C00000"/>
                </a:solidFill>
                <a:cs typeface="B Nazanin" panose="00000400000000000000" pitchFamily="2" charset="-78"/>
              </a:rPr>
            </a:br>
            <a:r>
              <a:rPr lang="fa-IR" sz="2200" dirty="0">
                <a:solidFill>
                  <a:srgbClr val="C00000"/>
                </a:solidFill>
                <a:cs typeface="B Nazanin" panose="00000400000000000000" pitchFamily="2" charset="-78"/>
              </a:rPr>
              <a:t>2. </a:t>
            </a:r>
            <a:r>
              <a:rPr lang="ar-SA" sz="2200" dirty="0">
                <a:solidFill>
                  <a:srgbClr val="C00000"/>
                </a:solidFill>
                <a:cs typeface="B Nazanin" panose="00000400000000000000" pitchFamily="2" charset="-78"/>
              </a:rPr>
              <a:t>با اثر برگشت ناپذیر</a:t>
            </a:r>
            <a:r>
              <a:rPr lang="fa-IR" sz="2200" dirty="0">
                <a:cs typeface="B Nazanin" panose="00000400000000000000" pitchFamily="2" charset="-78"/>
              </a:rPr>
              <a:t>:</a:t>
            </a:r>
            <a:r>
              <a:rPr lang="en-US" sz="2200" dirty="0">
                <a:cs typeface="B Nazanin" panose="00000400000000000000" pitchFamily="2" charset="-78"/>
              </a:rPr>
              <a:t> </a:t>
            </a:r>
            <a:r>
              <a:rPr lang="ar-SA" sz="2200" dirty="0">
                <a:cs typeface="B Nazanin" panose="00000400000000000000" pitchFamily="2" charset="-78"/>
              </a:rPr>
              <a:t>یعنی آنزیم استیل کولین استراز را برگشت ناپذیرمهار می کنند؛ </a:t>
            </a:r>
            <a:r>
              <a:rPr lang="fa-IR" sz="2200" dirty="0">
                <a:cs typeface="B Nazanin" panose="00000400000000000000" pitchFamily="2" charset="-78"/>
              </a:rPr>
              <a:t> </a:t>
            </a:r>
            <a:r>
              <a:rPr lang="ar-SA" sz="2200" dirty="0">
                <a:cs typeface="B Nazanin" panose="00000400000000000000" pitchFamily="2" charset="-78"/>
              </a:rPr>
              <a:t>اثرات طولانی و خیلی عارضه دار دارند چون استیل </a:t>
            </a:r>
            <a:br>
              <a:rPr lang="fa-IR" sz="2200" dirty="0">
                <a:cs typeface="B Nazanin" panose="00000400000000000000" pitchFamily="2" charset="-78"/>
              </a:rPr>
            </a:br>
            <a:br>
              <a:rPr lang="fa-IR" sz="2200" dirty="0">
                <a:cs typeface="B Nazanin" panose="00000400000000000000" pitchFamily="2" charset="-78"/>
              </a:rPr>
            </a:br>
            <a:r>
              <a:rPr lang="ar-SA" sz="2200" dirty="0">
                <a:cs typeface="B Nazanin" panose="00000400000000000000" pitchFamily="2" charset="-78"/>
              </a:rPr>
              <a:t>کولین تخریب نمی شود و دائما تحریک میکند</a:t>
            </a:r>
            <a:br>
              <a:rPr lang="en-US" sz="2200" dirty="0">
                <a:cs typeface="B Nazanin" panose="00000400000000000000" pitchFamily="2" charset="-78"/>
              </a:rPr>
            </a:br>
            <a:br>
              <a:rPr lang="fa-IR" sz="2200" dirty="0">
                <a:cs typeface="B Nazanin" panose="00000400000000000000" pitchFamily="2" charset="-78"/>
              </a:rPr>
            </a:br>
            <a:r>
              <a:rPr lang="ar-SA" sz="2200" dirty="0">
                <a:solidFill>
                  <a:srgbClr val="C00000"/>
                </a:solidFill>
                <a:cs typeface="B Nazanin" panose="00000400000000000000" pitchFamily="2" charset="-78"/>
              </a:rPr>
              <a:t>داروها</a:t>
            </a:r>
            <a:r>
              <a:rPr lang="en-US" sz="2200" dirty="0">
                <a:cs typeface="B Nazanin" panose="00000400000000000000" pitchFamily="2" charset="-78"/>
              </a:rPr>
              <a:t>:</a:t>
            </a:r>
            <a:r>
              <a:rPr lang="ar-SA" sz="2200" dirty="0">
                <a:cs typeface="B Nazanin" panose="00000400000000000000" pitchFamily="2" charset="-78"/>
              </a:rPr>
              <a:t>اکوتیوفیت</a:t>
            </a:r>
            <a:r>
              <a:rPr lang="en-US" sz="2200" dirty="0">
                <a:cs typeface="B Nazanin" panose="00000400000000000000" pitchFamily="2" charset="-78"/>
              </a:rPr>
              <a:t>-</a:t>
            </a:r>
            <a:r>
              <a:rPr lang="ar-SA" sz="2200" dirty="0">
                <a:cs typeface="B Nazanin" panose="00000400000000000000" pitchFamily="2" charset="-78"/>
              </a:rPr>
              <a:t>ایزوفلوروفیت</a:t>
            </a:r>
            <a:br>
              <a:rPr lang="en-US" sz="2200" dirty="0">
                <a:cs typeface="B Nazanin" panose="00000400000000000000" pitchFamily="2" charset="-78"/>
              </a:rPr>
            </a:br>
            <a:br>
              <a:rPr lang="fa-IR" sz="2200" dirty="0">
                <a:cs typeface="B Nazanin" panose="00000400000000000000" pitchFamily="2" charset="-78"/>
              </a:rPr>
            </a:br>
            <a:r>
              <a:rPr lang="ar-SA" sz="2200" dirty="0">
                <a:solidFill>
                  <a:srgbClr val="C00000"/>
                </a:solidFill>
                <a:cs typeface="B Nazanin" panose="00000400000000000000" pitchFamily="2" charset="-78"/>
              </a:rPr>
              <a:t>اورگانوفسفره ها</a:t>
            </a:r>
            <a:r>
              <a:rPr lang="en-US" sz="2200" dirty="0">
                <a:cs typeface="B Nazanin" panose="00000400000000000000" pitchFamily="2" charset="-78"/>
              </a:rPr>
              <a:t>)</a:t>
            </a:r>
            <a:r>
              <a:rPr lang="ar-SA" sz="2200" dirty="0">
                <a:cs typeface="B Nazanin" panose="00000400000000000000" pitchFamily="2" charset="-78"/>
              </a:rPr>
              <a:t>سم بوده و دارو نیستند</a:t>
            </a:r>
            <a:r>
              <a:rPr lang="fa-IR" sz="2200" dirty="0">
                <a:cs typeface="B Nazanin" panose="00000400000000000000" pitchFamily="2" charset="-78"/>
              </a:rPr>
              <a:t> و دو</a:t>
            </a:r>
            <a:r>
              <a:rPr lang="en-US" sz="2200" dirty="0">
                <a:cs typeface="B Nazanin" panose="00000400000000000000" pitchFamily="2" charset="-78"/>
              </a:rPr>
              <a:t> </a:t>
            </a:r>
            <a:r>
              <a:rPr lang="ar-SA" sz="2200" dirty="0">
                <a:cs typeface="B Nazanin" panose="00000400000000000000" pitchFamily="2" charset="-78"/>
              </a:rPr>
              <a:t>دسته اند</a:t>
            </a:r>
            <a:r>
              <a:rPr lang="fa-IR" sz="2200" dirty="0">
                <a:cs typeface="B Nazanin" panose="00000400000000000000" pitchFamily="2" charset="-78"/>
              </a:rPr>
              <a:t>)</a:t>
            </a:r>
            <a:r>
              <a:rPr lang="en-US" sz="2200" dirty="0">
                <a:cs typeface="B Nazanin" panose="00000400000000000000" pitchFamily="2" charset="-78"/>
              </a:rPr>
              <a:t>:</a:t>
            </a:r>
            <a:br>
              <a:rPr lang="en-US" sz="2200" dirty="0">
                <a:cs typeface="B Nazanin" panose="00000400000000000000" pitchFamily="2" charset="-78"/>
              </a:rPr>
            </a:br>
            <a:br>
              <a:rPr lang="fa-IR" sz="2200" dirty="0">
                <a:cs typeface="B Nazanin" panose="00000400000000000000" pitchFamily="2" charset="-78"/>
              </a:rPr>
            </a:br>
            <a:r>
              <a:rPr lang="ar-SA" sz="2200" dirty="0">
                <a:cs typeface="B Nazanin" panose="00000400000000000000" pitchFamily="2" charset="-78"/>
              </a:rPr>
              <a:t>آفت کش ها</a:t>
            </a:r>
            <a:r>
              <a:rPr lang="en-US" sz="2200" dirty="0">
                <a:cs typeface="B Nazanin" panose="00000400000000000000" pitchFamily="2" charset="-78"/>
              </a:rPr>
              <a:t>: </a:t>
            </a:r>
            <a:r>
              <a:rPr lang="ar-SA" sz="2200" dirty="0">
                <a:cs typeface="B Nazanin" panose="00000400000000000000" pitchFamily="2" charset="-78"/>
              </a:rPr>
              <a:t>پاراتیون</a:t>
            </a:r>
            <a:r>
              <a:rPr lang="en-US" sz="2200" dirty="0">
                <a:cs typeface="B Nazanin" panose="00000400000000000000" pitchFamily="2" charset="-78"/>
              </a:rPr>
              <a:t>-</a:t>
            </a:r>
            <a:r>
              <a:rPr lang="ar-SA" sz="2200" dirty="0">
                <a:cs typeface="B Nazanin" panose="00000400000000000000" pitchFamily="2" charset="-78"/>
              </a:rPr>
              <a:t>مالاتیون</a:t>
            </a:r>
            <a:r>
              <a:rPr lang="en-US" sz="2200" dirty="0">
                <a:cs typeface="B Nazanin" panose="00000400000000000000" pitchFamily="2" charset="-78"/>
              </a:rPr>
              <a:t>-</a:t>
            </a:r>
            <a:r>
              <a:rPr lang="ar-SA" sz="2200" dirty="0">
                <a:cs typeface="B Nazanin" panose="00000400000000000000" pitchFamily="2" charset="-78"/>
              </a:rPr>
              <a:t>دی کلرووس</a:t>
            </a:r>
            <a:br>
              <a:rPr lang="en-US" sz="2200" dirty="0">
                <a:cs typeface="B Nazanin" panose="00000400000000000000" pitchFamily="2" charset="-78"/>
              </a:rPr>
            </a:br>
            <a:br>
              <a:rPr lang="fa-IR" sz="2200" dirty="0">
                <a:cs typeface="B Nazanin" panose="00000400000000000000" pitchFamily="2" charset="-78"/>
              </a:rPr>
            </a:br>
            <a:r>
              <a:rPr lang="ar-SA" sz="2200" dirty="0">
                <a:cs typeface="B Nazanin" panose="00000400000000000000" pitchFamily="2" charset="-78"/>
              </a:rPr>
              <a:t>گازهای جنگی</a:t>
            </a:r>
            <a:r>
              <a:rPr lang="en-US" sz="2200" dirty="0">
                <a:cs typeface="B Nazanin" panose="00000400000000000000" pitchFamily="2" charset="-78"/>
              </a:rPr>
              <a:t>: </a:t>
            </a:r>
            <a:r>
              <a:rPr lang="ar-SA" sz="2200" dirty="0">
                <a:cs typeface="B Nazanin" panose="00000400000000000000" pitchFamily="2" charset="-78"/>
              </a:rPr>
              <a:t>تابون</a:t>
            </a:r>
            <a:r>
              <a:rPr lang="en-US" sz="2200" dirty="0">
                <a:cs typeface="B Nazanin" panose="00000400000000000000" pitchFamily="2" charset="-78"/>
              </a:rPr>
              <a:t>-</a:t>
            </a:r>
            <a:r>
              <a:rPr lang="ar-SA" sz="2200" dirty="0">
                <a:cs typeface="B Nazanin" panose="00000400000000000000" pitchFamily="2" charset="-78"/>
              </a:rPr>
              <a:t>سارین </a:t>
            </a:r>
            <a:r>
              <a:rPr lang="en-US" sz="2200" dirty="0">
                <a:cs typeface="B Nazanin" panose="00000400000000000000" pitchFamily="2" charset="-78"/>
              </a:rPr>
              <a:t>– </a:t>
            </a:r>
            <a:r>
              <a:rPr lang="ar-SA" sz="2200" dirty="0">
                <a:cs typeface="B Nazanin" panose="00000400000000000000" pitchFamily="2" charset="-78"/>
              </a:rPr>
              <a:t>سومن</a:t>
            </a:r>
            <a:br>
              <a:rPr lang="en-US" dirty="0"/>
            </a:br>
            <a:br>
              <a:rPr lang="fa-IR" sz="2200" dirty="0">
                <a:cs typeface="B Nazanin" panose="00000400000000000000" pitchFamily="2" charset="-78"/>
              </a:rPr>
            </a:br>
            <a:br>
              <a:rPr lang="en-US" dirty="0"/>
            </a:br>
            <a:br>
              <a:rPr lang="en-US" dirty="0"/>
            </a:br>
            <a:br>
              <a:rPr lang="en-US" dirty="0"/>
            </a:br>
            <a:br>
              <a:rPr lang="en-US" dirty="0"/>
            </a:br>
            <a:br>
              <a:rPr lang="fa-IR" sz="2200" dirty="0">
                <a:cs typeface="B Nazanin" panose="00000400000000000000" pitchFamily="2" charset="-78"/>
              </a:rPr>
            </a:br>
            <a:br>
              <a:rPr lang="fa-IR" sz="2200" dirty="0">
                <a:cs typeface="B Nazanin" panose="00000400000000000000" pitchFamily="2" charset="-78"/>
              </a:rPr>
            </a:br>
            <a:br>
              <a:rPr lang="en-US" dirty="0"/>
            </a:br>
            <a:endParaRPr lang="en-US" sz="2400" dirty="0">
              <a:cs typeface="B Nazanin" panose="00000400000000000000" pitchFamily="2" charset="-78"/>
            </a:endParaRPr>
          </a:p>
        </p:txBody>
      </p:sp>
    </p:spTree>
    <p:extLst>
      <p:ext uri="{BB962C8B-B14F-4D97-AF65-F5344CB8AC3E}">
        <p14:creationId xmlns:p14="http://schemas.microsoft.com/office/powerpoint/2010/main" val="14583754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2DE95-5770-2B4F-066E-2F612E3B0FC0}"/>
              </a:ext>
            </a:extLst>
          </p:cNvPr>
          <p:cNvSpPr>
            <a:spLocks noGrp="1"/>
          </p:cNvSpPr>
          <p:nvPr>
            <p:ph type="title"/>
          </p:nvPr>
        </p:nvSpPr>
        <p:spPr/>
        <p:txBody>
          <a:bodyPr/>
          <a:lstStyle/>
          <a:p>
            <a:endParaRPr lang="en-US"/>
          </a:p>
        </p:txBody>
      </p:sp>
      <p:pic>
        <p:nvPicPr>
          <p:cNvPr id="4" name="Picture 2">
            <a:extLst>
              <a:ext uri="{FF2B5EF4-FFF2-40B4-BE49-F238E27FC236}">
                <a16:creationId xmlns:a16="http://schemas.microsoft.com/office/drawing/2014/main" id="{C6E35C71-9A36-6928-EA6F-A6E9640FCC4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437" y="0"/>
            <a:ext cx="12144563"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459809"/>
      </p:ext>
    </p:extLst>
  </p:cSld>
  <p:clrMapOvr>
    <a:masterClrMapping/>
  </p:clrMapOvr>
</p:sld>
</file>

<file path=ppt/theme/theme1.xml><?xml version="1.0" encoding="utf-8"?>
<a:theme xmlns:a="http://schemas.openxmlformats.org/drawingml/2006/main" name="33_DynamicLight">
  <a:themeElements>
    <a:clrScheme name="33_DynamicLight">
      <a:dk1>
        <a:srgbClr val="5E5E5E"/>
      </a:dk1>
      <a:lt1>
        <a:srgbClr val="005E00"/>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3_DynamicLight">
      <a:majorFont>
        <a:latin typeface="Helvetica Neue"/>
        <a:ea typeface="Helvetica Neue"/>
        <a:cs typeface="Helvetica Neue"/>
      </a:majorFont>
      <a:minorFont>
        <a:latin typeface="Helvetica Neue"/>
        <a:ea typeface="Helvetica Neue"/>
        <a:cs typeface="Helvetica Neue"/>
      </a:minorFont>
    </a:fontScheme>
    <a:fmtScheme name="33_Dynamic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فارما(1)</Template>
  <TotalTime>622</TotalTime>
  <Words>3439</Words>
  <Application>Microsoft Office PowerPoint</Application>
  <PresentationFormat>Widescreen</PresentationFormat>
  <Paragraphs>66</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B Nazanin</vt:lpstr>
      <vt:lpstr>Helvetica Neue</vt:lpstr>
      <vt:lpstr>Helvetica Neue Medium</vt:lpstr>
      <vt:lpstr>system-ui</vt:lpstr>
      <vt:lpstr>33_DynamicLight</vt:lpstr>
      <vt:lpstr>PowerPoint Presentation</vt:lpstr>
      <vt:lpstr>فارماکوکینتیک  فارماکوکینتیک به معنای «آنچه بدن با دارو انجام می‌دهد» است.  به بیان دیگر، این علم بررسی می‌کند که چگونه بدن دارو را جذب، توزیع، متابولیزه و دفع می‌کند.  این فرآیندها تعیین می‌کنند که چه مقدار از دارو به محل اثر می‌رسد و چه زمانی اثر می‌کند    مراحل اصلی فارماکوکینتیک  1. جذب ( Absorption)  2. توزیع  ( Distribution)  3. متابولیسم (Metabolism)  4.دفع (Excretion)    </vt:lpstr>
      <vt:lpstr>1. جذب ( Absorption)  فرآیندی است که طی آن دارو از محل مصرف (مثلاً دهان، عضله، پوست و غیره) وارد جریان خون می‌شود.  عوامل مؤثر بر جذب:  1. مسیر تجویز (خوراکی، تزریقی، جلدی و...)  2. جریان خون در محل جذب  3. سطح تماس (مثلاً روده سطح بزرگ‌تری دارد → جذب بیشتر)  4. وجود غذا یا داروهای دیگر در معده  5. شکل دارویی (قرص، محلول، کپسول و غیره)  * ( نکته مهم در  پرستاری ) : در تجویز خوراکی، وجود غذا ممکن است جذب را کند یا کم کند. بنابراین باید زمان مصرف دارو (قبل یا بعد از غذا) دقیق رعایت   شود.  فراهمی زیستی: نسبت مقدار داروی جذب شده به کل داروی تجویز شده را فراهمی زیستی می گویند و این مقدار متغییر است در IV  این مقدار 100 % است   ولی در بقیه ی روش ها کمتر است.  </vt:lpstr>
      <vt:lpstr>. عوامل مختلفی که باعث کاهش فراهمی زیستی میشود:   جذب ناقص، متابولیسم عبور اول کبدی، توزیع دارو به بافت های دیگر  2. توزیع (Distribution)  پس از جذب، دارو از طریق خون به بافت‌ها و اندام‌های مختلف منتقل می‌شود   عوامل مؤثر بر توزیع:  1. جریان خون در بافت‌ها  2. حلالیت دارو ( مثلا دارو های لیبوفیل مثل کورتون ها به راحتی وارد CNS میشوند)   3. اتصال دارو به پروتئین‌های پلاسما (مثل آلبومین):  مثل وارفارین که جزو داروهایی با تمایل اتصال به بروتین های بلاسما هست تا بروتئین های بافتی   * نکته پرستاری: اگر بیمار دچار کاهش آلبومین باشد (مانند بیماران کبدی یا سالمندان)، داروی آزاد در خون افزایش یافته و احتمال مسمومیت بیشتر می‌شود</vt:lpstr>
      <vt:lpstr>3. متابولیسم (Metabolism) :  فرآیندی است که طی آن دارو در بدن به شکل‌های فعال یا غیرفعال تبدیل می‌شود.  عضو اصلی متابولیسم: کبد (به‌ویژه آنزیم‌های خانواده CYP450  عوامل مؤثر:  . سن (نوزادان و سالمندان متابولیسم آهسته‌تری دارند)  . بیماری‌های کبدی  . تداخلات دارویی (برخی داروها آنزیم‌های کبدی را تحریک یا مهار می‌کنند)  . متابولیسم دارو ها چندین تقسیم بندی دارد :  1. بعضی از دارو ها با متابولیسم غیر فعال می شوند مثل فنوتیازین ها که برای اعصاب استفاده می شوند  2. بعضی از دارو ها با متابولیسم فعال می شوند Pro drug ، در بدن دچار متابولیسم می شوند و به صورت فعال در می آیند مثل :لوودوپا  3. بعضی از دارو ها خودشان فعال هستند و با متابولیسم به متابولیت فعال تبدیل می شوند مثل بنزودیازبین ها . این دارو ها دارای اثر طولانی تری نسبت به مورد 1   دارند.   4. بعضی از دارو ها بدون متابولیسم دفع می شوند مثل : لیتیم   </vt:lpstr>
      <vt:lpstr>   .   </vt:lpstr>
      <vt:lpstr>4. دفع (Excretion)  آخرین مرحله، حذف دارو و متابولیت‌های آن از بدن است.  راه‌های اصلی دفع:  1. کلیه‌ها (ادرار)  2. کبد (صفرا)  3. ریه‌ها (برای داروهای فرّار)  4. عرق، شیر، مدفوع   * نکته پرستاری: در بیماران با نارسایی کلیه باید سطح دارو (مثل دیگوکسین، جنتامایسین) کنترل شود تا از سمیت جلوگیری گردد   . به مجموع مراحل متابولیسم و دفع دارو ها اصطلاحا حذف یا elimination   گفته میشود. </vt:lpstr>
      <vt:lpstr>اشکال دارویی (Dosage Forms)  اشکال دارویی به فرم فیزیکی دارو گفته می‌شود که برای تجویز به بیمار ساخته می‌شود. هر شکل دارویی به گونه‌ای طراحی شده تا جذب، اثر، و راحتی مصرف را بهینه کند  راه های تجویز دارو ها:  1.خوراکی ( Oral)  این روش معمولا آسان ترین روش مصرف داروست. بعضی از دارو ها در مصرف Oral  دچار متابولیسم گذر اول کبدی First pass effect  می شوند . یعنی قبل از ورود به جریان   خون دچار متابولیسم می شوند و فراهمی زیستی کاهش پیدا می کند مثل : پروپرانولول  . قرص: (Tablet) داروی جامد فشرده. ممکن است پوشش‌دار  ( coated) یا بدون پوشش باشد. راحت مصرف می‌شود، نباید خرد شود مگر پزشک دستور   دهد (به‌ویژه در قرص‌های آهسته‌رهش).  . کپسول ( Capsule) : پودر یا مایع دارویی در پوشش ژلاتینی. پوشش ژلاتینی در معده حل می‌شود؛ در فرم‌های  enteric coated  نباید باز یا شکسته   شوند.  . شربت: ( Syrup) محلول دارویی در آب و شکر. طعم مطبوع دارد؛ در کودکان پرکاربرد است. مراقب بیماران دیابتی باشید    . سوسپانسیون (: ( Suspension) ذرات دارو در مایع پخش شده‌اند. قبل از مصرف باید تکان داده شود تا دارو یکنواخت شود     </vt:lpstr>
      <vt:lpstr>. الگزیر (Elixir) ) :محلول دارویی در الکل و آب. حاوی الکل است، در کودکان و بیماران کبدی باید با احتیاط مصرف شود   2. تزریقی -------  وریدی (IV) ( فراهمی زیستی 100%، اثر سریع اما خطر سمیت بالاست)                                                                              عضلانی ( IM) (فراهمی زیستی کمتر از IV ، حجم محدود 2-5 میلی لیتر،  جذب سریع تر و کامل تر ازoral )                                                       زیرجلدی (SC)(جذب کند تر از IM  و اینکه نمی توان مقدار زیادی دارو را تجویزکرد، تجویز به بافت چربی زیر پوست، رایج برای                                                                  انسولین و هپارین)                                      داخل جلدی( ID) (تزریق بین لایه‌های پوست. برای تست حساسیت (مانند تست توبرکولین) استفاده می‌شود)   3.اشکال موضعی (Topical Forms)  .پماد (Ointment):  پایه چرب روی پوست باقی می‌ماند. برای اثر موضعی (مثل ضد التهاب یا ضد قارچ).  کرم (Cream) ): مخلوط آب و چربی جذب بهتر از پماد. در مناطق مرطوب بدن استفاده می‌شود.  ژلGel) ):پایه آبی شفاف. جذب سریع‌تر برای داروهای پوستی یا موضعی مفید است.  چسب پوستی Transdermal Patch) ): دارو از طریق پوست جذب و وارد خون می‌شود. آزادسازی آهسته و مداوم؛ مثل نیکوتین یا فنتانیل  </vt:lpstr>
      <vt:lpstr>4.اشکال استنشاقی Inhalation Forms))  .اسپری یا آئروسل:(Inhaler) ذرات ریز دارویی برای جذب در مجاری تنفسی.   .نِبولایزرNebulizer) ) :تبدیل محلول دارویی به بخار قابل استنشاق. برای بیماران تنفسی مزمن مانند آسم یا COPD    5.اشکال مهبلی و مقعدیSuppositories))  . شیاف : (Suppository) دارو در پایه نرم (چربی یا گلیسیرین) که در دمای بدن ذوب می‌شود. برای بیمارانی که نمی‌توانند داروی خوراکی مصرف کنند؛   جذب از وریدهای رکتال.     </vt:lpstr>
      <vt:lpstr>پاسخهای مضر و غیر قابل پیش بینی داروها :      -1 آلرژی دارویی:  (Alergy )در مواردحاد این آلرژی تبدیل می شود به واکنش های آنافیلاکسی مانند هیپوتانسیون و اسپاسم برونش .      -2 تحمل یا : Tolenroce کاهش اثرات فارماکولوژیکی داروها در اثر تجویز زیاد که بیشتر در داروهای مخدروجود دارد مثل دیازپام ، مواد مخدر و الکل   گاهاً این تحمل سریع اتفاق می افتد که به آن تاکی فیلاکسی گفته می شود مثل بی حس کننده های موضعی که تحمل دارویی در آنها گاهاً سریع اتفاق می افتد     -3 وابستگی دارویی : گاهاً به داروها وابستگی یا   dependenceایجاد می شود .این وابستگی ممکن است روانی یا جسمی باشد . مثلا در مورد مواد   مخدر هم وابستگی جسمی و هم وابستگی روانی داریم . در وابستگی جسمی اگر مصرف دارو را قطع کنیم آبریزش ، اسهال ، استفراغ ، درد و ... بوجود می آید ولی   وابستگی روانی شدید تر و بدتر است .     -4 تداخل دارویی یا (  Drug Intraetion ): حالتی است که آثار ناشی از یک دارو توسط دارویی قبلی یا دارویی که همزمان مصرف می شود تغییر پیدا   می کند    </vt:lpstr>
      <vt:lpstr>انواع تداخلات دارویی:  الف -اثر سینرژیسم : نمونه ای از تداخل دارویی است که در آن آثار بوجود آمده ناشی از مصرف دو دارو با هم بیشتر از مصرف هر یک از آنها به تنهایی   است . مثلًا پنی سیلین و جنتامایسین با هم اثر سینرژیسم دارند و اثر همدیگر را تقویت می کنند .   ب - اثر تجمعی : در این حالت اثر بوجود آمده توسط دو دارو با هم ، مساوی اثر هریک از داروها به تنهایی است . مثلًا کدئین یا بروفن.   ج - تشدید اثر : اثر داروی اولی با دادن داروی دومی بیشتر می شود )یک ماده به‌تنهایی هیچ اثر دارویی مشخصی ندارد اما وقتی با یک ماده فعال ترکی   شود، اثر آن ماده فعال را چند برابر می‌کند.  مثل:  ۱. پروبنسید Probenecid)) + پنی‌سیلین Penicillin))  پروبنسید به‌تنهایی اثری بر عفونت ندارد. اما وقتی با پنی‌سیلین مصرف شود، دفع کلیوی پنی‌سیلین را کاهش می‌دهد. در نتیجه سطح خونی پنی‌سیلین بالاتر   می‌ماند و اثرش تشدید می‌شود.              </vt:lpstr>
      <vt:lpstr>۲. کافئین + ارگوتامین (در درمان میگرن)  کافئین به‌تنهایی اثر ضد میگرن ندارد، اما وقتی با ارگوتامین ترکیب شود، جذب ارگوتامین را افزایش می‌دهد و اثر ضد‌میگرنی آن را تشدید می‌کند.    3. اسید آسکوربیک (ویتامین C) + آهن خوراکی   ویتامین C به‌تنهایی در درمان کم‌خونی اثری ندارد، اما جذب آهن را از دستگاه گوارش افزایش می‌دهد. بنابراین اثر آهن بر افزایش هموگلوبین تشدید می‌شود   د -کاهش اثر : گاهاً یک دارو اثرش با داروی دیگر کمتر می شود    آثار مضر داروها   تجمع داروها در بدن : داروها در بدن تجمع پیدا می کنند ، یعنی بیمار دوز اولیه را متابولیزه کرده و از بین می برد ولی نمیتواند دوز های بعدی را متابولیزه کند   و در نتیجه دارو در بدن تجمع می یابد ( مسمومیت دارویی)</vt:lpstr>
      <vt:lpstr>. سیستم عصبی به طور کلی به دو بخش اصلی تقسیم می‌شود:  الف) سیستم عصبی مرکزی Central Nervous System (CNS)  اجزاء:   . مغز (Brain)  . طناب نخاعیSpinal cord))  وظیفه: مرکز کنترل و پردازش اطلاعات بدن است. تمام ورودی‌های حسی را تفسیر و پاسخ‌های حرکتی، احساسی و شناختی را هماهنگ می‌کند. در واقع، CNS   تصمیم می‌گیرد که بدن چگونه به محرک‌ها پاسخ دهد.  ب) سیستم عصبی محیطی Peripheral Nervous System – PNS))  اجزاء:  . اعصاب جمجمه‌ای (Cranial nerves)  . اعصاب نخاعی (Spinal nerves)  .گانگلیون‌ها و گیرنده‌های عصبی محیطی  وظیفه: انتقال پیام‌ها بین سیستم عصبی مرکزی و بقیه بدن (اندام‌ها، عضلات و غدد)</vt:lpstr>
      <vt:lpstr>تقسیم‌بندی سیستم عصبی محیطی (PNS)  سیستم عصبی محیطی به دو شاخهٔ اصلی تقسیم می‌شود:  ۱) سیستم عصبی پیکری Somatic Nervous System – SNS: کنترل ارادی حرکات عضلات اسکلتی.  یک نورون حرکتی از CNS تا عضله هدف وجود دارد.  پیام‌رسان شیمیایی اصلی: استیل‌کولین (Acetylcholine - ACh)  گیرنده اصلی: نیکوتینی Nicotinic receptor))  مثال: حرکت دادن دست یا راه رفتن.  ۲) سیستم عصبی خودمختار Autonomic Nervous System - ANS))  کنترل غیرارادی فعالیت‌های حیاتی مانند ضربان قلب، فشار خون، تنفس، گوارش، ترشح غدد و دمای بدن.  شامل دو نورون است: نورون پیش‌گانگلیونی و پس‌گانگلیونی</vt:lpstr>
      <vt:lpstr>سیستم عصبی خودمختار به دو بخش تقسیم می شود:  الف) سیستم سمپاتیکSympathetic Nervous System))  فعال در شرایط استرس یا اضطراب  افزایش ضربان قلب، گشاد شدن مردمک، افزایش قند خون، کاهش فعالیت گوارشی.  انتقال‌دهنده‌های عصبی:  استیل‌کولین (در نورون پیش‌گانگلیونی)  نوراپی‌نفرین یا اپی‌نفرین (در نورون پس‌گانگلیونی)  گیرنده‌ها: آلفا (α) و بتا (β ) آدرنرژیک  ب) سیستم پاراسمپاتیک Parasympathetic Nervous System))  فعال در شرایط استراحت و حفظ انرژی  کاهش ضربان قلب، افزایش ترشح بزاق و فعالیت گوارشی، تنگ شدن مردمک.  انتقال‌دهنده عصبی: استیل‌کولین در هر دو نورون.  گیرنده‌ها: نیکوتینی و موسکارینیCholinergic receptors))</vt:lpstr>
      <vt:lpstr>PowerPoint Presentation</vt:lpstr>
      <vt:lpstr>تاثیر اعصاب سمپاتیک و پاراسمپاتیک بر اندام های مختلف بدن</vt:lpstr>
      <vt:lpstr> *ازانتهای عصب پیش عقده ای هم در سمپاتیک و هم پاراسمپاتیک نوروترنسمیتری بنام استیل کولین آزاد می شود. ولی ازانتهای عصب پس   عقده ای، عصب اگرپاراسمپاتیک باشد،استیل کولین ولی اگر سمپاتیک باشد نور اپی نفرین آزاد میشود.   *مراحل انتقال پیام عصبی  1. مرحله ی سنتز استیل کولین:  استیل کولین دو پیش ساز دارد. یکی کولین که به صورت هم انتقالی با سدیم وارد انتهای عصب پاراسمپاتیک می شود و دیگری استیل کو آنزیم A   این دو ماده در داخل عصب تحت تاثیر آنزیمی به نام استیل کولین ترانسفراز قرار می گیرند و استیل کولین را می سازند.  داروی )همی کولینیوم(کارش مهار ورود کولین به داخل عصب پاراسمپاتیک می باشد پس همی کولینیوم یک ضد پاراسمپاتیک است   2. مرحله ذخیره شدن:  استیل کولین بعد از تولید در داخل وزیکول ها با یک روند انتقال فعال ذخیره میشود.داروی وزامیکول، ذخیره شدن استیل کولین را مهار می کند.پس ضد  پاراسمپاتیک است. این دو دارو کاربرد بالینی ندارند. </vt:lpstr>
      <vt:lpstr>3. آزاد شدن استیل کولین:  در این مرحله کانال های  کلسیمی باز می شوند.که باعث ورود کلسیم به داخل سلول شده  و ورزیکول های حاوی استیل کولین را به سمت غشا در سلول می  کشانند)با انقباض فیلامان های انقباضی( که این کار باعث اگزوسیتوز استیل کولین به فضای سیناپسی می شود. سمی بنام ))بوتولینوم(( که یک توکسین است باعث مهار اگزوسیتوز استیل کولین می شود.  4. از بین رفتن اثر استیل کولین:  این کار تحت تاثیر آنزیم استیل کولین استراز انجام می شود ، این آنزیم استیل کولین را به استات و کولین تجزیه می کند که کولین به داخل اعصاب باز جذب می   شود و استات با جریان خون پاک می شود    </vt:lpstr>
      <vt:lpstr>داروهای موثر بر سیستم عصبی خودکار ANS) ):     . سیستم پاراسمپاتیک     </vt:lpstr>
      <vt:lpstr>1. داروهای پاراسمپاتومیمتیک Parasympathomimetic drugs))(داروهای کولینرژیک Cholinergic drugs))   از دو واژه ساخته شده:Parasympathetic" + "mimetic"  به معنی تقلید کننده یعنی داروهایی که اثرات سیستم پاراسمپاتیک را تقلید می‌کنند   عملکرد:  این داروها با افزایش اثر استیل‌کولین یا تحریک گیرنده‌های کولینرژیک باعث بروز اثرات پاراسمپاتیک می‌شوند، از جمله:  کاهش ضربان قلب (Bradycardia)، تنگ شدن مردمک Miosis)) ، افزایش ترشح بزاق و اشک ، افزایش حرکات و ترشحات گوارشی ، انقباض مثانه و   تسهیل ادرار  . داروهای مقلد پاراسمپاتیک  دو نوع اند:  1. مستقیم الاثر : با تحریک مستقیم گیرنده های پاراسمپاتیکی ( موسکارینی و نیکوتینی) باعث تحریک سیستم پاراسمپاتیکی می شود .  2. غیر مستقیم الاثر:با مهار گیرنده های آنزیم استیل کولین استراز از تخریب استیل کولین جلوگیری کرده و باعث تحریک مداوم و مستمر گیرنده های   پاراسمپاتیک می شود    </vt:lpstr>
      <vt:lpstr> *داروهای مستقیم الاثر خودشان دو دسته اند :  1.سنتتیک : استیل کولین _متاکولین _کارباکول _بتانکول  2.طبیعی : آلکالوئید های گیاهی- پیلوکارپین - وارنیکلین – نیکوتین – موسکارین  * دارو های غیرمستقیم الاثر هم خودشان 2 دسته اند:  1.با اثربرگشت پذیر:  .کاربامات ها )فیزوستگمین – نئوستگمین - پریدوستگمین(  . غیر کاربامات ها )گالانتامین –  دونپزیل– تاکرین –ریواستگمین)  2. با اثر برگشت ناپذیر: یعنی آنزیم استیل کولین استراز را برگشت ناپذیرمهار می کنند؛  اثرات طولانی و خیلی عارضه دار دارند چون استیل   کولین تخریب نمی شود و دائما تحریک میکند  داروها:اکوتیوفیت-ایزوفلوروفیت  اورگانوفسفره ها)سم بوده و دارو نیستند و دو دسته اند):  آفت کش ها: پاراتیون-مالاتیون-دی کلرووس  گازهای جنگی: تابون-سارین – سومن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iliya</dc:creator>
  <cp:lastModifiedBy>iliya</cp:lastModifiedBy>
  <cp:revision>47</cp:revision>
  <dcterms:created xsi:type="dcterms:W3CDTF">2025-10-10T08:04:27Z</dcterms:created>
  <dcterms:modified xsi:type="dcterms:W3CDTF">2025-10-12T07:18:05Z</dcterms:modified>
</cp:coreProperties>
</file>